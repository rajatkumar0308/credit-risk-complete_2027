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40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8E35"/>
                </a:solidFill>
                <a:latin typeface="Aptos"/>
              </a:rPr>
              <a:t>CORPORATE CREDIT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Credit Risk</a:t>
            </a:r>
            <a:br/>
            <a:r>
              <a:t>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971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CE4EE"/>
                </a:solidFill>
                <a:latin typeface="Aptos"/>
              </a:rPr>
              <a:t>Collateral • Guarantees • Netting • Insurance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ECCDC"/>
                </a:solidFill>
                <a:latin typeface="Aptos"/>
              </a:rPr>
              <a:t>The lender’s second line of defence: how contractual, structural and risk-transfer tools reduce loss — without replacing credit discipline.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41080" y="1143000"/>
            <a:ext cx="2651760" cy="685800"/>
          </a:xfrm>
          <a:prstGeom prst="roundRect">
            <a:avLst/>
          </a:prstGeom>
          <a:solidFill>
            <a:srgbClr val="26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3441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COLLATERAL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2221991"/>
            <a:ext cx="2651760" cy="685800"/>
          </a:xfrm>
          <a:prstGeom prst="roundRect">
            <a:avLst/>
          </a:prstGeom>
          <a:solidFill>
            <a:srgbClr val="2484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GUARANTEE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300984"/>
            <a:ext cx="2651760" cy="685800"/>
          </a:xfrm>
          <a:prstGeom prst="roundRect">
            <a:avLst/>
          </a:prstGeom>
          <a:solidFill>
            <a:srgbClr val="B88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35021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NETTING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4379976"/>
            <a:ext cx="2651760" cy="685800"/>
          </a:xfrm>
          <a:prstGeom prst="roundRect">
            <a:avLst/>
          </a:prstGeom>
          <a:solidFill>
            <a:srgbClr val="B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58114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INSURANCE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WHAT → WHY → HOW → 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Mitigation is not credit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It changes loss severity, recovery timing and sometimes exposure — not the borrower’s underlying ability to pay.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2011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01  Identify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15768"/>
            <a:ext cx="1609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What can fail? Default, dilution, fraud, price or counterparty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148840"/>
            <a:ext cx="2011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02  Measure exposure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15768"/>
            <a:ext cx="1609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EAD × PD × LGD → expected loss; stress the downside.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2148840"/>
            <a:ext cx="2011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03  Add protection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715768"/>
            <a:ext cx="1609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Collateral, guarantees, netting, insurance — each targets a different loss channel.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5" y="2148840"/>
            <a:ext cx="2011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3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04  Validate enforceability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4383" y="2715768"/>
            <a:ext cx="1609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Perfection, priority, documentation, valuation, jurisdiction and exclusions.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10928" y="2148840"/>
            <a:ext cx="20116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12096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7E56"/>
                </a:solidFill>
                <a:latin typeface="Aptos"/>
              </a:rPr>
              <a:t>05  Monitor &amp;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12096" y="2715768"/>
            <a:ext cx="160934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Covenants, margining, collateral haircuts, guarantor capacity and claims readiness.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02 • CORE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Four tools — four different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A strong credit package combines protections; it does not assume one instrument solves every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54203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6771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COLLATERAL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670048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Converts borrower assets into a recovery source.</a:t>
            </a:r>
            <a:br/>
            <a:br/>
            <a:r>
              <a:t>KEY LENS</a:t>
            </a:r>
            <a:br/>
            <a:r>
              <a:t>LTV / haircut / liquidation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103120"/>
            <a:ext cx="254203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226771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GUARANTEE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2670048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Adds a second obligor with contractual recourse.</a:t>
            </a:r>
            <a:br/>
            <a:br/>
            <a:r>
              <a:t>KEY LENS</a:t>
            </a:r>
            <a:br/>
            <a:r>
              <a:t>Guarantor DSCR / net worth /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103120"/>
            <a:ext cx="254203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26771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NETTING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670048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Offsets receivables and payables before exposure is measured.</a:t>
            </a:r>
            <a:br/>
            <a:br/>
            <a:r>
              <a:t>KEY LENS</a:t>
            </a:r>
            <a:br/>
            <a:r>
              <a:t>Net exposure / close-out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98863" y="2103120"/>
            <a:ext cx="2542032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2267712"/>
            <a:ext cx="21396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INSURANCE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2670048"/>
            <a:ext cx="213969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Transfers specified risks to an insurer.</a:t>
            </a:r>
            <a:br/>
            <a:br/>
            <a:r>
              <a:t>KEY LENS</a:t>
            </a:r>
            <a:br/>
            <a:r>
              <a:t>Limit / deductible / exclusions /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KEY PRINCIPLE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65099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Mitigation is only valuable to the extent it is legally enforceable, operationally accessible and economically realizable when stress hits.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03 • COLLATERAL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Collateral: recovery source, not repayment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The bank underwrites the borrower first — then asks how much loss can be absorbed by the collateral package.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ASSET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32888"/>
            <a:ext cx="156362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₹100m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2880360"/>
            <a:ext cx="274320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213055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HAIRCUT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532888"/>
            <a:ext cx="156362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30%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3752" y="2880360"/>
            <a:ext cx="274320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13055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ELIGIBLE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532888"/>
            <a:ext cx="156362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₹70m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59752" y="2880360"/>
            <a:ext cx="274320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13055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LOAN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2532888"/>
            <a:ext cx="156362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₹60m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45752" y="2880360"/>
            <a:ext cx="274320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8360" y="196596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9528" y="213055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CUSHION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2532888"/>
            <a:ext cx="156362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₹10m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86577"/>
                </a:solidFill>
                <a:latin typeface="Aptos"/>
              </a:rPr>
              <a:t>Illustrative secured lending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2628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22B3A"/>
                </a:solidFill>
                <a:latin typeface="Aptos"/>
              </a:defRPr>
            </a:pPr>
            <a:r>
              <a:t>• Collateral value must be stressed for volatility, forced-sale discounts and time-to-liquidate.</a:t>
            </a:r>
          </a:p>
          <a:p>
            <a:pPr>
              <a:spcAft>
                <a:spcPts val="900"/>
              </a:spcAft>
              <a:defRPr sz="1300">
                <a:solidFill>
                  <a:srgbClr val="222B3A"/>
                </a:solidFill>
                <a:latin typeface="Aptos"/>
              </a:defRPr>
            </a:pPr>
            <a:r>
              <a:t>• Haircut = protection against uncertainty; it is not a substitute for independent valuation.</a:t>
            </a:r>
          </a:p>
          <a:p>
            <a:pPr>
              <a:spcAft>
                <a:spcPts val="900"/>
              </a:spcAft>
              <a:defRPr sz="1300">
                <a:solidFill>
                  <a:srgbClr val="222B3A"/>
                </a:solidFill>
                <a:latin typeface="Aptos"/>
              </a:defRPr>
            </a:pPr>
            <a:r>
              <a:t>• Perfection + priority determine whether the lender actually controls the recovery asset.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04 • NUMERICAL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Collateral coverage: from appraised value to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A ₹60m facility is supported by inventory and receivables. The credit decision should use stressed realizable value — not book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8716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Inventory: ₹50m</a:t>
            </a:r>
            <a:br/>
            <a:r>
              <a:t>Receivables: ₹40m</a:t>
            </a:r>
            <a:br/>
            <a:r>
              <a:t>Haircuts: 35% / 20%</a:t>
            </a:r>
            <a:br/>
            <a:r>
              <a:t>Loan exposure: ₹60m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9202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20848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STEP 1 — ELIGIBLE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48716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Inventory: 50 × 65% = ₹32.5m</a:t>
            </a:r>
            <a:br/>
            <a:r>
              <a:t>Receivables: 40 × 80% = ₹32.0m</a:t>
            </a:r>
            <a:br/>
            <a:r>
              <a:t>Total eligible value = ₹64.5m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920240"/>
            <a:ext cx="32461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208483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STEP 2 — 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2487168"/>
            <a:ext cx="284378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Coverage = 64.5 / 60</a:t>
            </a:r>
            <a:br/>
            <a:r>
              <a:t>= 1.075×</a:t>
            </a:r>
            <a:br/>
            <a:br/>
            <a:r>
              <a:t>Headline LTV = 93.0%</a:t>
            </a:r>
            <a:br/>
            <a:br/>
            <a:r>
              <a:t>Buffer ≈ ₹4.5m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DECISION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623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A thin 7.5% eligible-value cushion may be inadequate if collateral prices, ageing or collections deteriorate simultaneously.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05 • GUARANTEES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Guarantees: adding an obligor — not creating cash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A guarantee is valuable only when the guarantor has both legal obligation and economic capacity to perform under stress.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76272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Corporate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78608"/>
            <a:ext cx="476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Parent / group entity backs subsidiary obligations.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176272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Personal guarantee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578608"/>
            <a:ext cx="476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Promoter or owner provides recourse; useful but often limited by personal liquidity.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4050791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Bank / sovereign guarantee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4453128"/>
            <a:ext cx="476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High-quality obligor substitutes its credit strength for the borrower, subject to terms.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51663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050791"/>
            <a:ext cx="47640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Keep-well / comfort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453128"/>
            <a:ext cx="4764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May support intent or liquidity but can be weaker than a legally enforceable guarantee.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3387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UNDERWRITE THE GUARANTOR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760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21C2D"/>
                </a:solidFill>
                <a:latin typeface="Aptos"/>
              </a:rPr>
              <a:t>Net worth • liquidity • leverage • cash generation • structural subordination • guarantee cap • expiry • legal jurisdiction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06 •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Illustrative: parent guarantee changes the loss 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A manufacturing subsidiary defaults. The lender compares recovery with and without a legally enforceable parent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21C2D"/>
                </a:solidFill>
                <a:latin typeface="Aptos"/>
              </a:rPr>
              <a:t>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609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₹80m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14600" y="3182112"/>
            <a:ext cx="25603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6352" y="21488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SUBSIDIARY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715768"/>
            <a:ext cx="1609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₹30m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28032" y="3182112"/>
            <a:ext cx="25603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9783" y="21488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RECOVERY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715768"/>
            <a:ext cx="1609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₹50m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41464" y="3182112"/>
            <a:ext cx="25603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43216" y="21488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PARENT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4384" y="2715768"/>
            <a:ext cx="1609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₹45m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54896" y="3182112"/>
            <a:ext cx="25603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56648" y="2148840"/>
            <a:ext cx="20116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2313432"/>
            <a:ext cx="1609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RESIDUAL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2715768"/>
            <a:ext cx="1609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09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Without guarantee: assume ₹30m realizable recovery → ₹50m gross loss before costs/time value.</a:t>
            </a:r>
          </a:p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With guarantee: parent covers up to ₹45m, subject to enforceability and parent liquidity.</a:t>
            </a:r>
          </a:p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Residual economic loss falls to ~₹5m before workout costs, timing effects and any exclusions.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07 • NETTING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Netting: reduce exposure by contract, not by hope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Especially powerful in derivatives, securities finance and bilateral trading where two-way obligations can otherwise inflate gross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GROSS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87168"/>
            <a:ext cx="27523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Bank owes counterparty</a:t>
            </a:r>
            <a:br/>
            <a:r>
              <a:t>₹120m</a:t>
            </a:r>
            <a:br/>
            <a:br/>
            <a:r>
              <a:t>Counterparty owes bank</a:t>
            </a:r>
            <a:br/>
            <a:r>
              <a:t>₹100m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920240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2084832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CLOSE-OUT / NETTING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487168"/>
            <a:ext cx="27523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If enforceable:</a:t>
            </a:r>
            <a:br/>
            <a:r>
              <a:t>₹120m − ₹100m</a:t>
            </a:r>
            <a:br/>
            <a:r>
              <a:t>= ₹20m net payable</a:t>
            </a:r>
            <a:br/>
            <a:br/>
            <a:r>
              <a:t>Exposure basis becomes materially smaller.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920240"/>
            <a:ext cx="31546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084832"/>
            <a:ext cx="27523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WHY IT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2487168"/>
            <a:ext cx="275234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Lower EAD</a:t>
            </a:r>
            <a:br/>
            <a:r>
              <a:t>Lower capital usage</a:t>
            </a:r>
            <a:br/>
            <a:r>
              <a:t>Lower replacement risk</a:t>
            </a:r>
            <a:br/>
            <a:r>
              <a:t>Potentially lower expected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44040"/>
                </a:solidFill>
                <a:latin typeface="Aptos"/>
              </a:rPr>
              <a:t>CRITICAL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559552"/>
            <a:ext cx="9235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Master agreement + netting opinion + jurisdiction + insolvency treatment + eligible transactions must align. Gross-to-net is not automatic.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08 •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Insurance: transfer a defined risk — with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Credit insurance can protect receivables against specified events, but deductibles, waiting periods, exclusions and claims procedures determine real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176272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578608"/>
            <a:ext cx="19751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Customer non-payment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2999232"/>
            <a:ext cx="34747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201168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176272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578608"/>
            <a:ext cx="19751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Covered event + limit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70448" y="2999232"/>
            <a:ext cx="347472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201168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2176272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78608"/>
            <a:ext cx="19751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₹20m claim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9367" y="2999232"/>
            <a:ext cx="347473" cy="0"/>
          </a:xfrm>
          <a:prstGeom prst="line">
            <a:avLst/>
          </a:prstGeom>
          <a:ln w="31750">
            <a:solidFill>
              <a:srgbClr val="265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2011680"/>
            <a:ext cx="2377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53728" y="2176272"/>
            <a:ext cx="1975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PAYOUT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578608"/>
            <a:ext cx="19751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₹16m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43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86577"/>
                </a:solidFill>
                <a:latin typeface="Aptos"/>
              </a:rPr>
              <a:t>Illustrative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Receivable = ₹20m; policy covers 90%; deductible/exclusions reduce effective recovery.</a:t>
            </a:r>
          </a:p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Potential payout = ₹20m × 90% = ₹18m, before any deductible, waiting period or claim adjustment.</a:t>
            </a:r>
          </a:p>
          <a:p>
            <a:pPr>
              <a:spcAft>
                <a:spcPts val="900"/>
              </a:spcAft>
              <a:defRPr sz="1250">
                <a:solidFill>
                  <a:srgbClr val="222B3A"/>
                </a:solidFill>
                <a:latin typeface="Aptos"/>
              </a:defRPr>
            </a:pPr>
            <a:r>
              <a:t>• Bank/CFO should assess insurer credit quality, policy assignment, notice requirements and concentration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09 • DECISION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Match the tool to the failure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The best mitigation is the one that remains effective under the specific stress scenario you fear.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297180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029967"/>
            <a:ext cx="2825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Failure 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874519"/>
            <a:ext cx="182880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2029967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Primary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874519"/>
            <a:ext cx="182880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68112" y="2029967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Potential 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874519"/>
            <a:ext cx="4663440" cy="50292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2029967"/>
            <a:ext cx="4517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What can break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377439"/>
            <a:ext cx="2971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532887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Borrower asset value falls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66160" y="2377439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2532887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Collateral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0" y="2377439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68112" y="2532887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2B3A"/>
                </a:solidFill>
                <a:latin typeface="Aptos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377439"/>
            <a:ext cx="4663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2532887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Valuation / haircut / liquidity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090672"/>
            <a:ext cx="2971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3246120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Borrower defaults but parent remains strong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0" y="3090672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39312" y="3246120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Guarantee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94960" y="3090672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68112" y="3246120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2B3A"/>
                </a:solidFill>
                <a:latin typeface="Aptos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3090672"/>
            <a:ext cx="466344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3246120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Guarantor capacity + enforceability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803904"/>
            <a:ext cx="2971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3959352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Two-way trading obligations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803904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39593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Netting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3803904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68112" y="3959352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2B3A"/>
                </a:solidFill>
                <a:latin typeface="Aptos"/>
              </a:rPr>
              <a:t>Very 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3803904"/>
            <a:ext cx="4663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3959352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Legal close-out opinion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517136"/>
            <a:ext cx="2971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672583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Trade receivable non-payment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4517136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4672583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Insurance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94960" y="4517136"/>
            <a:ext cx="182880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68112" y="4672583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2B3A"/>
                </a:solidFill>
                <a:latin typeface="Aptos"/>
              </a:rPr>
              <a:t>Medium–High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517136"/>
            <a:ext cx="4663440" cy="713232"/>
          </a:xfrm>
          <a:prstGeom prst="rect">
            <a:avLst/>
          </a:prstGeom>
          <a:solidFill>
            <a:srgbClr val="F4F7FA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4672583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Coverage + exclusions + insurer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230368"/>
            <a:ext cx="2971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385816"/>
            <a:ext cx="2825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Fraud / fictitious receivables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523036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39312" y="5385816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Collateral / insurance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5230368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68112" y="5385816"/>
            <a:ext cx="16824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22B3A"/>
                </a:solidFill>
                <a:latin typeface="Aptos"/>
              </a:rPr>
              <a:t>Low–Medium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5230368"/>
            <a:ext cx="46634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5385816"/>
            <a:ext cx="4517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22B3A"/>
                </a:solidFill>
                <a:latin typeface="Aptos"/>
              </a:rPr>
              <a:t>Audit + eligibility controls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10 • CREDIT JUDGEMENT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Red flags that make “secured” credit unsecured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The biggest failures are often operational and legal — not mathematical.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Valuation drift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Old valuation, aggressive assumptions, no independent revaluation.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9339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Weak perfection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9572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Lien not registered, wrong asset description, missing filings.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Double pledge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9572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Same asset pledged to multiple creditors; priority unclear.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Guarantor contagion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7024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Guarantee sits behind other creditors or guarantor is itself stressed.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Netting mismatch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27024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Master agreement does not cover all relevant transactions/jurisdictions.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03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Insurance exclusions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270248"/>
            <a:ext cx="29809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Fraud, dispute, ageing, sanctions or notice breaches invalidate claims.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150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BANKER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64184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21C2D"/>
                </a:solidFill>
                <a:latin typeface="Aptos"/>
              </a:rPr>
              <a:t>Ask: “If default happened tomorrow, exactly who owns the asset, who can enforce, who pays, and how long will cash take?”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11 • MULTI-STAKEHOLDER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Same mitigation package,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Credit risk mitigation is a decision system: each stakeholder focuses on a different dimension of the same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4688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CREDIT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24328"/>
            <a:ext cx="20665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Does protection reduce stressed LGD?</a:t>
            </a:r>
            <a:br/>
            <a:r>
              <a:t>Is it enforceable and realizable?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57400"/>
            <a:ext cx="24688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222199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BANKER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24328"/>
            <a:ext cx="20665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Does it support structure, pricing and limits?</a:t>
            </a:r>
            <a:br/>
            <a:r>
              <a:t>Can we monitor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24688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222199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CFO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624328"/>
            <a:ext cx="20665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What does it cost?</a:t>
            </a:r>
            <a:br/>
            <a:r>
              <a:t>Does it preserve liquidity and flexibility?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2057400"/>
            <a:ext cx="246888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3728" y="2221992"/>
            <a:ext cx="2066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INVESTOR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624328"/>
            <a:ext cx="206654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Does it improve downside protection?</a:t>
            </a:r>
            <a:br/>
            <a:r>
              <a:t>Could it create hidden encumbrance?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SO WHAT?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55955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21C2D"/>
                </a:solidFill>
                <a:latin typeface="Aptos"/>
              </a:rPr>
              <a:t>Mitigation can justify better economics — but only after the bank prices residual risk, monitoring cost and legal uncertainty.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12 • INTEGRATED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Illustrative credit committee: build the protection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Borrower requests a ₹100m working-capital facility. The lender wants to reduce stressed loss without over-relying on collateral.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240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1837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BORROWER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41448"/>
            <a:ext cx="18379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Exposure: ₹100m</a:t>
            </a:r>
            <a:br/>
            <a:r>
              <a:t>EBITDA: ₹35m</a:t>
            </a:r>
            <a:br/>
            <a:r>
              <a:t>Debt: ₹140m</a:t>
            </a:r>
            <a:br/>
            <a:r>
              <a:t>Receivables: ₹90m</a:t>
            </a:r>
            <a:br/>
            <a:r>
              <a:t>Inventory: ₹70m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874519"/>
            <a:ext cx="2240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2039112"/>
            <a:ext cx="1837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MITIGATION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441448"/>
            <a:ext cx="18379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Receivable haircut: 25%</a:t>
            </a:r>
            <a:br/>
            <a:r>
              <a:t>Inventory haircut: 40%</a:t>
            </a:r>
            <a:br/>
            <a:r>
              <a:t>Parent guarantee cap: ₹50m</a:t>
            </a:r>
            <a:br/>
            <a:r>
              <a:t>Credit insurance: 80% on eligible receivables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874519"/>
            <a:ext cx="2240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33288" y="2039112"/>
            <a:ext cx="1837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STRESSED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441448"/>
            <a:ext cx="18379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Receivables: 90 × 75% = ₹67.5m</a:t>
            </a:r>
            <a:br/>
            <a:r>
              <a:t>Inventory: 70 × 60% = ₹42.0m</a:t>
            </a:r>
            <a:br/>
            <a:r>
              <a:t>Eligible collateral = ₹109.5m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3832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03911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COMMITTEE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441448"/>
            <a:ext cx="2980944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Collateral alone appears sufficient on paper.</a:t>
            </a:r>
            <a:br/>
            <a:br/>
            <a:r>
              <a:t>But: inventory liquidation may be slow; parent guarantee and insurance should be treated as secondary layers, not additive cash 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KEY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55955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Approve only with borrowing-base controls, valuation cadence, guarantee documentation, insurance assignment and clear default triggers.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E35"/>
                </a:solidFill>
                <a:latin typeface="Aptos"/>
              </a:rPr>
              <a:t>13 •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1C2D"/>
                </a:solidFill>
                <a:latin typeface="Aptos"/>
              </a:rPr>
              <a:t>Credit mitigation due-diligence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25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86577"/>
                </a:solidFill>
                <a:latin typeface="Aptos"/>
              </a:rPr>
              <a:t>Before relying on protection, validate six dimensions.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414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Enforceability • perfection • priority • jurisdiction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03911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48485"/>
                </a:solidFill>
                <a:latin typeface="Aptos"/>
              </a:rPr>
              <a:t>ECONOMIC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4414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Haircuts • limits • deductibles • guarantor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74519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03911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8E35"/>
                </a:solidFill>
                <a:latin typeface="Aptos"/>
              </a:rPr>
              <a:t>OPERATING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414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Control • reporting • margining • claim process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4040"/>
                </a:solidFill>
                <a:latin typeface="Aptos"/>
              </a:rPr>
              <a:t>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2702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Independent • current • stress-tested • liquidatable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65B96"/>
                </a:solidFill>
                <a:latin typeface="Aptos"/>
              </a:rPr>
              <a:t>CONCENTRATION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2702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Single asset • single guarantor • single insurer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0332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3867911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7E56"/>
                </a:solidFill>
                <a:latin typeface="Aptos"/>
              </a:rPr>
              <a:t>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270248"/>
            <a:ext cx="29809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Aptos"/>
              </a:rPr>
              <a:t>Triggers • ageing • covenant breach • revaluation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88E35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Five rules for better</a:t>
            </a:r>
            <a:br/>
            <a:r>
              <a:t>credit risk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 Underwrite repayment first; mitigation is the second line of defence.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2  Measure stressed, realizable value — not headline collateral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3  Treat guarantees as credit exposure to the guarantor.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4  Use netting only when legal and operational conditions are satisfied.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00600"/>
            <a:ext cx="1033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5  Monitor the protection package like you monitor the borrower.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8E35"/>
                </a:solidFill>
                <a:latin typeface="Aptos"/>
              </a:rP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64184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DD8E5"/>
                </a:solidFill>
                <a:latin typeface="Aptos"/>
              </a:rPr>
              <a:t>Good mitigation does not eliminate credit risk. It changes the shape, severity and recoverability of loss — and that can materially change a lending decision.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6577"/>
                </a:solidFill>
                <a:latin typeface="Aptos"/>
              </a:rPr>
              <a:t>3.6  CREDIT RISK MITIGATION  | 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6473952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586577"/>
                </a:solidFill>
                <a:latin typeface="Aptos"/>
              </a:rPr>
              <a:t>CONFIDENTIAL • TRAINING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