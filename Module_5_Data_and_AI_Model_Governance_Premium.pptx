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/>
            </a:pPr>
            <a:r>
              <a:t>Illustrative PSI drift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PSI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</c:v>
                </c:pt>
                <c:pt idx="1">
                  <c:v>0.08</c:v>
                </c:pt>
                <c:pt idx="2">
                  <c:v>0.11</c:v>
                </c:pt>
                <c:pt idx="3">
                  <c:v>0.17</c:v>
                </c:pt>
                <c:pt idx="4">
                  <c:v>0.24</c:v>
                </c:pt>
                <c:pt idx="5">
                  <c:v>0.29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35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3CDDA"/>
                </a:solidFill>
                <a:latin typeface="Aptos"/>
              </a:defRPr>
            </a:pPr>
            <a:r>
              <a:rPr>
                <a:latin typeface="Aptos"/>
              </a:rPr>
              <a:t>MODULE 5  | 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332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Data &amp; AI Model</a:t>
            </a:r>
            <a:br/>
            <a:r>
              <a:rPr>
                <a:latin typeface="Aptos"/>
              </a:rP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052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9D5E0"/>
                </a:solidFill>
                <a:latin typeface="Aptos"/>
              </a:defRPr>
            </a:pPr>
            <a:r>
              <a:rPr>
                <a:latin typeface="Aptos"/>
              </a:rPr>
              <a:t>From model inventory to independent validation, lifecycle control and GenAI assurance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63440"/>
            <a:ext cx="1554480" cy="310896"/>
          </a:xfrm>
          <a:prstGeom prst="roundRect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72583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663440"/>
            <a:ext cx="1554480" cy="310896"/>
          </a:xfrm>
          <a:prstGeom prst="roundRect">
            <a:avLst/>
          </a:prstGeom>
          <a:solidFill>
            <a:srgbClr val="E2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4672583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A8962"/>
                </a:solidFill>
                <a:latin typeface="Aptos"/>
              </a:defRPr>
            </a:pPr>
            <a:r>
              <a:rPr>
                <a:latin typeface="Aptos"/>
              </a:rPr>
              <a:t>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663440"/>
            <a:ext cx="1554480" cy="310896"/>
          </a:xfrm>
          <a:prstGeom prst="roundRect">
            <a:avLst/>
          </a:prstGeom>
          <a:solidFill>
            <a:srgbClr val="F9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672583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D39132"/>
                </a:solidFill>
                <a:latin typeface="Aptos"/>
              </a:defRPr>
            </a:pPr>
            <a:r>
              <a:rPr>
                <a:latin typeface="Aptos"/>
              </a:rPr>
              <a:t>VALIDATE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4663440"/>
            <a:ext cx="1554480" cy="310896"/>
          </a:xfrm>
          <a:prstGeom prst="roundRect">
            <a:avLst/>
          </a:prstGeom>
          <a:solidFill>
            <a:srgbClr val="EC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4672583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MONITOR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4663440"/>
            <a:ext cx="1554480" cy="310896"/>
          </a:xfrm>
          <a:prstGeom prst="roundRect">
            <a:avLst/>
          </a:prstGeom>
          <a:solidFill>
            <a:srgbClr val="F7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4672583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74040"/>
                </a:solidFill>
                <a:latin typeface="Aptos"/>
              </a:defRPr>
            </a:pPr>
            <a:r>
              <a:rPr>
                <a:latin typeface="Aptos"/>
              </a:rPr>
              <a:t>DECIDE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68880" y="4818888"/>
            <a:ext cx="411480" cy="0"/>
          </a:xfrm>
          <a:prstGeom prst="line">
            <a:avLst/>
          </a:prstGeom>
          <a:ln w="19050">
            <a:solidFill>
              <a:srgbClr val="7D9B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26280" y="4818888"/>
            <a:ext cx="411480" cy="0"/>
          </a:xfrm>
          <a:prstGeom prst="line">
            <a:avLst/>
          </a:prstGeom>
          <a:ln w="19050">
            <a:solidFill>
              <a:srgbClr val="7D9B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4818888"/>
            <a:ext cx="411480" cy="0"/>
          </a:xfrm>
          <a:prstGeom prst="line">
            <a:avLst/>
          </a:prstGeom>
          <a:ln w="19050">
            <a:solidFill>
              <a:srgbClr val="7D9B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41080" y="4818888"/>
            <a:ext cx="411480" cy="0"/>
          </a:xfrm>
          <a:prstGeom prst="line">
            <a:avLst/>
          </a:prstGeom>
          <a:ln w="19050">
            <a:solidFill>
              <a:srgbClr val="7D9B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587044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BABBA"/>
                </a:solidFill>
                <a:latin typeface="Aptos"/>
              </a:defRPr>
            </a:pPr>
            <a:r>
              <a:rPr>
                <a:latin typeface="Aptos"/>
              </a:rPr>
              <a:t>Oxford + MIT + Harvard depth • banking / finance / corporate operating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12648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BABBA"/>
                </a:solidFill>
                <a:latin typeface="Aptos"/>
              </a:defRPr>
            </a:pPr>
            <a:r>
              <a:rPr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EXECUTIVE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Governance is the control system around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 model can be statistically strong and still be a business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651760" cy="1508760"/>
          </a:xfrm>
          <a:prstGeom prst="roundRect">
            <a:avLst/>
          </a:prstGeom>
          <a:solidFill>
            <a:srgbClr val="E2EDF9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54864" cy="150876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2821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57400"/>
            <a:ext cx="2377440" cy="941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Rules, roles, evidence and controls that govern data, models and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00200"/>
            <a:ext cx="2651760" cy="1508760"/>
          </a:xfrm>
          <a:prstGeom prst="roundRect">
            <a:avLst/>
          </a:prstGeom>
          <a:solidFill>
            <a:srgbClr val="E2F1EB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600200"/>
            <a:ext cx="54864" cy="1508760"/>
          </a:xfrm>
          <a:prstGeom prst="rect">
            <a:avLst/>
          </a:prstGeom>
          <a:solidFill>
            <a:srgbClr val="2A8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72821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057400"/>
            <a:ext cx="2377440" cy="941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Reduce financial, regulatory, conduct, privacy and operational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1600200"/>
            <a:ext cx="2651760" cy="1508760"/>
          </a:xfrm>
          <a:prstGeom prst="roundRect">
            <a:avLst/>
          </a:prstGeom>
          <a:solidFill>
            <a:srgbClr val="F9EFD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8504" y="1600200"/>
            <a:ext cx="54864" cy="1508760"/>
          </a:xfrm>
          <a:prstGeom prst="rect">
            <a:avLst/>
          </a:prstGeom>
          <a:solidFill>
            <a:srgbClr val="D3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72821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057400"/>
            <a:ext cx="2377440" cy="941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Inventory → tier → develop → validate → approve → monitor →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0576" y="1600200"/>
            <a:ext cx="2423160" cy="1508760"/>
          </a:xfrm>
          <a:prstGeom prst="roundRect">
            <a:avLst/>
          </a:prstGeom>
          <a:solidFill>
            <a:srgbClr val="ECE7F8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0576" y="1600200"/>
            <a:ext cx="54864" cy="1508760"/>
          </a:xfrm>
          <a:prstGeom prst="rect">
            <a:avLst/>
          </a:prstGeom>
          <a:solidFill>
            <a:srgbClr val="6F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7" y="1728216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SO WHAT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2057400"/>
            <a:ext cx="2148840" cy="941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Faster safe deployment, clearer accountability and fewer control surprises.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29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 useful mental model: Governance = Decision rights + Evidence + Challenge +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977639"/>
            <a:ext cx="1828800" cy="310896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3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74040"/>
                </a:solidFill>
                <a:latin typeface="Aptos"/>
              </a:defRPr>
            </a:pPr>
            <a:r>
              <a:rPr>
                <a:latin typeface="Aptos"/>
              </a:rPr>
              <a:t>MODEL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995927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Wrong / unstable 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489704"/>
            <a:ext cx="1828800" cy="310896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9884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D39132"/>
                </a:solidFill>
                <a:latin typeface="Aptos"/>
              </a:defRPr>
            </a:pPr>
            <a:r>
              <a:rPr>
                <a:latin typeface="Aptos"/>
              </a:rPr>
              <a:t>DATA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507992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Bad, biased, stale or unlicensed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001768"/>
            <a:ext cx="1828800" cy="310896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1091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USE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020055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Correct model, wrong business 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513831"/>
            <a:ext cx="1828800" cy="310896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522975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CHANGE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5532119"/>
            <a:ext cx="8138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Uncontrolled retraining / versioning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Enterprise governance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Separate the policy layer, decision layer and execution layer — but connect the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10561320" cy="841248"/>
          </a:xfrm>
          <a:prstGeom prst="roundRect">
            <a:avLst/>
          </a:prstGeom>
          <a:solidFill>
            <a:srgbClr val="E7EDF3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099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D1B2A"/>
                </a:solidFill>
                <a:latin typeface="Aptos"/>
              </a:defRPr>
            </a:pPr>
            <a:r>
              <a:rPr>
                <a:latin typeface="Aptos"/>
              </a:rPr>
              <a:t>1  POLICY &amp; RISK APPETITE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709928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Board / CRO / Risk Committee • principles • prohibited uses • thresholds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450592"/>
            <a:ext cx="0" cy="265176"/>
          </a:xfrm>
          <a:prstGeom prst="line">
            <a:avLst/>
          </a:prstGeom>
          <a:ln w="19050">
            <a:solidFill>
              <a:srgbClr val="96A2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2743200"/>
            <a:ext cx="10561320" cy="841248"/>
          </a:xfrm>
          <a:prstGeom prst="roundRect">
            <a:avLst/>
          </a:prstGeom>
          <a:solidFill>
            <a:srgbClr val="F5F7F9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2  GOVERNANCE &amp;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852928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Model Risk • Data Office • Compliance • Legal • Architecture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3593592"/>
            <a:ext cx="0" cy="265176"/>
          </a:xfrm>
          <a:prstGeom prst="line">
            <a:avLst/>
          </a:prstGeom>
          <a:ln w="19050">
            <a:solidFill>
              <a:srgbClr val="96A2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3886200"/>
            <a:ext cx="10561320" cy="841248"/>
          </a:xfrm>
          <a:prstGeom prst="roundRect">
            <a:avLst/>
          </a:prstGeom>
          <a:solidFill>
            <a:srgbClr val="F5F7F9"/>
          </a:solidFill>
          <a:ln>
            <a:solidFill>
              <a:srgbClr val="D2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959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A8962"/>
                </a:solidFill>
                <a:latin typeface="Aptos"/>
              </a:defRPr>
            </a:pPr>
            <a:r>
              <a:rPr>
                <a:latin typeface="Aptos"/>
              </a:rPr>
              <a:t>3  EXECUTION &amp;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995928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Model owners • Data scientists • Engineering • Business •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66360"/>
            <a:ext cx="3200400" cy="868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166360"/>
            <a:ext cx="54864" cy="86868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29437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623560"/>
            <a:ext cx="292608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Who can approve, override, pause or retire?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5166360"/>
            <a:ext cx="3200400" cy="868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5166360"/>
            <a:ext cx="54864" cy="868680"/>
          </a:xfrm>
          <a:prstGeom prst="rect">
            <a:avLst/>
          </a:prstGeom>
          <a:solidFill>
            <a:srgbClr val="D3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529437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5623560"/>
            <a:ext cx="292608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Can an auditor reconstruct the decision?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5166360"/>
            <a:ext cx="3886200" cy="868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5166360"/>
            <a:ext cx="54864" cy="868680"/>
          </a:xfrm>
          <a:prstGeom prst="rect">
            <a:avLst/>
          </a:prstGeom>
          <a:solidFill>
            <a:srgbClr val="6F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1" y="529437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RISK-BASED PROPORTIONALITY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5623560"/>
            <a:ext cx="361188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High-impact models receive deeper challenge.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DATA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Data governance: the model inherits the quality of its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Data governance is not a catalog exercise; it is a control over model assumptions and downstream decisions.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28800"/>
            <a:ext cx="658368" cy="658368"/>
          </a:xfrm>
          <a:prstGeom prst="ellipse">
            <a:avLst/>
          </a:prstGeom>
          <a:solidFill>
            <a:srgbClr val="E2EDF9"/>
          </a:solidFill>
          <a:ln w="19050">
            <a:solidFill>
              <a:srgbClr val="26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13143"/>
            <a:ext cx="566928" cy="276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830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03120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Lineage, owner, purpose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67128" y="2157984"/>
            <a:ext cx="612648" cy="0"/>
          </a:xfrm>
          <a:prstGeom prst="line">
            <a:avLst/>
          </a:prstGeom>
          <a:ln w="1778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926080" y="1828800"/>
            <a:ext cx="658368" cy="658368"/>
          </a:xfrm>
          <a:prstGeom prst="ellipse">
            <a:avLst/>
          </a:prstGeom>
          <a:solidFill>
            <a:srgbClr val="E2EDF9"/>
          </a:solidFill>
          <a:ln w="19050">
            <a:solidFill>
              <a:srgbClr val="26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013143"/>
            <a:ext cx="566928" cy="276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7830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103120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Completeness, accuracy, timeliness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34840" y="2157984"/>
            <a:ext cx="612648" cy="0"/>
          </a:xfrm>
          <a:prstGeom prst="line">
            <a:avLst/>
          </a:prstGeom>
          <a:ln w="1778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93792" y="1828800"/>
            <a:ext cx="658368" cy="658368"/>
          </a:xfrm>
          <a:prstGeom prst="ellipse">
            <a:avLst/>
          </a:prstGeom>
          <a:solidFill>
            <a:srgbClr val="E2EDF9"/>
          </a:solidFill>
          <a:ln w="19050">
            <a:solidFill>
              <a:srgbClr val="26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2013143"/>
            <a:ext cx="566928" cy="276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17830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103120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Representativeness, target leakage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02552" y="2157984"/>
            <a:ext cx="612648" cy="0"/>
          </a:xfrm>
          <a:prstGeom prst="line">
            <a:avLst/>
          </a:prstGeom>
          <a:ln w="1778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461504" y="1828800"/>
            <a:ext cx="658368" cy="658368"/>
          </a:xfrm>
          <a:prstGeom prst="ellipse">
            <a:avLst/>
          </a:prstGeom>
          <a:solidFill>
            <a:srgbClr val="E2EDF9"/>
          </a:solidFill>
          <a:ln w="19050">
            <a:solidFill>
              <a:srgbClr val="26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7224" y="2013143"/>
            <a:ext cx="566928" cy="276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17830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103120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Proxy effects, subgroup performance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70264" y="2157984"/>
            <a:ext cx="612648" cy="0"/>
          </a:xfrm>
          <a:prstGeom prst="line">
            <a:avLst/>
          </a:prstGeom>
          <a:ln w="1778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729216" y="1828800"/>
            <a:ext cx="658368" cy="658368"/>
          </a:xfrm>
          <a:prstGeom prst="ellipse">
            <a:avLst/>
          </a:prstGeom>
          <a:solidFill>
            <a:srgbClr val="E2EDF9"/>
          </a:solidFill>
          <a:ln w="19050">
            <a:solidFill>
              <a:srgbClr val="26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4936" y="2013143"/>
            <a:ext cx="566928" cy="276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33888" y="17830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33888" y="2103120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Access, retention, change logs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246120"/>
            <a:ext cx="5212080" cy="2240280"/>
          </a:xfrm>
          <a:prstGeom prst="roundRect">
            <a:avLst/>
          </a:prstGeom>
          <a:solidFill>
            <a:srgbClr val="E2EDF9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246120"/>
            <a:ext cx="54864" cy="224028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3374136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ILLUSTRATIVE DATA-QUALITY ECONOMICS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3703320"/>
            <a:ext cx="493776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Portfolio: 100,000 applications</a:t>
            </a:r>
            <a:br/>
            <a:r>
              <a:rPr>
                <a:latin typeface="Aptos"/>
              </a:rPr>
              <a:t>Missing-income rate: 8% → 2%</a:t>
            </a:r>
            <a:br/>
            <a:r>
              <a:rPr>
                <a:latin typeface="Aptos"/>
              </a:rPr>
              <a:t>Bad-rate in affected records: 6.0%</a:t>
            </a:r>
            <a:br/>
            <a:r>
              <a:rPr>
                <a:latin typeface="Aptos"/>
              </a:rPr>
              <a:t>If 6,000 records are affected and 4% of approvals change, ≈240 decisions move.</a:t>
            </a:r>
            <a:br/>
            <a:r>
              <a:rPr>
                <a:latin typeface="Aptos"/>
              </a:rPr>
              <a:t>At ₹2 lakh average exposure, decision exposure ≈ ₹4.8 crore.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3246120"/>
            <a:ext cx="5257800" cy="2240280"/>
          </a:xfrm>
          <a:prstGeom prst="roundRect">
            <a:avLst/>
          </a:prstGeom>
          <a:solidFill>
            <a:srgbClr val="E2F1EB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3246120"/>
            <a:ext cx="54864" cy="2240280"/>
          </a:xfrm>
          <a:prstGeom prst="rect">
            <a:avLst/>
          </a:prstGeom>
          <a:solidFill>
            <a:srgbClr val="2A8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3374136"/>
            <a:ext cx="4983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CONTROL QUESTIONS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703320"/>
            <a:ext cx="498348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• Is the source authoritative?</a:t>
            </a:r>
            <a:br/>
            <a:r>
              <a:rPr>
                <a:latin typeface="Aptos"/>
              </a:rPr>
              <a:t>• Does the variable mean what the model assumes?</a:t>
            </a:r>
            <a:br/>
            <a:r>
              <a:rPr>
                <a:latin typeface="Aptos"/>
              </a:rPr>
              <a:t>• Could the feature encode a protected characteristic?</a:t>
            </a:r>
            <a:br/>
            <a:r>
              <a:rPr>
                <a:latin typeface="Aptos"/>
              </a:rPr>
              <a:t>• Can we reproduce the training dataset six months later?</a:t>
            </a:r>
            <a:br/>
            <a:r>
              <a:rPr>
                <a:latin typeface="Aptos"/>
              </a:rPr>
              <a:t>• Who signs off on a definition change?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MODEL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Model governance: turn a model into an accountable business 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The governance object is not only the algorithm — it is the model + data + use + owner + evidence +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246120" cy="4343400"/>
          </a:xfrm>
          <a:prstGeom prst="roundRect">
            <a:avLst/>
          </a:prstGeom>
          <a:solidFill>
            <a:srgbClr val="E2EDF9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4864" cy="434340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3677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MODEL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65960"/>
            <a:ext cx="2971800" cy="377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Model ID: CR-APP-042</a:t>
            </a:r>
            <a:br/>
            <a:r>
              <a:rPr>
                <a:latin typeface="Aptos"/>
              </a:rPr>
              <a:t>Owner: Head of Credit Analytics</a:t>
            </a:r>
            <a:br/>
            <a:r>
              <a:rPr>
                <a:latin typeface="Aptos"/>
              </a:rPr>
              <a:t>Purpose: application PD</a:t>
            </a:r>
            <a:br/>
            <a:r>
              <a:rPr>
                <a:latin typeface="Aptos"/>
              </a:rPr>
              <a:t>Materiality: High</a:t>
            </a:r>
            <a:br/>
            <a:r>
              <a:rPr>
                <a:latin typeface="Aptos"/>
              </a:rPr>
              <a:t>Input data: bureau + internal</a:t>
            </a:r>
            <a:br/>
            <a:r>
              <a:rPr>
                <a:latin typeface="Aptos"/>
              </a:rPr>
              <a:t>Method: logistic regression</a:t>
            </a:r>
            <a:br/>
            <a:r>
              <a:rPr>
                <a:latin typeface="Aptos"/>
              </a:rPr>
              <a:t>Version: v4.2</a:t>
            </a:r>
            <a:br/>
            <a:r>
              <a:rPr>
                <a:latin typeface="Aptos"/>
              </a:rPr>
              <a:t>Approval: MRM Committee</a:t>
            </a:r>
            <a:br/>
            <a:r>
              <a:rPr>
                <a:latin typeface="Aptos"/>
              </a:rPr>
              <a:t>Next review: 6 months</a:t>
            </a:r>
            <a:br/>
            <a:r>
              <a:rPr>
                <a:latin typeface="Aptos"/>
              </a:rPr>
              <a:t>Status: 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868680" cy="310896"/>
          </a:xfrm>
          <a:prstGeom prst="roundRect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37943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DEFINE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49824" y="1984248"/>
            <a:ext cx="36576" cy="0"/>
          </a:xfrm>
          <a:prstGeom prst="line">
            <a:avLst/>
          </a:prstGeom>
          <a:ln w="15240">
            <a:solidFill>
              <a:srgbClr val="9BA5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32120" y="1828800"/>
            <a:ext cx="868680" cy="310896"/>
          </a:xfrm>
          <a:prstGeom prst="roundRect">
            <a:avLst/>
          </a:prstGeom>
          <a:solidFill>
            <a:srgbClr val="E2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1837943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A8962"/>
                </a:solidFill>
                <a:latin typeface="Aptos"/>
              </a:defRPr>
            </a:pPr>
            <a:r>
              <a:rPr>
                <a:latin typeface="Aptos"/>
              </a:rPr>
              <a:t>DEVELOP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9944" y="1984248"/>
            <a:ext cx="36576" cy="0"/>
          </a:xfrm>
          <a:prstGeom prst="line">
            <a:avLst/>
          </a:prstGeom>
          <a:ln w="15240">
            <a:solidFill>
              <a:srgbClr val="9BA5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92240" y="1828800"/>
            <a:ext cx="868680" cy="310896"/>
          </a:xfrm>
          <a:prstGeom prst="roundRect">
            <a:avLst/>
          </a:prstGeom>
          <a:solidFill>
            <a:srgbClr val="F9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837943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D39132"/>
                </a:solidFill>
                <a:latin typeface="Aptos"/>
              </a:defRPr>
            </a:pPr>
            <a:r>
              <a:rPr>
                <a:latin typeface="Aptos"/>
              </a:rPr>
              <a:t>VALIDATE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70063" y="1984248"/>
            <a:ext cx="36577" cy="0"/>
          </a:xfrm>
          <a:prstGeom prst="line">
            <a:avLst/>
          </a:prstGeom>
          <a:ln w="15240">
            <a:solidFill>
              <a:srgbClr val="9BA5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52360" y="1828800"/>
            <a:ext cx="868680" cy="310896"/>
          </a:xfrm>
          <a:prstGeom prst="roundRect">
            <a:avLst/>
          </a:prstGeom>
          <a:solidFill>
            <a:srgbClr val="EC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837943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APPROVE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30183" y="1984248"/>
            <a:ext cx="36577" cy="0"/>
          </a:xfrm>
          <a:prstGeom prst="line">
            <a:avLst/>
          </a:prstGeom>
          <a:ln w="15240">
            <a:solidFill>
              <a:srgbClr val="9BA5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412480" y="1828800"/>
            <a:ext cx="868680" cy="310896"/>
          </a:xfrm>
          <a:prstGeom prst="roundRect">
            <a:avLst/>
          </a:prstGeom>
          <a:solidFill>
            <a:srgbClr val="F7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837943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74040"/>
                </a:solidFill>
                <a:latin typeface="Aptos"/>
              </a:defRPr>
            </a:pPr>
            <a:r>
              <a:rPr>
                <a:latin typeface="Aptos"/>
              </a:rPr>
              <a:t>MONITOR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0304" y="1984248"/>
            <a:ext cx="36576" cy="0"/>
          </a:xfrm>
          <a:prstGeom prst="line">
            <a:avLst/>
          </a:prstGeom>
          <a:ln w="15240">
            <a:solidFill>
              <a:srgbClr val="9BA5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372600" y="1828800"/>
            <a:ext cx="868680" cy="310896"/>
          </a:xfrm>
          <a:prstGeom prst="roundRect">
            <a:avLst/>
          </a:prstGeom>
          <a:solidFill>
            <a:srgbClr val="EB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1837943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RETIRE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246888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Governance gates are decision points, not documentation milestones.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3063240"/>
            <a:ext cx="6492240" cy="56692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2" y="3063240"/>
            <a:ext cx="54864" cy="566928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3191256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ASSUMPTIONS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4" y="3520440"/>
            <a:ext cx="62179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Business rationale + limitations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0832" y="3749039"/>
            <a:ext cx="6492240" cy="56692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70832" y="3749039"/>
            <a:ext cx="54864" cy="566928"/>
          </a:xfrm>
          <a:prstGeom prst="rect">
            <a:avLst/>
          </a:prstGeom>
          <a:solidFill>
            <a:srgbClr val="2A8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5424" y="3877055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4206240"/>
            <a:ext cx="62179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Discrimination + calibration + stability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0832" y="4434840"/>
            <a:ext cx="6492240" cy="56692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70832" y="4434840"/>
            <a:ext cx="54864" cy="566928"/>
          </a:xfrm>
          <a:prstGeom prst="rect">
            <a:avLst/>
          </a:prstGeom>
          <a:solidFill>
            <a:srgbClr val="D3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35424" y="4562855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ROBUSTNESS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5424" y="4892040"/>
            <a:ext cx="62179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Stress, sensitivity, challenger models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70832" y="5120640"/>
            <a:ext cx="6492240" cy="56692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70832" y="5120640"/>
            <a:ext cx="54864" cy="566928"/>
          </a:xfrm>
          <a:prstGeom prst="rect">
            <a:avLst/>
          </a:prstGeom>
          <a:solidFill>
            <a:srgbClr val="6F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35424" y="5248655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FAIRNESS / CONDUCT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5424" y="5577840"/>
            <a:ext cx="62179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Outcomes, overrides, adverse impacts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DEVELOPMENT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Model development &amp; testing: design the evidence before the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 strong test plan makes model risk observable before production.</a:t>
            </a:r>
          </a:p>
        </p:txBody>
      </p:sp>
      <p:sp>
        <p:nvSpPr>
          <p:cNvPr id="7" name="Trapezoid 6"/>
          <p:cNvSpPr/>
          <p:nvPr/>
        </p:nvSpPr>
        <p:spPr>
          <a:xfrm>
            <a:off x="929487" y="868680"/>
            <a:ext cx="10332720" cy="530352"/>
          </a:xfrm>
          <a:prstGeom prst="trapezoid">
            <a:avLst/>
          </a:prstGeom>
          <a:solidFill>
            <a:srgbClr val="E2EDF9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647" y="941832"/>
            <a:ext cx="330647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5958" y="941832"/>
            <a:ext cx="650961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Define decision, population, target</a:t>
            </a:r>
          </a:p>
        </p:txBody>
      </p:sp>
      <p:sp>
        <p:nvSpPr>
          <p:cNvPr id="10" name="Trapezoid 9"/>
          <p:cNvSpPr/>
          <p:nvPr/>
        </p:nvSpPr>
        <p:spPr>
          <a:xfrm>
            <a:off x="1523847" y="1600200"/>
            <a:ext cx="9144000" cy="530352"/>
          </a:xfrm>
          <a:prstGeom prst="trapezoid">
            <a:avLst/>
          </a:prstGeom>
          <a:solidFill>
            <a:srgbClr val="E2F1EB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1007" y="167335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A8962"/>
                </a:solidFill>
                <a:latin typeface="Aptos"/>
              </a:defRPr>
            </a:pPr>
            <a:r>
              <a:rPr>
                <a:latin typeface="Aptos"/>
              </a:rPr>
              <a:t>DATA / FEATURE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9927" y="1673352"/>
            <a:ext cx="5760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Leakage, missingness, stability, representativeness</a:t>
            </a:r>
          </a:p>
        </p:txBody>
      </p:sp>
      <p:sp>
        <p:nvSpPr>
          <p:cNvPr id="13" name="Trapezoid 12"/>
          <p:cNvSpPr/>
          <p:nvPr/>
        </p:nvSpPr>
        <p:spPr>
          <a:xfrm>
            <a:off x="2118207" y="2331720"/>
            <a:ext cx="7955280" cy="530352"/>
          </a:xfrm>
          <a:prstGeom prst="trapezoid">
            <a:avLst/>
          </a:prstGeom>
          <a:solidFill>
            <a:srgbClr val="F9EFDC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367" y="2404872"/>
            <a:ext cx="254568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D39132"/>
                </a:solidFill>
                <a:latin typeface="Aptos"/>
              </a:defRPr>
            </a:pPr>
            <a:r>
              <a:rPr>
                <a:latin typeface="Aptos"/>
              </a:rPr>
              <a:t>MODEL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897" y="2404872"/>
            <a:ext cx="501182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Baseline → challenger → selection</a:t>
            </a:r>
          </a:p>
        </p:txBody>
      </p:sp>
      <p:sp>
        <p:nvSpPr>
          <p:cNvPr id="16" name="Trapezoid 15"/>
          <p:cNvSpPr/>
          <p:nvPr/>
        </p:nvSpPr>
        <p:spPr>
          <a:xfrm>
            <a:off x="2712567" y="3063240"/>
            <a:ext cx="6766560" cy="530352"/>
          </a:xfrm>
          <a:prstGeom prst="trapezoid">
            <a:avLst/>
          </a:prstGeom>
          <a:solidFill>
            <a:srgbClr val="ECE7F8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49727" y="3136392"/>
            <a:ext cx="216529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TEST BATTERY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7866" y="3136392"/>
            <a:ext cx="42629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Accuracy, robustness, fairness,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60520"/>
            <a:ext cx="2514600" cy="14173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160520"/>
            <a:ext cx="54864" cy="141732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28853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FUNCTIONAL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617720"/>
            <a:ext cx="224028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Does it do what it was designed to do?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4160520"/>
            <a:ext cx="2514600" cy="14173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56432" y="4160520"/>
            <a:ext cx="54864" cy="1417320"/>
          </a:xfrm>
          <a:prstGeom prst="rect">
            <a:avLst/>
          </a:prstGeom>
          <a:solidFill>
            <a:srgbClr val="2A8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21024" y="428853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STATISTICAL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617720"/>
            <a:ext cx="224028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Does it discriminate, calibrate and generalize?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35624" y="4160520"/>
            <a:ext cx="2514600" cy="14173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35624" y="4160520"/>
            <a:ext cx="54864" cy="141732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216" y="428853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ADVERSARIAL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4617720"/>
            <a:ext cx="224028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What happens under stress, drift or manipulation?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14816" y="4160520"/>
            <a:ext cx="2606040" cy="14173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14816" y="4160520"/>
            <a:ext cx="54864" cy="1417320"/>
          </a:xfrm>
          <a:prstGeom prst="rect">
            <a:avLst/>
          </a:prstGeom>
          <a:solidFill>
            <a:srgbClr val="6F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9408" y="4288536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4617720"/>
            <a:ext cx="233172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Can changes be reproduced, approved and rolled back?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MODEL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Independent model validation: challenge the model on four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Validation should answer: Is it conceptually sound, empirically effective, robust in use and appropriately governed?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514600" cy="14173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54864" cy="141732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282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CONCEPTUAL SOUNDNESS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224028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Theory, assumptions, methodology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600200"/>
            <a:ext cx="2514600" cy="14173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600200"/>
            <a:ext cx="54864" cy="1417320"/>
          </a:xfrm>
          <a:prstGeom prst="rect">
            <a:avLst/>
          </a:prstGeom>
          <a:solidFill>
            <a:srgbClr val="2A8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7282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057400"/>
            <a:ext cx="224028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KS / Gini / AUC / calibration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00200"/>
            <a:ext cx="2514600" cy="14173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600200"/>
            <a:ext cx="54864" cy="1417320"/>
          </a:xfrm>
          <a:prstGeom prst="rect">
            <a:avLst/>
          </a:prstGeom>
          <a:solidFill>
            <a:srgbClr val="D3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17282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STABILITY &amp; ROBUSTNESS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057400"/>
            <a:ext cx="224028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PSI, drift, stress, sensitivity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600200"/>
            <a:ext cx="2514600" cy="14173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600200"/>
            <a:ext cx="54864" cy="1417320"/>
          </a:xfrm>
          <a:prstGeom prst="rect">
            <a:avLst/>
          </a:prstGeom>
          <a:solidFill>
            <a:srgbClr val="6F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17282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USE &amp;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2057400"/>
            <a:ext cx="224028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Limitations, overrides, monitoring,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3832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ILLUSTRATIVE VALIDATION CALCULATION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22191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Good = 12,000; Bad = 3,000. Model flags 2,400 bads and 1,200 goods.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572000"/>
            <a:ext cx="1325880" cy="640080"/>
          </a:xfrm>
          <a:prstGeom prst="rect">
            <a:avLst/>
          </a:prstGeom>
          <a:solidFill>
            <a:srgbClr val="E2F1E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08576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1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Pred. Bad</a:t>
            </a:r>
            <a:br/>
            <a:r>
              <a:rPr>
                <a:latin typeface="Aptos"/>
              </a:rPr>
              <a:t>Actual Bad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5546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A8962"/>
                </a:solidFill>
                <a:latin typeface="Aptos"/>
              </a:defRPr>
            </a:pPr>
            <a:r>
              <a:rPr>
                <a:latin typeface="Aptos"/>
              </a:rPr>
              <a:t>2,400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572000"/>
            <a:ext cx="1325880" cy="640080"/>
          </a:xfrm>
          <a:prstGeom prst="rect">
            <a:avLst/>
          </a:prstGeom>
          <a:solidFill>
            <a:srgbClr val="F7E5E5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4608576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1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Pred. Bad</a:t>
            </a:r>
            <a:br/>
            <a:r>
              <a:rPr>
                <a:latin typeface="Aptos"/>
              </a:rPr>
              <a:t>Actual Good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85546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B74040"/>
                </a:solidFill>
                <a:latin typeface="Aptos"/>
              </a:defRPr>
            </a:pPr>
            <a:r>
              <a:rPr>
                <a:latin typeface="Aptos"/>
              </a:rPr>
              <a:t>1,200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5303520"/>
            <a:ext cx="1325880" cy="640080"/>
          </a:xfrm>
          <a:prstGeom prst="rect">
            <a:avLst/>
          </a:prstGeom>
          <a:solidFill>
            <a:srgbClr val="F9EFD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40096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1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Pred. Good</a:t>
            </a:r>
            <a:br/>
            <a:r>
              <a:rPr>
                <a:latin typeface="Aptos"/>
              </a:rPr>
              <a:t>Actual Bad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86983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D39132"/>
                </a:solidFill>
                <a:latin typeface="Aptos"/>
              </a:defRPr>
            </a:pPr>
            <a:r>
              <a:rPr>
                <a:latin typeface="Aptos"/>
              </a:rPr>
              <a:t>600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5303520"/>
            <a:ext cx="1325880" cy="640080"/>
          </a:xfrm>
          <a:prstGeom prst="rect">
            <a:avLst/>
          </a:prstGeom>
          <a:solidFill>
            <a:srgbClr val="E2EDF9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5340096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1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Pred. Good</a:t>
            </a:r>
            <a:br/>
            <a:r>
              <a:rPr>
                <a:latin typeface="Aptos"/>
              </a:rPr>
              <a:t>Actual Good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586983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10,800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416052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Recall = 2,400 / 3,000 = 80%</a:t>
            </a:r>
            <a:br/>
            <a:r>
              <a:rPr>
                <a:latin typeface="Aptos"/>
              </a:rPr>
              <a:t>Precision = 2,400 / 3,600 = 66.7%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4892040"/>
            <a:ext cx="7040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Validation implication: performance metrics must be tied to the decision cost — a false positive and false negative rarely have equal economics.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POLICY &amp;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MRM policy &amp; documentation: evidence should be decision-grade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The goal is not a longer model document. The goal is a shorter path from question → evidence →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057400" cy="14630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54864" cy="146304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2821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57400"/>
            <a:ext cx="17830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Defines minimum control standard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0048" y="2304288"/>
            <a:ext cx="182880" cy="0"/>
          </a:xfrm>
          <a:prstGeom prst="line">
            <a:avLst/>
          </a:prstGeom>
          <a:ln w="1651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98648" y="1600200"/>
            <a:ext cx="2057400" cy="14630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8648" y="1600200"/>
            <a:ext cx="54864" cy="1463040"/>
          </a:xfrm>
          <a:prstGeom prst="rect">
            <a:avLst/>
          </a:prstGeom>
          <a:solidFill>
            <a:srgbClr val="2A8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72821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MODEL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057400"/>
            <a:ext cx="17830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Explains methodology + limitations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74336" y="2304288"/>
            <a:ext cx="182880" cy="0"/>
          </a:xfrm>
          <a:prstGeom prst="line">
            <a:avLst/>
          </a:prstGeom>
          <a:ln w="1651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02936" y="1600200"/>
            <a:ext cx="2057400" cy="14630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02936" y="1600200"/>
            <a:ext cx="54864" cy="1463040"/>
          </a:xfrm>
          <a:prstGeom prst="rect">
            <a:avLst/>
          </a:prstGeom>
          <a:solidFill>
            <a:srgbClr val="D3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172821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VALIDATION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2057400"/>
            <a:ext cx="17830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Independent challenge + findings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78624" y="2304288"/>
            <a:ext cx="182880" cy="0"/>
          </a:xfrm>
          <a:prstGeom prst="line">
            <a:avLst/>
          </a:prstGeom>
          <a:ln w="1651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07224" y="1600200"/>
            <a:ext cx="2057400" cy="14630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07224" y="1600200"/>
            <a:ext cx="54864" cy="1463040"/>
          </a:xfrm>
          <a:prstGeom prst="rect">
            <a:avLst/>
          </a:prstGeom>
          <a:solidFill>
            <a:srgbClr val="6F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172821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6" y="2057400"/>
            <a:ext cx="17830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Risk acceptance + conditions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82912" y="2304288"/>
            <a:ext cx="182880" cy="0"/>
          </a:xfrm>
          <a:prstGeom prst="line">
            <a:avLst/>
          </a:prstGeom>
          <a:ln w="1651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11512" y="1600200"/>
            <a:ext cx="2057400" cy="14630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11512" y="1600200"/>
            <a:ext cx="54864" cy="146304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76104" y="172821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057400"/>
            <a:ext cx="17830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Proof that controls continue to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5204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MINIMUM RACI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91363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Activity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886200"/>
            <a:ext cx="182880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87168" y="3913632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87168" y="3886200"/>
            <a:ext cx="10515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8728" y="3913632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38728" y="3886200"/>
            <a:ext cx="10515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0288" y="3913632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Business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90288" y="3886200"/>
            <a:ext cx="123444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24728" y="3913632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Internal Audit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24728" y="3886200"/>
            <a:ext cx="132588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82880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334255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Develop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87168" y="4315968"/>
            <a:ext cx="105156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7168" y="4334255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A/R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38728" y="4315968"/>
            <a:ext cx="105156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38728" y="4334255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90288" y="4315968"/>
            <a:ext cx="123444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90288" y="4334255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24728" y="4315968"/>
            <a:ext cx="132588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24728" y="4334255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4663440"/>
            <a:ext cx="1828800" cy="338328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4681727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Validate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87168" y="4663440"/>
            <a:ext cx="1051560" cy="338328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87168" y="4681727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38728" y="4663440"/>
            <a:ext cx="1051560" cy="338328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38728" y="4681727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A/R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90288" y="4663440"/>
            <a:ext cx="1234440" cy="338328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90288" y="4681727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24728" y="4663440"/>
            <a:ext cx="1325880" cy="338328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24728" y="4681727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5010912"/>
            <a:ext cx="182880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5029199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Approve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87168" y="5010912"/>
            <a:ext cx="105156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87168" y="5029199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38728" y="5010912"/>
            <a:ext cx="105156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38728" y="5029199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90288" y="5010912"/>
            <a:ext cx="123444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90288" y="5029199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24728" y="5010912"/>
            <a:ext cx="132588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24728" y="5029199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" y="5358383"/>
            <a:ext cx="1828800" cy="338328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5376671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Monitor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87168" y="5358383"/>
            <a:ext cx="1051560" cy="338328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87168" y="5376671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38728" y="5358383"/>
            <a:ext cx="1051560" cy="338328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38728" y="5376671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A/C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90288" y="5358383"/>
            <a:ext cx="1234440" cy="338328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90288" y="5376671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24728" y="5358383"/>
            <a:ext cx="1325880" cy="338328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24728" y="5376671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" y="5705856"/>
            <a:ext cx="182880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5724144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Audit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487168" y="5705856"/>
            <a:ext cx="105156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87168" y="5724144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I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38728" y="5705856"/>
            <a:ext cx="105156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38728" y="5724144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90288" y="5705856"/>
            <a:ext cx="123444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90288" y="5724144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24728" y="5705856"/>
            <a:ext cx="1325880" cy="338328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24728" y="5724144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A/R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315200" y="3611880"/>
            <a:ext cx="4114800" cy="2148840"/>
          </a:xfrm>
          <a:prstGeom prst="roundRect">
            <a:avLst/>
          </a:prstGeom>
          <a:solidFill>
            <a:srgbClr val="F7E5E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315200" y="3611880"/>
            <a:ext cx="54864" cy="214884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79792" y="3739896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RED FLAGS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79792" y="4069080"/>
            <a:ext cx="3840480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• Owner is “the team” rather than a named role</a:t>
            </a:r>
            <a:br/>
            <a:r>
              <a:rPr>
                <a:latin typeface="Aptos"/>
              </a:rPr>
              <a:t>• Validation repeats development evidence</a:t>
            </a:r>
            <a:br/>
            <a:r>
              <a:rPr>
                <a:latin typeface="Aptos"/>
              </a:rPr>
              <a:t>• Material limitations are buried in appendices</a:t>
            </a:r>
            <a:br/>
            <a:r>
              <a:rPr>
                <a:latin typeface="Aptos"/>
              </a:rPr>
              <a:t>• Approval has no risk-acceptance language</a:t>
            </a:r>
            <a:br/>
            <a:r>
              <a:rPr>
                <a:latin typeface="Aptos"/>
              </a:rPr>
              <a:t>• No evidence trail for model changes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Model review &amp; change management: treat change as a risk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Not every change is equal. Materiality should determine the depth of re-validation.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CHANGE → MATERIALITY → CONTROL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1508760" cy="310896"/>
          </a:xfrm>
          <a:prstGeom prst="roundRect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57984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CHANGE 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304288"/>
            <a:ext cx="640080" cy="0"/>
          </a:xfrm>
          <a:prstGeom prst="line">
            <a:avLst/>
          </a:prstGeom>
          <a:ln w="25400">
            <a:solidFill>
              <a:srgbClr val="2663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63240" y="2148840"/>
            <a:ext cx="1600200" cy="310896"/>
          </a:xfrm>
          <a:prstGeom prst="roundRect">
            <a:avLst/>
          </a:prstGeom>
          <a:solidFill>
            <a:srgbClr val="F9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157984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D39132"/>
                </a:solidFill>
                <a:latin typeface="Aptos"/>
              </a:defRPr>
            </a:pPr>
            <a:r>
              <a:rPr>
                <a:latin typeface="Aptos"/>
              </a:rPr>
              <a:t>IMPACT TEST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2304288"/>
            <a:ext cx="548640" cy="0"/>
          </a:xfrm>
          <a:prstGeom prst="line">
            <a:avLst/>
          </a:prstGeom>
          <a:ln w="25400">
            <a:solidFill>
              <a:srgbClr val="2663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03520" y="2148840"/>
            <a:ext cx="1417320" cy="310896"/>
          </a:xfrm>
          <a:prstGeom prst="roundRect">
            <a:avLst/>
          </a:prstGeom>
          <a:solidFill>
            <a:srgbClr val="E2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157984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A8962"/>
                </a:solidFill>
                <a:latin typeface="Aptos"/>
              </a:defRPr>
            </a:pPr>
            <a:r>
              <a:rPr>
                <a:latin typeface="Aptos"/>
              </a:rPr>
              <a:t>RISK TIER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66560" y="2304288"/>
            <a:ext cx="548640" cy="0"/>
          </a:xfrm>
          <a:prstGeom prst="line">
            <a:avLst/>
          </a:prstGeom>
          <a:ln w="25400">
            <a:solidFill>
              <a:srgbClr val="2663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2148840"/>
            <a:ext cx="1600200" cy="310896"/>
          </a:xfrm>
          <a:prstGeom prst="roundRect">
            <a:avLst/>
          </a:prstGeom>
          <a:solidFill>
            <a:srgbClr val="EC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157984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RE-VALIDATE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06840" y="2304288"/>
            <a:ext cx="548640" cy="0"/>
          </a:xfrm>
          <a:prstGeom prst="line">
            <a:avLst/>
          </a:prstGeom>
          <a:ln w="25400">
            <a:solidFill>
              <a:srgbClr val="2663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01200" y="2148840"/>
            <a:ext cx="1508760" cy="310896"/>
          </a:xfrm>
          <a:prstGeom prst="roundRect">
            <a:avLst/>
          </a:prstGeom>
          <a:solidFill>
            <a:srgbClr val="F7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157984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74040"/>
                </a:solidFill>
                <a:latin typeface="Aptos"/>
              </a:defRPr>
            </a:pPr>
            <a:r>
              <a:rPr>
                <a:latin typeface="Aptos"/>
              </a:rPr>
              <a:t>APPROVE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246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ILLUSTRATIVE CHANGE-MATERIALITY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576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Impact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3657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50" b="1">
                <a:solidFill>
                  <a:srgbClr val="B74040"/>
                </a:solidFill>
                <a:latin typeface="Aptos"/>
              </a:defRPr>
            </a:pPr>
            <a:r>
              <a:rPr>
                <a:latin typeface="Aptos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041648"/>
            <a:ext cx="9875520" cy="457200"/>
          </a:xfrm>
          <a:prstGeom prst="rect">
            <a:avLst/>
          </a:prstGeom>
          <a:solidFill>
            <a:srgbClr val="F2F6F8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11480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114800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Documentation update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617720"/>
            <a:ext cx="9875520" cy="457200"/>
          </a:xfrm>
          <a:prstGeom prst="rect">
            <a:avLst/>
          </a:prstGeom>
          <a:solidFill>
            <a:srgbClr val="F9EFDC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69087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D39132"/>
                </a:solidFill>
                <a:latin typeface="Aptos"/>
              </a:defRPr>
            </a:pPr>
            <a:r>
              <a:rPr>
                <a:latin typeface="Aptos"/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690872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Targeted testing + sign-off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193792"/>
            <a:ext cx="9875520" cy="457200"/>
          </a:xfrm>
          <a:prstGeom prst="rect">
            <a:avLst/>
          </a:prstGeom>
          <a:solidFill>
            <a:srgbClr val="F7E5E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266944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B74040"/>
                </a:solidFill>
                <a:latin typeface="Aptos"/>
              </a:defRPr>
            </a:pPr>
            <a:r>
              <a:rPr>
                <a:latin typeface="Aptos"/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266944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Independent re-validation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9788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Example: changing a reporting label ≠ replacing the bureau source ≠ changing the target definition.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AI/ML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AI/ML model lifecycle: governance must travel with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Lifecycle governance prevents the “approved once, unmanaged forever” problem.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28800"/>
            <a:ext cx="841248" cy="841248"/>
          </a:xfrm>
          <a:prstGeom prst="ellipse">
            <a:avLst/>
          </a:prstGeom>
          <a:solidFill>
            <a:srgbClr val="E2EDF9"/>
          </a:solidFill>
          <a:ln w="19050">
            <a:solidFill>
              <a:srgbClr val="266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64349"/>
            <a:ext cx="749808" cy="353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1783080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084831"/>
            <a:ext cx="868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Use case + risk tier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13432" y="2240280"/>
            <a:ext cx="91440" cy="0"/>
          </a:xfrm>
          <a:prstGeom prst="line">
            <a:avLst/>
          </a:prstGeom>
          <a:ln w="1524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41448" y="1828800"/>
            <a:ext cx="841248" cy="841248"/>
          </a:xfrm>
          <a:prstGeom prst="ellipse">
            <a:avLst/>
          </a:prstGeom>
          <a:solidFill>
            <a:srgbClr val="F8FAFC"/>
          </a:solidFill>
          <a:ln w="19050">
            <a:solidFill>
              <a:srgbClr val="2A8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2064349"/>
            <a:ext cx="749808" cy="353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1783080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A8962"/>
                </a:solidFill>
                <a:latin typeface="Aptos"/>
              </a:defRPr>
            </a:pPr>
            <a:r>
              <a:rPr>
                <a:latin typeface="Aptos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084831"/>
            <a:ext cx="868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Data + model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51960" y="2240280"/>
            <a:ext cx="91440" cy="0"/>
          </a:xfrm>
          <a:prstGeom prst="line">
            <a:avLst/>
          </a:prstGeom>
          <a:ln w="1524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79976" y="1828800"/>
            <a:ext cx="841248" cy="841248"/>
          </a:xfrm>
          <a:prstGeom prst="ellipse">
            <a:avLst/>
          </a:prstGeom>
          <a:solidFill>
            <a:srgbClr val="F8FAFC"/>
          </a:solidFill>
          <a:ln w="19050">
            <a:solidFill>
              <a:srgbClr val="D3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2064349"/>
            <a:ext cx="749808" cy="353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1783080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D39132"/>
                </a:solidFill>
                <a:latin typeface="Aptos"/>
              </a:defRPr>
            </a:pPr>
            <a:r>
              <a:rPr>
                <a:latin typeface="Aptos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084831"/>
            <a:ext cx="868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Independent challenge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90488" y="2240280"/>
            <a:ext cx="91440" cy="0"/>
          </a:xfrm>
          <a:prstGeom prst="line">
            <a:avLst/>
          </a:prstGeom>
          <a:ln w="1524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318504" y="1828800"/>
            <a:ext cx="841248" cy="841248"/>
          </a:xfrm>
          <a:prstGeom prst="ellipse">
            <a:avLst/>
          </a:prstGeom>
          <a:solidFill>
            <a:srgbClr val="F8FAFC"/>
          </a:solidFill>
          <a:ln w="19050">
            <a:solidFill>
              <a:srgbClr val="6F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64349"/>
            <a:ext cx="749808" cy="353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1783080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2084831"/>
            <a:ext cx="868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Controls + access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29016" y="2240280"/>
            <a:ext cx="91440" cy="0"/>
          </a:xfrm>
          <a:prstGeom prst="line">
            <a:avLst/>
          </a:prstGeom>
          <a:ln w="1524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257032" y="1828800"/>
            <a:ext cx="841248" cy="841248"/>
          </a:xfrm>
          <a:prstGeom prst="ellipse">
            <a:avLst/>
          </a:prstGeom>
          <a:solidFill>
            <a:srgbClr val="F8FAFC"/>
          </a:solidFill>
          <a:ln w="19050">
            <a:solidFill>
              <a:srgbClr val="B7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2064349"/>
            <a:ext cx="749808" cy="353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1783080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B74040"/>
                </a:solidFill>
                <a:latin typeface="Aptos"/>
              </a:defRPr>
            </a:pPr>
            <a:r>
              <a:rPr>
                <a:latin typeface="Aptos"/>
              </a:rP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084831"/>
            <a:ext cx="868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Drift + incidents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67544" y="2240280"/>
            <a:ext cx="91440" cy="0"/>
          </a:xfrm>
          <a:prstGeom prst="line">
            <a:avLst/>
          </a:prstGeom>
          <a:ln w="1524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195560" y="1828800"/>
            <a:ext cx="841248" cy="841248"/>
          </a:xfrm>
          <a:prstGeom prst="ellipse">
            <a:avLst/>
          </a:prstGeom>
          <a:solidFill>
            <a:srgbClr val="F8FAFC"/>
          </a:solidFill>
          <a:ln w="19050">
            <a:solidFill>
              <a:srgbClr val="526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2064349"/>
            <a:ext cx="749808" cy="353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28248" y="1783080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RETIRE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28248" y="2084831"/>
            <a:ext cx="868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Archive + lessons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731520" y="3657600"/>
          <a:ext cx="548640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6537960" y="3657600"/>
            <a:ext cx="4892040" cy="2240280"/>
          </a:xfrm>
          <a:prstGeom prst="roundRect">
            <a:avLst/>
          </a:prstGeom>
          <a:solidFill>
            <a:srgbClr val="F9EFD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37960" y="3657600"/>
            <a:ext cx="54864" cy="2240280"/>
          </a:xfrm>
          <a:prstGeom prst="rect">
            <a:avLst/>
          </a:prstGeom>
          <a:solidFill>
            <a:srgbClr val="D3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02552" y="3785615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DECISION RULES (ILLUSTRATIVE)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2552" y="4114800"/>
            <a:ext cx="461772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PSI &lt; 0.10 → normal monitoring</a:t>
            </a:r>
            <a:br/>
            <a:r>
              <a:rPr>
                <a:latin typeface="Aptos"/>
              </a:rPr>
              <a:t>0.10–0.25 → investigate / targeted review</a:t>
            </a:r>
            <a:br/>
            <a:r>
              <a:rPr>
                <a:latin typeface="Aptos"/>
              </a:rPr>
              <a:t>&gt; 0.25 → escalate, root-cause and assess redevelopment</a:t>
            </a:r>
            <a:br/>
            <a:br/>
            <a:r>
              <a:rPr>
                <a:latin typeface="Aptos"/>
              </a:rPr>
              <a:t>Important: thresholds are policy-specific; a single metric never proves model failure.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GENAI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GenAI governance: the risk surface expands beyond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For LLMs, governance must cover prompts, retrieval, tools, agents, outputs and human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383280" cy="12801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4864" cy="128016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82495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HALLUCINATION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11680"/>
            <a:ext cx="3108960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Plausible but false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383280" cy="12801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54864" cy="1280160"/>
          </a:xfrm>
          <a:prstGeom prst="rect">
            <a:avLst/>
          </a:prstGeom>
          <a:solidFill>
            <a:srgbClr val="D3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682495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DATA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3108960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Sensitive prompts / RAG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383280" cy="12801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54864" cy="1280160"/>
          </a:xfrm>
          <a:prstGeom prst="rect">
            <a:avLst/>
          </a:prstGeom>
          <a:solidFill>
            <a:srgbClr val="6F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682495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011680"/>
            <a:ext cx="3108960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Unequal or stereotyped outputs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54680"/>
            <a:ext cx="3383280" cy="12801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154680"/>
            <a:ext cx="54864" cy="128016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282696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PROMPT 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611880"/>
            <a:ext cx="3108960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Adversarial instructions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154680"/>
            <a:ext cx="3383280" cy="12801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154680"/>
            <a:ext cx="54864" cy="1280160"/>
          </a:xfrm>
          <a:prstGeom prst="rect">
            <a:avLst/>
          </a:prstGeom>
          <a:solidFill>
            <a:srgbClr val="2A8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282696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NON-DETERMINISM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3611880"/>
            <a:ext cx="3108960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Output variability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154680"/>
            <a:ext cx="3383280" cy="12801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154680"/>
            <a:ext cx="54864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3282696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AGENTIC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611880"/>
            <a:ext cx="3108960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Tool use creates real-world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92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Govern the whole decision chain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94960"/>
            <a:ext cx="12344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40410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PROMPT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984248" y="5550408"/>
            <a:ext cx="274320" cy="0"/>
          </a:xfrm>
          <a:prstGeom prst="line">
            <a:avLst/>
          </a:prstGeom>
          <a:ln w="1524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304288" y="5394960"/>
            <a:ext cx="12344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04288" y="540410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MODEL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557015" y="5550408"/>
            <a:ext cx="274321" cy="0"/>
          </a:xfrm>
          <a:prstGeom prst="line">
            <a:avLst/>
          </a:prstGeom>
          <a:ln w="1524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877056" y="5394960"/>
            <a:ext cx="12344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77056" y="540410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CONTEXT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129783" y="5550408"/>
            <a:ext cx="274321" cy="0"/>
          </a:xfrm>
          <a:prstGeom prst="line">
            <a:avLst/>
          </a:prstGeom>
          <a:ln w="1524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49824" y="5394960"/>
            <a:ext cx="12344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9824" y="540410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TOOL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02552" y="5550408"/>
            <a:ext cx="274320" cy="0"/>
          </a:xfrm>
          <a:prstGeom prst="line">
            <a:avLst/>
          </a:prstGeom>
          <a:ln w="1524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022592" y="5394960"/>
            <a:ext cx="12344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22592" y="540410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OUTPUT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275320" y="5550408"/>
            <a:ext cx="274320" cy="0"/>
          </a:xfrm>
          <a:prstGeom prst="line">
            <a:avLst/>
          </a:prstGeom>
          <a:ln w="1524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595360" y="5394960"/>
            <a:ext cx="12344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540410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HUMAN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848088" y="5550408"/>
            <a:ext cx="274320" cy="0"/>
          </a:xfrm>
          <a:prstGeom prst="line">
            <a:avLst/>
          </a:prstGeom>
          <a:ln w="1524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0168128" y="5394960"/>
            <a:ext cx="12344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68128" y="540410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DECISION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GENAI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GenAI assessment: combine automated metrics with human and adversarial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The right unit of assurance is the use case — not the foundation model in isolation.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182880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8249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600200"/>
            <a:ext cx="274320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6824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Metric / 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600200"/>
            <a:ext cx="246888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682496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Illustrative 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600200"/>
            <a:ext cx="246888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682496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Escalation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039112"/>
            <a:ext cx="1828800" cy="502920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112264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Factuality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2039112"/>
            <a:ext cx="2743200" cy="502920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9736" y="2112264"/>
            <a:ext cx="2670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Grounded-answer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2039112"/>
            <a:ext cx="2468880" cy="502920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2936" y="2112264"/>
            <a:ext cx="23957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≥ 95%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039112"/>
            <a:ext cx="2468880" cy="502920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1815" y="2112264"/>
            <a:ext cx="23957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&lt; 90%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569464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642616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Safety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2569464"/>
            <a:ext cx="27432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59736" y="2642616"/>
            <a:ext cx="2670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Policy-violation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2569464"/>
            <a:ext cx="24688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2936" y="2642616"/>
            <a:ext cx="23957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&lt; 0.5%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2569464"/>
            <a:ext cx="24688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71815" y="2642616"/>
            <a:ext cx="23957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≥ 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099815"/>
            <a:ext cx="1828800" cy="502920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172968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Privacy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3099815"/>
            <a:ext cx="2743200" cy="502920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59736" y="3172968"/>
            <a:ext cx="2670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Sensitive-data leakage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66360" y="3099815"/>
            <a:ext cx="2468880" cy="502920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02936" y="3172968"/>
            <a:ext cx="23957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0 critical events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3099815"/>
            <a:ext cx="2468880" cy="502920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71815" y="3172968"/>
            <a:ext cx="23957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Any critical event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630168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370332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Robustness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23160" y="3630168"/>
            <a:ext cx="27432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59736" y="3703320"/>
            <a:ext cx="2670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Adversarial pass rate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6360" y="3630168"/>
            <a:ext cx="24688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02936" y="3703320"/>
            <a:ext cx="23957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≥ 90%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3630168"/>
            <a:ext cx="24688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71815" y="3703320"/>
            <a:ext cx="23957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&lt; 80%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160520"/>
            <a:ext cx="1828800" cy="502920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" y="4233672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Utility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4160520"/>
            <a:ext cx="2743200" cy="502920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59736" y="4233672"/>
            <a:ext cx="2670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Task success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66360" y="4160520"/>
            <a:ext cx="2468880" cy="502920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02936" y="4233672"/>
            <a:ext cx="23957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≥ 85%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35240" y="4160520"/>
            <a:ext cx="2468880" cy="502920"/>
          </a:xfrm>
          <a:prstGeom prst="rect">
            <a:avLst/>
          </a:prstGeom>
          <a:solidFill>
            <a:srgbClr val="F7F9FB"/>
          </a:solidFill>
          <a:ln>
            <a:solidFill>
              <a:srgbClr val="E2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71815" y="4233672"/>
            <a:ext cx="23957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0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&lt; 75%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4892040"/>
            <a:ext cx="3429000" cy="1051560"/>
          </a:xfrm>
          <a:prstGeom prst="roundRect">
            <a:avLst/>
          </a:prstGeom>
          <a:solidFill>
            <a:srgbClr val="E2EDF9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4892040"/>
            <a:ext cx="54864" cy="105156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1" y="5020055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1  OFFLINE EVALS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1" y="5349240"/>
            <a:ext cx="315468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Golden set, rubric scoring, factuality &amp; policy tests.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89120" y="4892040"/>
            <a:ext cx="3429000" cy="1051560"/>
          </a:xfrm>
          <a:prstGeom prst="roundRect">
            <a:avLst/>
          </a:prstGeom>
          <a:solidFill>
            <a:srgbClr val="F7E5E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89120" y="4892040"/>
            <a:ext cx="54864" cy="105156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53712" y="5020055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2  RED TEAM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53712" y="5349240"/>
            <a:ext cx="315468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Prompt injection, jailbreaks, data exfiltration, tool abuse.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38160" y="4892040"/>
            <a:ext cx="3429000" cy="1051560"/>
          </a:xfrm>
          <a:prstGeom prst="roundRect">
            <a:avLst/>
          </a:prstGeom>
          <a:solidFill>
            <a:srgbClr val="E2F1EB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38160" y="4892040"/>
            <a:ext cx="54864" cy="1051560"/>
          </a:xfrm>
          <a:prstGeom prst="rect">
            <a:avLst/>
          </a:prstGeom>
          <a:solidFill>
            <a:srgbClr val="2A8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02752" y="5020055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3  LIVE MONITORING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02752" y="5349240"/>
            <a:ext cx="315468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Drift, incidents, feedback, escalation and kill-switch.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CASE STUDY •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Case study 1 — Credit underwriting model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Illustrative banking case: a high-materiality application PD model is being moved from logistic regression to gradient boosting.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2880360" cy="1828800"/>
          </a:xfrm>
          <a:prstGeom prst="roundRect">
            <a:avLst/>
          </a:prstGeom>
          <a:solidFill>
            <a:srgbClr val="E2EDF9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54864" cy="182880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260604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100,000 applications</a:t>
            </a:r>
            <a:br/>
            <a:r>
              <a:rPr>
                <a:latin typeface="Aptos"/>
              </a:rPr>
              <a:t>Average exposure: ₹2.0 lakh</a:t>
            </a:r>
            <a:br/>
            <a:r>
              <a:rPr>
                <a:latin typeface="Aptos"/>
              </a:rPr>
              <a:t>Baseline approval: 60%</a:t>
            </a:r>
            <a:br/>
            <a:r>
              <a:rPr>
                <a:latin typeface="Aptos"/>
              </a:rPr>
              <a:t>Baseline bad rate: 4.0%</a:t>
            </a:r>
            <a:br/>
            <a:r>
              <a:rPr>
                <a:latin typeface="Aptos"/>
              </a:rPr>
              <a:t>Expected loss = EAD × PD × LGD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554480"/>
            <a:ext cx="2880360" cy="1828800"/>
          </a:xfrm>
          <a:prstGeom prst="roundRect">
            <a:avLst/>
          </a:prstGeom>
          <a:solidFill>
            <a:srgbClr val="E2F1EB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554480"/>
            <a:ext cx="54864" cy="1828800"/>
          </a:xfrm>
          <a:prstGeom prst="rect">
            <a:avLst/>
          </a:prstGeom>
          <a:solidFill>
            <a:srgbClr val="2A8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1682495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CHALLENGER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011680"/>
            <a:ext cx="260604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Approval: 62%</a:t>
            </a:r>
            <a:br/>
            <a:r>
              <a:rPr>
                <a:latin typeface="Aptos"/>
              </a:rPr>
              <a:t>Predicted bad rate: 3.6%</a:t>
            </a:r>
            <a:br/>
            <a:r>
              <a:rPr>
                <a:latin typeface="Aptos"/>
              </a:rPr>
              <a:t>LGD: 45%</a:t>
            </a:r>
            <a:br/>
            <a:r>
              <a:rPr>
                <a:latin typeface="Aptos"/>
              </a:rPr>
              <a:t>Average EAD: ₹2.0 lakh</a:t>
            </a:r>
            <a:br/>
            <a:r>
              <a:rPr>
                <a:latin typeface="Aptos"/>
              </a:rPr>
              <a:t>Question: does uplift survive governance?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554480"/>
            <a:ext cx="4846320" cy="1828800"/>
          </a:xfrm>
          <a:prstGeom prst="roundRect">
            <a:avLst/>
          </a:prstGeom>
          <a:solidFill>
            <a:srgbClr val="F9EFD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1554480"/>
            <a:ext cx="54864" cy="1828800"/>
          </a:xfrm>
          <a:prstGeom prst="rect">
            <a:avLst/>
          </a:prstGeom>
          <a:solidFill>
            <a:srgbClr val="D3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1" y="1682495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STEP-BY-STEP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1" y="2011680"/>
            <a:ext cx="457200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Baseline EL = 100,000 × 60% × 4.0% × ₹2L × 45%</a:t>
            </a:r>
            <a:br/>
            <a:r>
              <a:rPr>
                <a:latin typeface="Aptos"/>
              </a:rPr>
              <a:t>= ₹21.6 crore</a:t>
            </a:r>
            <a:br/>
            <a:r>
              <a:rPr>
                <a:latin typeface="Aptos"/>
              </a:rPr>
              <a:t>Challenger EL = 100,000 × 62% × 3.6% × ₹2L × 45%</a:t>
            </a:r>
            <a:br/>
            <a:r>
              <a:rPr>
                <a:latin typeface="Aptos"/>
              </a:rPr>
              <a:t>= ₹20.088 crore</a:t>
            </a:r>
            <a:br/>
            <a:r>
              <a:rPr>
                <a:latin typeface="Aptos"/>
              </a:rPr>
              <a:t>Illustrative EL reduction ≈ ₹1.512 crore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03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MRM DECISION: uplift is not enough — test whether it is stable, explainable and operationally controllable.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205740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54864" cy="132588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37997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709160"/>
            <a:ext cx="178308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No leakage; stable bureau definitions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2072" y="4251960"/>
            <a:ext cx="205740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62072" y="4251960"/>
            <a:ext cx="54864" cy="1325880"/>
          </a:xfrm>
          <a:prstGeom prst="rect">
            <a:avLst/>
          </a:prstGeom>
          <a:solidFill>
            <a:srgbClr val="2A8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26664" y="437997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6664" y="4709160"/>
            <a:ext cx="178308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AUC/KS + calibration by segment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75503" y="4251960"/>
            <a:ext cx="205740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75503" y="4251960"/>
            <a:ext cx="54864" cy="1325880"/>
          </a:xfrm>
          <a:prstGeom prst="rect">
            <a:avLst/>
          </a:prstGeom>
          <a:solidFill>
            <a:srgbClr val="6F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0095" y="437997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FAIRNESS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0095" y="4709160"/>
            <a:ext cx="178308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Outcome parity / adverse impact review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88936" y="4251960"/>
            <a:ext cx="205740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88936" y="4251960"/>
            <a:ext cx="54864" cy="1325880"/>
          </a:xfrm>
          <a:prstGeom prst="rect">
            <a:avLst/>
          </a:prstGeom>
          <a:solidFill>
            <a:srgbClr val="D3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53527" y="437997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ROBUSTNESS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3527" y="4709160"/>
            <a:ext cx="178308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Stress + challenger + cut-off sensitivity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02367" y="4251960"/>
            <a:ext cx="205740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02367" y="4251960"/>
            <a:ext cx="54864" cy="132588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59" y="437997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59" y="4709160"/>
            <a:ext cx="178308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Versioning + monitoring + rollback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CASE STUDY • ILLUSTRATIVE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Case study 2 — GenAI credit analyst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Illustrative corporate-bank use case: GenAI summarizes annual reports, covenant packs and relationship-manager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6916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55064"/>
            <a:ext cx="1691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39112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10,000 pages / quarter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1801368"/>
            <a:ext cx="502920" cy="0"/>
          </a:xfrm>
          <a:prstGeom prst="line">
            <a:avLst/>
          </a:prstGeom>
          <a:ln w="1524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16352" y="1645920"/>
            <a:ext cx="16916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1655064"/>
            <a:ext cx="1691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A8962"/>
                </a:solidFill>
                <a:latin typeface="Aptos"/>
              </a:defRPr>
            </a:pPr>
            <a:r>
              <a:rPr>
                <a:latin typeface="Aptos"/>
              </a:rP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039112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Approved internal corpus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53712" y="1801368"/>
            <a:ext cx="502920" cy="0"/>
          </a:xfrm>
          <a:prstGeom prst="line">
            <a:avLst/>
          </a:prstGeom>
          <a:ln w="1524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9783" y="1645920"/>
            <a:ext cx="16916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3" y="1655064"/>
            <a:ext cx="1691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3" y="2039112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Enterprise model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67144" y="1801368"/>
            <a:ext cx="502919" cy="0"/>
          </a:xfrm>
          <a:prstGeom prst="line">
            <a:avLst/>
          </a:prstGeom>
          <a:ln w="1524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43216" y="1645920"/>
            <a:ext cx="16916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55064"/>
            <a:ext cx="1691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D39132"/>
                </a:solidFill>
                <a:latin typeface="Aptos"/>
              </a:defRPr>
            </a:pPr>
            <a:r>
              <a:rPr>
                <a:latin typeface="Aptos"/>
              </a:rPr>
              <a:t>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2039112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Analyst review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80576" y="1801368"/>
            <a:ext cx="502920" cy="0"/>
          </a:xfrm>
          <a:prstGeom prst="line">
            <a:avLst/>
          </a:prstGeom>
          <a:ln w="1524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56648" y="1645920"/>
            <a:ext cx="16916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6648" y="1655064"/>
            <a:ext cx="1691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B74040"/>
                </a:solidFill>
                <a:latin typeface="Aptos"/>
              </a:defRPr>
            </a:pPr>
            <a:r>
              <a:rPr>
                <a:latin typeface="Aptos"/>
              </a:rPr>
              <a:t>CREDIT MEMO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2039112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Final human decision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880360"/>
            <a:ext cx="3474720" cy="2331720"/>
          </a:xfrm>
          <a:prstGeom prst="roundRect">
            <a:avLst/>
          </a:prstGeom>
          <a:solidFill>
            <a:srgbClr val="E2F1EB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2880360"/>
            <a:ext cx="54864" cy="2331720"/>
          </a:xfrm>
          <a:prstGeom prst="rect">
            <a:avLst/>
          </a:prstGeom>
          <a:solidFill>
            <a:srgbClr val="2A8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" y="300837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PRODUCTIVITY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3337560"/>
            <a:ext cx="3200400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Analyst time / memo: 4.0h → 2.5h</a:t>
            </a:r>
            <a:br/>
            <a:r>
              <a:rPr>
                <a:latin typeface="Aptos"/>
              </a:rPr>
              <a:t>100 memos / month</a:t>
            </a:r>
            <a:br/>
            <a:r>
              <a:rPr>
                <a:latin typeface="Aptos"/>
              </a:rPr>
              <a:t>Hours saved = 150h/month</a:t>
            </a:r>
            <a:br/>
            <a:r>
              <a:rPr>
                <a:latin typeface="Aptos"/>
              </a:rPr>
              <a:t>At ₹2,500 fully-loaded hourly cost</a:t>
            </a:r>
            <a:br/>
            <a:r>
              <a:rPr>
                <a:latin typeface="Aptos"/>
              </a:rPr>
              <a:t>Monthly capacity value ≈ ₹3.75 lakh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2880360"/>
            <a:ext cx="3474720" cy="2331720"/>
          </a:xfrm>
          <a:prstGeom prst="roundRect">
            <a:avLst/>
          </a:prstGeom>
          <a:solidFill>
            <a:srgbClr val="F7E5E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2880360"/>
            <a:ext cx="54864" cy="233172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00837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RISK 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3337560"/>
            <a:ext cx="3200400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If hallucination rate = 2%</a:t>
            </a:r>
            <a:br/>
            <a:r>
              <a:rPr>
                <a:latin typeface="Aptos"/>
              </a:rPr>
              <a:t>100 memos × 2% = 2 affected memos/month</a:t>
            </a:r>
            <a:br/>
            <a:r>
              <a:rPr>
                <a:latin typeface="Aptos"/>
              </a:rPr>
              <a:t>If each requires 6h remediation → 12h</a:t>
            </a:r>
            <a:br/>
            <a:r>
              <a:rPr>
                <a:latin typeface="Aptos"/>
              </a:rPr>
              <a:t>Productivity gain remains, but control cost is real.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2880360"/>
            <a:ext cx="3474720" cy="2331720"/>
          </a:xfrm>
          <a:prstGeom prst="roundRect">
            <a:avLst/>
          </a:prstGeom>
          <a:solidFill>
            <a:srgbClr val="E2EDF9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2880360"/>
            <a:ext cx="54864" cy="233172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300837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CONTROL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337560"/>
            <a:ext cx="3200400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• Citations required for factual claims</a:t>
            </a:r>
            <a:br/>
            <a:r>
              <a:rPr>
                <a:latin typeface="Aptos"/>
              </a:rPr>
              <a:t>• No autonomous credit decision</a:t>
            </a:r>
            <a:br/>
            <a:r>
              <a:rPr>
                <a:latin typeface="Aptos"/>
              </a:rPr>
              <a:t>• Approved corpus only</a:t>
            </a:r>
            <a:br/>
            <a:r>
              <a:rPr>
                <a:latin typeface="Aptos"/>
              </a:rPr>
              <a:t>• Sensitive-data filters</a:t>
            </a:r>
            <a:br/>
            <a:r>
              <a:rPr>
                <a:latin typeface="Aptos"/>
              </a:rPr>
              <a:t>• Red-team test set</a:t>
            </a:r>
            <a:br/>
            <a:r>
              <a:rPr>
                <a:latin typeface="Aptos"/>
              </a:rPr>
              <a:t>• Human sign-off + audit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23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CRO implication: approve the workflow only when residual risk is understood, monitored and within appetite.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STAKEHOLDER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One governance framework — four professional lenses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The same control can create different value depending on who is accountable for the outcome.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514600" cy="27432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54864" cy="274320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282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CREDIT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57400"/>
            <a:ext cx="2240280" cy="2176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“Can I trust the decision?”</a:t>
            </a:r>
            <a:br/>
            <a:r>
              <a:rPr>
                <a:latin typeface="Aptos"/>
              </a:rPr>
              <a:t>Need explainable drivers, exceptions and usable outputs.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00200"/>
            <a:ext cx="2514600" cy="27432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600200"/>
            <a:ext cx="54864" cy="2743200"/>
          </a:xfrm>
          <a:prstGeom prst="rect">
            <a:avLst/>
          </a:prstGeom>
          <a:solidFill>
            <a:srgbClr val="2A8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282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DATA SCIENTIST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57400"/>
            <a:ext cx="2240280" cy="2176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“Can I reproduce and improve it?”</a:t>
            </a:r>
            <a:br/>
            <a:r>
              <a:rPr>
                <a:latin typeface="Aptos"/>
              </a:rPr>
              <a:t>Need lineage, versioning, test harness and feedback loops.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2514600" cy="27432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600200"/>
            <a:ext cx="54864" cy="2743200"/>
          </a:xfrm>
          <a:prstGeom prst="rect">
            <a:avLst/>
          </a:prstGeom>
          <a:solidFill>
            <a:srgbClr val="D3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7282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MRM PROFESSIONAL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057400"/>
            <a:ext cx="2240280" cy="2176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“Can I independently challenge it?”</a:t>
            </a:r>
            <a:br/>
            <a:r>
              <a:rPr>
                <a:latin typeface="Aptos"/>
              </a:rPr>
              <a:t>Need evidence, limitations, validation and issue closure.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600200"/>
            <a:ext cx="2514600" cy="27432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600200"/>
            <a:ext cx="54864" cy="2743200"/>
          </a:xfrm>
          <a:prstGeom prst="rect">
            <a:avLst/>
          </a:prstGeom>
          <a:solidFill>
            <a:srgbClr val="6F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17282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CFO / CRO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057400"/>
            <a:ext cx="2240280" cy="2176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“What is the risk-adjusted value?”</a:t>
            </a:r>
            <a:br/>
            <a:r>
              <a:rPr>
                <a:latin typeface="Aptos"/>
              </a:rPr>
              <a:t>Need materiality, risk appetite, capital / loss impact and escalation.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091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Common executive language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257800"/>
            <a:ext cx="21488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6694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5257800"/>
            <a:ext cx="21488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526694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A8962"/>
                </a:solidFill>
                <a:latin typeface="Aptos"/>
              </a:defRPr>
            </a:pPr>
            <a:r>
              <a:rPr>
                <a:latin typeface="Aptos"/>
              </a:rPr>
              <a:t>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257800"/>
            <a:ext cx="21488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26694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D39132"/>
                </a:solidFill>
                <a:latin typeface="Aptos"/>
              </a:defRPr>
            </a:pPr>
            <a:r>
              <a:rPr>
                <a:latin typeface="Aptos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5257800"/>
            <a:ext cx="2148840" cy="310896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526694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ACCOUNTABILITY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Red flags: where governance programs quietly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Use this as a pre-implementation and audit-readiness checklist.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212080" cy="914400"/>
          </a:xfrm>
          <a:prstGeom prst="roundRect">
            <a:avLst/>
          </a:prstGeom>
          <a:solidFill>
            <a:srgbClr val="F7E5E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4864" cy="91440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36776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Shadow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65960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Employees use unsanctioned GenAI with sensitive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212080" cy="914400"/>
          </a:xfrm>
          <a:prstGeom prst="roundRect">
            <a:avLst/>
          </a:prstGeom>
          <a:solidFill>
            <a:srgbClr val="F7E5E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4864" cy="91440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636776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No model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965960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Business-critical models sit outside MRM scope.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24328"/>
            <a:ext cx="5212080" cy="914400"/>
          </a:xfrm>
          <a:prstGeom prst="roundRect">
            <a:avLst/>
          </a:prstGeom>
          <a:solidFill>
            <a:srgbClr val="F7E5E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624328"/>
            <a:ext cx="54864" cy="91440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52344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Validation by the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081528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Independence exists on paper, not in practice.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24328"/>
            <a:ext cx="5212080" cy="914400"/>
          </a:xfrm>
          <a:prstGeom prst="roundRect">
            <a:avLst/>
          </a:prstGeom>
          <a:solidFill>
            <a:srgbClr val="F7E5E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624328"/>
            <a:ext cx="54864" cy="91440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752344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Metric tunnel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081528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AUC improves while calibration / fairness / drift worsens.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39896"/>
            <a:ext cx="5212080" cy="914400"/>
          </a:xfrm>
          <a:prstGeom prst="roundRect">
            <a:avLst/>
          </a:prstGeom>
          <a:solidFill>
            <a:srgbClr val="F7E5E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739896"/>
            <a:ext cx="54864" cy="91440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3867911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No kill-switch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19709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There is no tested path to pause or roll back.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39896"/>
            <a:ext cx="5212080" cy="914400"/>
          </a:xfrm>
          <a:prstGeom prst="roundRect">
            <a:avLst/>
          </a:prstGeom>
          <a:solidFill>
            <a:srgbClr val="F7E5E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739896"/>
            <a:ext cx="54864" cy="91440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3867911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Change blindness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19709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Retraining changes the model without a new approval.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55464"/>
            <a:ext cx="5212080" cy="914400"/>
          </a:xfrm>
          <a:prstGeom prst="roundRect">
            <a:avLst/>
          </a:prstGeom>
          <a:solidFill>
            <a:srgbClr val="F7E5E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855464"/>
            <a:ext cx="54864" cy="91440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4983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Vendor opacity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5312664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Third-party model cannot provide sufficient evidence.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855464"/>
            <a:ext cx="5212080" cy="914400"/>
          </a:xfrm>
          <a:prstGeom prst="roundRect">
            <a:avLst/>
          </a:prstGeom>
          <a:solidFill>
            <a:srgbClr val="F7E5E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855464"/>
            <a:ext cx="54864" cy="91440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4983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Documentation theatre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5312664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Documents exist but do not reflect production reality.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EXECUTIVE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2733"/>
                </a:solidFill>
                <a:latin typeface="Aptos Display"/>
              </a:defRPr>
            </a:pPr>
            <a:r>
              <a:rPr>
                <a:latin typeface="Aptos"/>
              </a:rPr>
              <a:t>Executive governance dashboard: what the CRO / CFO should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A compact dashboard converts governance from a policy library into an operating mechanism.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0116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64208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MODELS 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9202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947672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+12% YoY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1508760"/>
            <a:ext cx="20116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664208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HIGH-MATERIALITY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19202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B74040"/>
                </a:solidFill>
                <a:latin typeface="Aptos"/>
              </a:defRPr>
            </a:pPr>
            <a:r>
              <a:rPr>
                <a:latin typeface="Aptos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947672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17% of inventory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1496" y="1508760"/>
            <a:ext cx="20116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1224" y="1664208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VALIDATION OVERDUE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19202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D39132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1947672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Target =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5784" y="1508760"/>
            <a:ext cx="20116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1664208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OPEN HIGH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19202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6F53A3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1947672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Both &lt;30 days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0072" y="1508760"/>
            <a:ext cx="20116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1664208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AI USE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19202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A8962"/>
                </a:solidFill>
                <a:latin typeface="Aptos"/>
              </a:defRPr>
            </a:pPr>
            <a:r>
              <a:rPr>
                <a:latin typeface="Aptos"/>
              </a:rPr>
              <a:t>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07624" y="1947672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3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9 GenAI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9718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RISK HEATMAP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42900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3429000"/>
            <a:ext cx="384048" cy="310896"/>
          </a:xfrm>
          <a:prstGeom prst="rect">
            <a:avLst/>
          </a:prstGeom>
          <a:solidFill>
            <a:srgbClr val="E2F1E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59152" y="3429000"/>
            <a:ext cx="384048" cy="310896"/>
          </a:xfrm>
          <a:prstGeom prst="rect">
            <a:avLst/>
          </a:prstGeom>
          <a:solidFill>
            <a:srgbClr val="E2F1E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98064" y="3429000"/>
            <a:ext cx="384048" cy="310896"/>
          </a:xfrm>
          <a:prstGeom prst="rect">
            <a:avLst/>
          </a:prstGeom>
          <a:solidFill>
            <a:srgbClr val="F2F4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36976" y="3429000"/>
            <a:ext cx="384048" cy="310896"/>
          </a:xfrm>
          <a:prstGeom prst="rect">
            <a:avLst/>
          </a:prstGeom>
          <a:solidFill>
            <a:srgbClr val="F2F4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75887" y="3429000"/>
            <a:ext cx="384048" cy="310896"/>
          </a:xfrm>
          <a:prstGeom prst="rect">
            <a:avLst/>
          </a:prstGeom>
          <a:solidFill>
            <a:srgbClr val="F2F4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43400" y="3419856"/>
            <a:ext cx="685800" cy="310896"/>
          </a:xfrm>
          <a:prstGeom prst="roundRect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429000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3×2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858768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3858768"/>
            <a:ext cx="384048" cy="310896"/>
          </a:xfrm>
          <a:prstGeom prst="rect">
            <a:avLst/>
          </a:prstGeom>
          <a:solidFill>
            <a:srgbClr val="E2F1E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59152" y="3858768"/>
            <a:ext cx="384048" cy="310896"/>
          </a:xfrm>
          <a:prstGeom prst="rect">
            <a:avLst/>
          </a:prstGeom>
          <a:solidFill>
            <a:srgbClr val="E2F1E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98064" y="3858768"/>
            <a:ext cx="384048" cy="310896"/>
          </a:xfrm>
          <a:prstGeom prst="rect">
            <a:avLst/>
          </a:prstGeom>
          <a:solidFill>
            <a:srgbClr val="F9EFD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36976" y="3858768"/>
            <a:ext cx="384048" cy="310896"/>
          </a:xfrm>
          <a:prstGeom prst="rect">
            <a:avLst/>
          </a:prstGeom>
          <a:solidFill>
            <a:srgbClr val="F2F4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75887" y="3858768"/>
            <a:ext cx="384048" cy="310896"/>
          </a:xfrm>
          <a:prstGeom prst="rect">
            <a:avLst/>
          </a:prstGeom>
          <a:solidFill>
            <a:srgbClr val="F2F4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343400" y="3849624"/>
            <a:ext cx="685800" cy="310896"/>
          </a:xfrm>
          <a:prstGeom prst="roundRect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3858768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2×3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4288536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GenAI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" y="4288536"/>
            <a:ext cx="384048" cy="310896"/>
          </a:xfrm>
          <a:prstGeom prst="rect">
            <a:avLst/>
          </a:prstGeom>
          <a:solidFill>
            <a:srgbClr val="E2F1E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59152" y="4288536"/>
            <a:ext cx="384048" cy="310896"/>
          </a:xfrm>
          <a:prstGeom prst="rect">
            <a:avLst/>
          </a:prstGeom>
          <a:solidFill>
            <a:srgbClr val="E2F1E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98064" y="4288536"/>
            <a:ext cx="384048" cy="310896"/>
          </a:xfrm>
          <a:prstGeom prst="rect">
            <a:avLst/>
          </a:prstGeom>
          <a:solidFill>
            <a:srgbClr val="F9EFD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36976" y="4288536"/>
            <a:ext cx="384048" cy="310896"/>
          </a:xfrm>
          <a:prstGeom prst="rect">
            <a:avLst/>
          </a:prstGeom>
          <a:solidFill>
            <a:srgbClr val="F7E5E5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75887" y="4288536"/>
            <a:ext cx="384048" cy="310896"/>
          </a:xfrm>
          <a:prstGeom prst="rect">
            <a:avLst/>
          </a:prstGeom>
          <a:solidFill>
            <a:srgbClr val="F2F4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43400" y="4279392"/>
            <a:ext cx="685800" cy="310896"/>
          </a:xfrm>
          <a:prstGeom prst="roundRect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3400" y="4288536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4×4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4718304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Third-party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20240" y="4718304"/>
            <a:ext cx="384048" cy="310896"/>
          </a:xfrm>
          <a:prstGeom prst="rect">
            <a:avLst/>
          </a:prstGeom>
          <a:solidFill>
            <a:srgbClr val="E2F1E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59152" y="4718304"/>
            <a:ext cx="384048" cy="310896"/>
          </a:xfrm>
          <a:prstGeom prst="rect">
            <a:avLst/>
          </a:prstGeom>
          <a:solidFill>
            <a:srgbClr val="E2F1E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98064" y="4718304"/>
            <a:ext cx="384048" cy="310896"/>
          </a:xfrm>
          <a:prstGeom prst="rect">
            <a:avLst/>
          </a:prstGeom>
          <a:solidFill>
            <a:srgbClr val="F9EFD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36976" y="4718304"/>
            <a:ext cx="384048" cy="310896"/>
          </a:xfrm>
          <a:prstGeom prst="rect">
            <a:avLst/>
          </a:prstGeom>
          <a:solidFill>
            <a:srgbClr val="F7E5E5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75887" y="4718304"/>
            <a:ext cx="384048" cy="310896"/>
          </a:xfrm>
          <a:prstGeom prst="rect">
            <a:avLst/>
          </a:prstGeom>
          <a:solidFill>
            <a:srgbClr val="F2F4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343400" y="4709160"/>
            <a:ext cx="685800" cy="310896"/>
          </a:xfrm>
          <a:prstGeom prst="roundRect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43400" y="471830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3×4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5148072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Change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20240" y="5148072"/>
            <a:ext cx="384048" cy="310896"/>
          </a:xfrm>
          <a:prstGeom prst="rect">
            <a:avLst/>
          </a:prstGeom>
          <a:solidFill>
            <a:srgbClr val="E2F1E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359152" y="5148072"/>
            <a:ext cx="384048" cy="310896"/>
          </a:xfrm>
          <a:prstGeom prst="rect">
            <a:avLst/>
          </a:prstGeom>
          <a:solidFill>
            <a:srgbClr val="E2F1E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98064" y="5148072"/>
            <a:ext cx="384048" cy="310896"/>
          </a:xfrm>
          <a:prstGeom prst="rect">
            <a:avLst/>
          </a:prstGeom>
          <a:solidFill>
            <a:srgbClr val="F2F4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36976" y="5148072"/>
            <a:ext cx="384048" cy="310896"/>
          </a:xfrm>
          <a:prstGeom prst="rect">
            <a:avLst/>
          </a:prstGeom>
          <a:solidFill>
            <a:srgbClr val="F2F4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75887" y="5148072"/>
            <a:ext cx="384048" cy="310896"/>
          </a:xfrm>
          <a:prstGeom prst="rect">
            <a:avLst/>
          </a:prstGeom>
          <a:solidFill>
            <a:srgbClr val="F2F4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343400" y="5138928"/>
            <a:ext cx="685800" cy="310896"/>
          </a:xfrm>
          <a:prstGeom prst="roundRect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43400" y="5148072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663AB"/>
                </a:solidFill>
                <a:latin typeface="Aptos"/>
              </a:defRPr>
            </a:pPr>
            <a:r>
              <a:rPr>
                <a:latin typeface="Aptos"/>
              </a:rPr>
              <a:t>2×2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0" y="3063240"/>
            <a:ext cx="5897880" cy="2514600"/>
          </a:xfrm>
          <a:prstGeom prst="roundRect">
            <a:avLst/>
          </a:prstGeom>
          <a:solidFill>
            <a:srgbClr val="E2EDF9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486400" y="3063240"/>
            <a:ext cx="54864" cy="2514600"/>
          </a:xfrm>
          <a:prstGeom prst="rect">
            <a:avLst/>
          </a:prstGeom>
          <a:solidFill>
            <a:srgbClr val="26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50992" y="3191256"/>
            <a:ext cx="5623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733"/>
                </a:solidFill>
                <a:latin typeface="Aptos"/>
              </a:defRPr>
            </a:pPr>
            <a:r>
              <a:rPr>
                <a:latin typeface="Aptos"/>
              </a:rPr>
              <a:t>NEXT 90 DAYS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50992" y="3520440"/>
            <a:ext cx="5623560" cy="1947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26170"/>
                </a:solidFill>
                <a:latin typeface="Aptos"/>
              </a:defRPr>
            </a:pPr>
            <a:r>
              <a:rPr>
                <a:latin typeface="Aptos"/>
              </a:rPr>
              <a:t>1. Inventory every AI/ML use case and assign materiality.</a:t>
            </a:r>
            <a:br/>
            <a:r>
              <a:rPr>
                <a:latin typeface="Aptos"/>
              </a:rPr>
              <a:t>2. Close validation / documentation gaps on high-impact models.</a:t>
            </a:r>
            <a:br/>
            <a:r>
              <a:rPr>
                <a:latin typeface="Aptos"/>
              </a:rPr>
              <a:t>3. Establish GenAI evaluation + red-team harness.</a:t>
            </a:r>
            <a:br/>
            <a:r>
              <a:rPr>
                <a:latin typeface="Aptos"/>
              </a:rPr>
              <a:t>4. Define change thresholds and tested rollback paths.</a:t>
            </a:r>
            <a:br/>
            <a:r>
              <a:rPr>
                <a:latin typeface="Aptos"/>
              </a:rPr>
              <a:t>5. Put a single risk dashboard in front of the CRO / Board.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Module 5 • Data &amp; AI Model Governance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649224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591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943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Executive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02920" cy="310896"/>
          </a:xfrm>
          <a:prstGeom prst="roundRect">
            <a:avLst/>
          </a:prstGeom>
          <a:solidFill>
            <a:srgbClr val="1F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94D2DF"/>
                </a:solidFill>
                <a:latin typeface="Aptos"/>
              </a:defRPr>
            </a:pPr>
            <a:r>
              <a:rPr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99032"/>
            <a:ext cx="9692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Governance is a decision system — not a documentation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67128"/>
            <a:ext cx="502920" cy="310896"/>
          </a:xfrm>
          <a:prstGeom prst="roundRect">
            <a:avLst/>
          </a:prstGeom>
          <a:solidFill>
            <a:srgbClr val="1F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94D2DF"/>
                </a:solidFill>
                <a:latin typeface="Aptos"/>
              </a:defRPr>
            </a:pPr>
            <a:r>
              <a:rPr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48840"/>
            <a:ext cx="9692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Data lineage, model validation and lifecycle controls are inseparable.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916936"/>
            <a:ext cx="502920" cy="310896"/>
          </a:xfrm>
          <a:prstGeom prst="roundRect">
            <a:avLst/>
          </a:prstGeom>
          <a:solidFill>
            <a:srgbClr val="1F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26079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94D2DF"/>
                </a:solidFill>
                <a:latin typeface="Aptos"/>
              </a:defRPr>
            </a:pPr>
            <a:r>
              <a:rPr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98648"/>
            <a:ext cx="9692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Risk-based tiering is the practical way to scale MRM across AI/ML.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66744"/>
            <a:ext cx="502920" cy="310896"/>
          </a:xfrm>
          <a:prstGeom prst="roundRect">
            <a:avLst/>
          </a:prstGeom>
          <a:solidFill>
            <a:srgbClr val="1F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675887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94D2DF"/>
                </a:solidFill>
                <a:latin typeface="Aptos"/>
              </a:defRPr>
            </a:pPr>
            <a:r>
              <a:rPr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48456"/>
            <a:ext cx="9692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GenAI requires governance of the entire chain: prompt → context → model → tools → output → human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416552"/>
            <a:ext cx="502920" cy="310896"/>
          </a:xfrm>
          <a:prstGeom prst="roundRect">
            <a:avLst/>
          </a:prstGeom>
          <a:solidFill>
            <a:srgbClr val="1F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425696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94D2DF"/>
                </a:solidFill>
                <a:latin typeface="Aptos"/>
              </a:defRPr>
            </a:pPr>
            <a:r>
              <a:rPr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398264"/>
            <a:ext cx="9692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The strongest control is measurable: thresholds, evidence, ownership, escalation and tested response.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440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94D2DF"/>
                </a:solidFill>
                <a:latin typeface="Aptos"/>
              </a:defRPr>
            </a:pPr>
            <a:r>
              <a:rPr>
                <a:latin typeface="Aptos"/>
              </a:rPr>
              <a:t>SELECTED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742432"/>
            <a:ext cx="10332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BCC9D5"/>
                </a:solidFill>
                <a:latin typeface="Aptos"/>
              </a:defRPr>
            </a:pPr>
            <a:r>
              <a:rPr>
                <a:latin typeface="Aptos"/>
              </a:rPr>
              <a:t>• NIST AI Risk Management Framework 1.0 + Generative AI Profile (NIST)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943600"/>
            <a:ext cx="10332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BCC9D5"/>
                </a:solidFill>
                <a:latin typeface="Aptos"/>
              </a:defRPr>
            </a:pPr>
            <a:r>
              <a:rPr>
                <a:latin typeface="Aptos"/>
              </a:rPr>
              <a:t>• EU AI Act, Regulation (EU) 2024/1689 — risk management, data governance, logging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144768"/>
            <a:ext cx="10332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BCC9D5"/>
                </a:solidFill>
                <a:latin typeface="Aptos"/>
              </a:defRPr>
            </a:pPr>
            <a:r>
              <a:rPr>
                <a:latin typeface="Aptos"/>
              </a:rPr>
              <a:t>• Federal Reserve — Supervisory Guidance on Model Risk Management (current 2026 guidance)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345936"/>
            <a:ext cx="10332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BCC9D5"/>
                </a:solidFill>
                <a:latin typeface="Aptos"/>
              </a:defRPr>
            </a:pPr>
            <a:r>
              <a:rPr>
                <a:latin typeface="Aptos"/>
              </a:rPr>
              <a:t>• ECB Banking Supervision — Supervisory priorities 2026–28: AI strategy, governance and risk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38251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BABBA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