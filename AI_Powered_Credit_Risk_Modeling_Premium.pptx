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1188720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601200" y="1920240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4" name="Oval 3"/>
          <p:cNvSpPr/>
          <p:nvPr/>
        </p:nvSpPr>
        <p:spPr>
          <a:xfrm>
            <a:off x="10607040" y="1097280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9144000" y="3291840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6" name="Oval 5"/>
          <p:cNvSpPr/>
          <p:nvPr/>
        </p:nvSpPr>
        <p:spPr>
          <a:xfrm>
            <a:off x="10515600" y="3840480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7" name="Oval 6"/>
          <p:cNvSpPr/>
          <p:nvPr/>
        </p:nvSpPr>
        <p:spPr>
          <a:xfrm>
            <a:off x="8046720" y="4389120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</a:p>
        </p:txBody>
      </p:sp>
      <p:cxnSp>
        <p:nvCxnSpPr>
          <p:cNvPr id="8" name="Connector 7"/>
          <p:cNvCxnSpPr/>
          <p:nvPr/>
        </p:nvCxnSpPr>
        <p:spPr>
          <a:xfrm>
            <a:off x="8503920" y="1280160"/>
            <a:ext cx="1143000" cy="73152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0" y="1188720"/>
            <a:ext cx="1005840" cy="82296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235440" y="2011680"/>
            <a:ext cx="411480" cy="137160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235440" y="3383280"/>
            <a:ext cx="1371600" cy="54864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138160" y="3383280"/>
            <a:ext cx="1097280" cy="109728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138160" y="3931920"/>
            <a:ext cx="2468880" cy="54864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123444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CREDIT RISK MODELING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874519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7DD3FC"/>
                </a:solidFill>
                <a:latin typeface="Aptos"/>
              </a:defRPr>
            </a:pPr>
            <a:r>
              <a:t>with the Power of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971800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Aptos"/>
              </a:defRPr>
            </a:pPr>
            <a:r>
              <a:t>How AI, machine learning and GenAI can transform credit decisioning — without losing control, explainability or trust.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440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Aptos"/>
              </a:defRPr>
            </a:pPr>
            <a:r>
              <a:t>Executive / Banking &amp; Risk Perspective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806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What → Why → How → So What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B2D"/>
                </a:solidFill>
                <a:latin typeface="Aptos Display"/>
              </a:defRPr>
            </a:pPr>
            <a:r>
              <a:t>Why AI is changing credit risk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The opportunity is not simply a better model — it is a faster, connected decision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544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2D"/>
                </a:solidFill>
                <a:latin typeface="Aptos"/>
              </a:defRPr>
            </a:pPr>
            <a:r>
              <a:t>1  More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47672"/>
            <a:ext cx="24231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Aptos"/>
              </a:defRPr>
            </a:pPr>
            <a:r>
              <a:t>Applications, bureau data, transactions, documents, behavioural signals and external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1732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1417320"/>
            <a:ext cx="54864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15544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2D"/>
                </a:solidFill>
                <a:latin typeface="Aptos"/>
              </a:defRPr>
            </a:pPr>
            <a:r>
              <a:t>2  More 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1947672"/>
            <a:ext cx="24231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Aptos"/>
              </a:defRPr>
            </a:pPr>
            <a:r>
              <a:t>Legacy systems and siloed data make pricing, monitoring and decisioning slower.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41732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417320"/>
            <a:ext cx="54864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1" y="15544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2D"/>
                </a:solidFill>
                <a:latin typeface="Aptos"/>
              </a:defRPr>
            </a:pPr>
            <a:r>
              <a:t>3  More 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1" y="1947672"/>
            <a:ext cx="24231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Aptos"/>
              </a:defRPr>
            </a:pPr>
            <a:r>
              <a:t>Digital lending increasingly expects near real-time decisions and personalized offers.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417320"/>
            <a:ext cx="2148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64040" y="1417320"/>
            <a:ext cx="54864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28632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2D"/>
                </a:solidFill>
                <a:latin typeface="Aptos"/>
              </a:defRPr>
            </a:pPr>
            <a:r>
              <a:t>4  More scrutiny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8632" y="1947672"/>
            <a:ext cx="182880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Aptos"/>
              </a:defRPr>
            </a:pPr>
            <a:r>
              <a:t>Fairness, transparency, privacy, model risk and regulatory traceability matter.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94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Aptos"/>
              </a:defRPr>
            </a:pPr>
            <a:r>
              <a:t>The strategic shift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51960"/>
            <a:ext cx="2148840" cy="1143000"/>
          </a:xfrm>
          <a:prstGeom prst="roundRect">
            <a:avLst/>
          </a:prstGeom>
          <a:solidFill>
            <a:srgbClr val="F3F6FA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251960"/>
            <a:ext cx="54864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B2D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782312"/>
            <a:ext cx="1828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Aptos"/>
              </a:defRPr>
            </a:pPr>
            <a:r>
              <a:t>more signals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80360" y="4828032"/>
            <a:ext cx="6858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566160" y="4251960"/>
            <a:ext cx="2148840" cy="1143000"/>
          </a:xfrm>
          <a:prstGeom prst="roundRect">
            <a:avLst/>
          </a:prstGeom>
          <a:solidFill>
            <a:srgbClr val="F3F6FA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66160" y="4251960"/>
            <a:ext cx="54864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0752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B2D"/>
                </a:solidFill>
                <a:latin typeface="Aptos"/>
              </a:defRPr>
            </a:pPr>
            <a:r>
              <a:t>AI / 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0752" y="4782312"/>
            <a:ext cx="1828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Aptos"/>
              </a:defRPr>
            </a:pPr>
            <a:r>
              <a:t>pattern detection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15000" y="4828032"/>
            <a:ext cx="6858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400800" y="4251960"/>
            <a:ext cx="2148840" cy="1143000"/>
          </a:xfrm>
          <a:prstGeom prst="roundRect">
            <a:avLst/>
          </a:prstGeom>
          <a:solidFill>
            <a:srgbClr val="F3F6FA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251960"/>
            <a:ext cx="54864" cy="11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B2D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4782312"/>
            <a:ext cx="1828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Aptos"/>
              </a:defRPr>
            </a:pPr>
            <a:r>
              <a:t>risk + price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549640" y="4828032"/>
            <a:ext cx="6858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235440" y="4251960"/>
            <a:ext cx="2148840" cy="1143000"/>
          </a:xfrm>
          <a:prstGeom prst="roundRect">
            <a:avLst/>
          </a:prstGeom>
          <a:solidFill>
            <a:srgbClr val="F3F6FA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35440" y="4251960"/>
            <a:ext cx="54864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00032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B2D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0032" y="4782312"/>
            <a:ext cx="1828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Aptos"/>
              </a:defRPr>
            </a:pPr>
            <a:r>
              <a:t>faster + smarter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760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B2D"/>
                </a:solidFill>
                <a:latin typeface="Aptos"/>
              </a:defRPr>
            </a:pPr>
            <a:r>
              <a:t>So what?  AI creates value only when model intelligence is connected to trusted data, decision workflows and governance.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B2D"/>
                </a:solidFill>
                <a:latin typeface="Aptos Display"/>
              </a:defRPr>
            </a:pPr>
            <a:r>
              <a:t>AI is a stack — not a single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Different technologies solve different parts of the credit lifecycle.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10241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41732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554480"/>
            <a:ext cx="9921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B2D"/>
                </a:solidFill>
                <a:latin typeface="Aptos"/>
              </a:defRPr>
            </a:pPr>
            <a:r>
              <a:t>GENERATIVE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947672"/>
            <a:ext cx="992124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Aptos"/>
              </a:defRPr>
            </a:pPr>
            <a:r>
              <a:t>Reads / summarizes unstructured information • assists analysts • supports model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68880"/>
            <a:ext cx="10241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46888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606040"/>
            <a:ext cx="9921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B2D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999232"/>
            <a:ext cx="992124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Aptos"/>
              </a:defRPr>
            </a:pPr>
            <a:r>
              <a:t>Predicts default, fraud, propensity, early warning and pricing signals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520440"/>
            <a:ext cx="10241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520440"/>
            <a:ext cx="54864" cy="868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657600"/>
            <a:ext cx="9921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B2D"/>
                </a:solidFill>
                <a:latin typeface="Aptos"/>
              </a:defRPr>
            </a:pPr>
            <a:r>
              <a:t>ANALYTICS +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050791"/>
            <a:ext cx="992124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Aptos"/>
              </a:defRPr>
            </a:pPr>
            <a:r>
              <a:t>Scorecards, policy rules, thresholds, segmentation and expert judgement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572000"/>
            <a:ext cx="10241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572000"/>
            <a:ext cx="54864" cy="86868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709160"/>
            <a:ext cx="9921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B2D"/>
                </a:solidFill>
                <a:latin typeface="Aptos"/>
              </a:defRPr>
            </a:pPr>
            <a:r>
              <a:t>DATA + CLOUD FOUNDATION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102352"/>
            <a:ext cx="992124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Aptos"/>
              </a:defRPr>
            </a:pPr>
            <a:r>
              <a:t>Governed data • APIs • scalable compute • monitoring • version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B2D"/>
                </a:solidFill>
                <a:latin typeface="Aptos"/>
              </a:defRPr>
            </a:pPr>
            <a:r>
              <a:t>Key principle: GenAI complements — rather than automatically replaces — traditional credit risk models and controls.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B2D"/>
                </a:solidFill>
                <a:latin typeface="Aptos Display"/>
              </a:defRPr>
            </a:pPr>
            <a:r>
              <a:t>Where AI fits across the credit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Think end-to-end: origination → monitoring → recovery, not only model development.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874519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78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B2D"/>
                </a:solidFill>
                <a:latin typeface="Aptos"/>
              </a:defRPr>
            </a:pPr>
            <a:r>
              <a:t>Acquire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99232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guided application</a:t>
            </a:r>
            <a:br/>
            <a:r>
              <a:t>+ document intake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69848" y="2157984"/>
            <a:ext cx="167335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834639" y="1874519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578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B2D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999232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PD / fraud / affordability</a:t>
            </a:r>
            <a:br/>
            <a:r>
              <a:t>+ alternative signals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01568" y="2157984"/>
            <a:ext cx="167335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166359" y="1874519"/>
            <a:ext cx="566928" cy="5669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78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B2D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999232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policy + score +</a:t>
            </a:r>
            <a:br/>
            <a:r>
              <a:t>limit + price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33288" y="2157984"/>
            <a:ext cx="167335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498079" y="1874519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59" y="2578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B2D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2999232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early warning</a:t>
            </a:r>
            <a:br/>
            <a:r>
              <a:t>+ behavioural drift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065007" y="2157984"/>
            <a:ext cx="167335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829800" y="1874519"/>
            <a:ext cx="566928" cy="5669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578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B2D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999232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Aptos"/>
              </a:defRPr>
            </a:pPr>
            <a:r>
              <a:t>collections / workout</a:t>
            </a:r>
            <a:br/>
            <a:r>
              <a:t>+ customer outreach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663440"/>
            <a:ext cx="9966960" cy="914400"/>
          </a:xfrm>
          <a:prstGeom prst="roundRect">
            <a:avLst/>
          </a:prstGeom>
          <a:solidFill>
            <a:srgbClr val="F3F6FA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4663440"/>
            <a:ext cx="54864" cy="9144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61872" y="4800600"/>
            <a:ext cx="9646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B2D"/>
                </a:solidFill>
                <a:latin typeface="Aptos"/>
              </a:defRPr>
            </a:pPr>
            <a:r>
              <a:t>Operating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5193792"/>
            <a:ext cx="96469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Aptos"/>
              </a:defRPr>
            </a:pPr>
            <a:r>
              <a:t>Human judgement remains important for exceptions, high-value exposures and accountable decisions.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B2D"/>
                </a:solidFill>
                <a:latin typeface="Aptos Display"/>
              </a:defRPr>
            </a:pPr>
            <a:r>
              <a:t>The AI credit model is only as good as its 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Modern infrastructure turns fragmented information into governed decision inputs.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2331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4864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63039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B2D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56231"/>
            <a:ext cx="2011679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  <a:latin typeface="Aptos"/>
              </a:defRPr>
            </a:pPr>
            <a:r>
              <a:t>income, purpose, KYC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2331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25880"/>
            <a:ext cx="54864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63039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B2D"/>
                </a:solidFill>
                <a:latin typeface="Aptos"/>
              </a:defRPr>
            </a:pPr>
            <a:r>
              <a:t>Bureau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56231"/>
            <a:ext cx="2011679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  <a:latin typeface="Aptos"/>
              </a:defRPr>
            </a:pPr>
            <a:r>
              <a:t>history, DPD, enquiries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325880"/>
            <a:ext cx="2331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325880"/>
            <a:ext cx="54864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1463039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B2D"/>
                </a:solidFill>
                <a:latin typeface="Aptos"/>
              </a:defRPr>
            </a:pPr>
            <a:r>
              <a:t>Financial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856231"/>
            <a:ext cx="2011679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  <a:latin typeface="Aptos"/>
              </a:defRPr>
            </a:pPr>
            <a:r>
              <a:t>ratios, cash 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325880"/>
            <a:ext cx="2331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325880"/>
            <a:ext cx="54864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1463039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B2D"/>
                </a:solidFill>
                <a:latin typeface="Aptos"/>
              </a:defRPr>
            </a:pPr>
            <a:r>
              <a:t>Behavioural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1856231"/>
            <a:ext cx="2011679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  <a:latin typeface="Aptos"/>
              </a:defRPr>
            </a:pPr>
            <a:r>
              <a:t>transactions, utilisation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325880"/>
            <a:ext cx="2331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1325880"/>
            <a:ext cx="54864" cy="7132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1463039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B2D"/>
                </a:solidFill>
                <a:latin typeface="Aptos"/>
              </a:defRPr>
            </a:pPr>
            <a:r>
              <a:t>Unstructured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1856231"/>
            <a:ext cx="2011679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  <a:latin typeface="Aptos"/>
              </a:defRPr>
            </a:pPr>
            <a:r>
              <a:t>PDFs, statements, notes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26080" y="3246120"/>
            <a:ext cx="868680" cy="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794760" y="1828800"/>
            <a:ext cx="2194560" cy="2834640"/>
          </a:xfrm>
          <a:prstGeom prst="roundRect">
            <a:avLst/>
          </a:prstGeom>
          <a:solidFill>
            <a:srgbClr val="F3F6FA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1828800"/>
            <a:ext cx="54864" cy="283464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59352" y="19659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2D"/>
                </a:solidFill>
                <a:latin typeface="Aptos"/>
              </a:defRPr>
            </a:pPr>
            <a:r>
              <a:t>DATA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9352" y="2359152"/>
            <a:ext cx="1874519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ptos"/>
              </a:defRPr>
            </a:pPr>
            <a:r>
              <a:t>Quality checks</a:t>
            </a:r>
            <a:br/>
            <a:r>
              <a:t>Lineage</a:t>
            </a:r>
            <a:br/>
            <a:r>
              <a:t>Access control</a:t>
            </a:r>
            <a:br/>
            <a:r>
              <a:t>Privacy</a:t>
            </a:r>
            <a:br/>
            <a:r>
              <a:t>Completeness</a:t>
            </a:r>
            <a:br/>
            <a:r>
              <a:t>Consistency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89320" y="3246120"/>
            <a:ext cx="868680" cy="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858000" y="1828800"/>
            <a:ext cx="214884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0" y="1828800"/>
            <a:ext cx="54864" cy="2834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22592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2D"/>
                </a:solidFill>
                <a:latin typeface="Aptos"/>
              </a:defRPr>
            </a:pPr>
            <a:r>
              <a:t>AI /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2359152"/>
            <a:ext cx="182880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ptos"/>
              </a:defRPr>
            </a:pPr>
            <a:r>
              <a:t>Feature engineering</a:t>
            </a:r>
            <a:br/>
            <a:r>
              <a:t>ML models</a:t>
            </a:r>
            <a:br/>
            <a:r>
              <a:t>GenAI extraction</a:t>
            </a:r>
            <a:br/>
            <a:r>
              <a:t>Fraud signals</a:t>
            </a:r>
            <a:br/>
            <a:r>
              <a:t>Explainability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006840" y="3246120"/>
            <a:ext cx="868680" cy="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75520" y="1828800"/>
            <a:ext cx="173736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75520" y="1828800"/>
            <a:ext cx="54864" cy="2834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40112" y="1965960"/>
            <a:ext cx="1417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2D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40112" y="2359152"/>
            <a:ext cx="1417319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ptos"/>
              </a:defRPr>
            </a:pPr>
            <a:r>
              <a:t>Score</a:t>
            </a:r>
            <a:br/>
            <a:r>
              <a:t>Limit</a:t>
            </a:r>
            <a:br/>
            <a:r>
              <a:t>Price</a:t>
            </a:r>
            <a:br/>
            <a:r>
              <a:t>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6235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Aptos"/>
              </a:defRPr>
            </a:pPr>
            <a:r>
              <a:t>Red flag: adding more data without governance can increase model complexity faster than decision quality.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B2D"/>
                </a:solidFill>
                <a:latin typeface="Aptos Display"/>
              </a:defRPr>
            </a:pPr>
            <a:r>
              <a:t>Numerical example: from probability to risk-adjusted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Illustrative data — not a production pricing formula.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4937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4864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463039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B2D"/>
                </a:solidFill>
                <a:latin typeface="Aptos"/>
              </a:defRPr>
            </a:pPr>
            <a:r>
              <a:t>Step 1 — Model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56231"/>
            <a:ext cx="46177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Aptos"/>
              </a:defRPr>
            </a:pPr>
            <a:r>
              <a:t>Illustrative borrower features → predicted 12-month PD = 3.0%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4937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54864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83464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B2D"/>
                </a:solidFill>
                <a:latin typeface="Aptos"/>
              </a:defRPr>
            </a:pPr>
            <a:r>
              <a:t>Step 2 — Loss estimate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227832"/>
            <a:ext cx="46177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Aptos"/>
              </a:defRPr>
            </a:pPr>
            <a:r>
              <a:t>LGD = 45%  |  EAD = ₹50 lakh</a:t>
            </a:r>
            <a:br/>
            <a:r>
              <a:t>Expected Loss = PD × LGD × 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69080"/>
            <a:ext cx="4937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069080"/>
            <a:ext cx="54864" cy="11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420624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B2D"/>
                </a:solidFill>
                <a:latin typeface="Aptos"/>
              </a:defRPr>
            </a:pPr>
            <a:r>
              <a:t>Step 3 — Calculation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599432"/>
            <a:ext cx="46177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Aptos"/>
              </a:defRPr>
            </a:pPr>
            <a:r>
              <a:t>0.03 × 0.45 × ₹50,00,000 = ₹67,500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417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Aptos"/>
              </a:defRPr>
            </a:pPr>
            <a:r>
              <a:t>Decision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828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2563EB"/>
                </a:solidFill>
                <a:latin typeface="Aptos"/>
              </a:defRPr>
            </a:pPr>
            <a:r>
              <a:t>3.0%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30428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ptos"/>
              </a:defRPr>
            </a:pPr>
            <a:r>
              <a:t>Predicted PD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828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DC2626"/>
                </a:solidFill>
                <a:latin typeface="Aptos"/>
              </a:defRPr>
            </a:pPr>
            <a:r>
              <a:t>₹67.5k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30428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ptos"/>
              </a:defRPr>
            </a:pPr>
            <a:r>
              <a:t>Illustrative 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337560"/>
            <a:ext cx="4663440" cy="1234440"/>
          </a:xfrm>
          <a:prstGeom prst="roundRect">
            <a:avLst/>
          </a:prstGeom>
          <a:solidFill>
            <a:srgbClr val="F3F6FA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337560"/>
            <a:ext cx="54864" cy="123444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3474720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B2D"/>
                </a:solidFill>
                <a:latin typeface="Aptos"/>
              </a:defRPr>
            </a:pPr>
            <a:r>
              <a:t>So what?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867911"/>
            <a:ext cx="43434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ptos"/>
              </a:defRPr>
            </a:pPr>
            <a:r>
              <a:t>The AI model provides a risk signal; policy, capital, collateral, customer value and pricing rules determine the final decision.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800600"/>
            <a:ext cx="4663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4800600"/>
            <a:ext cx="54864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4937760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B2D"/>
                </a:solidFill>
                <a:latin typeface="Aptos"/>
              </a:defRPr>
            </a:pPr>
            <a:r>
              <a:t>Credit analyst lens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5330952"/>
            <a:ext cx="434340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Aptos"/>
              </a:defRPr>
            </a:pPr>
            <a:r>
              <a:t>Challenge the data → validate the model → understand drivers → document the decision.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B2D"/>
                </a:solidFill>
                <a:latin typeface="Aptos Display"/>
              </a:defRPr>
            </a:pPr>
            <a:r>
              <a:t>Business value: where the economics can show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AI value should be measured across risk, revenue, customer experience and operating cost.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54864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54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B2D"/>
                </a:solidFill>
                <a:latin typeface="Aptos"/>
              </a:defRPr>
            </a:pPr>
            <a:r>
              <a:t>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47672"/>
            <a:ext cx="310896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ptos"/>
              </a:defRPr>
            </a:pPr>
            <a:r>
              <a:t>Near real-time decisions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54864" cy="1508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554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B2D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47672"/>
            <a:ext cx="310896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ptos"/>
              </a:defRPr>
            </a:pPr>
            <a:r>
              <a:t>Earlier default / fraud signals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417320"/>
            <a:ext cx="54864" cy="1508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554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B2D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1947672"/>
            <a:ext cx="310896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ptos"/>
              </a:defRPr>
            </a:pPr>
            <a:r>
              <a:t>More precise pricing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3832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383280"/>
            <a:ext cx="54864" cy="1508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520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B2D"/>
                </a:solidFill>
                <a:latin typeface="Aptos"/>
              </a:defRPr>
            </a:pPr>
            <a:r>
              <a:t>CX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3913632"/>
            <a:ext cx="310896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ptos"/>
              </a:defRPr>
            </a:pPr>
            <a:r>
              <a:t>Personalized journeys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3832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383280"/>
            <a:ext cx="54864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520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B2D"/>
                </a:solidFill>
                <a:latin typeface="Aptos"/>
              </a:defRPr>
            </a:pPr>
            <a:r>
              <a:t>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913632"/>
            <a:ext cx="310896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ptos"/>
              </a:defRPr>
            </a:pPr>
            <a:r>
              <a:t>Broader assessment of underserved segments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3832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3383280"/>
            <a:ext cx="54864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3520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B2D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3913632"/>
            <a:ext cx="310896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ptos"/>
              </a:defRPr>
            </a:pPr>
            <a:r>
              <a:t>Automation of manual processes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5778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B2D"/>
                </a:solidFill>
                <a:latin typeface="Aptos"/>
              </a:defRPr>
            </a:pPr>
            <a:r>
              <a:t>The value case is strongest when multiple benefits reinforce each other — e.g., better data → better prediction → faster decision → better customer conversion.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B2D"/>
                </a:solidFill>
                <a:latin typeface="Aptos Display"/>
              </a:defRPr>
            </a:pPr>
            <a:r>
              <a:t>Case study 1 — Digital SME lending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Illustrative scenario showing how AI can augment a traditional scorecard.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2743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4864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63039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B2D"/>
                </a:solidFill>
                <a:latin typeface="Aptos"/>
              </a:defRPr>
            </a:pPr>
            <a:r>
              <a:t>Starting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56231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ptos"/>
              </a:defRPr>
            </a:pPr>
            <a:r>
              <a:t>Manual document review + bureau score + policy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2743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54864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8803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B2D"/>
                </a:solidFill>
                <a:latin typeface="Aptos"/>
              </a:defRPr>
            </a:pPr>
            <a:r>
              <a:t>AI augmentation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73552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ptos"/>
              </a:defRPr>
            </a:pPr>
            <a:r>
              <a:t>Extract financial data from documents + behavioural signals + ML risk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2743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160520"/>
            <a:ext cx="54864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2976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B2D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690872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ptos"/>
              </a:defRPr>
            </a:pPr>
            <a:r>
              <a:t>Combine model output with policy, exposure limits and analyst override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137160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Aptos"/>
              </a:defRPr>
            </a:pPr>
            <a:r>
              <a:t>Illustrative operating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182880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B2D"/>
                </a:solidFill>
                <a:latin typeface="Aptos"/>
              </a:defRPr>
            </a:pPr>
            <a:r>
              <a:t>Application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755648"/>
            <a:ext cx="2011680" cy="502920"/>
          </a:xfrm>
          <a:prstGeom prst="roundRect">
            <a:avLst/>
          </a:prstGeom>
          <a:solidFill>
            <a:srgbClr val="F3F6FA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1755648"/>
            <a:ext cx="54864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8192" y="1892807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2D"/>
                </a:solidFill>
                <a:latin typeface="Aptos"/>
              </a:defRPr>
            </a:pPr>
            <a:r>
              <a:t>6 hours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46720" y="2011680"/>
            <a:ext cx="50292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595360" y="1755648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95360" y="1755648"/>
            <a:ext cx="54864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9952" y="1892807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2D"/>
                </a:solidFill>
                <a:latin typeface="Aptos"/>
              </a:defRPr>
            </a:pPr>
            <a:r>
              <a:t>20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6974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B2D"/>
                </a:solidFill>
                <a:latin typeface="Aptos"/>
              </a:defRPr>
            </a:pPr>
            <a:r>
              <a:t>Data extraction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2624328"/>
            <a:ext cx="2011680" cy="502920"/>
          </a:xfrm>
          <a:prstGeom prst="roundRect">
            <a:avLst/>
          </a:prstGeom>
          <a:solidFill>
            <a:srgbClr val="F3F6FA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2624328"/>
            <a:ext cx="54864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08192" y="27614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2D"/>
                </a:solidFill>
                <a:latin typeface="Aptos"/>
              </a:defRPr>
            </a:pPr>
            <a:r>
              <a:t>Manual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46720" y="2880360"/>
            <a:ext cx="50292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595360" y="2624328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95360" y="2624328"/>
            <a:ext cx="54864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9952" y="27614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2D"/>
                </a:solidFill>
                <a:latin typeface="Aptos"/>
              </a:defRPr>
            </a:pPr>
            <a:r>
              <a:t>Automated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35661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B2D"/>
                </a:solidFill>
                <a:latin typeface="Aptos"/>
              </a:defRPr>
            </a:pPr>
            <a:r>
              <a:t>Decision latency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3493008"/>
            <a:ext cx="2011680" cy="502920"/>
          </a:xfrm>
          <a:prstGeom prst="roundRect">
            <a:avLst/>
          </a:prstGeom>
          <a:solidFill>
            <a:srgbClr val="F3F6FA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0" y="3493008"/>
            <a:ext cx="54864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08192" y="363016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2D"/>
                </a:solidFill>
                <a:latin typeface="Aptos"/>
              </a:defRPr>
            </a:pPr>
            <a:r>
              <a:t>Same day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046720" y="3749040"/>
            <a:ext cx="50292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595360" y="3493008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95360" y="3493008"/>
            <a:ext cx="54864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59952" y="363016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2D"/>
                </a:solidFill>
                <a:latin typeface="Aptos"/>
              </a:defRPr>
            </a:pPr>
            <a:r>
              <a:t>Near real-time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4760" y="44348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B2D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0" y="4361688"/>
            <a:ext cx="2011680" cy="502920"/>
          </a:xfrm>
          <a:prstGeom prst="roundRect">
            <a:avLst/>
          </a:prstGeom>
          <a:solidFill>
            <a:srgbClr val="F3F6FA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43600" y="4361688"/>
            <a:ext cx="54864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08192" y="449884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2D"/>
                </a:solidFill>
                <a:latin typeface="Aptos"/>
              </a:defRPr>
            </a:pPr>
            <a:r>
              <a:t>Periodic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046720" y="4617720"/>
            <a:ext cx="50292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595360" y="4361688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95360" y="4361688"/>
            <a:ext cx="54864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59952" y="449884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2D"/>
                </a:solidFill>
                <a:latin typeface="Aptos"/>
              </a:defRPr>
            </a:pPr>
            <a:r>
              <a:t>Continuous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544068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Aptos"/>
              </a:defRPr>
            </a:pPr>
            <a:r>
              <a:t>All figures are illustrative. The business case must be validated against actual portfolio economics and controls.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B2D"/>
                </a:solidFill>
                <a:latin typeface="Aptos Display"/>
              </a:defRPr>
            </a:pPr>
            <a:r>
              <a:t>Case study 2 — Early warning &amp; fraud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The same data infrastructure can support both credit-risk monitoring and fraud analytics.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560320" cy="566928"/>
          </a:xfrm>
          <a:prstGeom prst="roundRect">
            <a:avLst/>
          </a:prstGeom>
          <a:solidFill>
            <a:srgbClr val="F3F6FA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4864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08760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B2D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3383280" cy="566928"/>
          </a:xfrm>
          <a:prstGeom prst="roundRect">
            <a:avLst/>
          </a:prstGeom>
          <a:solidFill>
            <a:srgbClr val="F3F6FA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54864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5087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B2D"/>
                </a:solidFill>
                <a:latin typeface="Aptos"/>
              </a:defRPr>
            </a:pPr>
            <a:r>
              <a:t>Traditional 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371600"/>
            <a:ext cx="4389120" cy="566928"/>
          </a:xfrm>
          <a:prstGeom prst="roundRect">
            <a:avLst/>
          </a:prstGeom>
          <a:solidFill>
            <a:srgbClr val="F3F6FA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0" y="1371600"/>
            <a:ext cx="54864" cy="5669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150876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B2D"/>
                </a:solidFill>
                <a:latin typeface="Aptos"/>
              </a:defRPr>
            </a:pPr>
            <a:r>
              <a:t>AI-enabled 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57400"/>
            <a:ext cx="25603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057400"/>
            <a:ext cx="54864" cy="530352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2194560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2D"/>
                </a:solidFill>
                <a:latin typeface="Aptos"/>
              </a:defRPr>
            </a:pPr>
            <a:r>
              <a:t>Utilisation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2057400"/>
            <a:ext cx="33832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2057400"/>
            <a:ext cx="54864" cy="5303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21945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B2D"/>
                </a:solidFill>
                <a:latin typeface="Aptos"/>
              </a:defRPr>
            </a:pPr>
            <a:r>
              <a:t>Periodic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2057400"/>
            <a:ext cx="43891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2057400"/>
            <a:ext cx="54864" cy="5303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219456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B2D"/>
                </a:solidFill>
                <a:latin typeface="Aptos"/>
              </a:defRPr>
            </a:pPr>
            <a:r>
              <a:t>Behavioural trajectory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770632"/>
            <a:ext cx="25603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2770632"/>
            <a:ext cx="54864" cy="530352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" y="290779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2D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2770632"/>
            <a:ext cx="33832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83280" y="2770632"/>
            <a:ext cx="54864" cy="5303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2" y="29077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B2D"/>
                </a:solidFill>
                <a:latin typeface="Aptos"/>
              </a:defRPr>
            </a:pPr>
            <a:r>
              <a:t>Past due status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2770632"/>
            <a:ext cx="43891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2770632"/>
            <a:ext cx="54864" cy="5303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5472" y="2907792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B2D"/>
                </a:solidFill>
                <a:latin typeface="Aptos"/>
              </a:defRPr>
            </a:pPr>
            <a:r>
              <a:t>Pattern anomaly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3483864"/>
            <a:ext cx="25603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3483864"/>
            <a:ext cx="54864" cy="530352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" y="3621024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2D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3483864"/>
            <a:ext cx="33832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83280" y="3483864"/>
            <a:ext cx="54864" cy="5303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47872" y="362102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B2D"/>
                </a:solidFill>
                <a:latin typeface="Aptos"/>
              </a:defRPr>
            </a:pPr>
            <a:r>
              <a:t>Limited sampling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0" y="3483864"/>
            <a:ext cx="43891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40880" y="3483864"/>
            <a:ext cx="54864" cy="5303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05472" y="3621024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B2D"/>
                </a:solidFill>
                <a:latin typeface="Aptos"/>
              </a:defRPr>
            </a:pPr>
            <a:r>
              <a:t>Near real-time signals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4197096"/>
            <a:ext cx="25603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4197096"/>
            <a:ext cx="54864" cy="530352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1" y="4334256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2D"/>
                </a:solidFill>
                <a:latin typeface="Aptos"/>
              </a:defRPr>
            </a:pPr>
            <a:r>
              <a:t>Documents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83280" y="4197096"/>
            <a:ext cx="33832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83280" y="4197096"/>
            <a:ext cx="54864" cy="5303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47872" y="433425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B2D"/>
                </a:solidFill>
                <a:latin typeface="Aptos"/>
              </a:defRPr>
            </a:pPr>
            <a:r>
              <a:t>Manual review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40880" y="4197096"/>
            <a:ext cx="43891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40880" y="4197096"/>
            <a:ext cx="54864" cy="5303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05472" y="4334256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B2D"/>
                </a:solidFill>
                <a:latin typeface="Aptos"/>
              </a:defRPr>
            </a:pPr>
            <a:r>
              <a:t>Automated extraction + consistency checks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4910328"/>
            <a:ext cx="25603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" y="4910328"/>
            <a:ext cx="54864" cy="530352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1" y="5047488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2D"/>
                </a:solidFill>
                <a:latin typeface="Aptos"/>
              </a:defRPr>
            </a:pPr>
            <a:r>
              <a:t>External data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83280" y="4910328"/>
            <a:ext cx="33832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83280" y="4910328"/>
            <a:ext cx="54864" cy="5303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47872" y="504748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B2D"/>
                </a:solidFill>
                <a:latin typeface="Aptos"/>
              </a:defRPr>
            </a:pPr>
            <a:r>
              <a:t>Siloed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040880" y="4910328"/>
            <a:ext cx="43891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40880" y="4910328"/>
            <a:ext cx="54864" cy="5303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05472" y="5047488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B2D"/>
                </a:solidFill>
                <a:latin typeface="Aptos"/>
              </a:defRPr>
            </a:pPr>
            <a:r>
              <a:t>Integrated signals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B2D"/>
                </a:solidFill>
                <a:latin typeface="Aptos"/>
              </a:defRPr>
            </a:pPr>
            <a:r>
              <a:t>So what?  A single governed data layer can create multiple risk capabilities instead of building isolated point solutions.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B2D"/>
                </a:solidFill>
                <a:latin typeface="Aptos Display"/>
              </a:defRPr>
            </a:pPr>
            <a:r>
              <a:t>Where GenAI adds a different layer of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GenAI is particularly useful where credit work involves unstructured information and human-heavy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4864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54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2D"/>
                </a:solidFill>
                <a:latin typeface="Aptos"/>
              </a:defRPr>
            </a:pPr>
            <a:r>
              <a:t>Document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47672"/>
            <a:ext cx="484632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ptos"/>
              </a:defRPr>
            </a:pPr>
            <a:r>
              <a:t>Extract and normalize information from financial statements, applications and supporting documents.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4864" cy="1600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554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2D"/>
                </a:solidFill>
                <a:latin typeface="Aptos"/>
              </a:defRPr>
            </a:pPr>
            <a:r>
              <a:t>Analyst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947672"/>
            <a:ext cx="484632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ptos"/>
              </a:defRPr>
            </a:pPr>
            <a:r>
              <a:t>Summarize borrower information, surface missing evidence and prepare review packs.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474720"/>
            <a:ext cx="54864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61187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2D"/>
                </a:solidFill>
                <a:latin typeface="Aptos"/>
              </a:defRPr>
            </a:pPr>
            <a:r>
              <a:t>Model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005072"/>
            <a:ext cx="484632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ptos"/>
              </a:defRPr>
            </a:pPr>
            <a:r>
              <a:t>Assist with documentation, test evidence, challenger analysis and validation workflows.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7472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474720"/>
            <a:ext cx="54864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61187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2D"/>
                </a:solidFill>
                <a:latin typeface="Aptos"/>
              </a:defRPr>
            </a:pPr>
            <a:r>
              <a:t>Customer interaction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005072"/>
            <a:ext cx="484632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ptos"/>
              </a:defRPr>
            </a:pPr>
            <a:r>
              <a:t>Guide applicants, answer questions and make application journeys more intuitive.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Aptos"/>
              </a:defRPr>
            </a:pPr>
            <a:r>
              <a:t>Control principle: GenAI output should be treated as an assistive signal unless the use case has been specifically validated, governed and approved for automated 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B2D"/>
                </a:solidFill>
                <a:latin typeface="Aptos Display"/>
              </a:defRPr>
            </a:pPr>
            <a:r>
              <a:t>Governance is part of the model — not an afterthought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The objective is explainable, traceable and controllable AI decisioning.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508760"/>
            <a:ext cx="658368" cy="6583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2331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B2D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274320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93B"/>
                </a:solidFill>
                <a:latin typeface="Aptos"/>
              </a:defRPr>
            </a:pPr>
            <a:r>
              <a:t>quality • lineage • privacy • access</a:t>
            </a:r>
          </a:p>
        </p:txBody>
      </p:sp>
      <p:sp>
        <p:nvSpPr>
          <p:cNvPr id="8" name="Oval 7"/>
          <p:cNvSpPr/>
          <p:nvPr/>
        </p:nvSpPr>
        <p:spPr>
          <a:xfrm>
            <a:off x="2834639" y="1508760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4911" y="2331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B2D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4911" y="274320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93B"/>
                </a:solidFill>
                <a:latin typeface="Aptos"/>
              </a:defRPr>
            </a:pPr>
            <a:r>
              <a:t>validation • performance • drift • versioning</a:t>
            </a:r>
          </a:p>
        </p:txBody>
      </p:sp>
      <p:sp>
        <p:nvSpPr>
          <p:cNvPr id="11" name="Oval 10"/>
          <p:cNvSpPr/>
          <p:nvPr/>
        </p:nvSpPr>
        <p:spPr>
          <a:xfrm>
            <a:off x="5166359" y="1508760"/>
            <a:ext cx="658368" cy="6583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6631" y="2331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B2D"/>
                </a:solidFill>
                <a:latin typeface="Aptos"/>
              </a:defRPr>
            </a:pPr>
            <a:r>
              <a:t>FAIRNESS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1" y="274320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93B"/>
                </a:solidFill>
                <a:latin typeface="Aptos"/>
              </a:defRPr>
            </a:pPr>
            <a:r>
              <a:t>bias testing • segment monitoring • challenge</a:t>
            </a:r>
          </a:p>
        </p:txBody>
      </p:sp>
      <p:sp>
        <p:nvSpPr>
          <p:cNvPr id="14" name="Oval 13"/>
          <p:cNvSpPr/>
          <p:nvPr/>
        </p:nvSpPr>
        <p:spPr>
          <a:xfrm>
            <a:off x="7498079" y="1508760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2331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B2D"/>
                </a:solidFill>
                <a:latin typeface="Aptos"/>
              </a:defRPr>
            </a:pPr>
            <a:r>
              <a:t>GENAI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274320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93B"/>
                </a:solidFill>
                <a:latin typeface="Aptos"/>
              </a:defRPr>
            </a:pPr>
            <a:r>
              <a:t>hallucination • prompt controls • human review</a:t>
            </a:r>
          </a:p>
        </p:txBody>
      </p:sp>
      <p:sp>
        <p:nvSpPr>
          <p:cNvPr id="17" name="Oval 16"/>
          <p:cNvSpPr/>
          <p:nvPr/>
        </p:nvSpPr>
        <p:spPr>
          <a:xfrm>
            <a:off x="9829800" y="1508760"/>
            <a:ext cx="658368" cy="65836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2331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B2D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72" y="274320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93B"/>
                </a:solidFill>
                <a:latin typeface="Aptos"/>
              </a:defRPr>
            </a:pPr>
            <a:r>
              <a:t>audit trail • overrides • accountability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160520"/>
            <a:ext cx="1001268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4160520"/>
            <a:ext cx="54864" cy="96012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16151" y="429768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B2D"/>
                </a:solidFill>
                <a:latin typeface="Aptos"/>
              </a:defRPr>
            </a:pPr>
            <a:r>
              <a:t>Minimum control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1" y="4690872"/>
            <a:ext cx="9692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ptos"/>
              </a:defRPr>
            </a:pPr>
            <a:r>
              <a:t>Develop → Independently validate → Approve → Deploy → Monitor → Challenge → Retrain / retire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6235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B2D"/>
                </a:solidFill>
                <a:latin typeface="Aptos"/>
              </a:defRPr>
            </a:pPr>
            <a:r>
              <a:t>Trust is an operating capability: every material decision should be explainable after the fact.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B2D"/>
                </a:solidFill>
                <a:latin typeface="Aptos Display"/>
              </a:defRPr>
            </a:pPr>
            <a:r>
              <a:t>AI introduces new risks alongside new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A sophisticated model can fail because of data, process, governance or implementation — not only mathematics.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54864" cy="1508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08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2D"/>
                </a:solidFill>
                <a:latin typeface="Aptos"/>
              </a:defRPr>
            </a:pPr>
            <a:r>
              <a:t>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01952"/>
            <a:ext cx="310896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Aptos"/>
              </a:defRPr>
            </a:pPr>
            <a:r>
              <a:t>Unequal outcomes across segments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54864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508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2D"/>
                </a:solidFill>
                <a:latin typeface="Aptos"/>
              </a:defRPr>
            </a:pPr>
            <a:r>
              <a:t>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01952"/>
            <a:ext cx="310896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Aptos"/>
              </a:defRPr>
            </a:pPr>
            <a:r>
              <a:t>Population or behaviour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3716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371600"/>
            <a:ext cx="54864" cy="1508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508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2D"/>
                </a:solidFill>
                <a:latin typeface="Aptos"/>
              </a:defRPr>
            </a:pPr>
            <a:r>
              <a:t>Hallucination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1901952"/>
            <a:ext cx="310896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Aptos"/>
              </a:defRPr>
            </a:pPr>
            <a:r>
              <a:t>Plausible but incorrect GenAI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3375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337560"/>
            <a:ext cx="54864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474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2D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3867911"/>
            <a:ext cx="310896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Aptos"/>
              </a:defRPr>
            </a:pPr>
            <a:r>
              <a:t>Improper use or exposure of sensitive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3375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337560"/>
            <a:ext cx="54864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474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2D"/>
                </a:solidFill>
                <a:latin typeface="Aptos"/>
              </a:defRPr>
            </a:pPr>
            <a:r>
              <a:t>Opacity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867911"/>
            <a:ext cx="310896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Aptos"/>
              </a:defRPr>
            </a:pPr>
            <a:r>
              <a:t>Drivers difficult to explain or challenge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3375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3337560"/>
            <a:ext cx="54864" cy="150876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3474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2D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3867911"/>
            <a:ext cx="310896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Aptos"/>
              </a:defRPr>
            </a:pPr>
            <a:r>
              <a:t>Model works in testing but fails in 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6235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Aptos"/>
              </a:defRPr>
            </a:pPr>
            <a:r>
              <a:t>Red flag: “higher accuracy” is not enough. Ask whether the model is stable, fair, explainable, controllable and economically useful.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B2D"/>
                </a:solidFill>
                <a:latin typeface="Aptos Display"/>
              </a:defRPr>
            </a:pPr>
            <a:r>
              <a:t>Implementation roadmap: augment first, scale deliberately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Modernization works best as a controlled transformation rather than a big-bang replacement.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5087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1488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B2D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54203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293B"/>
                </a:solidFill>
                <a:latin typeface="Aptos"/>
              </a:defRPr>
            </a:pPr>
            <a:r>
              <a:t>Data quality + cloud + APIs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1755648"/>
            <a:ext cx="132588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50008" y="15087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21488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B2D"/>
                </a:solidFill>
                <a:latin typeface="Aptos"/>
              </a:defRPr>
            </a:pPr>
            <a:r>
              <a:t>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54203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293B"/>
                </a:solidFill>
                <a:latin typeface="Aptos"/>
              </a:defRPr>
            </a:pPr>
            <a:r>
              <a:t>One high-value use case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52928" y="1755648"/>
            <a:ext cx="132588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288536" y="150876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1376" y="21488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B2D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376" y="254203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293B"/>
                </a:solidFill>
                <a:latin typeface="Aptos"/>
              </a:defRPr>
            </a:pPr>
            <a:r>
              <a:t>Performance + fairness + explainability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91456" y="1755648"/>
            <a:ext cx="132588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27064" y="150876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21488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B2D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9904" y="254203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293B"/>
                </a:solidFill>
                <a:latin typeface="Aptos"/>
              </a:defRPr>
            </a:pPr>
            <a:r>
              <a:t>Decision engine + legacy coexistence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29984" y="1755648"/>
            <a:ext cx="132588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165592" y="1508760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1" y="21488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B2D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254203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293B"/>
                </a:solidFill>
                <a:latin typeface="Aptos"/>
              </a:defRPr>
            </a:pPr>
            <a:r>
              <a:t>Drift + outcomes + governance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68512" y="1755648"/>
            <a:ext cx="132588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104120" y="150876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1488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B2D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54203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293B"/>
                </a:solidFill>
                <a:latin typeface="Aptos"/>
              </a:defRPr>
            </a:pPr>
            <a:r>
              <a:t>Reusable platform + model portfolio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160520"/>
            <a:ext cx="3337560" cy="1051560"/>
          </a:xfrm>
          <a:prstGeom prst="roundRect">
            <a:avLst/>
          </a:prstGeom>
          <a:solidFill>
            <a:srgbClr val="F3F6FA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4160520"/>
            <a:ext cx="54864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B2D"/>
                </a:solidFill>
                <a:latin typeface="Aptos"/>
              </a:defRPr>
            </a:pPr>
            <a:r>
              <a:t>Banker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" y="4690872"/>
            <a:ext cx="301752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Aptos"/>
              </a:defRPr>
            </a:pPr>
            <a:r>
              <a:t>Does this improve risk-adjusted returns without weakening controls?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4160520"/>
            <a:ext cx="3337560" cy="1051560"/>
          </a:xfrm>
          <a:prstGeom prst="roundRect">
            <a:avLst/>
          </a:prstGeom>
          <a:solidFill>
            <a:srgbClr val="F3F6FA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34840" y="4160520"/>
            <a:ext cx="54864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9431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B2D"/>
                </a:solidFill>
                <a:latin typeface="Aptos"/>
              </a:defRPr>
            </a:pPr>
            <a:r>
              <a:t>CFO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9431" y="4690872"/>
            <a:ext cx="301752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Aptos"/>
              </a:defRPr>
            </a:pPr>
            <a:r>
              <a:t>What is the measurable economics — cost, loss, revenue and capital?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4160520"/>
            <a:ext cx="3337560" cy="1051560"/>
          </a:xfrm>
          <a:prstGeom prst="roundRect">
            <a:avLst/>
          </a:prstGeom>
          <a:solidFill>
            <a:srgbClr val="F3F6FA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2440" y="4160520"/>
            <a:ext cx="54864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57031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B2D"/>
                </a:solidFill>
                <a:latin typeface="Aptos"/>
              </a:defRPr>
            </a:pPr>
            <a:r>
              <a:t>Risk / Model Owner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7031" y="4690872"/>
            <a:ext cx="301752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Aptos"/>
              </a:defRPr>
            </a:pPr>
            <a:r>
              <a:t>Can we explain, validate, monitor and challenge the system?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715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B2D"/>
                </a:solidFill>
                <a:latin typeface="Aptos"/>
              </a:defRPr>
            </a:pPr>
            <a:r>
              <a:t>Target state: AI operates as a governed capability embedded into the credit operating model.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Executive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Aptos"/>
              </a:defRPr>
            </a:pPr>
            <a:r>
              <a:t>The strategic question is not “Should we use AI?” but “Where can AI create measurable value under controlled risk?”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41732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399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AI augments credit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399032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ML improves prediction; GenAI improves information and workflow handling.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258568"/>
            <a:ext cx="438912" cy="43891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240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Data is the moat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240280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Quality, lineage, access and infrastructure determine whether AI can be trusted.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099816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0815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Speed becomes strategic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081528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Near real-time decisioning can reshape customer experience and operating economics.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941064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227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Governance is non-negotiable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922776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Fairness, explainability, privacy, validation and monitoring must travel with the model.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78231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76402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Scale through a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764024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Reusable cloud-native capabilities reduce duplicated effort and enable continuous improvement.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DD3FC"/>
                </a:solidFill>
                <a:latin typeface="Aptos"/>
              </a:defRPr>
            </a:pPr>
            <a:r>
              <a:t>AI + trusted data + governed decisioning = next-generation credit risk capability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8230</Words>
  <Application>WPS Presentation</Application>
  <PresentationFormat>On-screen Show (4:3)</PresentationFormat>
  <Paragraphs>508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Arial</vt:lpstr>
      <vt:lpstr>Aptos</vt:lpstr>
      <vt:lpstr>Segoe UI</vt:lpstr>
      <vt:lpstr>Aptos Display</vt:lpstr>
      <vt:lpstr>Segoe UI Variable Display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Rajat Kumar</cp:lastModifiedBy>
  <cp:revision>2</cp:revision>
  <dcterms:created xsi:type="dcterms:W3CDTF">2013-01-27T09:14:00Z</dcterms:created>
  <dcterms:modified xsi:type="dcterms:W3CDTF">2026-09-27T14:48:16Z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A670A76B8E6A4ACF844014639106C733_12</vt:lpwstr>
  </property>
  <property fmtid="{D5CDD505-2E9C-101B-9397-08002B2CF9AE}" pid="3" name="KSOProductBuildVer">
    <vt:lpwstr>2057-12.2.0.23206</vt:lpwstr>
  </property>
</Properties>
</file>