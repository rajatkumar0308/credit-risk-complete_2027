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C3E1"/>
                </a:solidFill>
                <a:latin typeface="Aptos"/>
              </a:rPr>
              <a:t>CREDIT RISK | IFRS 9 / CECL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12-Month ECL
vs Lifetime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2DCE8"/>
                </a:solidFill>
                <a:latin typeface="Aptos"/>
              </a:rPr>
              <a:t>Default horizon, staging logic, measurement mechanics &amp; decision implications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3474720" cy="1051560"/>
          </a:xfrm>
          <a:prstGeom prst="roundRect">
            <a:avLst/>
          </a:prstGeom>
          <a:solidFill>
            <a:srgbClr val="1B3050"/>
          </a:solidFill>
          <a:ln>
            <a:solidFill>
              <a:srgbClr val="37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879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BC3E1"/>
                </a:solidFill>
                <a:latin typeface="Aptos"/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62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12M is a horizon — not a loss cap.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533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9CD"/>
                </a:solidFill>
                <a:latin typeface="Aptos"/>
              </a:rPr>
              <a:t>Premium corporate training deck • Illustrative calculations clearly labelled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01 | 12-MONTH ECL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What is 12-Month ECL?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Expected credit loss associated with default events that are possible within the next 12 months.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0574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64008" cy="14173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45B99"/>
                </a:solidFill>
                <a:latin typeface="Aptos"/>
              </a:rPr>
              <a:t>12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Default-event 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687"/>
                </a:solidFill>
                <a:latin typeface="Aptos"/>
              </a:rPr>
              <a:t>Not cash losses collected in 12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0574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057400"/>
            <a:ext cx="64008" cy="1417320"/>
          </a:xfrm>
          <a:prstGeom prst="roundRect">
            <a:avLst/>
          </a:prstGeom>
          <a:solidFill>
            <a:srgbClr val="1A8484"/>
          </a:solidFill>
          <a:ln>
            <a:solidFill>
              <a:srgbClr val="1A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03704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8484"/>
                </a:solidFill>
                <a:latin typeface="Aptos"/>
              </a:rPr>
              <a:t>PD₁₂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334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Probability of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083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687"/>
                </a:solidFill>
                <a:latin typeface="Aptos"/>
              </a:rPr>
              <a:t>Default within next 12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0574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2057400"/>
            <a:ext cx="64008" cy="1417320"/>
          </a:xfrm>
          <a:prstGeom prst="roundRect">
            <a:avLst/>
          </a:prstGeom>
          <a:solidFill>
            <a:srgbClr val="C29132"/>
          </a:solidFill>
          <a:ln>
            <a:solidFill>
              <a:srgbClr val="C2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203704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C29132"/>
                </a:solidFill>
                <a:latin typeface="Aptos"/>
              </a:rPr>
              <a:t>LGD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334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Loss severity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0083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687"/>
                </a:solidFill>
                <a:latin typeface="Aptos"/>
              </a:rPr>
              <a:t>Loss after recoveries and costs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0574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2057400"/>
            <a:ext cx="64008" cy="14173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203704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13737"/>
                </a:solidFill>
                <a:latin typeface="Aptos"/>
              </a:rPr>
              <a:t>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63347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00837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687"/>
                </a:solidFill>
                <a:latin typeface="Aptos"/>
              </a:rPr>
              <a:t>Exposure at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77639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E36"/>
                </a:solidFill>
                <a:latin typeface="Aptos"/>
              </a:rPr>
              <a:t>Core measurement intuition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07408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2B36"/>
                </a:solidFill>
                <a:latin typeface="Aptos"/>
              </a:rPr>
              <a:t>12M ECL ≈ PD₁₂ × LGD × EAD
with appropriate discounting and scenario weighting.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13632"/>
            <a:ext cx="49834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13737"/>
                </a:solidFill>
                <a:latin typeface="Aptos"/>
              </a:rPr>
              <a:t>CRITICAL DISTINCTION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07992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B36"/>
                </a:solidFill>
                <a:latin typeface="Aptos"/>
              </a:rPr>
              <a:t>The horizon is about when default may occur — not when the bank ultimately receives or loses cash.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02 | LIFETIME ECL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What is Lifetime ECL?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Expected losses from default events over the entire remaining contractual life of the exposure.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DEFAULT HORIZON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2788920"/>
            <a:ext cx="9646920" cy="0"/>
          </a:xfrm>
          <a:prstGeom prst="line">
            <a:avLst/>
          </a:prstGeom>
          <a:ln w="3810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61288" y="2624328"/>
            <a:ext cx="146304" cy="329184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6"/>
                </a:solidFill>
                <a:latin typeface="Aptos"/>
              </a:rPr>
              <a:t>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624328"/>
            <a:ext cx="146304" cy="329184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0632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6"/>
                </a:solidFill>
                <a:latin typeface="Aptos"/>
              </a:rPr>
              <a:t>Year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8" y="2624328"/>
            <a:ext cx="146304" cy="329184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0632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6"/>
                </a:solidFill>
                <a:latin typeface="Aptos"/>
              </a:rPr>
              <a:t>Year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7" y="2624328"/>
            <a:ext cx="146304" cy="329184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6"/>
                </a:solidFill>
                <a:latin typeface="Aptos"/>
              </a:rPr>
              <a:t>Year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53928" y="2624328"/>
            <a:ext cx="146304" cy="329184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30632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6"/>
                </a:solidFill>
                <a:latin typeface="Aptos"/>
              </a:rPr>
              <a:t>Maturity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E36"/>
                </a:solidFill>
                <a:latin typeface="Aptos"/>
              </a:rPr>
              <a:t>Lifetime horizon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0">
                <a:solidFill>
                  <a:srgbClr val="232B36"/>
                </a:solidFill>
                <a:latin typeface="Aptos"/>
              </a:rPr>
              <a:t>ECL aggregates expected credit losses across future default opportunities over the remaining life, using probability, severity, exposure and timing.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4754880" cy="1417320"/>
          </a:xfrm>
          <a:prstGeom prst="roundRect">
            <a:avLst/>
          </a:prstGeom>
          <a:solidFill>
            <a:srgbClr val="F7F5EE"/>
          </a:solidFill>
          <a:ln>
            <a:solidFill>
              <a:srgbClr val="E7D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91363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32"/>
                </a:solidFill>
                <a:latin typeface="Aptos"/>
              </a:rPr>
              <a:t>ILLUSTRATIVE TERM LOAN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79392"/>
            <a:ext cx="4160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6"/>
                </a:solidFill>
                <a:latin typeface="Aptos"/>
              </a:rPr>
              <a:t>5-year remaining maturity → default risk is considered across the 5-year horizon, subject to applicable credit-risk stage.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03 | 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12-Month ECL vs Lifetime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The central distinction is the default horizon; measurement then follows the cash-flow economics.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993392"/>
            <a:ext cx="2103120" cy="50292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19202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93392"/>
            <a:ext cx="3246120" cy="50292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30552"/>
            <a:ext cx="30632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12-Month ECL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93392"/>
            <a:ext cx="4937760" cy="50292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30552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Lifetime ECL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42032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1920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Default horizon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542032"/>
            <a:ext cx="3246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688336"/>
            <a:ext cx="3063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Next 12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542032"/>
            <a:ext cx="493776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68833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Entire remaining contractual life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09544"/>
            <a:ext cx="2103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55848"/>
            <a:ext cx="1920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Typical staging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209544"/>
            <a:ext cx="3246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355848"/>
            <a:ext cx="3063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Stage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209544"/>
            <a:ext cx="4937760" cy="612648"/>
          </a:xfrm>
          <a:prstGeom prst="rect">
            <a:avLst/>
          </a:prstGeom>
          <a:solidFill>
            <a:srgbClr val="F4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Stage 2 / Stage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877056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23360"/>
            <a:ext cx="1920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PD 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877056"/>
            <a:ext cx="3246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023360"/>
            <a:ext cx="3063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12M PD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877056"/>
            <a:ext cx="493776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02336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Marginal / cumulative lifetime PD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544568"/>
            <a:ext cx="2103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90872"/>
            <a:ext cx="1920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Exposure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4544568"/>
            <a:ext cx="3246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690872"/>
            <a:ext cx="3063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Expected EAD at default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544568"/>
            <a:ext cx="4937760" cy="612648"/>
          </a:xfrm>
          <a:prstGeom prst="rect">
            <a:avLst/>
          </a:prstGeom>
          <a:solidFill>
            <a:srgbClr val="F4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69087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Expected EAD across future periods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212079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58383"/>
            <a:ext cx="1920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Timing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5212079"/>
            <a:ext cx="3246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5358383"/>
            <a:ext cx="30632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Discounted expected loss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5212079"/>
            <a:ext cx="493776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5358383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32B36"/>
                </a:solidFill>
                <a:latin typeface="Aptos"/>
              </a:rPr>
              <a:t>Discounted expected loss by period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98932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101E36"/>
                </a:solidFill>
                <a:latin typeface="Aptos"/>
              </a:rPr>
              <a:t>Rule of thumb: 12-month ECL uses a 12-month default-event horizon; lifetime ECL uses the remaining-life default-event horizon.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04 | DEFAULT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Understanding the Default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Think in conditional annual default probabilities — not one lifetime PD number.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2148840"/>
            <a:ext cx="190195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04288"/>
            <a:ext cx="365760" cy="36576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6829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67712"/>
            <a:ext cx="1143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Starting exposure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2734056"/>
            <a:ext cx="320040" cy="0"/>
          </a:xfrm>
          <a:prstGeom prst="line">
            <a:avLst/>
          </a:prstGeom>
          <a:ln w="2540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2072" y="2148840"/>
            <a:ext cx="190195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2304288"/>
            <a:ext cx="365760" cy="36576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36829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267712"/>
            <a:ext cx="1143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Default probability
by period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64024" y="2734056"/>
            <a:ext cx="320040" cy="0"/>
          </a:xfrm>
          <a:prstGeom prst="line">
            <a:avLst/>
          </a:prstGeom>
          <a:ln w="2540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4" y="2148840"/>
            <a:ext cx="190195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9512" y="2304288"/>
            <a:ext cx="365760" cy="36576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36829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2267712"/>
            <a:ext cx="1143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Loss if default
occurs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31736" y="2734056"/>
            <a:ext cx="320040" cy="0"/>
          </a:xfrm>
          <a:prstGeom prst="line">
            <a:avLst/>
          </a:prstGeom>
          <a:ln w="2540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97496" y="2148840"/>
            <a:ext cx="190195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07223" y="2304288"/>
            <a:ext cx="365760" cy="36576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3" y="236829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267712"/>
            <a:ext cx="1143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Discount &amp; sum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9448" y="2734056"/>
            <a:ext cx="320040" cy="0"/>
          </a:xfrm>
          <a:prstGeom prst="line">
            <a:avLst/>
          </a:prstGeom>
          <a:ln w="25400">
            <a:solidFill>
              <a:srgbClr val="245B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65208" y="2148840"/>
            <a:ext cx="190195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74936" y="2304288"/>
            <a:ext cx="365760" cy="36576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236829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267712"/>
            <a:ext cx="1143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Expected
credit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319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E36"/>
                </a:solidFill>
                <a:latin typeface="Aptos"/>
              </a:rPr>
              <a:t>Lifetime ECL can be viewed as a sum of period-by-period expected losses: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0740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32B36"/>
                </a:solidFill>
                <a:latin typeface="Aptos"/>
              </a:rPr>
              <a:t>Lifetime ECL = Σₜ [ Marginal PDₜ × LGDₜ × EADₜ × Discount Factorₜ 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7400" y="5166360"/>
            <a:ext cx="8001000" cy="658368"/>
          </a:xfrm>
          <a:prstGeom prst="roundRect">
            <a:avLst/>
          </a:prstGeom>
          <a:solidFill>
            <a:srgbClr val="EEF3F8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5367528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5B99"/>
                </a:solidFill>
                <a:latin typeface="Aptos"/>
              </a:rPr>
              <a:t>12M ECL uses only default opportunities inside the first 12 months.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05 | 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12-Month ECL —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Illustrative single-period calculation for a Stage 1 exposure.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05740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64008" cy="132588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45B99"/>
                </a:solidFill>
                <a:latin typeface="Aptos"/>
              </a:rPr>
              <a:t>PD = 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12-month default probability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5740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2057400"/>
            <a:ext cx="64008" cy="1325880"/>
          </a:xfrm>
          <a:prstGeom prst="roundRect">
            <a:avLst/>
          </a:prstGeom>
          <a:solidFill>
            <a:srgbClr val="C29132"/>
          </a:solidFill>
          <a:ln>
            <a:solidFill>
              <a:srgbClr val="C2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03704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C29132"/>
                </a:solidFill>
                <a:latin typeface="Aptos"/>
              </a:rPr>
              <a:t>LGD =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334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Loss severity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05740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60" y="2057400"/>
            <a:ext cx="64008" cy="1325880"/>
          </a:xfrm>
          <a:prstGeom prst="roundRect">
            <a:avLst/>
          </a:prstGeom>
          <a:solidFill>
            <a:srgbClr val="1A8484"/>
          </a:solidFill>
          <a:ln>
            <a:solidFill>
              <a:srgbClr val="1A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203704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8484"/>
                </a:solidFill>
                <a:latin typeface="Aptos"/>
              </a:rPr>
              <a:t>EAD = ₹10m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334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Exposure at default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5740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057400"/>
            <a:ext cx="64008" cy="1325880"/>
          </a:xfrm>
          <a:prstGeom prst="roundRect">
            <a:avLst/>
          </a:prstGeom>
          <a:solidFill>
            <a:srgbClr val="697687"/>
          </a:solidFill>
          <a:ln>
            <a:solidFill>
              <a:srgbClr val="697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2203704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697687"/>
                </a:solidFill>
                <a:latin typeface="Aptos"/>
              </a:rPr>
              <a:t>DF = 0.98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6334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Illustrative discount factor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057400"/>
            <a:ext cx="1783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46920" y="2057400"/>
            <a:ext cx="64008" cy="132588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203704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13737"/>
                </a:solidFill>
                <a:latin typeface="Aptos"/>
              </a:rPr>
              <a:t>₹78.4k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63347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12M ECL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947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E36"/>
                </a:solidFill>
                <a:latin typeface="Aptos"/>
              </a:rPr>
              <a:t>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24528"/>
            <a:ext cx="5029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B36"/>
                </a:solidFill>
                <a:latin typeface="Aptos"/>
              </a:rPr>
              <a:t>ECL = 2.0% × 40% × ₹10,000,000 × 0.98
   = ₹78,400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94760"/>
            <a:ext cx="48463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8484"/>
                </a:solidFill>
                <a:latin typeface="Aptos"/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89120"/>
            <a:ext cx="4160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232B36"/>
                </a:solidFill>
                <a:latin typeface="Aptos"/>
              </a:rPr>
              <a:t>For this illustrative exposure, expected loss linked to defaults occurring within the next 12 months is ₹78.4k.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06 | 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Lifetime ECL —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Illustrative multi-period calculation: expected losses can arise in several future years.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96596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43000"/>
                <a:gridCol w="914400"/>
                <a:gridCol w="1188720"/>
                <a:gridCol w="914400"/>
                <a:gridCol w="25146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>
                    <a:solidFill>
                      <a:srgbClr val="10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Marginal PD</a:t>
                      </a:r>
                    </a:p>
                  </a:txBody>
                  <a:tcPr>
                    <a:solidFill>
                      <a:srgbClr val="10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LGD</a:t>
                      </a:r>
                    </a:p>
                  </a:txBody>
                  <a:tcPr>
                    <a:solidFill>
                      <a:srgbClr val="10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EAD</a:t>
                      </a:r>
                    </a:p>
                  </a:txBody>
                  <a:tcPr>
                    <a:solidFill>
                      <a:srgbClr val="10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DF</a:t>
                      </a:r>
                    </a:p>
                  </a:txBody>
                  <a:tcPr>
                    <a:solidFill>
                      <a:srgbClr val="101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Discounted ECL</a:t>
                      </a:r>
                    </a:p>
                  </a:txBody>
                  <a:tcPr>
                    <a:solidFill>
                      <a:srgbClr val="101E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₹10.0m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₹78.4k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Year 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2.5%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42%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₹9.0m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0.93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₹87.9k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₹8.0m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₹95.0k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Year 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3.5%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48%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₹7.0m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0.83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6"/>
                          </a:solidFill>
                          <a:latin typeface="Aptos"/>
                        </a:rPr>
                        <a:t>₹97.6k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32520" y="2011680"/>
            <a:ext cx="2651760" cy="1325880"/>
          </a:xfrm>
          <a:prstGeom prst="roundRect">
            <a:avLst/>
          </a:prstGeom>
          <a:solidFill>
            <a:srgbClr val="EEF3F8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2677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5B99"/>
                </a:solidFill>
                <a:latin typeface="Aptos"/>
              </a:rPr>
              <a:t>LIFETIME ECL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60604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01E36"/>
                </a:solidFill>
                <a:latin typeface="Aptos"/>
              </a:rPr>
              <a:t>₹358.9k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09067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687"/>
                </a:solidFill>
                <a:latin typeface="Aptos"/>
              </a:rPr>
              <a:t>Illustrative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703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1E36"/>
                </a:solidFill>
                <a:latin typeface="Aptos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133087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B36"/>
                </a:solidFill>
                <a:latin typeface="Aptos"/>
              </a:rPr>
              <a:t>Lifetime ECL is not simply “12M ECL × years.” PD, EAD, LGD and discounting can change over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71500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697687"/>
                </a:solidFill>
                <a:latin typeface="Aptos"/>
              </a:rPr>
              <a:t>Formula: Σ period expected losses after discounting to the reporting 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07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Case Study — Credit Risk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Illustrative corporate-loan example showing how a change in credit risk changes the measurement horizon.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96596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64008" cy="114300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1226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45B99"/>
                </a:solidFill>
                <a:latin typeface="Aptos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No significant increase in credit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96596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1965960"/>
            <a:ext cx="64008" cy="1143000"/>
          </a:xfrm>
          <a:prstGeom prst="roundRect">
            <a:avLst/>
          </a:prstGeom>
          <a:solidFill>
            <a:srgbClr val="C29132"/>
          </a:solidFill>
          <a:ln>
            <a:solidFill>
              <a:srgbClr val="C2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11226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C29132"/>
                </a:solidFill>
                <a:latin typeface="Aptos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54203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Significant increase in credit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96596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1965960"/>
            <a:ext cx="64008" cy="114300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11226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13737"/>
                </a:solidFill>
                <a:latin typeface="Aptos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54203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32B36"/>
                </a:solidFill>
                <a:latin typeface="Aptos"/>
              </a:rPr>
              <a:t>Credit-impaired / defaulted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E36"/>
                </a:solidFill>
                <a:latin typeface="Aptos"/>
              </a:rPr>
              <a:t>Illustrative borrower 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5-year corporate term loan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61104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Initial PD₁₂ = 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Current PD₁₂ = 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19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LGD = 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4865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EAD = ₹50m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474720"/>
            <a:ext cx="649224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749039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E36"/>
                </a:solidFill>
                <a:latin typeface="Aptos"/>
              </a:rPr>
              <a:t>Decision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11480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0">
                <a:solidFill>
                  <a:srgbClr val="232B36"/>
                </a:solidFill>
                <a:latin typeface="Aptos"/>
              </a:rPr>
              <a:t>If credit risk has increased significantly since initial recognition, the applicable measurement generally moves from a 12-month default-event horizon to a lifetime default-event horizon. Stage 3 remains lifetime ECL, with credit-impaired measurement considerations.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5230368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Exact staging requires the institution’s documented SICR/default framework.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08 | BUSINESS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What Changes the ECL Number?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Four drivers interact across the default horizon.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0116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212848"/>
            <a:ext cx="502920" cy="5029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322576"/>
            <a:ext cx="4846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7627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Chance of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23744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687"/>
                </a:solidFill>
                <a:latin typeface="Aptos"/>
              </a:rPr>
              <a:t>Higher PD → higher ECL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0116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5031" y="2212848"/>
            <a:ext cx="502920" cy="502920"/>
          </a:xfrm>
          <a:prstGeom prst="roundRect">
            <a:avLst/>
          </a:prstGeom>
          <a:solidFill>
            <a:srgbClr val="C29132"/>
          </a:solidFill>
          <a:ln>
            <a:solidFill>
              <a:srgbClr val="C2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322576"/>
            <a:ext cx="4846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LGD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17627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Loss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523744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687"/>
                </a:solidFill>
                <a:latin typeface="Aptos"/>
              </a:rPr>
              <a:t>Lower recoveries → higher ECL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1" y="2212848"/>
            <a:ext cx="502920" cy="502920"/>
          </a:xfrm>
          <a:prstGeom prst="roundRect">
            <a:avLst/>
          </a:prstGeom>
          <a:solidFill>
            <a:srgbClr val="1A8484"/>
          </a:solidFill>
          <a:ln>
            <a:solidFill>
              <a:srgbClr val="1A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322576"/>
            <a:ext cx="4846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599" y="217627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Exposure at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523744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687"/>
                </a:solidFill>
                <a:latin typeface="Aptos"/>
              </a:rPr>
              <a:t>Higher utilization → higher ECL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0116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62872" y="2212848"/>
            <a:ext cx="502920" cy="5029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5" y="2322576"/>
            <a:ext cx="4846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17627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Discounting &amp; recovery timing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523744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687"/>
                </a:solidFill>
                <a:latin typeface="Aptos"/>
              </a:rPr>
              <a:t>Later recoveries → higher ECL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E36"/>
                </a:solidFill>
                <a:latin typeface="Aptos"/>
              </a:rPr>
              <a:t>Managerial lens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315968"/>
            <a:ext cx="1874519" cy="41148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42569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Credit analyst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370831"/>
            <a:ext cx="8229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Validate staging triggers, PD/LGD/EAD assumptions, overrides and concentration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18888"/>
            <a:ext cx="1874519" cy="41148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92861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Risk function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873751"/>
            <a:ext cx="8229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Challenge scenario weighting, model performance and SICR thresholds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321808"/>
            <a:ext cx="1874519" cy="41148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3153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CFO /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376672"/>
            <a:ext cx="8229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Understand provision volatility, P&amp;L and capital implications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824728"/>
            <a:ext cx="1874519" cy="411480"/>
          </a:xfrm>
          <a:prstGeom prst="roundRect">
            <a:avLst/>
          </a:prstGeom>
          <a:solidFill>
            <a:srgbClr val="101E36"/>
          </a:solidFill>
          <a:ln>
            <a:solidFill>
              <a:srgbClr val="10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93445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Investor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879592"/>
            <a:ext cx="8229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Read ECL changes alongside portfolio growth, mix, risk migration and macro assumptions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09 | RISKS &amp; RED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Common ECL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The biggest errors often come from misunderstanding the horizon or mixing incompatible inputs.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01952"/>
            <a:ext cx="502920" cy="5029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0195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101E36"/>
                </a:solidFill>
                <a:latin typeface="Aptos"/>
              </a:rPr>
              <a:t>Treating 12M ECL as cash loss within 12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01952"/>
            <a:ext cx="5486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12M refers to default-event horizon; recoveries may occur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51760"/>
            <a:ext cx="502920" cy="5029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0720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51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101E36"/>
                </a:solidFill>
                <a:latin typeface="Aptos"/>
              </a:rPr>
              <a:t>Using lifetime PD as one flat percentage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51760"/>
            <a:ext cx="5486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Lifetime risk should reflect the time profile of default opportunities.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01568"/>
            <a:ext cx="502920" cy="5029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57015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0156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101E36"/>
                </a:solidFill>
                <a:latin typeface="Aptos"/>
              </a:rPr>
              <a:t>Ignoring EAD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401568"/>
            <a:ext cx="5486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Revolving facilities can draw before default; term-loan balances amortize.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51376"/>
            <a:ext cx="502920" cy="5029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3068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5137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101E36"/>
                </a:solidFill>
                <a:latin typeface="Aptos"/>
              </a:rPr>
              <a:t>Using static LGD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151376"/>
            <a:ext cx="5486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Recovery rates, collateral values and workout timing can evolve.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901183"/>
            <a:ext cx="502920" cy="502920"/>
          </a:xfrm>
          <a:prstGeom prst="roundRect">
            <a:avLst/>
          </a:prstGeom>
          <a:solidFill>
            <a:srgbClr val="B13737"/>
          </a:solidFill>
          <a:ln>
            <a:solidFill>
              <a:srgbClr val="B1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056631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01183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101E36"/>
                </a:solidFill>
                <a:latin typeface="Aptos"/>
              </a:rPr>
              <a:t>Changing staging without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901183"/>
            <a:ext cx="5486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SICR/default triggers need documented, consistent and auditable rules.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5B99"/>
                </a:solidFill>
                <a:latin typeface="Aptos"/>
              </a:rPr>
              <a:t>10 | EXECUTIVE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E36"/>
                </a:solidFill>
                <a:latin typeface="Aptos"/>
              </a:rPr>
              <a:t>ECL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7"/>
                </a:solidFill>
                <a:latin typeface="Aptos"/>
              </a:rPr>
              <a:t>A practical sequence for credit, risk and finance teams.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664208"/>
            <a:ext cx="1100023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74519"/>
            <a:ext cx="502920" cy="5029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9967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Has a credit-risk exposure been recognised?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874519"/>
            <a:ext cx="379476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2011679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>
                <a:solidFill>
                  <a:srgbClr val="232B36"/>
                </a:solidFill>
                <a:latin typeface="Aptos"/>
              </a:rPr>
              <a:t>Yes → continue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70048"/>
            <a:ext cx="502920" cy="5029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254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700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Has credit risk increased significantly since initial recognition?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670048"/>
            <a:ext cx="379476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807208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>
                <a:solidFill>
                  <a:srgbClr val="232B36"/>
                </a:solidFill>
                <a:latin typeface="Aptos"/>
              </a:rPr>
              <a:t>No → 12M ECL | Yes → Lifetime ECL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65576"/>
            <a:ext cx="502920" cy="5029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210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6557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Is the exposure credit-impaired/defaulted?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465576"/>
            <a:ext cx="379476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360273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>
                <a:solidFill>
                  <a:srgbClr val="232B36"/>
                </a:solidFill>
                <a:latin typeface="Aptos"/>
              </a:rPr>
              <a:t>Yes → Stage 3 / lifetime ECL 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61104"/>
            <a:ext cx="502920" cy="5029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4165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6110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What are the forward-looking cash-flow assumptions?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261104"/>
            <a:ext cx="379476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4398264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>
                <a:solidFill>
                  <a:srgbClr val="232B36"/>
                </a:solidFill>
                <a:latin typeface="Aptos"/>
              </a:rPr>
              <a:t>PD + LGD + EAD + timing + scenarios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056631"/>
            <a:ext cx="502920" cy="502920"/>
          </a:xfrm>
          <a:prstGeom prst="roundRect">
            <a:avLst/>
          </a:prstGeom>
          <a:solidFill>
            <a:srgbClr val="245B99"/>
          </a:solidFill>
          <a:ln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212079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56631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E36"/>
                </a:solidFill>
                <a:latin typeface="Aptos"/>
              </a:rPr>
              <a:t>Can the result be explained and challenged?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056631"/>
            <a:ext cx="379476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5193792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>
                <a:solidFill>
                  <a:srgbClr val="232B36"/>
                </a:solidFill>
                <a:latin typeface="Aptos"/>
              </a:rPr>
              <a:t>Governance, controls,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C3E1"/>
                </a:solidFill>
                <a:latin typeface="Aptos"/>
              </a:rP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horizon determines the lens.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C3E1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12-Month ECL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965960"/>
            <a:ext cx="6858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CE4EE"/>
                </a:solidFill>
                <a:latin typeface="Aptos"/>
              </a:rPr>
              <a:t>Expected loss from default events possible within the next 12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C3E1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260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Lifetime ECL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926080"/>
            <a:ext cx="6858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CE4EE"/>
                </a:solidFill>
                <a:latin typeface="Aptos"/>
              </a:rPr>
              <a:t>Expected loss from default events over the remaining life of the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C3E1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86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Default horizon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886200"/>
            <a:ext cx="6858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CE4EE"/>
                </a:solidFill>
                <a:latin typeface="Aptos"/>
              </a:rPr>
              <a:t>Lifetime ECL is built period-by-period; it is not simply a multiple of 12M ECL.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C3E1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463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Business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846320"/>
            <a:ext cx="6858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CE4EE"/>
                </a:solidFill>
                <a:latin typeface="Aptos"/>
              </a:rPr>
              <a:t>Staging, PD, LGD, EAD, recovery timing and forward-looking scenarios drive provision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5B4C8"/>
                </a:solidFill>
                <a:latin typeface="Aptos"/>
              </a:rPr>
              <a:t>Training note: examples are illustrative; production ECL requires the applicable accounting framework, institution methodology and documented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687"/>
                </a:solidFill>
                <a:latin typeface="Aptos"/>
              </a:rPr>
              <a:t>CREDIT RISK TRAINING  |  EXPECTED CREDIT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68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