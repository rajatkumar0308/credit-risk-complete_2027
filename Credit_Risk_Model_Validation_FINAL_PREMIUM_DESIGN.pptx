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ROC</c:v>
                </c:pt>
              </c:strCache>
            </c:strRef>
          </c:tx>
          <c:marker>
            <c:symbol val="none"/>
          </c:marker>
          <c:cat>
            <c:numRef>
              <c:f>Sheet1!$A$2:$A$7</c:f>
              <c:numCache>
                <c:formatCode>General</c:formatCode>
                <c:ptCount val="6"/>
                <c:pt idx="0">
                  <c:v>0</c:v>
                </c:pt>
                <c:pt idx="1">
                  <c:v>0.2</c:v>
                </c:pt>
                <c:pt idx="2">
                  <c:v>0.4</c:v>
                </c:pt>
                <c:pt idx="3">
                  <c:v>0.6</c:v>
                </c:pt>
                <c:pt idx="4">
                  <c:v>0.8</c:v>
                </c:pt>
                <c:pt idx="5">
                  <c:v>1.0</c:v>
                </c:pt>
              </c:numCache>
            </c:num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0.52</c:v>
                </c:pt>
                <c:pt idx="2">
                  <c:v>0.72</c:v>
                </c:pt>
                <c:pt idx="3">
                  <c:v>0.86</c:v>
                </c:pt>
                <c:pt idx="4">
                  <c:v>0.95</c:v>
                </c:pt>
                <c:pt idx="5">
                  <c:v>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  <c:max val="1.0"/>
          <c:min val="0.0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.0"/>
          <c:min val="0.0"/>
        </c:scaling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</c:v>
                </c:pt>
              </c:strCache>
            </c:strRef>
          </c:tx>
          <c:cat>
            <c:numRef>
              <c:f>Sheet1!$A$2:$A$6</c:f>
              <c:numCache>
                <c:formatCode>General</c:formatCode>
                <c:ptCount val="5"/>
                <c:pt idx="0">
                  <c:v>1.5</c:v>
                </c:pt>
                <c:pt idx="1">
                  <c:v>3.5</c:v>
                </c:pt>
                <c:pt idx="2">
                  <c:v>7.5</c:v>
                </c:pt>
                <c:pt idx="3">
                  <c:v>14</c:v>
                </c:pt>
                <c:pt idx="4">
                  <c:v>25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1.5</c:v>
                </c:pt>
                <c:pt idx="1">
                  <c:v>4</c:v>
                </c:pt>
                <c:pt idx="2">
                  <c:v>9.5</c:v>
                </c:pt>
                <c:pt idx="3">
                  <c:v>17</c:v>
                </c:pt>
                <c:pt idx="4">
                  <c:v>30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Perfect</c:v>
                </c:pt>
              </c:strCache>
            </c:strRef>
          </c:tx>
          <c:cat>
            <c:numRef>
              <c:f>Sheet1!$A$2:$A$6</c:f>
              <c:numCache>
                <c:formatCode>General</c:formatCode>
                <c:ptCount val="5"/>
                <c:pt idx="0">
                  <c:v>1.5</c:v>
                </c:pt>
                <c:pt idx="1">
                  <c:v>3.5</c:v>
                </c:pt>
                <c:pt idx="2">
                  <c:v>7.5</c:v>
                </c:pt>
                <c:pt idx="3">
                  <c:v>14</c:v>
                </c:pt>
                <c:pt idx="4">
                  <c:v>25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1.5</c:v>
                </c:pt>
                <c:pt idx="1">
                  <c:v>3.5</c:v>
                </c:pt>
                <c:pt idx="2">
                  <c:v>7.5</c:v>
                </c:pt>
                <c:pt idx="3">
                  <c:v>14</c:v>
                </c:pt>
                <c:pt idx="4">
                  <c:v>25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35.0"/>
          <c:min val="0.0"/>
        </c:scaling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85800"/>
            <a:ext cx="77724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ptos"/>
              </a:defRPr>
            </a:pPr>
            <a:r>
              <a:t>MODEL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53312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D8E4F0"/>
                </a:solidFill>
                <a:latin typeface="Aptos"/>
              </a:defRPr>
            </a:pPr>
            <a:r>
              <a:t>Independent Validation  •  Discriminatory Power  •  Calibration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73C6D3"/>
                </a:solidFill>
                <a:latin typeface="Aptos"/>
              </a:defRPr>
            </a:pPr>
            <a:r>
              <a:t>CREDIT RISK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2011680"/>
            <a:ext cx="1325880" cy="1600200"/>
          </a:xfrm>
          <a:prstGeom prst="round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42048" y="2212848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5472" y="2788920"/>
            <a:ext cx="1188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VALIDATION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41080" y="2011680"/>
            <a:ext cx="1325880" cy="1600200"/>
          </a:xfrm>
          <a:prstGeom prst="round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50807" y="2212848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14232" y="2788920"/>
            <a:ext cx="1188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DISCRIMINATION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149840" y="2011680"/>
            <a:ext cx="1325880" cy="1600200"/>
          </a:xfrm>
          <a:prstGeom prst="roundRect">
            <a:avLst/>
          </a:prstGeom>
          <a:solidFill>
            <a:srgbClr val="D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59567" y="2212848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22992" y="2788920"/>
            <a:ext cx="1188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CALIBRATION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886200"/>
            <a:ext cx="80467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ptos"/>
              </a:defRPr>
            </a:pPr>
            <a:r>
              <a:t>A model can rank borrowers well but still systematically over- or under-predict default rates.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736592"/>
            <a:ext cx="7132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D8E4F0"/>
                </a:solidFill>
                <a:latin typeface="Aptos"/>
              </a:defRPr>
            </a:pPr>
            <a:r>
              <a:t>Validation tests both separation and reliability.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080760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AFC1D3"/>
                </a:solidFill>
                <a:latin typeface="Aptos"/>
              </a:defRPr>
            </a:pPr>
            <a:r>
              <a:t>Premium Corporate Training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1769AA"/>
                </a:solidFill>
                <a:latin typeface="Aptos"/>
              </a:defRPr>
            </a:pPr>
            <a:r>
              <a:t>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4632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0243E"/>
                </a:solidFill>
                <a:latin typeface="Aptos"/>
              </a:defRPr>
            </a:pPr>
            <a:r>
              <a:t>What Is Model Validation?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4688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67085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6400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667085"/>
                </a:solidFill>
                <a:latin typeface="Aptos"/>
              </a:defRPr>
            </a:pPr>
            <a:r>
              <a:t>CREDIT RISK MODEL VALIDATION  |  CORPORATE TRAINING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325880"/>
            <a:ext cx="54864" cy="1828800"/>
          </a:xfrm>
          <a:prstGeom prst="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472184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0243E"/>
                </a:solidFill>
                <a:latin typeface="Aptos"/>
              </a:defRPr>
            </a:pPr>
            <a:r>
              <a:t>WHAT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1801368"/>
            <a:ext cx="3200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Aptos"/>
              </a:defRPr>
            </a:pPr>
            <a:r>
              <a:t>Independent, evidence-based assessment of conceptual soundness, data, implementation, performance, limitations and intended use.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32588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325880"/>
            <a:ext cx="54864" cy="1828800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1472184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0243E"/>
                </a:solidFill>
                <a:latin typeface="Aptos"/>
              </a:defRPr>
            </a:pPr>
            <a: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1801368"/>
            <a:ext cx="3200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Aptos"/>
              </a:defRPr>
            </a:pPr>
            <a:r>
              <a:t>Models influence lending, pricing, provisioning, capital and monitoring. Validation reduces model risk before outputs drive decisions.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32588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325880"/>
            <a:ext cx="54864" cy="1828800"/>
          </a:xfrm>
          <a:prstGeom prst="rect">
            <a:avLst/>
          </a:prstGeom>
          <a:solidFill>
            <a:srgbClr val="D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57031" y="1472184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0243E"/>
                </a:solidFill>
                <a:latin typeface="Aptos"/>
              </a:defRPr>
            </a:pPr>
            <a:r>
              <a:t>HOW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7031" y="1801368"/>
            <a:ext cx="3200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Aptos"/>
              </a:defRPr>
            </a:pPr>
            <a:r>
              <a:t>Review methodology, data, assumptions, discrimination, calibration, stability, implementation and governance.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474720"/>
            <a:ext cx="11018520" cy="132588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730752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769AA"/>
                </a:solidFill>
                <a:latin typeface="Aptos"/>
              </a:defRPr>
            </a:pPr>
            <a:r>
              <a:t>SO WHAT?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19" y="3657600"/>
            <a:ext cx="9235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0243E"/>
                </a:solidFill>
                <a:latin typeface="Aptos"/>
              </a:defRPr>
            </a:pPr>
            <a:r>
              <a:t>A model can be statistically strong yet unsuitable for a business decision. Validation tests both quantitative performance and intended use.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1769AA"/>
                </a:solidFill>
                <a:latin typeface="Aptos"/>
              </a:defRPr>
            </a:pPr>
            <a:r>
              <a:t>INDEPENDENCE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4632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0243E"/>
                </a:solidFill>
                <a:latin typeface="Aptos"/>
              </a:defRPr>
            </a:pPr>
            <a:r>
              <a:t>What Is Independent Model Validation?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4688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67085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6400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667085"/>
                </a:solidFill>
                <a:latin typeface="Aptos"/>
              </a:defRPr>
            </a:pPr>
            <a:r>
              <a:t>CREDIT RISK MODEL VALIDATION  |  CORPORATE TRAINING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71600"/>
            <a:ext cx="34290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371600"/>
            <a:ext cx="54864" cy="2057400"/>
          </a:xfrm>
          <a:prstGeom prst="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517904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0243E"/>
                </a:solidFill>
                <a:latin typeface="Aptos"/>
              </a:defRPr>
            </a:pPr>
            <a:r>
              <a:t>MODEL DEVELOPMENT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1847088"/>
            <a:ext cx="31089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Aptos"/>
              </a:defRPr>
            </a:pPr>
            <a:r>
              <a:t>Build, tune and document the model.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39" y="205740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66708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371600"/>
            <a:ext cx="34290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371600"/>
            <a:ext cx="54864" cy="2057400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7992" y="1517904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0243E"/>
                </a:solidFill>
                <a:latin typeface="Aptos"/>
              </a:defRPr>
            </a:pPr>
            <a:r>
              <a:t>INDEPENDENT 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1847088"/>
            <a:ext cx="31089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Aptos"/>
              </a:defRPr>
            </a:pPr>
            <a:r>
              <a:t>Reperform key tests, challenge assumptions and identify limitations.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6679" y="205740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66708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371600"/>
            <a:ext cx="34290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2440" y="1371600"/>
            <a:ext cx="54864" cy="2057400"/>
          </a:xfrm>
          <a:prstGeom prst="rect">
            <a:avLst/>
          </a:prstGeom>
          <a:solidFill>
            <a:srgbClr val="D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57031" y="1517904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0243E"/>
                </a:solidFill>
                <a:latin typeface="Aptos"/>
              </a:defRPr>
            </a:pPr>
            <a:r>
              <a:t>GOVERNANCE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7031" y="1847088"/>
            <a:ext cx="31089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Aptos"/>
              </a:defRPr>
            </a:pPr>
            <a:r>
              <a:t>Review findings, remediation, approval conditions and model status.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794760"/>
            <a:ext cx="11018520" cy="1417320"/>
          </a:xfrm>
          <a:prstGeom prst="roundRect">
            <a:avLst/>
          </a:prstGeom>
          <a:solidFill>
            <a:srgbClr val="10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02336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73C6D3"/>
                </a:solidFill>
                <a:latin typeface="Aptos"/>
              </a:defRPr>
            </a:pPr>
            <a:r>
              <a:t>VALIDATOR'S MINDSET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31720" y="3913632"/>
            <a:ext cx="8778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Aptos"/>
              </a:defRPr>
            </a:pPr>
            <a:r>
              <a:t>Challenge leakage • sample bias • stability • assumptions • implementation • control adequacy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1769AA"/>
                </a:solidFill>
                <a:latin typeface="Aptos"/>
              </a:defRPr>
            </a:pPr>
            <a:r>
              <a:t>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4632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0243E"/>
                </a:solidFill>
                <a:latin typeface="Aptos"/>
              </a:defRPr>
            </a:pPr>
            <a:r>
              <a:t>Model Validation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4688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67085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6400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667085"/>
                </a:solidFill>
                <a:latin typeface="Aptos"/>
              </a:defRPr>
            </a:pPr>
            <a:r>
              <a:t>CREDIT RISK MODEL VALIDATION  |  CORPORATE TRAINING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58952" y="1490472"/>
            <a:ext cx="502920" cy="310896"/>
          </a:xfrm>
          <a:prstGeom prst="roundRect">
            <a:avLst/>
          </a:prstGeom>
          <a:solidFill>
            <a:srgbClr val="10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" y="1554480"/>
            <a:ext cx="35661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508760"/>
            <a:ext cx="2331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0243E"/>
                </a:solidFill>
                <a:latin typeface="Aptos"/>
              </a:defRPr>
            </a:pPr>
            <a:r>
              <a:t>CONCEPT &amp;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984248"/>
            <a:ext cx="2971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Purpose • population • outcome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32588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07992" y="1490472"/>
            <a:ext cx="502920" cy="310896"/>
          </a:xfrm>
          <a:prstGeom prst="roundRect">
            <a:avLst/>
          </a:prstGeom>
          <a:solidFill>
            <a:srgbClr val="10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1144" y="1554480"/>
            <a:ext cx="35661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48072" y="1508760"/>
            <a:ext cx="2331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0243E"/>
                </a:solidFill>
                <a:latin typeface="Aptos"/>
              </a:defRPr>
            </a:pPr>
            <a:r>
              <a:t>DATA &amp; INPUTS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7992" y="1984248"/>
            <a:ext cx="2971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Quality • representativeness • leakage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32588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57031" y="1490472"/>
            <a:ext cx="502920" cy="310896"/>
          </a:xfrm>
          <a:prstGeom prst="roundRect">
            <a:avLst/>
          </a:prstGeom>
          <a:solidFill>
            <a:srgbClr val="10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0183" y="1554480"/>
            <a:ext cx="35661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97112" y="1508760"/>
            <a:ext cx="2331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0243E"/>
                </a:solidFill>
                <a:latin typeface="Aptos"/>
              </a:defRPr>
            </a:pPr>
            <a:r>
              <a:t>METHODOLOGY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1984248"/>
            <a:ext cx="2971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Assumptions • variables • methodology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315468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58952" y="3319272"/>
            <a:ext cx="502920" cy="310896"/>
          </a:xfrm>
          <a:prstGeom prst="roundRect">
            <a:avLst/>
          </a:prstGeom>
          <a:solidFill>
            <a:srgbClr val="10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" y="3383280"/>
            <a:ext cx="35661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99032" y="3337560"/>
            <a:ext cx="2331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0243E"/>
                </a:solidFill>
                <a:latin typeface="Aptos"/>
              </a:defRPr>
            </a:pPr>
            <a:r>
              <a:t>PERFORMANCE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3813048"/>
            <a:ext cx="2971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KS • Gini • AUC • calibration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43400" y="315468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507992" y="3319272"/>
            <a:ext cx="502920" cy="310896"/>
          </a:xfrm>
          <a:prstGeom prst="roundRect">
            <a:avLst/>
          </a:prstGeom>
          <a:solidFill>
            <a:srgbClr val="10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81144" y="3383280"/>
            <a:ext cx="35661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48072" y="3337560"/>
            <a:ext cx="2331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0243E"/>
                </a:solidFill>
                <a:latin typeface="Aptos"/>
              </a:defRPr>
            </a:pPr>
            <a:r>
              <a:t>IMPLEMENTATION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07992" y="3813048"/>
            <a:ext cx="2971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Code • mapping • controls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92440" y="315468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257031" y="3319272"/>
            <a:ext cx="502920" cy="310896"/>
          </a:xfrm>
          <a:prstGeom prst="roundRect">
            <a:avLst/>
          </a:prstGeom>
          <a:solidFill>
            <a:srgbClr val="10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30183" y="3383280"/>
            <a:ext cx="35661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97112" y="3337560"/>
            <a:ext cx="2331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0243E"/>
                </a:solidFill>
                <a:latin typeface="Aptos"/>
              </a:defRPr>
            </a:pPr>
            <a:r>
              <a:t>GOVERNANCE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57031" y="3813048"/>
            <a:ext cx="2971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Documentation • limits • monitoring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4360" y="5166360"/>
            <a:ext cx="11018520" cy="658368"/>
          </a:xfrm>
          <a:prstGeom prst="round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5358384"/>
            <a:ext cx="10561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OUTPUT  →  Findings • severity • remediation • limitations • validation conclusion / approval conditions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1769AA"/>
                </a:solidFill>
                <a:latin typeface="Aptos"/>
              </a:defRPr>
            </a:pPr>
            <a:r>
              <a:t>RESPONSIBILITIES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4632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0243E"/>
                </a:solidFill>
                <a:latin typeface="Aptos"/>
              </a:defRPr>
            </a:pPr>
            <a:r>
              <a:t>Development vs Validation — What’s the Difference?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4688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67085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6400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667085"/>
                </a:solidFill>
                <a:latin typeface="Aptos"/>
              </a:defRPr>
            </a:pPr>
            <a:r>
              <a:t>CREDIT RISK MODEL VALIDATION  |  CORPORATE TRAINING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280160"/>
            <a:ext cx="525780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280160"/>
            <a:ext cx="54864" cy="4160520"/>
          </a:xfrm>
          <a:prstGeom prst="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426463"/>
            <a:ext cx="4937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0243E"/>
                </a:solidFill>
                <a:latin typeface="Aptos"/>
              </a:defRPr>
            </a:pPr>
            <a:r>
              <a:t>DEVELOPMENT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1755648"/>
            <a:ext cx="493776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1F2937"/>
                </a:solidFill>
                <a:latin typeface="Aptos"/>
              </a:defRPr>
            </a:pPr>
            <a:r>
              <a:t>Objective: build a useful predictive model.</a:t>
            </a:r>
            <a:br/>
            <a:br/>
            <a:r>
              <a:t>• Feature engineering</a:t>
            </a:r>
            <a:br/>
            <a:r>
              <a:t>• Variable selection</a:t>
            </a:r>
            <a:br/>
            <a:r>
              <a:t>• Model fitting / tuning</a:t>
            </a:r>
            <a:br/>
            <a:r>
              <a:t>• Performance optimisation</a:t>
            </a:r>
            <a:br/>
            <a:r>
              <a:t>• Methodology documentation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280160"/>
            <a:ext cx="525780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280160"/>
            <a:ext cx="54864" cy="4160520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9672" y="1426463"/>
            <a:ext cx="4937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0243E"/>
                </a:solidFill>
                <a:latin typeface="Aptos"/>
              </a:defRPr>
            </a:pPr>
            <a:r>
              <a:t>INDEPENDENT VALIDATION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9672" y="1755648"/>
            <a:ext cx="493776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1F2937"/>
                </a:solidFill>
                <a:latin typeface="Aptos"/>
              </a:defRPr>
            </a:pPr>
            <a:r>
              <a:t>Objective: challenge whether the model is reliable for intended use.</a:t>
            </a:r>
            <a:br/>
            <a:br/>
            <a:r>
              <a:t>• Reperform key calculations</a:t>
            </a:r>
            <a:br/>
            <a:r>
              <a:t>• Challenge assumptions</a:t>
            </a:r>
            <a:br/>
            <a:r>
              <a:t>• Test out-of-sample evidence</a:t>
            </a:r>
            <a:br/>
            <a:r>
              <a:t>• Assess discrimination &amp; calibration</a:t>
            </a:r>
            <a:br/>
            <a:r>
              <a:t>• Examine limitations / instability</a:t>
            </a:r>
            <a:br/>
            <a:r>
              <a:t>• Test implementation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0" y="5669280"/>
            <a:ext cx="2560320" cy="310896"/>
          </a:xfrm>
          <a:prstGeom prst="roundRect">
            <a:avLst/>
          </a:prstGeom>
          <a:solidFill>
            <a:srgbClr val="D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28032" y="5733288"/>
            <a:ext cx="2414015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CORE QUESTION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5989320"/>
            <a:ext cx="6675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10243E"/>
                </a:solidFill>
                <a:latin typeface="Aptos"/>
              </a:defRPr>
            </a:pPr>
            <a:r>
              <a:t>Can we predict?  →  Can we rely on it for the stated use?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1769AA"/>
                </a:solidFill>
                <a:latin typeface="Aptos"/>
              </a:defRPr>
            </a:pPr>
            <a:r>
              <a:t>DISCRIMINATION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4632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0243E"/>
                </a:solidFill>
                <a:latin typeface="Aptos"/>
              </a:defRPr>
            </a:pPr>
            <a:r>
              <a:t>What Is Discriminatory Power?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4688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67085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6400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667085"/>
                </a:solidFill>
                <a:latin typeface="Aptos"/>
              </a:defRPr>
            </a:pPr>
            <a:r>
              <a:t>CREDIT RISK MODEL VALIDATION  |  CORPORATE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34440"/>
            <a:ext cx="6949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0243E"/>
                </a:solidFill>
                <a:latin typeface="Aptos"/>
              </a:defRPr>
            </a:pPr>
            <a:r>
              <a:t>Higher predicted PDs should generally be assigned to borrowers who subsequently default.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0" y="1874519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667085"/>
                </a:solidFill>
                <a:latin typeface="Aptos"/>
              </a:defRPr>
            </a:pPr>
            <a:r>
              <a:t>A104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1874519"/>
            <a:ext cx="2496312" cy="274320"/>
          </a:xfrm>
          <a:prstGeom prst="round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81360" y="1874519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10243E"/>
                </a:solidFill>
                <a:latin typeface="Aptos"/>
              </a:defRPr>
            </a:pPr>
            <a:r>
              <a:t>91%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2404872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667085"/>
                </a:solidFill>
                <a:latin typeface="Aptos"/>
              </a:defRPr>
            </a:pPr>
            <a:r>
              <a:t>A087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2404872"/>
            <a:ext cx="2249424" cy="274320"/>
          </a:xfrm>
          <a:prstGeom prst="round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81360" y="240487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10243E"/>
                </a:solidFill>
                <a:latin typeface="Aptos"/>
              </a:defRPr>
            </a:pPr>
            <a:r>
              <a:t>82%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2935224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667085"/>
                </a:solidFill>
                <a:latin typeface="Aptos"/>
              </a:defRPr>
            </a:pPr>
            <a:r>
              <a:t>A221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2935224"/>
            <a:ext cx="1892807" cy="274320"/>
          </a:xfrm>
          <a:prstGeom prst="round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881360" y="2935224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10243E"/>
                </a:solidFill>
                <a:latin typeface="Aptos"/>
              </a:defRPr>
            </a:pPr>
            <a:r>
              <a:t>69%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3465575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667085"/>
                </a:solidFill>
                <a:latin typeface="Aptos"/>
              </a:defRPr>
            </a:pPr>
            <a:r>
              <a:t>A019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79" y="3465575"/>
            <a:ext cx="1481328" cy="274320"/>
          </a:xfrm>
          <a:prstGeom prst="round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81360" y="3465575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10243E"/>
                </a:solidFill>
                <a:latin typeface="Aptos"/>
              </a:defRPr>
            </a:pPr>
            <a:r>
              <a:t>54%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995927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667085"/>
                </a:solidFill>
                <a:latin typeface="Aptos"/>
              </a:defRPr>
            </a:pPr>
            <a:r>
              <a:t>A315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55279" y="3995927"/>
            <a:ext cx="740664" cy="274320"/>
          </a:xfrm>
          <a:prstGeom prst="round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881360" y="3995927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10243E"/>
                </a:solidFill>
                <a:latin typeface="Aptos"/>
              </a:defRPr>
            </a:pPr>
            <a:r>
              <a:t>27%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4526279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667085"/>
                </a:solidFill>
                <a:latin typeface="Aptos"/>
              </a:defRPr>
            </a:pPr>
            <a:r>
              <a:t>A411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55279" y="4526279"/>
            <a:ext cx="301752" cy="274320"/>
          </a:xfrm>
          <a:prstGeom prst="round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881360" y="4526279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10243E"/>
                </a:solidFill>
                <a:latin typeface="Aptos"/>
              </a:defRPr>
            </a:pPr>
            <a:r>
              <a:t>11%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1920240"/>
            <a:ext cx="5760720" cy="233172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2176272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C94C4C"/>
                </a:solidFill>
                <a:latin typeface="Aptos"/>
              </a:defRPr>
            </a:pPr>
            <a:r>
              <a:t>WHAT IT IS NOT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2606040"/>
            <a:ext cx="507492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Aptos"/>
              </a:defRPr>
            </a:pPr>
            <a:r>
              <a:t>• Does not prove PD levels are accurate</a:t>
            </a:r>
            <a:br/>
            <a:r>
              <a:t>• Does not prove calibration</a:t>
            </a:r>
            <a:br/>
            <a:r>
              <a:t>• Does not prove future stability</a:t>
            </a:r>
            <a:br/>
            <a:r>
              <a:t>• Does not prove correct business policy</a:t>
            </a:r>
            <a:br/>
            <a:r>
              <a:t>• Does not prove implementation is correct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489204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008C95"/>
                </a:solidFill>
                <a:latin typeface="Aptos"/>
              </a:defRPr>
            </a:pPr>
            <a:r>
              <a:t>Core question: Does the model put bad accounts above good accounts in risk order?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1769AA"/>
                </a:solidFill>
                <a:latin typeface="Aptos"/>
              </a:defRPr>
            </a:pPr>
            <a:r>
              <a:t>DISCRIMINATION METRIC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4632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0243E"/>
                </a:solidFill>
                <a:latin typeface="Aptos"/>
              </a:defRPr>
            </a:pPr>
            <a:r>
              <a:t>KS for Model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4688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67085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6400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667085"/>
                </a:solidFill>
                <a:latin typeface="Aptos"/>
              </a:defRPr>
            </a:pPr>
            <a:r>
              <a:t>CREDIT RISK MODEL VALIDATION  |  CORPORATE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143000"/>
            <a:ext cx="4572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10243E"/>
                </a:solidFill>
                <a:latin typeface="Aptos"/>
              </a:defRPr>
            </a:pPr>
            <a:r>
              <a:t>KS = max |CDF_bad − CDF_good|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685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667085"/>
                </a:solidFill>
                <a:latin typeface="Aptos"/>
              </a:defRPr>
            </a:pPr>
            <a:r>
              <a:t>Band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08760" y="1828800"/>
            <a:ext cx="1376172" cy="201168"/>
          </a:xfrm>
          <a:prstGeom prst="round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508760" y="2084832"/>
            <a:ext cx="314553" cy="201168"/>
          </a:xfrm>
          <a:prstGeom prst="round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32120" y="1828800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1769AA"/>
                </a:solidFill>
                <a:latin typeface="Aptos"/>
              </a:defRPr>
            </a:pPr>
            <a:r>
              <a:t>35%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32120" y="2084832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08C95"/>
                </a:solidFill>
                <a:latin typeface="Aptos"/>
              </a:defRPr>
            </a:pPr>
            <a:r>
              <a:t>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450592"/>
            <a:ext cx="685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667085"/>
                </a:solidFill>
                <a:latin typeface="Aptos"/>
              </a:defRPr>
            </a:pPr>
            <a:r>
              <a:t>Band 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508760" y="2450592"/>
            <a:ext cx="2280513" cy="201168"/>
          </a:xfrm>
          <a:prstGeom prst="round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508760" y="2706624"/>
            <a:ext cx="982980" cy="201168"/>
          </a:xfrm>
          <a:prstGeom prst="round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32120" y="2450592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1769AA"/>
                </a:solidFill>
                <a:latin typeface="Aptos"/>
              </a:defRPr>
            </a:pPr>
            <a:r>
              <a:t>58%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32120" y="2706624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08C95"/>
                </a:solidFill>
                <a:latin typeface="Aptos"/>
              </a:defRPr>
            </a:pPr>
            <a:r>
              <a:t>25%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072384"/>
            <a:ext cx="685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667085"/>
                </a:solidFill>
                <a:latin typeface="Aptos"/>
              </a:defRPr>
            </a:pPr>
            <a:r>
              <a:t>Band 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508760" y="3072384"/>
            <a:ext cx="2909620" cy="201168"/>
          </a:xfrm>
          <a:prstGeom prst="round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508760" y="3328416"/>
            <a:ext cx="1926640" cy="201168"/>
          </a:xfrm>
          <a:prstGeom prst="round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32120" y="3072384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1769AA"/>
                </a:solidFill>
                <a:latin typeface="Aptos"/>
              </a:defRPr>
            </a:pPr>
            <a:r>
              <a:t>74%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32120" y="3328416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08C95"/>
                </a:solidFill>
                <a:latin typeface="Aptos"/>
              </a:defRPr>
            </a:pPr>
            <a:r>
              <a:t>49%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694176"/>
            <a:ext cx="685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667085"/>
                </a:solidFill>
                <a:latin typeface="Aptos"/>
              </a:defRPr>
            </a:pPr>
            <a:r>
              <a:t>Band 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508760" y="3694176"/>
            <a:ext cx="3460089" cy="201168"/>
          </a:xfrm>
          <a:prstGeom prst="round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508760" y="3950208"/>
            <a:ext cx="2830982" cy="201168"/>
          </a:xfrm>
          <a:prstGeom prst="round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32120" y="3694176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1769AA"/>
                </a:solidFill>
                <a:latin typeface="Aptos"/>
              </a:defRPr>
            </a:pPr>
            <a:r>
              <a:t>88%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3950208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08C95"/>
                </a:solidFill>
                <a:latin typeface="Aptos"/>
              </a:defRPr>
            </a:pPr>
            <a:r>
              <a:t>72%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315968"/>
            <a:ext cx="685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667085"/>
                </a:solidFill>
                <a:latin typeface="Aptos"/>
              </a:defRPr>
            </a:pPr>
            <a:r>
              <a:t>Band 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508760" y="4315968"/>
            <a:ext cx="3931920" cy="201168"/>
          </a:xfrm>
          <a:prstGeom prst="round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508760" y="4572000"/>
            <a:ext cx="3931920" cy="201168"/>
          </a:xfrm>
          <a:prstGeom prst="round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32120" y="4315968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1769AA"/>
                </a:solidFill>
                <a:latin typeface="Aptos"/>
              </a:defRPr>
            </a:pPr>
            <a:r>
              <a:t>100%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32120" y="4572000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08C95"/>
                </a:solidFill>
                <a:latin typeface="Aptos"/>
              </a:defRPr>
            </a:pPr>
            <a:r>
              <a:t>100%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1874519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667085"/>
                </a:solidFill>
                <a:latin typeface="Aptos"/>
              </a:defRPr>
            </a:pPr>
            <a:r>
              <a:t>Maximum gap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09560" y="1600200"/>
            <a:ext cx="1828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19288" y="1709928"/>
            <a:ext cx="160934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500" b="1">
                <a:solidFill>
                  <a:srgbClr val="1769AA"/>
                </a:solidFill>
                <a:latin typeface="Aptos"/>
              </a:defRPr>
            </a:pPr>
            <a:r>
              <a:t>33%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19288" y="2167128"/>
            <a:ext cx="160934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667085"/>
                </a:solidFill>
                <a:latin typeface="Aptos"/>
              </a:defRPr>
            </a:pPr>
            <a:r>
              <a:t>KS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2880360"/>
            <a:ext cx="3931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10243E"/>
                </a:solidFill>
                <a:latin typeface="Aptos"/>
              </a:defRPr>
            </a:pPr>
            <a:r>
              <a:t>|58% − 25%| = 33 percentage points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3657600"/>
            <a:ext cx="3931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Aptos"/>
              </a:defRPr>
            </a:pPr>
            <a:r>
              <a:t>Validator view: check score direction, population, time window, bad definition and stability.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1769AA"/>
                </a:solidFill>
                <a:latin typeface="Aptos"/>
              </a:defRPr>
            </a:pPr>
            <a:r>
              <a:t>DISCRIMINATION METRIC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4632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0243E"/>
                </a:solidFill>
                <a:latin typeface="Aptos"/>
              </a:defRPr>
            </a:pPr>
            <a:r>
              <a:t>Gini for Model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4688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67085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6400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667085"/>
                </a:solidFill>
                <a:latin typeface="Aptos"/>
              </a:defRPr>
            </a:pPr>
            <a:r>
              <a:t>CREDIT RISK MODEL VALIDATION  |  CORPORATE TRAINING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21945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481328"/>
            <a:ext cx="197510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500" b="1">
                <a:solidFill>
                  <a:srgbClr val="1769AA"/>
                </a:solidFill>
                <a:latin typeface="Aptos"/>
              </a:defRPr>
            </a:pPr>
            <a:r>
              <a:t>0.78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1938528"/>
            <a:ext cx="197510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667085"/>
                </a:solidFill>
                <a:latin typeface="Aptos"/>
              </a:defRPr>
            </a:pPr>
            <a:r>
              <a:t>Illustrative AUC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1554480"/>
            <a:ext cx="3657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10243E"/>
                </a:solidFill>
                <a:latin typeface="Aptos"/>
              </a:defRPr>
            </a:pPr>
            <a:r>
              <a:t>Gini = 2 × AUC − 1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1371600"/>
            <a:ext cx="21945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16367" y="1481328"/>
            <a:ext cx="197510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500" b="1">
                <a:solidFill>
                  <a:srgbClr val="008C95"/>
                </a:solidFill>
                <a:latin typeface="Aptos"/>
              </a:defRPr>
            </a:pPr>
            <a:r>
              <a:t>0.56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16367" y="1938528"/>
            <a:ext cx="197510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667085"/>
                </a:solidFill>
                <a:latin typeface="Aptos"/>
              </a:defRPr>
            </a:pPr>
            <a:r>
              <a:t>Gini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24028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008C95"/>
                </a:solidFill>
                <a:latin typeface="Aptos"/>
              </a:defRPr>
            </a:pPr>
            <a:r>
              <a:t>= 2 × 0.78 − 1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063240"/>
            <a:ext cx="507492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063240"/>
            <a:ext cx="54864" cy="1965960"/>
          </a:xfrm>
          <a:prstGeom prst="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3209544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0243E"/>
                </a:solidFill>
                <a:latin typeface="Aptos"/>
              </a:defRPr>
            </a:pPr>
            <a:r>
              <a:t>VALIDATION QUESTIONS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3538728"/>
            <a:ext cx="47548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Aptos"/>
              </a:defRPr>
            </a:pPr>
            <a:r>
              <a:t>Out-of-sample? • Representative population? • Consistent bad definition? • Stable across vintages? • Material decay?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3063240"/>
            <a:ext cx="507492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80" y="3063240"/>
            <a:ext cx="54864" cy="1965960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91072" y="3209544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0243E"/>
                </a:solidFill>
                <a:latin typeface="Aptos"/>
              </a:defRPr>
            </a:pPr>
            <a:r>
              <a:t>KEY POINT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1072" y="3538728"/>
            <a:ext cx="47548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Aptos"/>
              </a:defRPr>
            </a:pPr>
            <a:r>
              <a:t>Gini measures ranking separation. It is a transformation of AUC, not an independent source of information.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1769AA"/>
                </a:solidFill>
                <a:latin typeface="Aptos"/>
              </a:defRPr>
            </a:pPr>
            <a:r>
              <a:t>DISCRIMINATION METRIC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4632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0243E"/>
                </a:solidFill>
                <a:latin typeface="Aptos"/>
              </a:defRPr>
            </a:pPr>
            <a:r>
              <a:t>AUC for Model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4688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67085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6400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667085"/>
                </a:solidFill>
                <a:latin typeface="Aptos"/>
              </a:defRPr>
            </a:pPr>
            <a:r>
              <a:t>CREDIT RISK MODEL VALIDATION  |  CORPORATE TRAINING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31520" y="1325880"/>
          <a:ext cx="566928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903720" y="1600200"/>
            <a:ext cx="3840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200" b="1">
                <a:solidFill>
                  <a:srgbClr val="1769AA"/>
                </a:solidFill>
                <a:latin typeface="Aptos"/>
              </a:defRPr>
            </a:pPr>
            <a:r>
              <a:t>AUC = 0.78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720" y="2468880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667085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2926080"/>
            <a:ext cx="384048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10243E"/>
                </a:solidFill>
                <a:latin typeface="Aptos"/>
              </a:defRPr>
            </a:pPr>
            <a:r>
              <a:t>A randomly chosen bad is ranked riskier than a randomly chosen good about 78% of the time, under the defined validation sample and score direction.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95160" y="4892040"/>
            <a:ext cx="3657600" cy="310896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68312" y="4956048"/>
            <a:ext cx="351129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C94C4C"/>
                </a:solidFill>
                <a:latin typeface="Aptos"/>
              </a:defRPr>
            </a:pPr>
            <a:r>
              <a:t>AUC measures discrimination — not calibration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1769AA"/>
                </a:solidFill>
                <a:latin typeface="Aptos"/>
              </a:defRPr>
            </a:pPr>
            <a:r>
              <a:t>BUSINESS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4632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0243E"/>
                </a:solidFill>
                <a:latin typeface="Aptos"/>
              </a:defRPr>
            </a:pPr>
            <a:r>
              <a:t>Ranking Ability — Practical Credit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4688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67085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6400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667085"/>
                </a:solidFill>
                <a:latin typeface="Aptos"/>
              </a:defRPr>
            </a:pPr>
            <a:r>
              <a:t>CREDIT RISK MODEL VALIDATION  |  CORPORATE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143000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0243E"/>
                </a:solidFill>
                <a:latin typeface="Aptos"/>
              </a:defRPr>
            </a:pPr>
            <a:r>
              <a:t>Illustrative default concentration by risk band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514850"/>
            <a:ext cx="1051560" cy="377190"/>
          </a:xfrm>
          <a:prstGeom prst="round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69773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0243E"/>
                </a:solidFill>
                <a:latin typeface="Aptos"/>
              </a:defRPr>
            </a:pPr>
            <a:r>
              <a:t>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16636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667085"/>
                </a:solidFill>
                <a:latin typeface="Aptos"/>
              </a:defRPr>
            </a:pPr>
            <a:r>
              <a:t>Band 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71800" y="4137659"/>
            <a:ext cx="1051560" cy="754380"/>
          </a:xfrm>
          <a:prstGeom prst="round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71800" y="432054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0243E"/>
                </a:solidFill>
                <a:latin typeface="Aptos"/>
              </a:defRPr>
            </a:pPr>
            <a:r>
              <a:t>10%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516636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667085"/>
                </a:solidFill>
                <a:latin typeface="Aptos"/>
              </a:defRPr>
            </a:pPr>
            <a:r>
              <a:t>Band 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0640" y="3534156"/>
            <a:ext cx="1051560" cy="1357884"/>
          </a:xfrm>
          <a:prstGeom prst="round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0" y="3717035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0243E"/>
                </a:solidFill>
                <a:latin typeface="Aptos"/>
              </a:defRPr>
            </a:pPr>
            <a:r>
              <a:t>18%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516636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667085"/>
                </a:solidFill>
                <a:latin typeface="Aptos"/>
              </a:defRPr>
            </a:pPr>
            <a:r>
              <a:t>Band 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69480" y="2855213"/>
            <a:ext cx="1051560" cy="2036826"/>
          </a:xfrm>
          <a:prstGeom prst="round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3038094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0243E"/>
                </a:solidFill>
                <a:latin typeface="Aptos"/>
              </a:defRPr>
            </a:pPr>
            <a:r>
              <a:t>27%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516636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667085"/>
                </a:solidFill>
                <a:latin typeface="Aptos"/>
              </a:defRPr>
            </a:pPr>
            <a:r>
              <a:t>Band 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18320" y="1874519"/>
            <a:ext cx="1051560" cy="3017520"/>
          </a:xfrm>
          <a:prstGeom prst="round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205740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0243E"/>
                </a:solidFill>
                <a:latin typeface="Aptos"/>
              </a:defRPr>
            </a:pPr>
            <a:r>
              <a:t>40%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516636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667085"/>
                </a:solidFill>
                <a:latin typeface="Aptos"/>
              </a:defRPr>
            </a:pPr>
            <a:r>
              <a:t>Band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62356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08C95"/>
                </a:solidFill>
                <a:latin typeface="Aptos"/>
              </a:defRPr>
            </a:pPr>
            <a:r>
              <a:t>Higher-risk bands contain more defaults → useful separation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1325880"/>
            <a:ext cx="320040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38160" y="1325880"/>
            <a:ext cx="54864" cy="3291840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02752" y="1472184"/>
            <a:ext cx="2880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0243E"/>
                </a:solidFill>
                <a:latin typeface="Aptos"/>
              </a:defRPr>
            </a:pPr>
            <a:r>
              <a:t>SO WHAT?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02752" y="1801368"/>
            <a:ext cx="2880360" cy="2697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Aptos"/>
              </a:defRPr>
            </a:pPr>
            <a:r>
              <a:t>Ranking can support:</a:t>
            </a:r>
            <a:br/>
            <a:br/>
            <a:r>
              <a:t>• Underwriting</a:t>
            </a:r>
            <a:br/>
            <a:r>
              <a:t>• Pricing</a:t>
            </a:r>
            <a:br/>
            <a:r>
              <a:t>• Limits</a:t>
            </a:r>
            <a:br/>
            <a:r>
              <a:t>• Collections</a:t>
            </a:r>
            <a:br/>
            <a:r>
              <a:t>• Portfolio segmentation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1769AA"/>
                </a:solidFill>
                <a:latin typeface="Aptos"/>
              </a:defRPr>
            </a:pPr>
            <a:r>
              <a:t>DISCRIMINATION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4632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0243E"/>
                </a:solidFill>
                <a:latin typeface="Aptos"/>
              </a:defRPr>
            </a:pPr>
            <a:r>
              <a:t>KS vs Gini vs AUC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4688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67085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6400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667085"/>
                </a:solidFill>
                <a:latin typeface="Aptos"/>
              </a:defRPr>
            </a:pPr>
            <a:r>
              <a:t>CREDIT RISK MODEL VALIDATION  |  CORPORATE TRAINING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34440"/>
            <a:ext cx="1417320" cy="502920"/>
          </a:xfrm>
          <a:prstGeom prst="rect">
            <a:avLst/>
          </a:prstGeom>
          <a:solidFill>
            <a:srgbClr val="10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1" y="1399032"/>
            <a:ext cx="127101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Metric</a:t>
            </a:r>
          </a:p>
        </p:txBody>
      </p:sp>
      <p:sp>
        <p:nvSpPr>
          <p:cNvPr id="9" name="Rectangle 8"/>
          <p:cNvSpPr/>
          <p:nvPr/>
        </p:nvSpPr>
        <p:spPr>
          <a:xfrm>
            <a:off x="2240280" y="1234440"/>
            <a:ext cx="3337560" cy="502920"/>
          </a:xfrm>
          <a:prstGeom prst="rect">
            <a:avLst/>
          </a:prstGeom>
          <a:solidFill>
            <a:srgbClr val="10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13432" y="1399032"/>
            <a:ext cx="319125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Core question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0" y="1234440"/>
            <a:ext cx="5440680" cy="502920"/>
          </a:xfrm>
          <a:prstGeom prst="rect">
            <a:avLst/>
          </a:prstGeom>
          <a:solidFill>
            <a:srgbClr val="10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33872" y="1399032"/>
            <a:ext cx="529437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What it captures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1783080"/>
            <a:ext cx="141732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1965960"/>
            <a:ext cx="119786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769AA"/>
                </a:solidFill>
                <a:latin typeface="Aptos"/>
              </a:defRPr>
            </a:pPr>
            <a:r>
              <a:t>KS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40280" y="1783080"/>
            <a:ext cx="333756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50008" y="1965960"/>
            <a:ext cx="311810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Aptos"/>
              </a:defRPr>
            </a:pPr>
            <a:r>
              <a:t>Where is the largest separation?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60720" y="1783080"/>
            <a:ext cx="5440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70448" y="1965960"/>
            <a:ext cx="522122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Aptos"/>
              </a:defRPr>
            </a:pPr>
            <a:r>
              <a:t>Maximum cumulative good/bad gap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2697480"/>
            <a:ext cx="141732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2880360"/>
            <a:ext cx="119786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769AA"/>
                </a:solidFill>
                <a:latin typeface="Aptos"/>
              </a:defRPr>
            </a:pPr>
            <a:r>
              <a:t>Gini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40280" y="2697480"/>
            <a:ext cx="333756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50008" y="2880360"/>
            <a:ext cx="311810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Aptos"/>
              </a:defRPr>
            </a:pPr>
            <a:r>
              <a:t>How strong is overall ordering?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60720" y="2697480"/>
            <a:ext cx="5440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70448" y="2880360"/>
            <a:ext cx="522122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Aptos"/>
              </a:defRPr>
            </a:pPr>
            <a:r>
              <a:t>Scaled rank discrimination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611880"/>
            <a:ext cx="141732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3794760"/>
            <a:ext cx="119786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769AA"/>
                </a:solidFill>
                <a:latin typeface="Aptos"/>
              </a:defRPr>
            </a:pPr>
            <a:r>
              <a:t>AUC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40280" y="3611880"/>
            <a:ext cx="333756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50008" y="3794760"/>
            <a:ext cx="311810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Aptos"/>
              </a:defRPr>
            </a:pPr>
            <a:r>
              <a:t>Does bad rank above good?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60720" y="3611880"/>
            <a:ext cx="5440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70448" y="3794760"/>
            <a:ext cx="522122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Aptos"/>
              </a:defRPr>
            </a:pPr>
            <a:r>
              <a:t>Pairwise ranking probability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51960" y="4892040"/>
            <a:ext cx="2057400" cy="310896"/>
          </a:xfrm>
          <a:prstGeom prst="roundRect">
            <a:avLst/>
          </a:prstGeom>
          <a:solidFill>
            <a:srgbClr val="D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25112" y="4956048"/>
            <a:ext cx="1911095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PRACTICAL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5349240"/>
            <a:ext cx="9966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10243E"/>
                </a:solidFill>
                <a:latin typeface="Aptos"/>
              </a:defRPr>
            </a:pPr>
            <a:r>
              <a:t>Use discrimination metrics together with calibration, stability, implementation testing and business-purpose analysis.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1769AA"/>
                </a:solidFill>
                <a:latin typeface="Aptos"/>
              </a:defRPr>
            </a:pPr>
            <a:r>
              <a:t>CALIBRATION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4632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0243E"/>
                </a:solidFill>
                <a:latin typeface="Aptos"/>
              </a:defRPr>
            </a:pPr>
            <a:r>
              <a:t>What Is Calibration Validation?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4688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67085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6400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667085"/>
                </a:solidFill>
                <a:latin typeface="Aptos"/>
              </a:defRPr>
            </a:pPr>
            <a:r>
              <a:t>CREDIT RISK MODEL VALIDATION  |  CORPORATE TRAINING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34290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234440"/>
            <a:ext cx="54864" cy="1965960"/>
          </a:xfrm>
          <a:prstGeom prst="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380744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0243E"/>
                </a:solidFill>
                <a:latin typeface="Aptos"/>
              </a:defRPr>
            </a:pPr>
            <a:r>
              <a:t>WHAT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1709928"/>
            <a:ext cx="31089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Aptos"/>
              </a:defRPr>
            </a:pPr>
            <a:r>
              <a:t>When the model predicts 10% PD for a comparable group, do roughly 10% actually default over the defined horizon?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234440"/>
            <a:ext cx="34290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234440"/>
            <a:ext cx="54864" cy="1965960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380744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0243E"/>
                </a:solidFill>
                <a:latin typeface="Aptos"/>
              </a:defRPr>
            </a:pPr>
            <a: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1709928"/>
            <a:ext cx="31089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Aptos"/>
              </a:defRPr>
            </a:pPr>
            <a:r>
              <a:t>A model can have strong ranking while systematically over- or under-predicting probability levels.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234440"/>
            <a:ext cx="34290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234440"/>
            <a:ext cx="54864" cy="1965960"/>
          </a:xfrm>
          <a:prstGeom prst="rect">
            <a:avLst/>
          </a:prstGeom>
          <a:solidFill>
            <a:srgbClr val="D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2" y="1380744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0243E"/>
                </a:solidFill>
                <a:latin typeface="Aptos"/>
              </a:defRPr>
            </a:pPr>
            <a:r>
              <a:t>HOW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1709928"/>
            <a:ext cx="31089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Aptos"/>
              </a:defRPr>
            </a:pPr>
            <a:r>
              <a:t>Group predicted PDs, compare mean predicted PD with observed default rate, then inspect the calibration curve.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0332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10243E"/>
                </a:solidFill>
                <a:latin typeface="Aptos"/>
              </a:defRPr>
            </a:pPr>
            <a:r>
              <a:t>Calibration tests probability level accuracy — not merely ranking.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463040" y="4572000"/>
            <a:ext cx="3017520" cy="310896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36192" y="4636008"/>
            <a:ext cx="2871215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C94C4C"/>
                </a:solidFill>
                <a:latin typeface="Aptos"/>
              </a:defRPr>
            </a:pPr>
            <a:r>
              <a:t>Observed &gt; Predicted  →  under-prediction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0" y="4572000"/>
            <a:ext cx="3017520" cy="310896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45152" y="4636008"/>
            <a:ext cx="2871215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769AA"/>
                </a:solidFill>
                <a:latin typeface="Aptos"/>
              </a:defRPr>
            </a:pPr>
            <a:r>
              <a:t>Observed &lt; Predicted  →  over-prediction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80960" y="4572000"/>
            <a:ext cx="3017520" cy="310896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54112" y="4636008"/>
            <a:ext cx="2871215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2E8B57"/>
                </a:solidFill>
                <a:latin typeface="Aptos"/>
              </a:defRPr>
            </a:pPr>
            <a:r>
              <a:t>Near 45°  →  close calibration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1769AA"/>
                </a:solidFill>
                <a:latin typeface="Aptos"/>
              </a:defRPr>
            </a:pPr>
            <a:r>
              <a:t>CALIBRATION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4632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0243E"/>
                </a:solidFill>
                <a:latin typeface="Aptos"/>
              </a:defRPr>
            </a:pPr>
            <a:r>
              <a:t>Observed vs Predicted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4688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67085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6400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667085"/>
                </a:solidFill>
                <a:latin typeface="Aptos"/>
              </a:defRPr>
            </a:pPr>
            <a:r>
              <a:t>CREDIT RISK MODEL VALIDATION  |  CORPORATE TRAINING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2103120" cy="457200"/>
          </a:xfrm>
          <a:prstGeom prst="rect">
            <a:avLst/>
          </a:prstGeom>
          <a:solidFill>
            <a:srgbClr val="10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380744"/>
            <a:ext cx="1956815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PD band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1234440"/>
            <a:ext cx="2011680" cy="457200"/>
          </a:xfrm>
          <a:prstGeom prst="rect">
            <a:avLst/>
          </a:prstGeom>
          <a:solidFill>
            <a:srgbClr val="10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90672" y="1380744"/>
            <a:ext cx="186537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Predicted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57800" y="1234440"/>
            <a:ext cx="2011680" cy="457200"/>
          </a:xfrm>
          <a:prstGeom prst="rect">
            <a:avLst/>
          </a:prstGeom>
          <a:solidFill>
            <a:srgbClr val="10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30952" y="1380744"/>
            <a:ext cx="186537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Observed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43800" y="1234440"/>
            <a:ext cx="2377440" cy="457200"/>
          </a:xfrm>
          <a:prstGeom prst="rect">
            <a:avLst/>
          </a:prstGeom>
          <a:solidFill>
            <a:srgbClr val="10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16952" y="1380744"/>
            <a:ext cx="223113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Gap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1691640"/>
            <a:ext cx="210312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1874520"/>
            <a:ext cx="1956815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1F2937"/>
                </a:solidFill>
                <a:latin typeface="Aptos"/>
              </a:defRPr>
            </a:pPr>
            <a:r>
              <a:t>0–2%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17520" y="1691640"/>
            <a:ext cx="201168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90672" y="1874520"/>
            <a:ext cx="186537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1F2937"/>
                </a:solidFill>
                <a:latin typeface="Aptos"/>
              </a:defRPr>
            </a:pPr>
            <a:r>
              <a:t>1.5%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57800" y="1691640"/>
            <a:ext cx="201168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30952" y="1874520"/>
            <a:ext cx="186537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1F2937"/>
                </a:solidFill>
                <a:latin typeface="Aptos"/>
              </a:defRPr>
            </a:pPr>
            <a:r>
              <a:t>1.5%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43800" y="1691640"/>
            <a:ext cx="237744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16952" y="1874520"/>
            <a:ext cx="223113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C94C4C"/>
                </a:solidFill>
                <a:latin typeface="Aptos"/>
              </a:defRPr>
            </a:pPr>
            <a:r>
              <a:t>0.0 pp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2377440"/>
            <a:ext cx="210312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2560320"/>
            <a:ext cx="1956815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1F2937"/>
                </a:solidFill>
                <a:latin typeface="Aptos"/>
              </a:defRPr>
            </a:pPr>
            <a:r>
              <a:t>2–5%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17520" y="2377440"/>
            <a:ext cx="201168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90672" y="2560320"/>
            <a:ext cx="186537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1F2937"/>
                </a:solidFill>
                <a:latin typeface="Aptos"/>
              </a:defRPr>
            </a:pPr>
            <a:r>
              <a:t>3.5%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57800" y="2377440"/>
            <a:ext cx="201168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30952" y="2560320"/>
            <a:ext cx="186537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1F2937"/>
                </a:solidFill>
                <a:latin typeface="Aptos"/>
              </a:defRPr>
            </a:pPr>
            <a:r>
              <a:t>4.0%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543800" y="2377440"/>
            <a:ext cx="237744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16952" y="2560320"/>
            <a:ext cx="223113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C94C4C"/>
                </a:solidFill>
                <a:latin typeface="Aptos"/>
              </a:defRPr>
            </a:pPr>
            <a:r>
              <a:t>+0.5 pp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3063240"/>
            <a:ext cx="210312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2" y="3246120"/>
            <a:ext cx="1956815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1F2937"/>
                </a:solidFill>
                <a:latin typeface="Aptos"/>
              </a:defRPr>
            </a:pPr>
            <a:r>
              <a:t>5–10%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17520" y="3063240"/>
            <a:ext cx="201168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090672" y="3246120"/>
            <a:ext cx="186537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1F2937"/>
                </a:solidFill>
                <a:latin typeface="Aptos"/>
              </a:defRPr>
            </a:pPr>
            <a:r>
              <a:t>7.5%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257800" y="3063240"/>
            <a:ext cx="201168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30952" y="3246120"/>
            <a:ext cx="186537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1F2937"/>
                </a:solidFill>
                <a:latin typeface="Aptos"/>
              </a:defRPr>
            </a:pPr>
            <a:r>
              <a:t>9.5%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543800" y="3063240"/>
            <a:ext cx="237744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16952" y="3246120"/>
            <a:ext cx="223113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C94C4C"/>
                </a:solidFill>
                <a:latin typeface="Aptos"/>
              </a:defRPr>
            </a:pPr>
            <a:r>
              <a:t>+2.0 pp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3749039"/>
            <a:ext cx="210312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4672" y="3931920"/>
            <a:ext cx="1956815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1F2937"/>
                </a:solidFill>
                <a:latin typeface="Aptos"/>
              </a:defRPr>
            </a:pPr>
            <a:r>
              <a:t>10–20%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017520" y="3749039"/>
            <a:ext cx="201168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90672" y="3931920"/>
            <a:ext cx="186537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1F2937"/>
                </a:solidFill>
                <a:latin typeface="Aptos"/>
              </a:defRPr>
            </a:pPr>
            <a:r>
              <a:t>14.0%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257800" y="3749039"/>
            <a:ext cx="201168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330952" y="3931920"/>
            <a:ext cx="186537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1F2937"/>
                </a:solidFill>
                <a:latin typeface="Aptos"/>
              </a:defRPr>
            </a:pPr>
            <a:r>
              <a:t>17.0%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543800" y="3749039"/>
            <a:ext cx="237744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616952" y="3931920"/>
            <a:ext cx="223113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C94C4C"/>
                </a:solidFill>
                <a:latin typeface="Aptos"/>
              </a:defRPr>
            </a:pPr>
            <a:r>
              <a:t>+3.0 pp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1520" y="4434840"/>
            <a:ext cx="210312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4672" y="4617720"/>
            <a:ext cx="1956815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1F2937"/>
                </a:solidFill>
                <a:latin typeface="Aptos"/>
              </a:defRPr>
            </a:pPr>
            <a:r>
              <a:t>20%+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017520" y="4434840"/>
            <a:ext cx="201168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090672" y="4617720"/>
            <a:ext cx="186537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1F2937"/>
                </a:solidFill>
                <a:latin typeface="Aptos"/>
              </a:defRPr>
            </a:pPr>
            <a:r>
              <a:t>25.0%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257800" y="4434840"/>
            <a:ext cx="201168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330952" y="4617720"/>
            <a:ext cx="186537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1F2937"/>
                </a:solidFill>
                <a:latin typeface="Aptos"/>
              </a:defRPr>
            </a:pPr>
            <a:r>
              <a:t>30.0%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543800" y="4434840"/>
            <a:ext cx="237744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616952" y="4617720"/>
            <a:ext cx="223113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C94C4C"/>
                </a:solidFill>
                <a:latin typeface="Aptos"/>
              </a:defRPr>
            </a:pPr>
            <a:r>
              <a:t>+5.0 pp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4400" y="5349240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008C95"/>
                </a:solidFill>
                <a:latin typeface="Aptos"/>
              </a:defRPr>
            </a:pPr>
            <a:r>
              <a:t>Pattern: observed default rates increasingly exceed predicted PD in higher-risk bands.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1769AA"/>
                </a:solidFill>
                <a:latin typeface="Aptos"/>
              </a:defRPr>
            </a:pPr>
            <a:r>
              <a:t>CALIBRATION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4632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0243E"/>
                </a:solidFill>
                <a:latin typeface="Aptos"/>
              </a:defRPr>
            </a:pPr>
            <a:r>
              <a:t>Calibration Curve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4688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67085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6400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667085"/>
                </a:solidFill>
                <a:latin typeface="Aptos"/>
              </a:defRPr>
            </a:pPr>
            <a:r>
              <a:t>CREDIT RISK MODEL VALIDATION  |  CORPORATE TRAINING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31520" y="1234440"/>
          <a:ext cx="640080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498079" y="1508760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667085"/>
                </a:solidFill>
                <a:latin typeface="Aptos"/>
              </a:defRPr>
            </a:pPr>
            <a:r>
              <a:t>How to read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2057400"/>
            <a:ext cx="393192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10243E"/>
                </a:solidFill>
                <a:latin typeface="Aptos"/>
              </a:defRPr>
            </a:pPr>
            <a:r>
              <a:t>• Near 45° / perfect line → close calibration</a:t>
            </a:r>
            <a:br/>
            <a:br/>
            <a:r>
              <a:t>• Observed above predicted → under-prediction</a:t>
            </a:r>
            <a:br/>
            <a:br/>
            <a:r>
              <a:t>• Wide gaps → investigate segment, period, macro, data and sample maturity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5074920"/>
            <a:ext cx="3657600" cy="310896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16952" y="5138928"/>
            <a:ext cx="351129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C94C4C"/>
                </a:solidFill>
                <a:latin typeface="Aptos"/>
              </a:defRPr>
            </a:pPr>
            <a:r>
              <a:t>Do not confuse systematic bias with random noise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1769AA"/>
                </a:solidFill>
                <a:latin typeface="Aptos"/>
              </a:defRPr>
            </a:pPr>
            <a:r>
              <a:t>INTEGRATED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4632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0243E"/>
                </a:solidFill>
                <a:latin typeface="Aptos"/>
              </a:defRPr>
            </a:pPr>
            <a:r>
              <a:t>Case Study — Retail Lending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4688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67085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6400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667085"/>
                </a:solidFill>
                <a:latin typeface="Aptos"/>
              </a:defRPr>
            </a:pPr>
            <a:r>
              <a:t>CREDIT RISK MODEL VALIDATION  |  CORPORATE TRAINING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20116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344168"/>
            <a:ext cx="179222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500" b="1">
                <a:solidFill>
                  <a:srgbClr val="1769AA"/>
                </a:solidFill>
                <a:latin typeface="Aptos"/>
              </a:defRPr>
            </a:pPr>
            <a:r>
              <a:t>100,000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801368"/>
            <a:ext cx="179222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667085"/>
                </a:solidFill>
                <a:latin typeface="Aptos"/>
              </a:defRPr>
            </a:pPr>
            <a:r>
              <a:t>Accounts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40" y="1234440"/>
            <a:ext cx="20116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44368" y="1344168"/>
            <a:ext cx="179222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500" b="1">
                <a:solidFill>
                  <a:srgbClr val="C94C4C"/>
                </a:solidFill>
                <a:latin typeface="Aptos"/>
              </a:defRPr>
            </a:pPr>
            <a:r>
              <a:t>7.8%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44368" y="1801368"/>
            <a:ext cx="179222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667085"/>
                </a:solidFill>
                <a:latin typeface="Aptos"/>
              </a:defRPr>
            </a:pPr>
            <a:r>
              <a:t>Default rate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1234440"/>
            <a:ext cx="20116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38928" y="1344168"/>
            <a:ext cx="179222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500" b="1">
                <a:solidFill>
                  <a:srgbClr val="008C95"/>
                </a:solidFill>
                <a:latin typeface="Aptos"/>
              </a:defRPr>
            </a:pPr>
            <a:r>
              <a:t>0.81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38928" y="1801368"/>
            <a:ext cx="179222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667085"/>
                </a:solidFill>
                <a:latin typeface="Aptos"/>
              </a:defRPr>
            </a:pPr>
            <a:r>
              <a:t>AUC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23760" y="1234440"/>
            <a:ext cx="20116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33488" y="1344168"/>
            <a:ext cx="179222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500" b="1">
                <a:solidFill>
                  <a:srgbClr val="008C95"/>
                </a:solidFill>
                <a:latin typeface="Aptos"/>
              </a:defRPr>
            </a:pPr>
            <a:r>
              <a:t>0.62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33488" y="1801368"/>
            <a:ext cx="179222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667085"/>
                </a:solidFill>
                <a:latin typeface="Aptos"/>
              </a:defRPr>
            </a:pPr>
            <a:r>
              <a:t>Gini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18320" y="1234440"/>
            <a:ext cx="20116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28048" y="1344168"/>
            <a:ext cx="179222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500" b="1">
                <a:solidFill>
                  <a:srgbClr val="D49A2A"/>
                </a:solidFill>
                <a:latin typeface="Aptos"/>
              </a:defRPr>
            </a:pPr>
            <a:r>
              <a:t>36%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28048" y="1801368"/>
            <a:ext cx="179222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667085"/>
                </a:solidFill>
                <a:latin typeface="Aptos"/>
              </a:defRPr>
            </a:pPr>
            <a:r>
              <a:t>KS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2560320"/>
            <a:ext cx="10789920" cy="224028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283464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769AA"/>
                </a:solidFill>
                <a:latin typeface="Aptos"/>
              </a:defRPr>
            </a:pPr>
            <a:r>
              <a:t>VALIDATOR FINDING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2743200"/>
            <a:ext cx="80467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0243E"/>
                </a:solidFill>
                <a:latin typeface="Aptos"/>
              </a:defRPr>
            </a:pPr>
            <a:r>
              <a:t>Discrimination is strong in the illustrative sample, but the highest-risk band predicts 20% PD while observed default is 25%.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70332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08C95"/>
                </a:solidFill>
                <a:latin typeface="Aptos"/>
              </a:defRPr>
            </a:pPr>
            <a:r>
              <a:t>RESPONSE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3584448"/>
            <a:ext cx="8412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1F2937"/>
                </a:solidFill>
                <a:latin typeface="Aptos"/>
              </a:defRPr>
            </a:pPr>
            <a:r>
              <a:t>Investigate macro / vintage mix → test implementation reproduction → define monitoring threshold → document limitation → assess approved recalibration / overlay.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1769AA"/>
                </a:solidFill>
                <a:latin typeface="Aptos"/>
              </a:defRPr>
            </a:pPr>
            <a:r>
              <a:t>INTEGRATED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4632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0243E"/>
                </a:solidFill>
                <a:latin typeface="Aptos"/>
              </a:defRPr>
            </a:pPr>
            <a:r>
              <a:t>Integrated Validation Case — Ranking to Calibration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4688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67085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6400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667085"/>
                </a:solidFill>
                <a:latin typeface="Aptos"/>
              </a:defRPr>
            </a:pPr>
            <a:r>
              <a:t>CREDIT RISK MODEL VALIDATION  |  CORPORATE TRAINING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88720"/>
            <a:ext cx="24688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298448"/>
            <a:ext cx="224942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500" b="1">
                <a:solidFill>
                  <a:srgbClr val="1769AA"/>
                </a:solidFill>
                <a:latin typeface="Aptos"/>
              </a:defRPr>
            </a:pPr>
            <a:r>
              <a:t>0.78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755648"/>
            <a:ext cx="224942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667085"/>
                </a:solidFill>
                <a:latin typeface="Aptos"/>
              </a:defRPr>
            </a:pPr>
            <a:r>
              <a:t>AUC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188720"/>
            <a:ext cx="24688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38728" y="1298448"/>
            <a:ext cx="224942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500" b="1">
                <a:solidFill>
                  <a:srgbClr val="008C95"/>
                </a:solidFill>
                <a:latin typeface="Aptos"/>
              </a:defRPr>
            </a:pPr>
            <a:r>
              <a:t>0.56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8728" y="1755648"/>
            <a:ext cx="224942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667085"/>
                </a:solidFill>
                <a:latin typeface="Aptos"/>
              </a:defRPr>
            </a:pPr>
            <a:r>
              <a:t>Gini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188720"/>
            <a:ext cx="24688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1298448"/>
            <a:ext cx="224942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500" b="1">
                <a:solidFill>
                  <a:srgbClr val="D49A2A"/>
                </a:solidFill>
                <a:latin typeface="Aptos"/>
              </a:defRPr>
            </a:pPr>
            <a:r>
              <a:t>43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1755648"/>
            <a:ext cx="224942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667085"/>
                </a:solidFill>
                <a:latin typeface="Aptos"/>
              </a:defRPr>
            </a:pPr>
            <a:r>
              <a:t>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06839" y="1188720"/>
            <a:ext cx="24688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16567" y="1298448"/>
            <a:ext cx="224942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500" b="1">
                <a:solidFill>
                  <a:srgbClr val="C94C4C"/>
                </a:solidFill>
                <a:latin typeface="Aptos"/>
              </a:defRPr>
            </a:pPr>
            <a:r>
              <a:t>+1.2 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16567" y="1755648"/>
            <a:ext cx="224942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667085"/>
                </a:solidFill>
                <a:latin typeface="Aptos"/>
              </a:defRPr>
            </a:pPr>
            <a:r>
              <a:t>Avg. calibration gap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2560320"/>
            <a:ext cx="34290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2560320"/>
            <a:ext cx="54864" cy="2240280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1" y="2706624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0243E"/>
                </a:solidFill>
                <a:latin typeface="Aptos"/>
              </a:defRPr>
            </a:pPr>
            <a:r>
              <a:t>OBSERVATION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1" y="3035808"/>
            <a:ext cx="31089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1F2937"/>
                </a:solidFill>
                <a:latin typeface="Aptos"/>
              </a:defRPr>
            </a:pPr>
            <a:r>
              <a:t>Higher-risk borrowers generally show higher realized default rates.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2560320"/>
            <a:ext cx="34290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89120" y="2560320"/>
            <a:ext cx="54864" cy="2240280"/>
          </a:xfrm>
          <a:prstGeom prst="rect">
            <a:avLst/>
          </a:prstGeom>
          <a:solidFill>
            <a:srgbClr val="D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53712" y="2706624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0243E"/>
                </a:solidFill>
                <a:latin typeface="Aptos"/>
              </a:defRPr>
            </a:pPr>
            <a:r>
              <a:t>FINDING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53712" y="3035808"/>
            <a:ext cx="31089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1F2937"/>
                </a:solidFill>
                <a:latin typeface="Aptos"/>
              </a:defRPr>
            </a:pPr>
            <a:r>
              <a:t>Calibration gap is concentrated in one economic period and two segments.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60" y="2560320"/>
            <a:ext cx="34290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38160" y="2560320"/>
            <a:ext cx="54864" cy="2240280"/>
          </a:xfrm>
          <a:prstGeom prst="rect">
            <a:avLst/>
          </a:prstGeom>
          <a:solidFill>
            <a:srgbClr val="C9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02752" y="2706624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0243E"/>
                </a:solidFill>
                <a:latin typeface="Aptos"/>
              </a:defRPr>
            </a:pPr>
            <a:r>
              <a:t>BUSINESS IMPLICATION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02752" y="3035808"/>
            <a:ext cx="31089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1F2937"/>
                </a:solidFill>
                <a:latin typeface="Aptos"/>
              </a:defRPr>
            </a:pPr>
            <a:r>
              <a:t>Pricing, provisioning or risk appetite may be affected if PD levels are used directly.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34924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10243E"/>
                </a:solidFill>
                <a:latin typeface="Aptos"/>
              </a:defRPr>
            </a:pPr>
            <a:r>
              <a:t>CONTROL RESPONSE  →  Investigate stability → assess recalibration → define trigger → document limitations &amp; governance conditions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1769AA"/>
                </a:solidFill>
                <a:latin typeface="Aptos"/>
              </a:defRPr>
            </a:pPr>
            <a:r>
              <a:t>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4632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0243E"/>
                </a:solidFill>
                <a:latin typeface="Aptos"/>
              </a:defRPr>
            </a:pPr>
            <a:r>
              <a:t>Validation Red Flags &amp; Common Mistakes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4688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67085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6400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667085"/>
                </a:solidFill>
                <a:latin typeface="Aptos"/>
              </a:defRPr>
            </a:pPr>
            <a:r>
              <a:t>CREDIT RISK MODEL VALIDATION  |  CORPORATE TRAINING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234440"/>
            <a:ext cx="54864" cy="1691640"/>
          </a:xfrm>
          <a:prstGeom prst="rect">
            <a:avLst/>
          </a:prstGeom>
          <a:solidFill>
            <a:srgbClr val="C9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380744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0243E"/>
                </a:solidFill>
                <a:latin typeface="Aptos"/>
              </a:defRPr>
            </a:pPr>
            <a:r>
              <a:t>DATA LEAKAGE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1709928"/>
            <a:ext cx="3108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Future information enters inputs</a:t>
            </a:r>
            <a:br/>
            <a:r>
              <a:t>→ Artificially inflated discrimination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23444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234440"/>
            <a:ext cx="54864" cy="1691640"/>
          </a:xfrm>
          <a:prstGeom prst="rect">
            <a:avLst/>
          </a:prstGeom>
          <a:solidFill>
            <a:srgbClr val="D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380744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0243E"/>
                </a:solidFill>
                <a:latin typeface="Aptos"/>
              </a:defRPr>
            </a:pPr>
            <a:r>
              <a:t>WRONG TARGET / HORIZON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1709928"/>
            <a:ext cx="3108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Definition differs from approved scope</a:t>
            </a:r>
            <a:br/>
            <a:r>
              <a:t>→ Invalid performance conclusion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59" y="123444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59" y="1234440"/>
            <a:ext cx="54864" cy="1691640"/>
          </a:xfrm>
          <a:prstGeom prst="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1" y="1380744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0243E"/>
                </a:solidFill>
                <a:latin typeface="Aptos"/>
              </a:defRPr>
            </a:pPr>
            <a:r>
              <a:t>SAMPLE BIAS / SHIFT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1" y="1709928"/>
            <a:ext cx="3108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Validation population differs</a:t>
            </a:r>
            <a:br/>
            <a:r>
              <a:t>→ Weak generalisation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24612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246120"/>
            <a:ext cx="54864" cy="1691640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1" y="3392424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0243E"/>
                </a:solidFill>
                <a:latin typeface="Aptos"/>
              </a:defRPr>
            </a:pPr>
            <a:r>
              <a:t>IMMATURE OUTCOMES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1" y="3721608"/>
            <a:ext cx="3108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Too little time to observe defaults</a:t>
            </a:r>
            <a:br/>
            <a:r>
              <a:t>→ Unstable / incomplete metrics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324612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89120" y="3246120"/>
            <a:ext cx="54864" cy="1691640"/>
          </a:xfrm>
          <a:prstGeom prst="rect">
            <a:avLst/>
          </a:prstGeom>
          <a:solidFill>
            <a:srgbClr val="C9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53712" y="3392424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0243E"/>
                </a:solidFill>
                <a:latin typeface="Aptos"/>
              </a:defRPr>
            </a:pPr>
            <a:r>
              <a:t>AUC-ONLY THINKING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53712" y="3721608"/>
            <a:ext cx="3108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Ranking treated as PD accuracy</a:t>
            </a:r>
            <a:br/>
            <a:r>
              <a:t>→ Calibration risk missed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59" y="324612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38159" y="3246120"/>
            <a:ext cx="54864" cy="1691640"/>
          </a:xfrm>
          <a:prstGeom prst="rect">
            <a:avLst/>
          </a:prstGeom>
          <a:solidFill>
            <a:srgbClr val="D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02751" y="3392424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0243E"/>
                </a:solidFill>
                <a:latin typeface="Aptos"/>
              </a:defRPr>
            </a:pPr>
            <a:r>
              <a:t>IMPLEMENTATION MISMATCH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02751" y="3721608"/>
            <a:ext cx="3108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Production score differs</a:t>
            </a:r>
            <a:br/>
            <a:r>
              <a:t>→ Post-deployment model risk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1769AA"/>
                </a:solidFill>
                <a:latin typeface="Aptos"/>
              </a:defRPr>
            </a:pPr>
            <a:r>
              <a:t>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4632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0243E"/>
                </a:solidFill>
                <a:latin typeface="Aptos"/>
              </a:defRPr>
            </a:pPr>
            <a:r>
              <a:t>End-to-End Validation Workflow &amp; Executive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4688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67085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6400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667085"/>
                </a:solidFill>
                <a:latin typeface="Aptos"/>
              </a:defRPr>
            </a:pPr>
            <a:r>
              <a:t>CREDIT RISK MODEL VALIDATION  |  CORPORATE TRAINING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325880"/>
            <a:ext cx="13258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481328"/>
            <a:ext cx="502920" cy="310896"/>
          </a:xfrm>
          <a:prstGeom prst="roundRect">
            <a:avLst/>
          </a:prstGeom>
          <a:solidFill>
            <a:srgbClr val="10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545336"/>
            <a:ext cx="35661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" y="1874519"/>
            <a:ext cx="1188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0243E"/>
                </a:solidFill>
                <a:latin typeface="Aptos"/>
              </a:defRPr>
            </a:pPr>
            <a:r>
              <a:t>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627632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66708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39112" y="1325880"/>
            <a:ext cx="13258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450592" y="1481328"/>
            <a:ext cx="502920" cy="310896"/>
          </a:xfrm>
          <a:prstGeom prst="roundRect">
            <a:avLst/>
          </a:prstGeom>
          <a:solidFill>
            <a:srgbClr val="10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23744" y="1545336"/>
            <a:ext cx="35661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12264" y="1874519"/>
            <a:ext cx="1188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0243E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92424" y="1627632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66708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66744" y="1325880"/>
            <a:ext cx="13258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078224" y="1481328"/>
            <a:ext cx="502920" cy="310896"/>
          </a:xfrm>
          <a:prstGeom prst="roundRect">
            <a:avLst/>
          </a:prstGeom>
          <a:solidFill>
            <a:srgbClr val="10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51376" y="1545336"/>
            <a:ext cx="35661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39896" y="1874519"/>
            <a:ext cx="1188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0243E"/>
                </a:solidFill>
                <a:latin typeface="Aptos"/>
              </a:defRPr>
            </a:pPr>
            <a:r>
              <a:t>REPERFORM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0056" y="1627632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66708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94376" y="1325880"/>
            <a:ext cx="13258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705856" y="1481328"/>
            <a:ext cx="502920" cy="310896"/>
          </a:xfrm>
          <a:prstGeom prst="roundRect">
            <a:avLst/>
          </a:prstGeom>
          <a:solidFill>
            <a:srgbClr val="10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79008" y="1545336"/>
            <a:ext cx="35661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67528" y="1874519"/>
            <a:ext cx="1188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0243E"/>
                </a:solidFill>
                <a:latin typeface="Aptos"/>
              </a:defRPr>
            </a:pPr>
            <a:r>
              <a:t>CHALLENGE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47688" y="1627632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66708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22008" y="1325880"/>
            <a:ext cx="13258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333488" y="1481328"/>
            <a:ext cx="502920" cy="310896"/>
          </a:xfrm>
          <a:prstGeom prst="roundRect">
            <a:avLst/>
          </a:prstGeom>
          <a:solidFill>
            <a:srgbClr val="10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06640" y="1545336"/>
            <a:ext cx="35661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95160" y="1874519"/>
            <a:ext cx="1188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0243E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1627632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66708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549640" y="1325880"/>
            <a:ext cx="13258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961119" y="1481328"/>
            <a:ext cx="502920" cy="310896"/>
          </a:xfrm>
          <a:prstGeom prst="roundRect">
            <a:avLst/>
          </a:prstGeom>
          <a:solidFill>
            <a:srgbClr val="10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34272" y="1545336"/>
            <a:ext cx="35661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22792" y="1874519"/>
            <a:ext cx="1188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0243E"/>
                </a:solidFill>
                <a:latin typeface="Aptos"/>
              </a:defRPr>
            </a:pPr>
            <a:r>
              <a:t>REPORT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02952" y="1627632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66708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177272" y="1325880"/>
            <a:ext cx="13258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0588751" y="1481328"/>
            <a:ext cx="502920" cy="310896"/>
          </a:xfrm>
          <a:prstGeom prst="roundRect">
            <a:avLst/>
          </a:prstGeom>
          <a:solidFill>
            <a:srgbClr val="10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661903" y="1545336"/>
            <a:ext cx="35661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50424" y="1874519"/>
            <a:ext cx="1188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0243E"/>
                </a:solidFill>
                <a:latin typeface="Aptos"/>
              </a:defRPr>
            </a:pPr>
            <a:r>
              <a:t>MONITOR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2697480"/>
            <a:ext cx="10972800" cy="73152"/>
          </a:xfrm>
          <a:prstGeom prst="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30632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769AA"/>
                </a:solidFill>
                <a:latin typeface="Aptos"/>
              </a:defRPr>
            </a:pPr>
            <a:r>
              <a:t>EXECUTIVE TAKEAWAYS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3520440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08C95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34440" y="3493008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Aptos"/>
              </a:defRPr>
            </a:pPr>
            <a:r>
              <a:t>Independent validation is effective challenge — not duplicate development.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" y="3995928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08C95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34440" y="3968496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Aptos"/>
              </a:defRPr>
            </a:pPr>
            <a:r>
              <a:t>KS, Gini and AUC test discrimination; they do not establish calibration.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" y="4471416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08C95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34440" y="4443983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Aptos"/>
              </a:defRPr>
            </a:pPr>
            <a:r>
              <a:t>Calibration asks whether predicted probabilities align with observed outcomes.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" y="4946904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08C95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34440" y="4919472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Aptos"/>
              </a:defRPr>
            </a:pPr>
            <a:r>
              <a:t>Credible conclusions depend on data, target, time horizon and implementation evidence.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" y="5422392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08C95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234440" y="5394960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Aptos"/>
              </a:defRPr>
            </a:pPr>
            <a:r>
              <a:t>Findings must translate into remediation, controls, monitoring and explicit limitations.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