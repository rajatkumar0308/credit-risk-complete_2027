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Opening: RWA converts exposures into a regulatory risk measure; capital ratios compare loss-absorbing capital with RWA.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slide as the mental model. RWA is a regulatory risk measure, not an accounting asset balance.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Sources: BIS Basel Framework, https://www.bis.org/baselframework/BaselFramework.pdf ; RBI Handbook of Statistics 2024-25, Chapter IV.8. Numerical cases are illustrative.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DA4C3"/>
                </a:solidFill>
                <a:latin typeface="Aptos"/>
              </a:rPr>
              <a:t>7.6  |  CAPITAL ADEQUACY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78992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Aptos"/>
              </a:rPr>
              <a:t>RWA &amp; CAPITAL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95728"/>
            <a:ext cx="98755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D2DCE8"/>
                </a:solidFill>
                <a:latin typeface="Aptos"/>
              </a:rPr>
              <a:t>How banks translate risk into capital capacity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3886200"/>
            <a:ext cx="1417320" cy="914400"/>
          </a:xfrm>
          <a:prstGeom prst="roundRect">
            <a:avLst/>
          </a:prstGeom>
          <a:solidFill>
            <a:srgbClr val="1F2D42"/>
          </a:solidFill>
          <a:ln>
            <a:solidFill>
              <a:srgbClr val="2DA4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4069080"/>
            <a:ext cx="1234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BECDDE"/>
                </a:solidFill>
                <a:latin typeface="Aptos"/>
              </a:rPr>
              <a:t>Assets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4370832"/>
            <a:ext cx="1234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2DA4C3"/>
                </a:solidFill>
                <a:latin typeface="Aptos"/>
              </a:rPr>
              <a:t>₹1,000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40" y="3886200"/>
            <a:ext cx="1417320" cy="914400"/>
          </a:xfrm>
          <a:prstGeom prst="roundRect">
            <a:avLst/>
          </a:prstGeom>
          <a:solidFill>
            <a:srgbClr val="1F2D42"/>
          </a:solidFill>
          <a:ln>
            <a:solidFill>
              <a:srgbClr val="D999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83879" y="4069080"/>
            <a:ext cx="1234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BECDDE"/>
                </a:solidFill>
                <a:latin typeface="Aptos"/>
              </a:rPr>
              <a:t>Risk weights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79" y="4370832"/>
            <a:ext cx="1234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D9992E"/>
                </a:solidFill>
                <a:latin typeface="Aptos"/>
              </a:rPr>
              <a:t>× 50%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784080" y="3886200"/>
            <a:ext cx="1417320" cy="914400"/>
          </a:xfrm>
          <a:prstGeom prst="roundRect">
            <a:avLst/>
          </a:prstGeom>
          <a:solidFill>
            <a:srgbClr val="1F2D42"/>
          </a:solidFill>
          <a:ln>
            <a:solidFill>
              <a:srgbClr val="268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19" y="4069080"/>
            <a:ext cx="1234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BECDDE"/>
                </a:solidFill>
                <a:latin typeface="Aptos"/>
              </a:rPr>
              <a:t>RWA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19" y="4370832"/>
            <a:ext cx="1234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268E5C"/>
                </a:solidFill>
                <a:latin typeface="Aptos"/>
              </a:rPr>
              <a:t>₹500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5138928"/>
            <a:ext cx="4937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Aptos"/>
              </a:rPr>
              <a:t>RWA is the bridge between the balance sheet and regulatory capital.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12648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AB8CA"/>
                </a:solidFill>
                <a:latin typeface="Aptos"/>
              </a:rPr>
              <a:t>Basel III framework | Illustrative training examples |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962B4"/>
                </a:solidFill>
                <a:latin typeface="Aptos"/>
              </a:rPr>
              <a:t>WHAT → WHY → HOW → SO WHAT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11C2D"/>
                </a:solidFill>
                <a:latin typeface="Aptos"/>
              </a:rPr>
              <a:t>The executive idea: RWA converts risk into a capital requirement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61872"/>
            <a:ext cx="914400" cy="41148"/>
          </a:xfrm>
          <a:prstGeom prst="rect">
            <a:avLst/>
          </a:prstGeom>
          <a:solidFill>
            <a:srgbClr val="296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645920"/>
            <a:ext cx="2542032" cy="3337560"/>
          </a:xfrm>
          <a:prstGeom prst="roundRect">
            <a:avLst/>
          </a:prstGeom>
          <a:solidFill>
            <a:srgbClr val="F4F7FA"/>
          </a:solidFill>
          <a:ln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645920"/>
            <a:ext cx="64008" cy="3337560"/>
          </a:xfrm>
          <a:prstGeom prst="rect">
            <a:avLst/>
          </a:prstGeom>
          <a:solidFill>
            <a:srgbClr val="296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810512"/>
            <a:ext cx="217627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11C2D"/>
                </a:solidFill>
                <a:latin typeface="Aptos"/>
              </a:rPr>
              <a:t>Risk-Weighted Assets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2212848"/>
            <a:ext cx="2176272" cy="2624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32B36"/>
                </a:solidFill>
                <a:latin typeface="Aptos"/>
              </a:rPr>
              <a:t>A risk-sensitive measure of exposure used to determine regulatory capital requirements.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" y="1298448"/>
            <a:ext cx="1051560" cy="347472"/>
          </a:xfrm>
          <a:prstGeom prst="roundRect">
            <a:avLst/>
          </a:prstGeom>
          <a:solidFill>
            <a:srgbClr val="E5EE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1344168"/>
            <a:ext cx="10515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2962B4"/>
                </a:solidFill>
                <a:latin typeface="Aptos"/>
              </a:rPr>
              <a:t>WHAT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10712" y="1645920"/>
            <a:ext cx="2542032" cy="3337560"/>
          </a:xfrm>
          <a:prstGeom prst="roundRect">
            <a:avLst/>
          </a:prstGeom>
          <a:solidFill>
            <a:srgbClr val="F4F7FA"/>
          </a:solidFill>
          <a:ln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10712" y="1645920"/>
            <a:ext cx="64008" cy="3337560"/>
          </a:xfrm>
          <a:prstGeom prst="rect">
            <a:avLst/>
          </a:prstGeom>
          <a:solidFill>
            <a:srgbClr val="2DA4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11880" y="1810512"/>
            <a:ext cx="217627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11C2D"/>
                </a:solidFill>
                <a:latin typeface="Aptos"/>
              </a:rPr>
              <a:t>Why not total assets?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2212848"/>
            <a:ext cx="2176272" cy="2624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32B36"/>
                </a:solidFill>
                <a:latin typeface="Aptos"/>
              </a:rPr>
              <a:t>₹100 of cash and ₹100 of a risky corporate exposure do not create the same loss risk.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21024" y="1298448"/>
            <a:ext cx="1051560" cy="347472"/>
          </a:xfrm>
          <a:prstGeom prst="roundRect">
            <a:avLst/>
          </a:prstGeom>
          <a:solidFill>
            <a:srgbClr val="E5EE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21024" y="1344168"/>
            <a:ext cx="10515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2DA4C3"/>
                </a:solidFill>
                <a:latin typeface="Aptos"/>
              </a:rPr>
              <a:t>WHY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27064" y="1645920"/>
            <a:ext cx="2542032" cy="3337560"/>
          </a:xfrm>
          <a:prstGeom prst="roundRect">
            <a:avLst/>
          </a:prstGeom>
          <a:solidFill>
            <a:srgbClr val="F4F7FA"/>
          </a:solidFill>
          <a:ln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27064" y="1645920"/>
            <a:ext cx="64008" cy="3337560"/>
          </a:xfrm>
          <a:prstGeom prst="rect">
            <a:avLst/>
          </a:prstGeom>
          <a:solidFill>
            <a:srgbClr val="268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8232" y="1810512"/>
            <a:ext cx="217627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11C2D"/>
                </a:solidFill>
                <a:latin typeface="Aptos"/>
              </a:rPr>
              <a:t>Capital ratio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8232" y="2212848"/>
            <a:ext cx="2176272" cy="2624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32B36"/>
                </a:solidFill>
                <a:latin typeface="Aptos"/>
              </a:rPr>
              <a:t>Capital ÷ RWA. Higher RWA for the same capital means a lower capital ratio.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37376" y="1298448"/>
            <a:ext cx="1051560" cy="347472"/>
          </a:xfrm>
          <a:prstGeom prst="roundRect">
            <a:avLst/>
          </a:prstGeom>
          <a:solidFill>
            <a:srgbClr val="E5EE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37376" y="1344168"/>
            <a:ext cx="10515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268E5C"/>
                </a:solidFill>
                <a:latin typeface="Aptos"/>
              </a:rPr>
              <a:t>HOW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645920"/>
            <a:ext cx="2542032" cy="3337560"/>
          </a:xfrm>
          <a:prstGeom prst="roundRect">
            <a:avLst/>
          </a:prstGeom>
          <a:solidFill>
            <a:srgbClr val="F4F7FA"/>
          </a:solidFill>
          <a:ln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43416" y="1645920"/>
            <a:ext cx="64008" cy="3337560"/>
          </a:xfrm>
          <a:prstGeom prst="rect">
            <a:avLst/>
          </a:prstGeom>
          <a:solidFill>
            <a:srgbClr val="D99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44584" y="1810512"/>
            <a:ext cx="217627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11C2D"/>
                </a:solidFill>
                <a:latin typeface="Aptos"/>
              </a:rPr>
              <a:t>Management capacity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44584" y="2212848"/>
            <a:ext cx="2176272" cy="2624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32B36"/>
                </a:solidFill>
                <a:latin typeface="Aptos"/>
              </a:rPr>
              <a:t>RWA consumes scarce capital and affects lending capacity, pricing, portfolio mix and ROE.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253728" y="1298448"/>
            <a:ext cx="1051560" cy="347472"/>
          </a:xfrm>
          <a:prstGeom prst="roundRect">
            <a:avLst/>
          </a:prstGeom>
          <a:solidFill>
            <a:srgbClr val="E5EE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53728" y="1344168"/>
            <a:ext cx="10515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D9992E"/>
                </a:solidFill>
                <a:latin typeface="Aptos"/>
              </a:rPr>
              <a:t>SO WHAT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926080" y="5349240"/>
            <a:ext cx="6309360" cy="658368"/>
          </a:xfrm>
          <a:prstGeom prst="roundRect">
            <a:avLst/>
          </a:prstGeom>
          <a:solidFill>
            <a:srgbClr val="111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108960" y="5513832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Capital Ratio  =  Regulatory Capital  ÷  RWA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6528816"/>
            <a:ext cx="9144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677484"/>
                </a:solidFill>
                <a:latin typeface="Aptos"/>
              </a:rPr>
              <a:t>RWA &amp; CAPITAL | CREDIT RISK TRAINING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64240" y="6510528"/>
            <a:ext cx="502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677484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962B4"/>
                </a:solidFill>
                <a:latin typeface="Aptos"/>
              </a:rPr>
              <a:t>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11C2D"/>
                </a:solidFill>
                <a:latin typeface="Aptos"/>
              </a:rPr>
              <a:t>What are Risk-Weighted Assets?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61872"/>
            <a:ext cx="914400" cy="41148"/>
          </a:xfrm>
          <a:prstGeom prst="rect">
            <a:avLst/>
          </a:prstGeom>
          <a:solidFill>
            <a:srgbClr val="296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2240280" cy="1965960"/>
          </a:xfrm>
          <a:prstGeom prst="roundRect">
            <a:avLst/>
          </a:prstGeom>
          <a:solidFill>
            <a:srgbClr val="F4F7FA"/>
          </a:solidFill>
          <a:ln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463040" y="1481328"/>
            <a:ext cx="594360" cy="594360"/>
          </a:xfrm>
          <a:prstGeom prst="ellipse">
            <a:avLst/>
          </a:prstGeom>
          <a:solidFill>
            <a:srgbClr val="296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3040" y="1627632"/>
            <a:ext cx="594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084831"/>
            <a:ext cx="187451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111C2D"/>
                </a:solidFill>
                <a:latin typeface="Aptos"/>
              </a:rPr>
              <a:t>Exposure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651760"/>
            <a:ext cx="1874519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232B36"/>
                </a:solidFill>
                <a:latin typeface="Aptos"/>
              </a:rPr>
              <a:t>Loan / security /
derivative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606040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677484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1828800"/>
            <a:ext cx="2240280" cy="1965960"/>
          </a:xfrm>
          <a:prstGeom prst="roundRect">
            <a:avLst/>
          </a:prstGeom>
          <a:solidFill>
            <a:srgbClr val="F4F7FA"/>
          </a:solidFill>
          <a:ln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297680" y="1481328"/>
            <a:ext cx="594360" cy="594360"/>
          </a:xfrm>
          <a:prstGeom prst="ellipse">
            <a:avLst/>
          </a:prstGeom>
          <a:solidFill>
            <a:srgbClr val="296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0" y="1627632"/>
            <a:ext cx="594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2084831"/>
            <a:ext cx="187451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111C2D"/>
                </a:solidFill>
                <a:latin typeface="Aptos"/>
              </a:rPr>
              <a:t>Risk assessment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651760"/>
            <a:ext cx="1874519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232B36"/>
                </a:solidFill>
                <a:latin typeface="Aptos"/>
              </a:rPr>
              <a:t>Counterparty,
collateral, tenor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720" y="2606040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677484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1828800"/>
            <a:ext cx="2240280" cy="1965960"/>
          </a:xfrm>
          <a:prstGeom prst="roundRect">
            <a:avLst/>
          </a:prstGeom>
          <a:solidFill>
            <a:srgbClr val="F4F7FA"/>
          </a:solidFill>
          <a:ln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132320" y="1481328"/>
            <a:ext cx="594360" cy="594360"/>
          </a:xfrm>
          <a:prstGeom prst="ellipse">
            <a:avLst/>
          </a:prstGeom>
          <a:solidFill>
            <a:srgbClr val="296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0" y="1627632"/>
            <a:ext cx="594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084831"/>
            <a:ext cx="187451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111C2D"/>
                </a:solidFill>
                <a:latin typeface="Aptos"/>
              </a:rPr>
              <a:t>Risk weight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2651760"/>
            <a:ext cx="1874519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232B36"/>
                </a:solidFill>
                <a:latin typeface="Aptos"/>
              </a:rPr>
              <a:t>Standardized or
model-based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0" y="2606040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677484"/>
                </a:solidFill>
                <a:latin typeface="Aptos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0" y="1828800"/>
            <a:ext cx="2240280" cy="1965960"/>
          </a:xfrm>
          <a:prstGeom prst="roundRect">
            <a:avLst/>
          </a:prstGeom>
          <a:solidFill>
            <a:srgbClr val="F4F7FA"/>
          </a:solidFill>
          <a:ln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966960" y="1481328"/>
            <a:ext cx="594360" cy="594360"/>
          </a:xfrm>
          <a:prstGeom prst="ellipse">
            <a:avLst/>
          </a:prstGeom>
          <a:solidFill>
            <a:srgbClr val="296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66960" y="1627632"/>
            <a:ext cx="594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0" y="2084831"/>
            <a:ext cx="187451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111C2D"/>
                </a:solidFill>
                <a:latin typeface="Aptos"/>
              </a:rPr>
              <a:t>RWA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0" y="2651760"/>
            <a:ext cx="1874519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232B36"/>
                </a:solidFill>
                <a:latin typeface="Aptos"/>
              </a:rPr>
              <a:t>Exposure ×
risk weight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" y="4343400"/>
            <a:ext cx="3246120" cy="1325880"/>
          </a:xfrm>
          <a:prstGeom prst="roundRect">
            <a:avLst/>
          </a:prstGeom>
          <a:solidFill>
            <a:srgbClr val="F4F7FA"/>
          </a:solidFill>
          <a:ln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77240" y="4343400"/>
            <a:ext cx="64008" cy="1325880"/>
          </a:xfrm>
          <a:prstGeom prst="rect">
            <a:avLst/>
          </a:prstGeom>
          <a:solidFill>
            <a:srgbClr val="268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78408" y="4507992"/>
            <a:ext cx="2880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11C2D"/>
                </a:solidFill>
                <a:latin typeface="Aptos"/>
              </a:rPr>
              <a:t>Illustrative weights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8408" y="4910328"/>
            <a:ext cx="2880360" cy="6126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32B36"/>
                </a:solidFill>
                <a:latin typeface="Aptos"/>
              </a:rPr>
              <a:t>Cash / sovereign exposure → lower risk weight
Unsecured corporate exposure → higher risk weight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480560" y="4343400"/>
            <a:ext cx="3246120" cy="1325880"/>
          </a:xfrm>
          <a:prstGeom prst="roundRect">
            <a:avLst/>
          </a:prstGeom>
          <a:solidFill>
            <a:srgbClr val="F4F7FA"/>
          </a:solidFill>
          <a:ln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480560" y="4343400"/>
            <a:ext cx="64008" cy="1325880"/>
          </a:xfrm>
          <a:prstGeom prst="rect">
            <a:avLst/>
          </a:prstGeom>
          <a:solidFill>
            <a:srgbClr val="D99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81728" y="4507992"/>
            <a:ext cx="2880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11C2D"/>
                </a:solidFill>
                <a:latin typeface="Aptos"/>
              </a:rPr>
              <a:t>Important distinction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81728" y="4910328"/>
            <a:ext cx="2880360" cy="6126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32B36"/>
                </a:solidFill>
                <a:latin typeface="Aptos"/>
              </a:rPr>
              <a:t>RWA ≠ expected loss
RWA ≠ market value
RWA is a regulatory capital metric.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183879" y="4343400"/>
            <a:ext cx="3246120" cy="1325880"/>
          </a:xfrm>
          <a:prstGeom prst="roundRect">
            <a:avLst/>
          </a:prstGeom>
          <a:solidFill>
            <a:srgbClr val="F4F7FA"/>
          </a:solidFill>
          <a:ln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183879" y="4343400"/>
            <a:ext cx="64008" cy="1325880"/>
          </a:xfrm>
          <a:prstGeom prst="rect">
            <a:avLst/>
          </a:prstGeom>
          <a:solidFill>
            <a:srgbClr val="2DA4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85048" y="4507992"/>
            <a:ext cx="2880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11C2D"/>
                </a:solidFill>
                <a:latin typeface="Aptos"/>
              </a:rPr>
              <a:t>Three risk blocks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85048" y="4910328"/>
            <a:ext cx="2880360" cy="6126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32B36"/>
                </a:solidFill>
                <a:latin typeface="Aptos"/>
              </a:rPr>
              <a:t>Credit risk + market risk + operational risk feed the overall RWA framework.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" y="6528816"/>
            <a:ext cx="9144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677484"/>
                </a:solidFill>
                <a:latin typeface="Aptos"/>
              </a:rPr>
              <a:t>RWA &amp; CAPITAL | CREDIT RISK TRAINING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064240" y="6510528"/>
            <a:ext cx="502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677484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962B4"/>
                </a:solidFill>
                <a:latin typeface="Aptos"/>
              </a:rPr>
              <a:t>HOW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11C2D"/>
                </a:solidFill>
                <a:latin typeface="Aptos"/>
              </a:rPr>
              <a:t>How is RWA calculated? Start with the exposure—not the capital ratio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61872"/>
            <a:ext cx="914400" cy="41148"/>
          </a:xfrm>
          <a:prstGeom prst="rect">
            <a:avLst/>
          </a:prstGeom>
          <a:solidFill>
            <a:srgbClr val="296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55448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111C2D"/>
                </a:solidFill>
                <a:latin typeface="Aptos"/>
              </a:rPr>
              <a:t>Credit RWA (simplified)  =  Exposure at risk × Applicable risk weight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331720"/>
            <a:ext cx="3840480" cy="502920"/>
          </a:xfrm>
          <a:prstGeom prst="rect">
            <a:avLst/>
          </a:prstGeom>
          <a:solidFill>
            <a:srgbClr val="111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2468880"/>
            <a:ext cx="369417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Exposure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4709160" y="2331720"/>
            <a:ext cx="1508760" cy="502920"/>
          </a:xfrm>
          <a:prstGeom prst="rect">
            <a:avLst/>
          </a:prstGeom>
          <a:solidFill>
            <a:srgbClr val="111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82312" y="2468880"/>
            <a:ext cx="136245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Amount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2331720"/>
            <a:ext cx="1965960" cy="502920"/>
          </a:xfrm>
          <a:prstGeom prst="rect">
            <a:avLst/>
          </a:prstGeom>
          <a:solidFill>
            <a:srgbClr val="111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3952" y="2468880"/>
            <a:ext cx="181965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Risk weight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49640" y="2331720"/>
            <a:ext cx="2103120" cy="502920"/>
          </a:xfrm>
          <a:prstGeom prst="rect">
            <a:avLst/>
          </a:prstGeom>
          <a:solidFill>
            <a:srgbClr val="111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22792" y="2468880"/>
            <a:ext cx="1956815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RWA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2834640"/>
            <a:ext cx="3840480" cy="621792"/>
          </a:xfrm>
          <a:prstGeom prst="rect">
            <a:avLst/>
          </a:prstGeom>
          <a:solidFill>
            <a:srgbClr val="FFFFFF"/>
          </a:solidFill>
          <a:ln>
            <a:solidFill>
              <a:srgbClr val="E4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" y="3026664"/>
            <a:ext cx="369417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32B36"/>
                </a:solidFill>
                <a:latin typeface="Aptos"/>
              </a:rPr>
              <a:t>Cash / highly rated sovereign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09160" y="2834640"/>
            <a:ext cx="1508760" cy="621792"/>
          </a:xfrm>
          <a:prstGeom prst="rect">
            <a:avLst/>
          </a:prstGeom>
          <a:solidFill>
            <a:srgbClr val="FFFFFF"/>
          </a:solidFill>
          <a:ln>
            <a:solidFill>
              <a:srgbClr val="E4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82312" y="3026664"/>
            <a:ext cx="136245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232B36"/>
                </a:solidFill>
                <a:latin typeface="Aptos"/>
              </a:rPr>
              <a:t>₹100m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2834640"/>
            <a:ext cx="1965960" cy="621792"/>
          </a:xfrm>
          <a:prstGeom prst="rect">
            <a:avLst/>
          </a:prstGeom>
          <a:solidFill>
            <a:srgbClr val="FFFFFF"/>
          </a:solidFill>
          <a:ln>
            <a:solidFill>
              <a:srgbClr val="E4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73952" y="3026664"/>
            <a:ext cx="181965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232B36"/>
                </a:solidFill>
                <a:latin typeface="Aptos"/>
              </a:rPr>
              <a:t>0%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49640" y="2834640"/>
            <a:ext cx="2103120" cy="621792"/>
          </a:xfrm>
          <a:prstGeom prst="rect">
            <a:avLst/>
          </a:prstGeom>
          <a:solidFill>
            <a:srgbClr val="FFFFFF"/>
          </a:solidFill>
          <a:ln>
            <a:solidFill>
              <a:srgbClr val="E4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22792" y="3026664"/>
            <a:ext cx="1956815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232B36"/>
                </a:solidFill>
                <a:latin typeface="Aptos"/>
              </a:rPr>
              <a:t>₹0m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3456432"/>
            <a:ext cx="3840480" cy="621792"/>
          </a:xfrm>
          <a:prstGeom prst="rect">
            <a:avLst/>
          </a:prstGeom>
          <a:solidFill>
            <a:srgbClr val="F4F7FA"/>
          </a:solidFill>
          <a:ln>
            <a:solidFill>
              <a:srgbClr val="E4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8952" y="3648456"/>
            <a:ext cx="369417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32B36"/>
                </a:solidFill>
                <a:latin typeface="Aptos"/>
              </a:rPr>
              <a:t>Residential mortgage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09160" y="3456432"/>
            <a:ext cx="1508760" cy="621792"/>
          </a:xfrm>
          <a:prstGeom prst="rect">
            <a:avLst/>
          </a:prstGeom>
          <a:solidFill>
            <a:srgbClr val="F4F7FA"/>
          </a:solidFill>
          <a:ln>
            <a:solidFill>
              <a:srgbClr val="E4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82312" y="3648456"/>
            <a:ext cx="136245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232B36"/>
                </a:solidFill>
                <a:latin typeface="Aptos"/>
              </a:rPr>
              <a:t>₹200m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3456432"/>
            <a:ext cx="1965960" cy="621792"/>
          </a:xfrm>
          <a:prstGeom prst="rect">
            <a:avLst/>
          </a:prstGeom>
          <a:solidFill>
            <a:srgbClr val="F4F7FA"/>
          </a:solidFill>
          <a:ln>
            <a:solidFill>
              <a:srgbClr val="E4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73952" y="3648456"/>
            <a:ext cx="181965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232B36"/>
                </a:solidFill>
                <a:latin typeface="Aptos"/>
              </a:rPr>
              <a:t>50%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49640" y="3456432"/>
            <a:ext cx="2103120" cy="621792"/>
          </a:xfrm>
          <a:prstGeom prst="rect">
            <a:avLst/>
          </a:prstGeom>
          <a:solidFill>
            <a:srgbClr val="F4F7FA"/>
          </a:solidFill>
          <a:ln>
            <a:solidFill>
              <a:srgbClr val="E4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22792" y="3648456"/>
            <a:ext cx="1956815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232B36"/>
                </a:solidFill>
                <a:latin typeface="Aptos"/>
              </a:rPr>
              <a:t>₹100m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5800" y="4078224"/>
            <a:ext cx="3840480" cy="621792"/>
          </a:xfrm>
          <a:prstGeom prst="rect">
            <a:avLst/>
          </a:prstGeom>
          <a:solidFill>
            <a:srgbClr val="FFFFFF"/>
          </a:solidFill>
          <a:ln>
            <a:solidFill>
              <a:srgbClr val="E4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8952" y="4270248"/>
            <a:ext cx="369417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32B36"/>
                </a:solidFill>
                <a:latin typeface="Aptos"/>
              </a:rPr>
              <a:t>Corporate loan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709160" y="4078224"/>
            <a:ext cx="1508760" cy="621792"/>
          </a:xfrm>
          <a:prstGeom prst="rect">
            <a:avLst/>
          </a:prstGeom>
          <a:solidFill>
            <a:srgbClr val="FFFFFF"/>
          </a:solidFill>
          <a:ln>
            <a:solidFill>
              <a:srgbClr val="E4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82312" y="4270248"/>
            <a:ext cx="136245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232B36"/>
                </a:solidFill>
                <a:latin typeface="Aptos"/>
              </a:rPr>
              <a:t>₹300m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0" y="4078224"/>
            <a:ext cx="1965960" cy="621792"/>
          </a:xfrm>
          <a:prstGeom prst="rect">
            <a:avLst/>
          </a:prstGeom>
          <a:solidFill>
            <a:srgbClr val="FFFFFF"/>
          </a:solidFill>
          <a:ln>
            <a:solidFill>
              <a:srgbClr val="E4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73952" y="4270248"/>
            <a:ext cx="181965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232B36"/>
                </a:solidFill>
                <a:latin typeface="Aptos"/>
              </a:rPr>
              <a:t>100%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549640" y="4078224"/>
            <a:ext cx="2103120" cy="621792"/>
          </a:xfrm>
          <a:prstGeom prst="rect">
            <a:avLst/>
          </a:prstGeom>
          <a:solidFill>
            <a:srgbClr val="FFFFFF"/>
          </a:solidFill>
          <a:ln>
            <a:solidFill>
              <a:srgbClr val="E4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22792" y="4270248"/>
            <a:ext cx="1956815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232B36"/>
                </a:solidFill>
                <a:latin typeface="Aptos"/>
              </a:rPr>
              <a:t>₹300m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85800" y="4700016"/>
            <a:ext cx="3840480" cy="621792"/>
          </a:xfrm>
          <a:prstGeom prst="rect">
            <a:avLst/>
          </a:prstGeom>
          <a:solidFill>
            <a:srgbClr val="F4F7FA"/>
          </a:solidFill>
          <a:ln>
            <a:solidFill>
              <a:srgbClr val="E4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8952" y="4892040"/>
            <a:ext cx="369417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32B36"/>
                </a:solidFill>
                <a:latin typeface="Aptos"/>
              </a:rPr>
              <a:t>Higher-risk exposure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709160" y="4700016"/>
            <a:ext cx="1508760" cy="621792"/>
          </a:xfrm>
          <a:prstGeom prst="rect">
            <a:avLst/>
          </a:prstGeom>
          <a:solidFill>
            <a:srgbClr val="F4F7FA"/>
          </a:solidFill>
          <a:ln>
            <a:solidFill>
              <a:srgbClr val="E4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782312" y="4892040"/>
            <a:ext cx="136245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232B36"/>
                </a:solidFill>
                <a:latin typeface="Aptos"/>
              </a:rPr>
              <a:t>₹100m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0" y="4700016"/>
            <a:ext cx="1965960" cy="621792"/>
          </a:xfrm>
          <a:prstGeom prst="rect">
            <a:avLst/>
          </a:prstGeom>
          <a:solidFill>
            <a:srgbClr val="F4F7FA"/>
          </a:solidFill>
          <a:ln>
            <a:solidFill>
              <a:srgbClr val="E4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73952" y="4892040"/>
            <a:ext cx="181965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232B36"/>
                </a:solidFill>
                <a:latin typeface="Aptos"/>
              </a:rPr>
              <a:t>150%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549640" y="4700016"/>
            <a:ext cx="2103120" cy="621792"/>
          </a:xfrm>
          <a:prstGeom prst="rect">
            <a:avLst/>
          </a:prstGeom>
          <a:solidFill>
            <a:srgbClr val="F4F7FA"/>
          </a:solidFill>
          <a:ln>
            <a:solidFill>
              <a:srgbClr val="E4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622792" y="4892040"/>
            <a:ext cx="1956815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232B36"/>
                </a:solidFill>
                <a:latin typeface="Aptos"/>
              </a:rPr>
              <a:t>₹150m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092440" y="5440680"/>
            <a:ext cx="2560320" cy="640080"/>
          </a:xfrm>
          <a:prstGeom prst="roundRect">
            <a:avLst/>
          </a:prstGeom>
          <a:solidFill>
            <a:srgbClr val="E5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229600" y="5614416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268E5C"/>
                </a:solidFill>
                <a:latin typeface="Aptos"/>
              </a:rPr>
              <a:t>Total RWA = ₹550m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1520" y="5532120"/>
            <a:ext cx="6583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77484"/>
                </a:solidFill>
                <a:latin typeface="Aptos"/>
              </a:rPr>
              <a:t>Real regulatory calculations can be more granular and may include CRM, off-balance-sheet conversion factors, model rules and other adjustments.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94360" y="6528816"/>
            <a:ext cx="9144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677484"/>
                </a:solidFill>
                <a:latin typeface="Aptos"/>
              </a:rPr>
              <a:t>RWA &amp; CAPITAL | CREDIT RISK TRAINING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064240" y="6510528"/>
            <a:ext cx="502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677484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962B4"/>
                </a:solidFill>
                <a:latin typeface="Aptos"/>
              </a:rPr>
              <a:t>CAPITAL RATIO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11C2D"/>
                </a:solidFill>
                <a:latin typeface="Aptos"/>
              </a:rPr>
              <a:t>Capital ratio: the denominator is as important as the numerator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61872"/>
            <a:ext cx="914400" cy="41148"/>
          </a:xfrm>
          <a:prstGeom prst="rect">
            <a:avLst/>
          </a:prstGeom>
          <a:solidFill>
            <a:srgbClr val="296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50876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11C2D"/>
                </a:solidFill>
                <a:latin typeface="Aptos"/>
              </a:rPr>
              <a:t>Total Capital Ratio = Total Regulatory Capital ÷ RWA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148840"/>
            <a:ext cx="5074920" cy="2331720"/>
          </a:xfrm>
          <a:prstGeom prst="roundRect">
            <a:avLst/>
          </a:prstGeom>
          <a:solidFill>
            <a:srgbClr val="F4F7FA"/>
          </a:solidFill>
          <a:ln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148840"/>
            <a:ext cx="64008" cy="2331720"/>
          </a:xfrm>
          <a:prstGeom prst="rect">
            <a:avLst/>
          </a:prstGeom>
          <a:solidFill>
            <a:srgbClr val="296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313432"/>
            <a:ext cx="470915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11C2D"/>
                </a:solidFill>
                <a:latin typeface="Aptos"/>
              </a:rPr>
              <a:t>Illustrative bank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715768"/>
            <a:ext cx="4709159" cy="16184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32B36"/>
                </a:solidFill>
                <a:latin typeface="Aptos"/>
              </a:rPr>
              <a:t>Total regulatory capital = ₹72m
RWA = ₹600m
Capital ratio = 72 ÷ 600 = 12.0%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5087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11C2D"/>
                </a:solidFill>
                <a:latin typeface="Aptos"/>
              </a:rPr>
              <a:t>Basel minimums (global baseline)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05740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32B36"/>
                </a:solidFill>
                <a:latin typeface="Aptos"/>
              </a:rPr>
              <a:t>CET1 minimum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72600" y="2020824"/>
            <a:ext cx="1417320" cy="384048"/>
          </a:xfrm>
          <a:prstGeom prst="roundRect">
            <a:avLst/>
          </a:prstGeom>
          <a:solidFill>
            <a:srgbClr val="F4F7FA"/>
          </a:solidFill>
          <a:ln>
            <a:solidFill>
              <a:srgbClr val="296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0" y="2103120"/>
            <a:ext cx="1325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2962B4"/>
                </a:solidFill>
                <a:latin typeface="Aptos"/>
              </a:rPr>
              <a:t>4.5%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74320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32B36"/>
                </a:solidFill>
                <a:latin typeface="Aptos"/>
              </a:rPr>
              <a:t>Tier 1 minimum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72600" y="2706624"/>
            <a:ext cx="1417320" cy="384048"/>
          </a:xfrm>
          <a:prstGeom prst="roundRect">
            <a:avLst/>
          </a:prstGeom>
          <a:solidFill>
            <a:srgbClr val="F4F7FA"/>
          </a:solidFill>
          <a:ln>
            <a:solidFill>
              <a:srgbClr val="2DA4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0" y="2788920"/>
            <a:ext cx="1325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2DA4C3"/>
                </a:solidFill>
                <a:latin typeface="Aptos"/>
              </a:rPr>
              <a:t>6.0%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342900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32B36"/>
                </a:solidFill>
                <a:latin typeface="Aptos"/>
              </a:rPr>
              <a:t>Total capital minimum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72600" y="3392424"/>
            <a:ext cx="1417320" cy="384048"/>
          </a:xfrm>
          <a:prstGeom prst="roundRect">
            <a:avLst/>
          </a:prstGeom>
          <a:solidFill>
            <a:srgbClr val="F4F7FA"/>
          </a:solidFill>
          <a:ln>
            <a:solidFill>
              <a:srgbClr val="268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18320" y="3474720"/>
            <a:ext cx="1325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268E5C"/>
                </a:solidFill>
                <a:latin typeface="Aptos"/>
              </a:rPr>
              <a:t>8.0%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411480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32B36"/>
                </a:solidFill>
                <a:latin typeface="Aptos"/>
              </a:rPr>
              <a:t>Capital conservation buffer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72600" y="4078224"/>
            <a:ext cx="1417320" cy="384048"/>
          </a:xfrm>
          <a:prstGeom prst="roundRect">
            <a:avLst/>
          </a:prstGeom>
          <a:solidFill>
            <a:srgbClr val="F4F7FA"/>
          </a:solidFill>
          <a:ln>
            <a:solidFill>
              <a:srgbClr val="D999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18320" y="4160520"/>
            <a:ext cx="1325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D9992E"/>
                </a:solidFill>
                <a:latin typeface="Aptos"/>
              </a:rPr>
              <a:t>2.5% CET1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4892040"/>
            <a:ext cx="47548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77484"/>
                </a:solidFill>
                <a:latin typeface="Aptos"/>
              </a:rPr>
              <a:t>Basel sets 4.5% CET1, 6% Tier 1 and 8% total capital minimums, plus a 2.5% CET1 capital conservation buffer. Local requirements can be higher.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528816"/>
            <a:ext cx="9144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677484"/>
                </a:solidFill>
                <a:latin typeface="Aptos"/>
              </a:rPr>
              <a:t>RWA &amp; CAPITAL | CREDIT RISK TRAINING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64240" y="6510528"/>
            <a:ext cx="502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677484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962B4"/>
                </a:solidFill>
                <a:latin typeface="Aptos"/>
              </a:rPr>
              <a:t>WHAT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11C2D"/>
                </a:solidFill>
                <a:latin typeface="Aptos"/>
              </a:rPr>
              <a:t>Regulatory capital: not all capital has the same loss-absorbing quality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61872"/>
            <a:ext cx="914400" cy="41148"/>
          </a:xfrm>
          <a:prstGeom prst="rect">
            <a:avLst/>
          </a:prstGeom>
          <a:solidFill>
            <a:srgbClr val="296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645920"/>
            <a:ext cx="5577840" cy="1828800"/>
          </a:xfrm>
          <a:prstGeom prst="roundRect">
            <a:avLst/>
          </a:prstGeom>
          <a:solidFill>
            <a:srgbClr val="296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1847088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CET1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31720" y="1783080"/>
            <a:ext cx="3840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Common shares, retained earnings and qualifying reserves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2148840"/>
            <a:ext cx="3840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ptos"/>
              </a:rPr>
              <a:t>Highest-quality going-concern capital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639312"/>
            <a:ext cx="5577840" cy="1234440"/>
          </a:xfrm>
          <a:prstGeom prst="roundRect">
            <a:avLst/>
          </a:prstGeom>
          <a:solidFill>
            <a:srgbClr val="2DA4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840480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AT1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31720" y="3776472"/>
            <a:ext cx="3840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Qualifying additional Tier 1 instruments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31720" y="4142232"/>
            <a:ext cx="3840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ptos"/>
              </a:rPr>
              <a:t>Going-concern loss absorption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5038344"/>
            <a:ext cx="5577840" cy="868680"/>
          </a:xfrm>
          <a:prstGeom prst="roundRect">
            <a:avLst/>
          </a:prstGeom>
          <a:solidFill>
            <a:srgbClr val="D99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5239512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TIER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31720" y="5175504"/>
            <a:ext cx="3840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Qualifying subordinated / gone-concern capital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31720" y="5541264"/>
            <a:ext cx="3840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ptos"/>
              </a:rPr>
              <a:t>Absorbs losses after higher layers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1645920"/>
            <a:ext cx="37490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11C2D"/>
                </a:solidFill>
                <a:latin typeface="Aptos"/>
              </a:rPr>
              <a:t>Capital hierarchy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0" y="2194560"/>
            <a:ext cx="3886200" cy="749808"/>
          </a:xfrm>
          <a:prstGeom prst="roundRect">
            <a:avLst/>
          </a:prstGeom>
          <a:solidFill>
            <a:srgbClr val="F4F7FA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43800" y="2304288"/>
            <a:ext cx="1143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11C2D"/>
                </a:solidFill>
                <a:latin typeface="Aptos"/>
              </a:rPr>
              <a:t>CET1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0" y="2304288"/>
            <a:ext cx="2103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32B36"/>
                </a:solidFill>
                <a:latin typeface="Aptos"/>
              </a:rPr>
              <a:t>First-loss, strongest buffer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0" y="3200400"/>
            <a:ext cx="3886200" cy="749808"/>
          </a:xfrm>
          <a:prstGeom prst="roundRect">
            <a:avLst/>
          </a:prstGeom>
          <a:solidFill>
            <a:srgbClr val="F4F7FA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43800" y="3310128"/>
            <a:ext cx="1143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11C2D"/>
                </a:solidFill>
                <a:latin typeface="Aptos"/>
              </a:rPr>
              <a:t>Tier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0" y="3310128"/>
            <a:ext cx="2103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32B36"/>
                </a:solidFill>
                <a:latin typeface="Aptos"/>
              </a:rPr>
              <a:t>CET1 + AT1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0" y="4206240"/>
            <a:ext cx="3886200" cy="749808"/>
          </a:xfrm>
          <a:prstGeom prst="roundRect">
            <a:avLst/>
          </a:prstGeom>
          <a:solidFill>
            <a:srgbClr val="F4F7FA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43800" y="4315968"/>
            <a:ext cx="1143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11C2D"/>
                </a:solidFill>
                <a:latin typeface="Aptos"/>
              </a:rPr>
              <a:t>Total capital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8240" y="4315968"/>
            <a:ext cx="2103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32B36"/>
                </a:solidFill>
                <a:latin typeface="Aptos"/>
              </a:rPr>
              <a:t>Tier 1 + qualifying Tier 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0" y="5349240"/>
            <a:ext cx="3931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77484"/>
                </a:solidFill>
                <a:latin typeface="Aptos"/>
              </a:rPr>
              <a:t>Regulatory capital is defined by prudential rules and includes regulatory adjustments—not simply book equity.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528816"/>
            <a:ext cx="9144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677484"/>
                </a:solidFill>
                <a:latin typeface="Aptos"/>
              </a:rPr>
              <a:t>RWA &amp; CAPITAL | CREDIT RISK TRAINING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64240" y="6510528"/>
            <a:ext cx="502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677484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962B4"/>
                </a:solidFill>
                <a:latin typeface="Aptos"/>
              </a:rPr>
              <a:t>STEP-BY-STEP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11C2D"/>
                </a:solidFill>
                <a:latin typeface="Aptos"/>
              </a:rPr>
              <a:t>Practical example: one portfolio, two capital outcomes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61872"/>
            <a:ext cx="914400" cy="41148"/>
          </a:xfrm>
          <a:prstGeom prst="rect">
            <a:avLst/>
          </a:prstGeom>
          <a:solidFill>
            <a:srgbClr val="296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5212080" cy="4160520"/>
          </a:xfrm>
          <a:prstGeom prst="roundRect">
            <a:avLst/>
          </a:prstGeom>
          <a:solidFill>
            <a:srgbClr val="F4F7FA"/>
          </a:solidFill>
          <a:ln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508760"/>
            <a:ext cx="64008" cy="4160520"/>
          </a:xfrm>
          <a:prstGeom prst="rect">
            <a:avLst/>
          </a:prstGeom>
          <a:solidFill>
            <a:srgbClr val="296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673351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11C2D"/>
                </a:solidFill>
                <a:latin typeface="Aptos"/>
              </a:rPr>
              <a:t>Scenario A — balanced portfolio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075688"/>
            <a:ext cx="4846320" cy="34472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32B36"/>
                </a:solidFill>
                <a:latin typeface="Aptos"/>
              </a:rPr>
              <a:t>Assets:
• ₹200m sovereign exposure @ 0%
• ₹300m mortgage @ 50%
• ₹500m corporate loans @ 100%
RWA = 0 + 150 + 500 = ₹650m
Regulatory capital = ₹78m
Total capital ratio = 78 ÷ 650 = 12.0%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508760"/>
            <a:ext cx="5212080" cy="4160520"/>
          </a:xfrm>
          <a:prstGeom prst="roundRect">
            <a:avLst/>
          </a:prstGeom>
          <a:solidFill>
            <a:srgbClr val="F4F7FA"/>
          </a:solidFill>
          <a:ln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508760"/>
            <a:ext cx="64008" cy="4160520"/>
          </a:xfrm>
          <a:prstGeom prst="rect">
            <a:avLst/>
          </a:prstGeom>
          <a:solidFill>
            <a:srgbClr val="BE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7" y="1673351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11C2D"/>
                </a:solidFill>
                <a:latin typeface="Aptos"/>
              </a:rPr>
              <a:t>Scenario B — risk migration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7" y="2075688"/>
            <a:ext cx="4846320" cy="34472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32B36"/>
                </a:solidFill>
                <a:latin typeface="Aptos"/>
              </a:rPr>
              <a:t>Same ₹1,000m asset base:
• Sovereign = ₹200m @ 0%
• Mortgage = ₹200m @ 50%
• Higher-risk corporate = ₹600m @ 125%
RWA = 0 + 100 + 750 = ₹850m
Capital = ₹78m
Total capital ratio = 78 ÷ 850 = 9.18%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86200" y="5897880"/>
            <a:ext cx="4389120" cy="347472"/>
          </a:xfrm>
          <a:prstGeom prst="roundRect">
            <a:avLst/>
          </a:prstGeom>
          <a:solidFill>
            <a:srgbClr val="FAF1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86200" y="5943600"/>
            <a:ext cx="4389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BE4141"/>
                </a:solidFill>
                <a:latin typeface="Aptos"/>
              </a:rPr>
              <a:t>Same balance-sheet size → materially different capital pressure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528816"/>
            <a:ext cx="9144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677484"/>
                </a:solidFill>
                <a:latin typeface="Aptos"/>
              </a:rPr>
              <a:t>RWA &amp; CAPITAL | CREDIT RISK TRAINING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64240" y="6510528"/>
            <a:ext cx="502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677484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962B4"/>
                </a:solidFill>
                <a:latin typeface="Aptos"/>
              </a:rPr>
              <a:t>ILLUSTRATIVE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11C2D"/>
                </a:solidFill>
                <a:latin typeface="Aptos"/>
              </a:rPr>
              <a:t>Case study 1: a corporate bank grows loans—without growing capital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61872"/>
            <a:ext cx="914400" cy="41148"/>
          </a:xfrm>
          <a:prstGeom prst="rect">
            <a:avLst/>
          </a:prstGeom>
          <a:solidFill>
            <a:srgbClr val="296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691640"/>
            <a:ext cx="3337560" cy="2880360"/>
          </a:xfrm>
          <a:prstGeom prst="roundRect">
            <a:avLst/>
          </a:prstGeom>
          <a:solidFill>
            <a:srgbClr val="F4F7FA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874519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11C2D"/>
                </a:solidFill>
                <a:latin typeface="Aptos"/>
              </a:rPr>
              <a:t>Start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331720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32B36"/>
                </a:solidFill>
                <a:latin typeface="Aptos"/>
              </a:rPr>
              <a:t>Loans ₹10bn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2788920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32B36"/>
                </a:solidFill>
                <a:latin typeface="Aptos"/>
              </a:rPr>
              <a:t>RWA ₹6bn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3246120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32B36"/>
                </a:solidFill>
                <a:latin typeface="Aptos"/>
              </a:rPr>
              <a:t>Capital ₹720m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3794760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962B4"/>
                </a:solidFill>
                <a:latin typeface="Aptos"/>
              </a:rPr>
              <a:t>Capital ratio: 12.0%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691640"/>
            <a:ext cx="3337560" cy="2880360"/>
          </a:xfrm>
          <a:prstGeom prst="roundRect">
            <a:avLst/>
          </a:prstGeom>
          <a:solidFill>
            <a:srgbClr val="F4F7FA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0288" y="1874519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11C2D"/>
                </a:solidFill>
                <a:latin typeface="Aptos"/>
              </a:rPr>
              <a:t>Growth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2331720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32B36"/>
                </a:solidFill>
                <a:latin typeface="Aptos"/>
              </a:rPr>
              <a:t>Loans ₹12bn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2788920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32B36"/>
                </a:solidFill>
                <a:latin typeface="Aptos"/>
              </a:rPr>
              <a:t>RWA ₹7.8bn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0288" y="3246120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32B36"/>
                </a:solidFill>
                <a:latin typeface="Aptos"/>
              </a:rPr>
              <a:t>Capital ₹720m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0288" y="3794760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D9992E"/>
                </a:solidFill>
                <a:latin typeface="Aptos"/>
              </a:rPr>
              <a:t>Capital ratio: 9.23%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80" y="1691640"/>
            <a:ext cx="3337560" cy="2880360"/>
          </a:xfrm>
          <a:prstGeom prst="roundRect">
            <a:avLst/>
          </a:prstGeom>
          <a:solidFill>
            <a:srgbClr val="F4F7FA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85048" y="1874519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11C2D"/>
                </a:solidFill>
                <a:latin typeface="Aptos"/>
              </a:rPr>
              <a:t>Stress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5048" y="2331720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32B36"/>
                </a:solidFill>
                <a:latin typeface="Aptos"/>
              </a:rPr>
              <a:t>RWA ₹8.5bn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5048" y="2788920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32B36"/>
                </a:solidFill>
                <a:latin typeface="Aptos"/>
              </a:rPr>
              <a:t>Capital ₹720m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5048" y="3246120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32B36"/>
                </a:solidFill>
                <a:latin typeface="Aptos"/>
              </a:rPr>
              <a:t>8.47%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85048" y="3794760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BE4141"/>
                </a:solidFill>
                <a:latin typeface="Aptos"/>
              </a:rPr>
              <a:t>Capital ratio: Headroom compresses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4983480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11C2D"/>
                </a:solidFill>
                <a:latin typeface="Aptos"/>
              </a:rPr>
              <a:t>Management levers when capital headroom falls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0120" y="5440680"/>
            <a:ext cx="2331720" cy="347472"/>
          </a:xfrm>
          <a:prstGeom prst="roundRect">
            <a:avLst/>
          </a:prstGeom>
          <a:solidFill>
            <a:srgbClr val="E5EE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5486400"/>
            <a:ext cx="23317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2962B4"/>
                </a:solidFill>
                <a:latin typeface="Aptos"/>
              </a:rPr>
              <a:t>Raise capital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749039" y="5440680"/>
            <a:ext cx="2331720" cy="347472"/>
          </a:xfrm>
          <a:prstGeom prst="roundRect">
            <a:avLst/>
          </a:prstGeom>
          <a:solidFill>
            <a:srgbClr val="E5EE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749039" y="5486400"/>
            <a:ext cx="23317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D9992E"/>
                </a:solidFill>
                <a:latin typeface="Aptos"/>
              </a:rPr>
              <a:t>Slow / reprice growth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37959" y="5440680"/>
            <a:ext cx="2331720" cy="347472"/>
          </a:xfrm>
          <a:prstGeom prst="roundRect">
            <a:avLst/>
          </a:prstGeom>
          <a:solidFill>
            <a:srgbClr val="E5EE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37959" y="5486400"/>
            <a:ext cx="23317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268E5C"/>
                </a:solidFill>
                <a:latin typeface="Aptos"/>
              </a:rPr>
              <a:t>Improve collateral / CRM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326880" y="5440680"/>
            <a:ext cx="2331720" cy="347472"/>
          </a:xfrm>
          <a:prstGeom prst="roundRect">
            <a:avLst/>
          </a:prstGeom>
          <a:solidFill>
            <a:srgbClr val="E5EE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26880" y="5486400"/>
            <a:ext cx="23317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2DA4C3"/>
                </a:solidFill>
                <a:latin typeface="Aptos"/>
              </a:rPr>
              <a:t>Shift portfolio mix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6528816"/>
            <a:ext cx="9144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677484"/>
                </a:solidFill>
                <a:latin typeface="Aptos"/>
              </a:rPr>
              <a:t>RWA &amp; CAPITAL | CREDIT RISK TRAINING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64240" y="6510528"/>
            <a:ext cx="502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677484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962B4"/>
                </a:solidFill>
                <a:latin typeface="Aptos"/>
              </a:rPr>
              <a:t>ILLUSTRATIVE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11C2D"/>
                </a:solidFill>
                <a:latin typeface="Aptos"/>
              </a:rPr>
              <a:t>Case study 2: the same loan can consume less RWA after credit risk mitigation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61872"/>
            <a:ext cx="914400" cy="41148"/>
          </a:xfrm>
          <a:prstGeom prst="rect">
            <a:avLst/>
          </a:prstGeom>
          <a:solidFill>
            <a:srgbClr val="296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645920"/>
            <a:ext cx="5074920" cy="3063240"/>
          </a:xfrm>
          <a:prstGeom prst="roundRect">
            <a:avLst/>
          </a:prstGeom>
          <a:solidFill>
            <a:srgbClr val="F4F7FA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4526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111C2D"/>
                </a:solidFill>
                <a:latin typeface="Aptos"/>
              </a:rPr>
              <a:t>Before mitigation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514600"/>
            <a:ext cx="3886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232B36"/>
                </a:solidFill>
                <a:latin typeface="Aptos"/>
              </a:rPr>
              <a:t>Exposure ₹100m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3081528"/>
            <a:ext cx="3886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232B36"/>
                </a:solidFill>
                <a:latin typeface="Aptos"/>
              </a:rPr>
              <a:t>Risk weight 100%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3648456"/>
            <a:ext cx="3886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232B36"/>
                </a:solidFill>
                <a:latin typeface="Aptos"/>
              </a:rPr>
              <a:t>RWA ₹100m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645920"/>
            <a:ext cx="5074920" cy="3063240"/>
          </a:xfrm>
          <a:prstGeom prst="roundRect">
            <a:avLst/>
          </a:prstGeom>
          <a:solidFill>
            <a:srgbClr val="F4F7FA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59" y="1920240"/>
            <a:ext cx="4526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111C2D"/>
                </a:solidFill>
                <a:latin typeface="Aptos"/>
              </a:rPr>
              <a:t>After qualifying mitigation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2514600"/>
            <a:ext cx="3886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232B36"/>
                </a:solidFill>
                <a:latin typeface="Aptos"/>
              </a:rPr>
              <a:t>Exposure ₹100m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3081528"/>
            <a:ext cx="3886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232B36"/>
                </a:solidFill>
                <a:latin typeface="Aptos"/>
              </a:rPr>
              <a:t>Effective risk weight 50%*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3648456"/>
            <a:ext cx="3886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232B36"/>
                </a:solidFill>
                <a:latin typeface="Aptos"/>
              </a:rPr>
              <a:t>RWA ₹50m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0680" y="2880360"/>
            <a:ext cx="914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>
                <a:solidFill>
                  <a:srgbClr val="677484"/>
                </a:solidFill>
                <a:latin typeface="Aptos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74920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111C2D"/>
                </a:solidFill>
                <a:latin typeface="Aptos"/>
              </a:rPr>
              <a:t>If capital = ₹12m: ratio before = 12%  |  ratio after = 24%  (illustrative arithmetic)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623560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677484"/>
                </a:solidFill>
                <a:latin typeface="Aptos"/>
              </a:rPr>
              <a:t>*Actual regulatory treatment depends on the eligible CRM technique, counterparty, collateral and applicable rules.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528816"/>
            <a:ext cx="9144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677484"/>
                </a:solidFill>
                <a:latin typeface="Aptos"/>
              </a:rPr>
              <a:t>RWA &amp; CAPITAL | CREDIT RISK TRAINING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510528"/>
            <a:ext cx="502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677484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962B4"/>
                </a:solidFill>
                <a:latin typeface="Aptos"/>
              </a:rPr>
              <a:t>BANKER / CFO / CREDIT ANALYST / INVESTOR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11C2D"/>
                </a:solidFill>
                <a:latin typeface="Aptos"/>
              </a:rPr>
              <a:t>RWA is a management metric—not just a regulatory reporting number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61872"/>
            <a:ext cx="914400" cy="41148"/>
          </a:xfrm>
          <a:prstGeom prst="rect">
            <a:avLst/>
          </a:prstGeom>
          <a:solidFill>
            <a:srgbClr val="296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600200"/>
            <a:ext cx="2560320" cy="3474720"/>
          </a:xfrm>
          <a:prstGeom prst="roundRect">
            <a:avLst/>
          </a:prstGeom>
          <a:solidFill>
            <a:srgbClr val="F4F7FA"/>
          </a:solidFill>
          <a:ln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600200"/>
            <a:ext cx="64008" cy="3474720"/>
          </a:xfrm>
          <a:prstGeom prst="rect">
            <a:avLst/>
          </a:prstGeom>
          <a:solidFill>
            <a:srgbClr val="296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764792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11C2D"/>
                </a:solidFill>
                <a:latin typeface="Aptos"/>
              </a:rPr>
              <a:t>CREDIT ANALYST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2167128"/>
            <a:ext cx="2194560" cy="27614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32B36"/>
                </a:solidFill>
                <a:latin typeface="Aptos"/>
              </a:rPr>
              <a:t>Risk concentration
Collateral quality
Borrower migration
Capital impact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600200"/>
            <a:ext cx="2560320" cy="3474720"/>
          </a:xfrm>
          <a:prstGeom prst="roundRect">
            <a:avLst/>
          </a:prstGeom>
          <a:solidFill>
            <a:srgbClr val="F4F7FA"/>
          </a:solidFill>
          <a:ln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29000" y="1600200"/>
            <a:ext cx="64008" cy="3474720"/>
          </a:xfrm>
          <a:prstGeom prst="rect">
            <a:avLst/>
          </a:prstGeom>
          <a:solidFill>
            <a:srgbClr val="2DA4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0168" y="1764792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11C2D"/>
                </a:solidFill>
                <a:latin typeface="Aptos"/>
              </a:rPr>
              <a:t>BANKER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0168" y="2167128"/>
            <a:ext cx="2194560" cy="27614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32B36"/>
                </a:solidFill>
                <a:latin typeface="Aptos"/>
              </a:rPr>
              <a:t>Pricing for capital
Origination limits
Portfolio allocation
RWA efficiency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600200"/>
            <a:ext cx="2560320" cy="3474720"/>
          </a:xfrm>
          <a:prstGeom prst="roundRect">
            <a:avLst/>
          </a:prstGeom>
          <a:solidFill>
            <a:srgbClr val="F4F7FA"/>
          </a:solidFill>
          <a:ln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1600200"/>
            <a:ext cx="64008" cy="3474720"/>
          </a:xfrm>
          <a:prstGeom prst="rect">
            <a:avLst/>
          </a:prstGeom>
          <a:solidFill>
            <a:srgbClr val="268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64808" y="1764792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11C2D"/>
                </a:solidFill>
                <a:latin typeface="Aptos"/>
              </a:rPr>
              <a:t>CFO / ALCO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4808" y="2167128"/>
            <a:ext cx="2194560" cy="27614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32B36"/>
                </a:solidFill>
                <a:latin typeface="Aptos"/>
              </a:rPr>
              <a:t>Capital planning
Dividend capacity
Growth constraints
Stress testing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8280" y="1600200"/>
            <a:ext cx="2560320" cy="3474720"/>
          </a:xfrm>
          <a:prstGeom prst="roundRect">
            <a:avLst/>
          </a:prstGeom>
          <a:solidFill>
            <a:srgbClr val="F4F7FA"/>
          </a:solidFill>
          <a:ln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98280" y="1600200"/>
            <a:ext cx="64008" cy="3474720"/>
          </a:xfrm>
          <a:prstGeom prst="rect">
            <a:avLst/>
          </a:prstGeom>
          <a:solidFill>
            <a:srgbClr val="D99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99448" y="1764792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11C2D"/>
                </a:solidFill>
                <a:latin typeface="Aptos"/>
              </a:rPr>
              <a:t>INVESTOR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99448" y="2167128"/>
            <a:ext cx="2194560" cy="27614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32B36"/>
                </a:solidFill>
                <a:latin typeface="Aptos"/>
              </a:rPr>
              <a:t>Capital buffer
Asset quality
ROE sustainability
Risk appetite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44068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111C2D"/>
                </a:solidFill>
                <a:latin typeface="Aptos"/>
              </a:rPr>
              <a:t>Key linkage:  RWA → capital requirement → pricing / growth → ROE → shareholder economics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528816"/>
            <a:ext cx="9144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677484"/>
                </a:solidFill>
                <a:latin typeface="Aptos"/>
              </a:rPr>
              <a:t>RWA &amp; CAPITAL | CREDIT RISK TRAINING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510528"/>
            <a:ext cx="502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677484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962B4"/>
                </a:solidFill>
                <a:latin typeface="Aptos"/>
              </a:rPr>
              <a:t>RISKS &amp; MISTAKES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11C2D"/>
                </a:solidFill>
                <a:latin typeface="Aptos"/>
              </a:rPr>
              <a:t>Red flags: where RWA &amp; capital analysis can go wrong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61872"/>
            <a:ext cx="914400" cy="41148"/>
          </a:xfrm>
          <a:prstGeom prst="rect">
            <a:avLst/>
          </a:prstGeom>
          <a:solidFill>
            <a:srgbClr val="296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5166360" cy="1261872"/>
          </a:xfrm>
          <a:prstGeom prst="roundRect">
            <a:avLst/>
          </a:prstGeom>
          <a:solidFill>
            <a:srgbClr val="F4F7FA"/>
          </a:solidFill>
          <a:ln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508760"/>
            <a:ext cx="64008" cy="1261872"/>
          </a:xfrm>
          <a:prstGeom prst="rect">
            <a:avLst/>
          </a:prstGeom>
          <a:solidFill>
            <a:srgbClr val="BE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673351"/>
            <a:ext cx="4800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11C2D"/>
                </a:solidFill>
                <a:latin typeface="Aptos"/>
              </a:rPr>
              <a:t>Treating RWA as total assets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075688"/>
            <a:ext cx="4800600" cy="5486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232B36"/>
                </a:solidFill>
                <a:latin typeface="Aptos"/>
              </a:rPr>
              <a:t>Misses risk differentiation and regulatory methodology.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508760"/>
            <a:ext cx="5166360" cy="1261872"/>
          </a:xfrm>
          <a:prstGeom prst="roundRect">
            <a:avLst/>
          </a:prstGeom>
          <a:solidFill>
            <a:srgbClr val="F4F7FA"/>
          </a:solidFill>
          <a:ln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508760"/>
            <a:ext cx="64008" cy="1261872"/>
          </a:xfrm>
          <a:prstGeom prst="rect">
            <a:avLst/>
          </a:prstGeom>
          <a:solidFill>
            <a:srgbClr val="296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1673351"/>
            <a:ext cx="4800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11C2D"/>
                </a:solidFill>
                <a:latin typeface="Aptos"/>
              </a:rPr>
              <a:t>Looking only at total capital ratio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2075688"/>
            <a:ext cx="4800600" cy="5486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232B36"/>
                </a:solidFill>
                <a:latin typeface="Aptos"/>
              </a:rPr>
              <a:t>CET1 and Tier 1 can tell a different quality story.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081528"/>
            <a:ext cx="5166360" cy="1261872"/>
          </a:xfrm>
          <a:prstGeom prst="roundRect">
            <a:avLst/>
          </a:prstGeom>
          <a:solidFill>
            <a:srgbClr val="F4F7FA"/>
          </a:solidFill>
          <a:ln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3081528"/>
            <a:ext cx="64008" cy="1261872"/>
          </a:xfrm>
          <a:prstGeom prst="rect">
            <a:avLst/>
          </a:prstGeom>
          <a:solidFill>
            <a:srgbClr val="D99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7" y="3246120"/>
            <a:ext cx="4800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11C2D"/>
                </a:solidFill>
                <a:latin typeface="Aptos"/>
              </a:rPr>
              <a:t>Ignoring buffers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7" y="3648456"/>
            <a:ext cx="4800600" cy="5486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232B36"/>
                </a:solidFill>
                <a:latin typeface="Aptos"/>
              </a:rPr>
              <a:t>Minimum compliance ≠ comfortable operating headroom.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081528"/>
            <a:ext cx="5166360" cy="1261872"/>
          </a:xfrm>
          <a:prstGeom prst="roundRect">
            <a:avLst/>
          </a:prstGeom>
          <a:solidFill>
            <a:srgbClr val="F4F7FA"/>
          </a:solidFill>
          <a:ln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3081528"/>
            <a:ext cx="64008" cy="1261872"/>
          </a:xfrm>
          <a:prstGeom prst="rect">
            <a:avLst/>
          </a:prstGeom>
          <a:solidFill>
            <a:srgbClr val="268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19088" y="3246120"/>
            <a:ext cx="4800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11C2D"/>
                </a:solidFill>
                <a:latin typeface="Aptos"/>
              </a:rPr>
              <a:t>Assuming collateral always reduces RWA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088" y="3648456"/>
            <a:ext cx="4800600" cy="5486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232B36"/>
                </a:solidFill>
                <a:latin typeface="Aptos"/>
              </a:rPr>
              <a:t>CRM recognition has eligibility and haircut rules.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654296"/>
            <a:ext cx="5166360" cy="1261872"/>
          </a:xfrm>
          <a:prstGeom prst="roundRect">
            <a:avLst/>
          </a:prstGeom>
          <a:solidFill>
            <a:srgbClr val="F4F7FA"/>
          </a:solidFill>
          <a:ln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4654296"/>
            <a:ext cx="64008" cy="1261872"/>
          </a:xfrm>
          <a:prstGeom prst="rect">
            <a:avLst/>
          </a:prstGeom>
          <a:solidFill>
            <a:srgbClr val="2DA4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7" y="4818888"/>
            <a:ext cx="4800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11C2D"/>
                </a:solidFill>
                <a:latin typeface="Aptos"/>
              </a:rPr>
              <a:t>Comparing banks without context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7" y="5221224"/>
            <a:ext cx="4800600" cy="5486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232B36"/>
                </a:solidFill>
                <a:latin typeface="Aptos"/>
              </a:rPr>
              <a:t>Jurisdiction, business mix and RWA methodology matter.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4654296"/>
            <a:ext cx="5166360" cy="1261872"/>
          </a:xfrm>
          <a:prstGeom prst="roundRect">
            <a:avLst/>
          </a:prstGeom>
          <a:solidFill>
            <a:srgbClr val="F4F7FA"/>
          </a:solidFill>
          <a:ln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0" y="4654296"/>
            <a:ext cx="64008" cy="1261872"/>
          </a:xfrm>
          <a:prstGeom prst="rect">
            <a:avLst/>
          </a:prstGeom>
          <a:solidFill>
            <a:srgbClr val="BE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19088" y="4818888"/>
            <a:ext cx="4800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11C2D"/>
                </a:solidFill>
                <a:latin typeface="Aptos"/>
              </a:rPr>
              <a:t>Focusing on today's ratio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19088" y="5221224"/>
            <a:ext cx="4800600" cy="5486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232B36"/>
                </a:solidFill>
                <a:latin typeface="Aptos"/>
              </a:rPr>
              <a:t>Stress, growth and migration can consume capital quickly.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528816"/>
            <a:ext cx="9144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677484"/>
                </a:solidFill>
                <a:latin typeface="Aptos"/>
              </a:rPr>
              <a:t>RWA &amp; CAPITAL | CREDIT RISK TRAINING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64240" y="6510528"/>
            <a:ext cx="502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677484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DA4C3"/>
                </a:solidFill>
                <a:latin typeface="Aptos"/>
              </a:rPr>
              <a:t>SO WHAT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"/>
              </a:rPr>
              <a:t>Executive takeaways: five rules to remember</a:t>
            </a:r>
          </a:p>
        </p:txBody>
      </p:sp>
      <p:sp>
        <p:nvSpPr>
          <p:cNvPr id="5" name="Oval 4"/>
          <p:cNvSpPr/>
          <p:nvPr/>
        </p:nvSpPr>
        <p:spPr>
          <a:xfrm>
            <a:off x="777240" y="1600200"/>
            <a:ext cx="502920" cy="502920"/>
          </a:xfrm>
          <a:prstGeom prst="ellipse">
            <a:avLst/>
          </a:prstGeom>
          <a:solidFill>
            <a:srgbClr val="2DA4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46504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111C2D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636776"/>
            <a:ext cx="9784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RWA is risk-adjusted exposure—not total assets.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450592"/>
            <a:ext cx="502920" cy="502920"/>
          </a:xfrm>
          <a:prstGeom prst="ellipse">
            <a:avLst/>
          </a:prstGeom>
          <a:solidFill>
            <a:srgbClr val="2DA4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596896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111C2D"/>
                </a:solidFill>
                <a:latin typeface="Apto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487168"/>
            <a:ext cx="9784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Capital ratios are capital ÷ RWA; both numerator and denominator matter.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3300984"/>
            <a:ext cx="502920" cy="502920"/>
          </a:xfrm>
          <a:prstGeom prst="ellipse">
            <a:avLst/>
          </a:prstGeom>
          <a:solidFill>
            <a:srgbClr val="2DA4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447288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111C2D"/>
                </a:solidFill>
                <a:latin typeface="Aptos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3337560"/>
            <a:ext cx="9784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CET1 is the core loss-absorbing layer; regulatory capital has defined eligibility.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4151376"/>
            <a:ext cx="502920" cy="502920"/>
          </a:xfrm>
          <a:prstGeom prst="ellipse">
            <a:avLst/>
          </a:prstGeom>
          <a:solidFill>
            <a:srgbClr val="2DA4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297680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111C2D"/>
                </a:solidFill>
                <a:latin typeface="Aptos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4187952"/>
            <a:ext cx="9784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Portfolio mix, credit migration and CRM can materially change RWA.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5001768"/>
            <a:ext cx="502920" cy="502920"/>
          </a:xfrm>
          <a:prstGeom prst="ellipse">
            <a:avLst/>
          </a:prstGeom>
          <a:solidFill>
            <a:srgbClr val="2DA4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5148072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111C2D"/>
                </a:solidFill>
                <a:latin typeface="Aptos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5038344"/>
            <a:ext cx="9784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Capital headroom is a business resource: it affects growth, pricing, risk appetite and ROE.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98932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1C1D4"/>
                </a:solidFill>
                <a:latin typeface="Aptos"/>
              </a:rPr>
              <a:t>Reference: Basel Committee on Banking Supervision, Basel Framework — RBC20 / RBC30. India-specific requirements can differ; use the latest applicable RBI rules.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336792"/>
            <a:ext cx="10789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1A3B8"/>
                </a:solidFill>
                <a:latin typeface="Aptos"/>
              </a:rPr>
              <a:t>Training note: numerical cases are illustrative unless explicitly identified otherwise.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528816"/>
            <a:ext cx="9144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677484"/>
                </a:solidFill>
                <a:latin typeface="Aptos"/>
              </a:rPr>
              <a:t>RWA &amp; CAPITAL | CREDIT RISK TRAINING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64240" y="6510528"/>
            <a:ext cx="502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677484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962B4"/>
                </a:solidFill>
                <a:latin typeface="Aptos"/>
              </a:rPr>
              <a:t>APPENDIX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11C2D"/>
                </a:solidFill>
                <a:latin typeface="Aptos"/>
              </a:rPr>
              <a:t>Regulatory reference points &amp; source notes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61872"/>
            <a:ext cx="914400" cy="41148"/>
          </a:xfrm>
          <a:prstGeom prst="rect">
            <a:avLst/>
          </a:prstGeom>
          <a:solidFill>
            <a:srgbClr val="296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554480"/>
            <a:ext cx="5303520" cy="3383280"/>
          </a:xfrm>
          <a:prstGeom prst="roundRect">
            <a:avLst/>
          </a:prstGeom>
          <a:solidFill>
            <a:srgbClr val="F4F7FA"/>
          </a:solidFill>
          <a:ln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554480"/>
            <a:ext cx="64008" cy="3383280"/>
          </a:xfrm>
          <a:prstGeom prst="rect">
            <a:avLst/>
          </a:prstGeom>
          <a:solidFill>
            <a:srgbClr val="296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719072"/>
            <a:ext cx="493775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11C2D"/>
                </a:solidFill>
                <a:latin typeface="Aptos"/>
              </a:rPr>
              <a:t>Basel Committee on Banking Supervision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121408"/>
            <a:ext cx="4937759" cy="2670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32B36"/>
                </a:solidFill>
                <a:latin typeface="Aptos"/>
              </a:rPr>
              <a:t>Basel Framework — RBC20:
• CET1 minimum: 4.5% of RWA
• Tier 1 minimum: 6.0%
• Total capital minimum: 8.0%
• Capital conservation buffer: 2.5% CET1
The Basel framework covers credit, market and operational risk RWA and permits different approaches subject to the framework and supervisory requirements.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554480"/>
            <a:ext cx="5257800" cy="3383280"/>
          </a:xfrm>
          <a:prstGeom prst="roundRect">
            <a:avLst/>
          </a:prstGeom>
          <a:solidFill>
            <a:srgbClr val="F4F7FA"/>
          </a:solidFill>
          <a:ln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554480"/>
            <a:ext cx="64008" cy="3383280"/>
          </a:xfrm>
          <a:prstGeom prst="rect">
            <a:avLst/>
          </a:prstGeom>
          <a:solidFill>
            <a:srgbClr val="268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7" y="1719072"/>
            <a:ext cx="4892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11C2D"/>
                </a:solidFill>
                <a:latin typeface="Aptos"/>
              </a:rPr>
              <a:t>India context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7" y="2121408"/>
            <a:ext cx="4892040" cy="2670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32B36"/>
                </a:solidFill>
                <a:latin typeface="Aptos"/>
              </a:rPr>
              <a:t>RBI requirements are jurisdiction-specific and can be higher than the Basel global minimums.
RBI's prudential capital tables provide current India-specific minimum requirements by regulated-entity category.
For live regulatory reporting, use the latest applicable RBI circulars / master directions and the institution's regulatory reporting methodology.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349240"/>
            <a:ext cx="10789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77484"/>
                </a:solidFill>
                <a:latin typeface="Aptos"/>
              </a:rPr>
              <a:t>Sources used for regulatory facts: BIS Basel Framework and RBI Handbook of Statistics, 2025. Regulatory figures should be checked against the latest applicable rules before production use.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528816"/>
            <a:ext cx="9144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677484"/>
                </a:solidFill>
                <a:latin typeface="Aptos"/>
              </a:rPr>
              <a:t>RWA &amp; CAPITAL | CREDIT RISK TRAINING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510528"/>
            <a:ext cx="502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677484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