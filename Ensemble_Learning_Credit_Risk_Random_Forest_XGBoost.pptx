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A5B96"/>
            </a:solidFill>
          </c:spPr>
          <c:cat>
            <c:strRef>
              <c:f>Sheet1!$A$2:$A$8</c:f>
              <c:strCache>
                <c:ptCount val="7"/>
                <c:pt idx="0">
                  <c:v>Income</c:v>
                </c:pt>
                <c:pt idx="1">
                  <c:v>Utilisation</c:v>
                </c:pt>
                <c:pt idx="2">
                  <c:v>Delinquency</c:v>
                </c:pt>
                <c:pt idx="3">
                  <c:v>Debt-to-income</c:v>
                </c:pt>
                <c:pt idx="4">
                  <c:v>Credit age</c:v>
                </c:pt>
                <c:pt idx="5">
                  <c:v>Enquiries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0.24</c:v>
                </c:pt>
                <c:pt idx="1">
                  <c:v>0.21</c:v>
                </c:pt>
                <c:pt idx="2">
                  <c:v>0.19</c:v>
                </c:pt>
                <c:pt idx="3">
                  <c:v>0.15</c:v>
                </c:pt>
                <c:pt idx="4">
                  <c:v>0.09</c:v>
                </c:pt>
                <c:pt idx="5">
                  <c:v>0.07</c:v>
                </c:pt>
                <c:pt idx="6">
                  <c:v>0.05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ENSEMBLE LEARNING FOR CREDIT RISK</a:t>
            </a:r>
          </a:p>
          <a:p>
            <a:pPr>
              <a:spcBef>
                <a:spcPts val="1000"/>
              </a:spcBef>
              <a:defRPr sz="1800">
                <a:solidFill>
                  <a:srgbClr val="B9CCE0"/>
                </a:solidFill>
              </a:defRPr>
            </a:pPr>
            <a:r>
              <a:t>Random Forest • Feature Importance • XGBoost • Boosting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2743200"/>
            <a:ext cx="3383280" cy="1920240"/>
          </a:xfrm>
          <a:prstGeom prst="roundRect">
            <a:avLst/>
          </a:prstGeom>
          <a:solidFill>
            <a:srgbClr val="1D2D4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2743200"/>
            <a:ext cx="54864" cy="192024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862072"/>
            <a:ext cx="30906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F30"/>
                </a:solidFill>
                <a:latin typeface="Aptos"/>
              </a:defRPr>
            </a:pPr>
            <a:r>
              <a:t>RANDOM FOREST</a:t>
            </a:r>
          </a:p>
          <a:p>
            <a:pPr>
              <a:spcBef>
                <a:spcPts val="500"/>
              </a:spcBef>
              <a:defRPr sz="1200">
                <a:solidFill>
                  <a:srgbClr val="4B5869"/>
                </a:solidFill>
                <a:latin typeface="Aptos"/>
              </a:defRPr>
            </a:pPr>
            <a:r>
              <a:t>Many diversified trees → average / vote → robust risk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2743200"/>
            <a:ext cx="3383280" cy="1920240"/>
          </a:xfrm>
          <a:prstGeom prst="roundRect">
            <a:avLst/>
          </a:prstGeom>
          <a:solidFill>
            <a:srgbClr val="1D2D4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07408" y="2743200"/>
            <a:ext cx="54864" cy="192024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862072"/>
            <a:ext cx="30906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F30"/>
                </a:solidFill>
                <a:latin typeface="Aptos"/>
              </a:defRPr>
            </a:pPr>
            <a:r>
              <a:t>XGBOOST</a:t>
            </a:r>
          </a:p>
          <a:p>
            <a:pPr>
              <a:spcBef>
                <a:spcPts val="500"/>
              </a:spcBef>
              <a:defRPr sz="1200">
                <a:solidFill>
                  <a:srgbClr val="4B5869"/>
                </a:solidFill>
                <a:latin typeface="Aptos"/>
              </a:defRPr>
            </a:pPr>
            <a:r>
              <a:t>Sequential trees → correct prior errors → optimize predictive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2743200"/>
            <a:ext cx="3383280" cy="1920240"/>
          </a:xfrm>
          <a:prstGeom prst="roundRect">
            <a:avLst/>
          </a:prstGeom>
          <a:solidFill>
            <a:srgbClr val="1D2D4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01583" y="2743200"/>
            <a:ext cx="54864" cy="192024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2862072"/>
            <a:ext cx="30906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F30"/>
                </a:solidFill>
                <a:latin typeface="Aptos"/>
              </a:defRPr>
            </a:pPr>
            <a:r>
              <a:t>BANKING LENS</a:t>
            </a:r>
          </a:p>
          <a:p>
            <a:pPr>
              <a:spcBef>
                <a:spcPts val="500"/>
              </a:spcBef>
              <a:defRPr sz="1200">
                <a:solidFill>
                  <a:srgbClr val="4B5869"/>
                </a:solidFill>
                <a:latin typeface="Aptos"/>
              </a:defRPr>
            </a:pPr>
            <a:r>
              <a:t>Accuracy + stability + explainability +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From single-model thinking to portfolio-level risk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Why Ensemble Learning Matters in Credit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The business problem: default behaviour is nonlinear, interacting and often regime-dependent.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8288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44752"/>
            <a:ext cx="30906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SINGLE MODEL</a:t>
            </a:r>
          </a:p>
          <a:p>
            <a:pPr>
              <a:spcBef>
                <a:spcPts val="500"/>
              </a:spcBef>
              <a:defRPr sz="1150">
                <a:solidFill>
                  <a:srgbClr val="4B5869"/>
                </a:solidFill>
                <a:latin typeface="Aptos"/>
              </a:defRPr>
            </a:pPr>
            <a:r>
              <a:t>One tree / one rule set can be unstable.</a:t>
            </a:r>
            <a:br/>
            <a:r>
              <a:t>Small sample changes can alter splits and predictions.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32588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325880"/>
            <a:ext cx="54864" cy="182880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44752"/>
            <a:ext cx="30906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ENSEMBLE</a:t>
            </a:r>
          </a:p>
          <a:p>
            <a:pPr>
              <a:spcBef>
                <a:spcPts val="500"/>
              </a:spcBef>
              <a:defRPr sz="1150">
                <a:solidFill>
                  <a:srgbClr val="4B5869"/>
                </a:solidFill>
                <a:latin typeface="Aptos"/>
              </a:defRPr>
            </a:pPr>
            <a:r>
              <a:t>Combine multiple weak / unstable learners.</a:t>
            </a:r>
            <a:br/>
            <a:r>
              <a:t>Diversification reduces variance or sequentially reduces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32588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74736" y="1325880"/>
            <a:ext cx="54864" cy="18288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444752"/>
            <a:ext cx="30906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BUSINESS IMPACT</a:t>
            </a:r>
          </a:p>
          <a:p>
            <a:pPr>
              <a:spcBef>
                <a:spcPts val="500"/>
              </a:spcBef>
              <a:defRPr sz="1150">
                <a:solidFill>
                  <a:srgbClr val="4B5869"/>
                </a:solidFill>
                <a:latin typeface="Aptos"/>
              </a:defRPr>
            </a:pPr>
            <a:r>
              <a:t>Better ranking can improve approval quality, pricing, limits and collections prioritisation.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0"/>
                </a:solidFill>
              </a:defRPr>
            </a:pPr>
            <a:r>
              <a:t>Two ensemble philosophies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51663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54864" cy="150876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279392"/>
            <a:ext cx="4873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BAGGING / RANDOM FOREST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Parallel diversity → average predictions → primarily attacks variance.</a:t>
            </a:r>
            <a:br/>
            <a:r>
              <a:t>Think: “many independent views of the same problem.”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4160520"/>
            <a:ext cx="51663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4160520"/>
            <a:ext cx="54864" cy="150876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4873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BOOSTING / XGBOOST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Sequential correction → focus on residual errors → can reduce bias and improve fit.</a:t>
            </a:r>
            <a:br/>
            <a:r>
              <a:t>Think: “each new learner fixes what came before.”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Random Forest — What, Why,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A Random Forest is an ensemble of decision trees trained on bootstrapped samples with random feature selection.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914400" y="1417320"/>
            <a:ext cx="1143000" cy="822960"/>
          </a:xfrm>
          <a:prstGeom prst="triangle">
            <a:avLst/>
          </a:prstGeom>
          <a:solidFill>
            <a:srgbClr val="E1EBF4"/>
          </a:solidFill>
          <a:ln>
            <a:solidFill>
              <a:srgbClr val="2A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6771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B5869"/>
                </a:solidFill>
              </a:defRPr>
            </a:pPr>
            <a:r>
              <a:t>Tree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90472" y="2651760"/>
            <a:ext cx="4453128" cy="1005840"/>
          </a:xfrm>
          <a:prstGeom prst="line">
            <a:avLst/>
          </a:prstGeom>
          <a:ln w="15240">
            <a:solidFill>
              <a:srgbClr val="4B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>
            <a:off x="2971800" y="1417320"/>
            <a:ext cx="1143000" cy="822960"/>
          </a:xfrm>
          <a:prstGeom prst="triangle">
            <a:avLst/>
          </a:prstGeom>
          <a:solidFill>
            <a:srgbClr val="E1EBF4"/>
          </a:solidFill>
          <a:ln>
            <a:solidFill>
              <a:srgbClr val="2A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26771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B5869"/>
                </a:solidFill>
              </a:defRPr>
            </a:pPr>
            <a:r>
              <a:t>Tree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47872" y="2651760"/>
            <a:ext cx="2395728" cy="1005840"/>
          </a:xfrm>
          <a:prstGeom prst="line">
            <a:avLst/>
          </a:prstGeom>
          <a:ln w="15240">
            <a:solidFill>
              <a:srgbClr val="4B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5029200" y="1417320"/>
            <a:ext cx="1143000" cy="822960"/>
          </a:xfrm>
          <a:prstGeom prst="triangle">
            <a:avLst/>
          </a:prstGeom>
          <a:solidFill>
            <a:srgbClr val="E1EBF4"/>
          </a:solidFill>
          <a:ln>
            <a:solidFill>
              <a:srgbClr val="2A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26771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B5869"/>
                </a:solidFill>
              </a:defRPr>
            </a:pPr>
            <a:r>
              <a:t>Tree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05272" y="2651760"/>
            <a:ext cx="338328" cy="1005840"/>
          </a:xfrm>
          <a:prstGeom prst="line">
            <a:avLst/>
          </a:prstGeom>
          <a:ln w="15240">
            <a:solidFill>
              <a:srgbClr val="4B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>
            <a:off x="7086600" y="1417320"/>
            <a:ext cx="1143000" cy="822960"/>
          </a:xfrm>
          <a:prstGeom prst="triangle">
            <a:avLst/>
          </a:prstGeom>
          <a:solidFill>
            <a:srgbClr val="E1EBF4"/>
          </a:solidFill>
          <a:ln>
            <a:solidFill>
              <a:srgbClr val="2A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26771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B5869"/>
                </a:solidFill>
              </a:defRPr>
            </a:pPr>
            <a:r>
              <a:t>Tree 4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943600" y="2651760"/>
            <a:ext cx="1719072" cy="1005840"/>
          </a:xfrm>
          <a:prstGeom prst="line">
            <a:avLst/>
          </a:prstGeom>
          <a:ln w="15240">
            <a:solidFill>
              <a:srgbClr val="4B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3657600"/>
            <a:ext cx="1737360" cy="914400"/>
          </a:xfrm>
          <a:prstGeom prst="round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86791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AGGREGATE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063240"/>
            <a:ext cx="41605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3063240"/>
            <a:ext cx="54864" cy="1874519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3182112"/>
            <a:ext cx="3867911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CORE MECHANISM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1. Bootstrap rows</a:t>
            </a:r>
            <a:br/>
            <a:r>
              <a:t>2. Random subset of features at each split</a:t>
            </a:r>
            <a:br/>
            <a:r>
              <a:t>3. Grow many trees</a:t>
            </a:r>
            <a:br/>
            <a:r>
              <a:t>4. Average PDs (regression) or vote (classification)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F30"/>
                </a:solidFill>
              </a:defRPr>
            </a:pPr>
            <a:r>
              <a:t>Why it works: tree errors are not perfectly correlated. Diversity + aggregation can make the final model more stable than an individual tree.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Random Forest — Credit Risk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Illustrative consumer-loan application: 10,000 observations, binary default target.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58521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325880"/>
            <a:ext cx="45720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1325880"/>
            <a:ext cx="54864" cy="141732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68312" y="1444752"/>
            <a:ext cx="4279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ILLUSTRATIVE OUTPUT</a:t>
            </a:r>
          </a:p>
          <a:p>
            <a:pPr>
              <a:spcBef>
                <a:spcPts val="500"/>
              </a:spcBef>
              <a:defRPr sz="1200">
                <a:solidFill>
                  <a:srgbClr val="4B5869"/>
                </a:solidFill>
                <a:latin typeface="Aptos"/>
              </a:defRPr>
            </a:pPr>
            <a:r>
              <a:t>Applicant A → predicted PD 2.8%</a:t>
            </a:r>
            <a:br/>
            <a:r>
              <a:t>Applicant B → predicted PD 11.6%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926080"/>
            <a:ext cx="45720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2926080"/>
            <a:ext cx="54864" cy="141732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3044952"/>
            <a:ext cx="42793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HOW A BANK USES IT</a:t>
            </a:r>
          </a:p>
          <a:p>
            <a:pPr>
              <a:spcBef>
                <a:spcPts val="500"/>
              </a:spcBef>
              <a:defRPr sz="1150">
                <a:solidFill>
                  <a:srgbClr val="4B5869"/>
                </a:solidFill>
                <a:latin typeface="Aptos"/>
              </a:defRPr>
            </a:pPr>
            <a:r>
              <a:t>Risk ranking → cut-offs → pricing / limit strategy → manual review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526280"/>
            <a:ext cx="457200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4526280"/>
            <a:ext cx="54864" cy="105156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8312" y="4645152"/>
            <a:ext cx="427939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IMPORTANT CAVEAT</a:t>
            </a:r>
          </a:p>
          <a:p>
            <a:pPr>
              <a:spcBef>
                <a:spcPts val="500"/>
              </a:spcBef>
              <a:defRPr sz="1050">
                <a:solidFill>
                  <a:srgbClr val="4B5869"/>
                </a:solidFill>
                <a:latin typeface="Aptos"/>
              </a:defRPr>
            </a:pPr>
            <a:r>
              <a:t>Feature importance is not causality. Correlated variables can split importance across each other.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Feature Importance — Useful, but Easy to Misread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A model can rank variables highly without proving that changing the variable will change default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6002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44752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GAIN / IMPURITY IMPORTANCE</a:t>
            </a:r>
          </a:p>
          <a:p>
            <a:pPr>
              <a:spcBef>
                <a:spcPts val="500"/>
              </a:spcBef>
              <a:defRPr sz="1080">
                <a:solidFill>
                  <a:srgbClr val="4B5869"/>
                </a:solidFill>
                <a:latin typeface="Aptos"/>
              </a:defRPr>
            </a:pPr>
            <a:r>
              <a:t>How much a feature reduces split impurity across trees.</a:t>
            </a:r>
            <a:br/>
            <a:r>
              <a:t>Fast, native to tree ensembles.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25880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0832" y="1325880"/>
            <a:ext cx="54864" cy="160020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44752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PERMUTATION IMPORTANCE</a:t>
            </a:r>
          </a:p>
          <a:p>
            <a:pPr>
              <a:spcBef>
                <a:spcPts val="500"/>
              </a:spcBef>
              <a:defRPr sz="1080">
                <a:solidFill>
                  <a:srgbClr val="4B5869"/>
                </a:solidFill>
                <a:latin typeface="Aptos"/>
              </a:defRPr>
            </a:pPr>
            <a:r>
              <a:t>Shuffle one variable; measure performance deterioration.</a:t>
            </a:r>
            <a:br/>
            <a:r>
              <a:t>More directly tied to predictive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25880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01583" y="1325880"/>
            <a:ext cx="54864" cy="160020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444752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SHAP / LOCAL EXPLANATION</a:t>
            </a:r>
          </a:p>
          <a:p>
            <a:pPr>
              <a:spcBef>
                <a:spcPts val="500"/>
              </a:spcBef>
              <a:defRPr sz="1080">
                <a:solidFill>
                  <a:srgbClr val="4B5869"/>
                </a:solidFill>
                <a:latin typeface="Aptos"/>
              </a:defRPr>
            </a:pPr>
            <a:r>
              <a:t>Explains an individual prediction using contribution values.</a:t>
            </a:r>
            <a:br/>
            <a:r>
              <a:t>Useful for case review and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0"/>
                </a:solidFill>
              </a:defRPr>
            </a:pPr>
            <a:r>
              <a:t>Illustrative applicant explanation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60520"/>
            <a:ext cx="1851660" cy="548640"/>
          </a:xfrm>
          <a:prstGeom prst="rect">
            <a:avLst/>
          </a:prstGeom>
          <a:solidFill>
            <a:srgbClr val="4B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657600"/>
            <a:ext cx="21259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B5869"/>
                </a:solidFill>
              </a:defRPr>
            </a:pPr>
            <a:r>
              <a:t>Base PD</a:t>
            </a:r>
            <a:br/>
            <a:r>
              <a:t>+4.5%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9212" y="4160520"/>
            <a:ext cx="1028700" cy="54864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6644" y="3657600"/>
            <a:ext cx="13030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B5869"/>
                </a:solidFill>
              </a:defRPr>
            </a:pPr>
            <a:r>
              <a:t>High utilisation</a:t>
            </a:r>
            <a:br/>
            <a:r>
              <a:t>+2.5%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2504" y="4160520"/>
            <a:ext cx="1440180" cy="54864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9935" y="3657600"/>
            <a:ext cx="17145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B5869"/>
                </a:solidFill>
              </a:defRPr>
            </a:pPr>
            <a:r>
              <a:t>Recent delinquency</a:t>
            </a:r>
            <a:br/>
            <a:r>
              <a:t>+3.5%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7276" y="4892040"/>
            <a:ext cx="617219" cy="548640"/>
          </a:xfrm>
          <a:prstGeom prst="rect">
            <a:avLst/>
          </a:prstGeom>
          <a:solidFill>
            <a:srgbClr val="2D7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4707" y="5440680"/>
            <a:ext cx="8915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B5869"/>
                </a:solidFill>
              </a:defRPr>
            </a:pPr>
            <a:r>
              <a:t>Stable income</a:t>
            </a:r>
            <a:br/>
            <a:r>
              <a:t>-1.5%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4892040"/>
            <a:ext cx="502920" cy="548640"/>
          </a:xfrm>
          <a:prstGeom prst="rect">
            <a:avLst/>
          </a:prstGeom>
          <a:solidFill>
            <a:srgbClr val="2D7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440680"/>
            <a:ext cx="777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B5869"/>
                </a:solidFill>
              </a:defRPr>
            </a:pPr>
            <a:r>
              <a:t>Long credit age</a:t>
            </a:r>
            <a:br/>
            <a:r>
              <a:t>-0.8%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03320"/>
            <a:ext cx="3246120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703320"/>
            <a:ext cx="54864" cy="17830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822191"/>
            <a:ext cx="29535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GOVERNANCE QUESTION</a:t>
            </a:r>
          </a:p>
          <a:p>
            <a:pPr>
              <a:spcBef>
                <a:spcPts val="500"/>
              </a:spcBef>
              <a:defRPr sz="1050">
                <a:solidFill>
                  <a:srgbClr val="4B5869"/>
                </a:solidFill>
                <a:latin typeface="Aptos"/>
              </a:defRPr>
            </a:pPr>
            <a:r>
              <a:t>Can an analyst explain why this borrower received 11.6% PD?</a:t>
            </a:r>
            <a:br/>
            <a:r>
              <a:t>If not, a highly accurate model can still be difficult to deploy safely.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Random Forest — Practical 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The model is not the credit policy. It is one input into a governed decision system.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103120"/>
                <a:gridCol w="3383280"/>
                <a:gridCol w="333756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 output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Decision use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control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Application underwriting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PD /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Approve, refer, decline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Cut-off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Limit management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Risk score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Exposure / limit adjustment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Portfolio concentration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Collections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Risk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Prioritise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Champion/challenger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Early warning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Drift / risk score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Trigger review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5869"/>
                          </a:solidFill>
                        </a:defRPr>
                      </a:pPr>
                      <a:r>
                        <a:t>Monitoring thresholds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1F30"/>
                </a:solidFill>
              </a:defRPr>
            </a:pPr>
            <a:r>
              <a:t>Credit lens: a strong model must be paired with policy cut-offs, override rules, monitoring, documentation and independent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XGBoost — What is Boosting?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Boosting builds learners sequentially: each new tree focuses on what the current ensemble still gets wrong.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37744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54864" cy="141732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73352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Tree 1</a:t>
            </a:r>
          </a:p>
          <a:p>
            <a:pPr>
              <a:spcBef>
                <a:spcPts val="500"/>
              </a:spcBef>
              <a:defRPr sz="1050">
                <a:solidFill>
                  <a:srgbClr val="4B5869"/>
                </a:solidFill>
                <a:latin typeface="Aptos"/>
              </a:defRPr>
            </a:pPr>
            <a:r>
              <a:t>Initial pattern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267712"/>
            <a:ext cx="502920" cy="0"/>
          </a:xfrm>
          <a:prstGeom prst="line">
            <a:avLst/>
          </a:prstGeom>
          <a:ln w="25400">
            <a:solidFill>
              <a:srgbClr val="4B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86200" y="1554480"/>
            <a:ext cx="237744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1554480"/>
            <a:ext cx="54864" cy="141732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673352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Tree 2</a:t>
            </a:r>
          </a:p>
          <a:p>
            <a:pPr>
              <a:spcBef>
                <a:spcPts val="500"/>
              </a:spcBef>
              <a:defRPr sz="1050">
                <a:solidFill>
                  <a:srgbClr val="4B5869"/>
                </a:solidFill>
                <a:latin typeface="Aptos"/>
              </a:defRPr>
            </a:pPr>
            <a:r>
              <a:t>Correct residuals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9360" y="2267712"/>
            <a:ext cx="502920" cy="0"/>
          </a:xfrm>
          <a:prstGeom prst="line">
            <a:avLst/>
          </a:prstGeom>
          <a:ln w="25400">
            <a:solidFill>
              <a:srgbClr val="4B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1554480"/>
            <a:ext cx="237744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554480"/>
            <a:ext cx="54864" cy="141732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1673352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Tree 3</a:t>
            </a:r>
          </a:p>
          <a:p>
            <a:pPr>
              <a:spcBef>
                <a:spcPts val="500"/>
              </a:spcBef>
              <a:defRPr sz="1050">
                <a:solidFill>
                  <a:srgbClr val="4B5869"/>
                </a:solidFill>
                <a:latin typeface="Aptos"/>
              </a:defRPr>
            </a:pPr>
            <a:r>
              <a:t>Correct remaining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554480"/>
            <a:ext cx="173736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1554480"/>
            <a:ext cx="54864" cy="141732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1673352"/>
            <a:ext cx="144475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FINAL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Σ η·tree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2267712"/>
            <a:ext cx="457200" cy="0"/>
          </a:xfrm>
          <a:prstGeom prst="line">
            <a:avLst/>
          </a:prstGeom>
          <a:ln w="25400">
            <a:solidFill>
              <a:srgbClr val="4B5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3703320"/>
            <a:ext cx="338328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03320"/>
            <a:ext cx="54864" cy="150876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822191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LOSS FUNCTION</a:t>
            </a:r>
          </a:p>
          <a:p>
            <a:pPr>
              <a:spcBef>
                <a:spcPts val="500"/>
              </a:spcBef>
              <a:defRPr sz="1070">
                <a:solidFill>
                  <a:srgbClr val="4B5869"/>
                </a:solidFill>
                <a:latin typeface="Aptos"/>
              </a:defRPr>
            </a:pPr>
            <a:r>
              <a:t>Classification often uses log loss.</a:t>
            </a:r>
            <a:br/>
            <a:r>
              <a:t>The model optimises a differentiable objective rather than simply counting correct classes.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03320"/>
            <a:ext cx="338328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703320"/>
            <a:ext cx="54864" cy="150876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822191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LEARNING RATE η</a:t>
            </a:r>
          </a:p>
          <a:p>
            <a:pPr>
              <a:spcBef>
                <a:spcPts val="500"/>
              </a:spcBef>
              <a:defRPr sz="1070">
                <a:solidFill>
                  <a:srgbClr val="4B5869"/>
                </a:solidFill>
                <a:latin typeface="Aptos"/>
              </a:defRPr>
            </a:pPr>
            <a:r>
              <a:t>Small η → slower learning, often more trees.</a:t>
            </a:r>
            <a:br/>
            <a:r>
              <a:t>Large η → faster fit, greater overfit risk.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703320"/>
            <a:ext cx="338328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703320"/>
            <a:ext cx="54864" cy="150876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3822191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REGULARISATION</a:t>
            </a:r>
          </a:p>
          <a:p>
            <a:pPr>
              <a:spcBef>
                <a:spcPts val="500"/>
              </a:spcBef>
              <a:defRPr sz="1070">
                <a:solidFill>
                  <a:srgbClr val="4B5869"/>
                </a:solidFill>
                <a:latin typeface="Aptos"/>
              </a:defRPr>
            </a:pPr>
            <a:r>
              <a:t>Tree depth, minimum child weight, subsampling and penalties control complexity.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XGBoost Hyperparameters — What Actually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Hyperparameters are levers for the bias–variance–compute trade-off; they should be tuned with out-of-sample validation.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8813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00400"/>
                <a:gridCol w="5577840"/>
              </a:tblGrid>
              <a:tr h="60007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What it controls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Credit-risk interpretation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n_estimators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Number of boosting 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More capacity; use 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max_depth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Maximum tree depth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Higher = richer interactions, higher overfit risk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Step size per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Lower = slower but often more 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subsample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Row sampling fraction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Adds stochasticity / reduces correlation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colsample_bytree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Feature sampling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Controls diversity and overfit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min_child_weight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Minimum leaf weight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Higher = more conservative splits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reg_alpha / reg_lambda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L1 / L2 penalties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B5869"/>
                          </a:solidFill>
                        </a:defRPr>
                      </a:pPr>
                      <a:r>
                        <a:t>Shrink complexity / coefficients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XGBoost for Credit Risk —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Illustrative 50,000-account portfolio. Objective: rank accounts by probability of default over the next 12 months.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3375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54864" cy="150876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99031"/>
            <a:ext cx="3044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INPUTS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Utilisation • DPD • bureau score</a:t>
            </a:r>
            <a:br/>
            <a:r>
              <a:t>Income • DTI • enquiries • tenure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280160"/>
            <a:ext cx="33375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280160"/>
            <a:ext cx="54864" cy="150876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399031"/>
            <a:ext cx="3044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MODEL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Train on historical outcomes</a:t>
            </a:r>
            <a:br/>
            <a:r>
              <a:t>Tune on validation data</a:t>
            </a:r>
            <a:br/>
            <a:r>
              <a:t>Use early stopping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280160"/>
            <a:ext cx="33375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65592" y="1280160"/>
            <a:ext cx="54864" cy="150876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399031"/>
            <a:ext cx="3044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PD + risk ranking</a:t>
            </a:r>
            <a:br/>
            <a:r>
              <a:t>Feature contributions</a:t>
            </a:r>
            <a:br/>
            <a:r>
              <a:t>Segment-level monitoring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029968"/>
            <a:ext cx="301752" cy="0"/>
          </a:xfrm>
          <a:prstGeom prst="line">
            <a:avLst/>
          </a:prstGeom>
          <a:ln w="25400">
            <a:solidFill>
              <a:srgbClr val="2A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08975" y="2029968"/>
            <a:ext cx="301752" cy="0"/>
          </a:xfrm>
          <a:prstGeom prst="line">
            <a:avLst/>
          </a:prstGeom>
          <a:ln w="25400">
            <a:solidFill>
              <a:srgbClr val="2A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337560"/>
            <a:ext cx="521208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37560"/>
            <a:ext cx="54864" cy="20574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456432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ILLUSTRATIVE BORROWER</a:t>
            </a:r>
          </a:p>
          <a:p>
            <a:pPr>
              <a:spcBef>
                <a:spcPts val="500"/>
              </a:spcBef>
              <a:defRPr sz="1070">
                <a:solidFill>
                  <a:srgbClr val="4B5869"/>
                </a:solidFill>
                <a:latin typeface="Aptos"/>
              </a:defRPr>
            </a:pPr>
            <a:r>
              <a:t>Base PD = 4.0%</a:t>
            </a:r>
            <a:br/>
            <a:r>
              <a:t>High utilisation contribution = +2.4 pp</a:t>
            </a:r>
            <a:br/>
            <a:r>
              <a:t>Recent 30+ DPD = +3.1 pp</a:t>
            </a:r>
            <a:br/>
            <a:r>
              <a:t>Stable income contribution = −0.8 pp</a:t>
            </a:r>
            <a:br/>
            <a:r>
              <a:t>Other features = +1.2 pp</a:t>
            </a:r>
            <a:br/>
            <a:br/>
            <a:r>
              <a:t>Illustrative final PD ≈ 9.9%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37560"/>
            <a:ext cx="525780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337560"/>
            <a:ext cx="54864" cy="205740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456432"/>
            <a:ext cx="4965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BUSINESS TRANSLATION</a:t>
            </a:r>
          </a:p>
          <a:p>
            <a:pPr>
              <a:spcBef>
                <a:spcPts val="500"/>
              </a:spcBef>
              <a:defRPr sz="1070">
                <a:solidFill>
                  <a:srgbClr val="4B5869"/>
                </a:solidFill>
                <a:latin typeface="Aptos"/>
              </a:defRPr>
            </a:pPr>
            <a:r>
              <a:t>If policy bands are:</a:t>
            </a:r>
            <a:br/>
            <a:r>
              <a:t>• &lt;5% → standard workflow</a:t>
            </a:r>
            <a:br/>
            <a:r>
              <a:t>• 5–10% → enhanced review</a:t>
            </a:r>
            <a:br/>
            <a:r>
              <a:t>• &gt;10% → senior / credit policy review</a:t>
            </a:r>
            <a:br/>
            <a:br/>
            <a:r>
              <a:t>The model informs the workflow; policy sets the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Random Forest vs XGBoost — Compare the Mechanisms, Not the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Both are powerful tree ensembles, but their learning dynamics and governance profiles differ.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160520"/>
                <a:gridCol w="4206240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21F3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Training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Parallel, independent trees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Sequential error 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Main strength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Robustness / variance reduction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High predictive flexibility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Tuning burden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Usually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Usually 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Interactions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Captured naturally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Captured naturally + sequential refinement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Feature importance / 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Feature importance / 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Overfit control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Depth, features, samples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Depth, rate, sampling, regularisation, early stopping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Typical governance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Stability + feature 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4B5869"/>
                          </a:solidFill>
                        </a:defRPr>
                      </a:pPr>
                      <a:r>
                        <a:t>Stability + tuning + leakage / overfit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Case Study — Portfolio Risk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Illustrative case study; figures are constructed for training, not a claim about a specific bank.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2004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4864" cy="141732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53312"/>
            <a:ext cx="29077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PORTFOLIO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100,000 unsecured accounts</a:t>
            </a:r>
            <a:br/>
            <a:r>
              <a:t>Observed 12-month default rate = 5.0%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2004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54864" cy="141732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353312"/>
            <a:ext cx="29077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RANDOM FOREST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AUC = 0.82</a:t>
            </a:r>
            <a:br/>
            <a:r>
              <a:t>KS = 48</a:t>
            </a:r>
            <a:br/>
            <a:r>
              <a:t>Stable across two validation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34440"/>
            <a:ext cx="36576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34440"/>
            <a:ext cx="54864" cy="141732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1353312"/>
            <a:ext cx="3364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XGBOOST</a:t>
            </a:r>
          </a:p>
          <a:p>
            <a:pPr>
              <a:spcBef>
                <a:spcPts val="500"/>
              </a:spcBef>
              <a:defRPr sz="1100">
                <a:solidFill>
                  <a:srgbClr val="4B5869"/>
                </a:solidFill>
                <a:latin typeface="Aptos"/>
              </a:defRPr>
            </a:pPr>
            <a:r>
              <a:t>AUC = 0.85</a:t>
            </a:r>
            <a:br/>
            <a:r>
              <a:t>KS = 52</a:t>
            </a:r>
            <a:br/>
            <a:r>
              <a:t>Higher tuning complexity; requires stronger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521208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54864" cy="2057400"/>
          </a:xfrm>
          <a:prstGeom prst="rect">
            <a:avLst/>
          </a:prstGeom>
          <a:solidFill>
            <a:srgbClr val="2D7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82112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DECISION ECONOMICS — ILLUSTRATIVE</a:t>
            </a:r>
          </a:p>
          <a:p>
            <a:pPr>
              <a:spcBef>
                <a:spcPts val="500"/>
              </a:spcBef>
              <a:defRPr sz="1050">
                <a:solidFill>
                  <a:srgbClr val="4B5869"/>
                </a:solidFill>
                <a:latin typeface="Aptos"/>
              </a:defRPr>
            </a:pPr>
            <a:r>
              <a:t>Assume 20,000 new accounts/month.</a:t>
            </a:r>
            <a:br/>
            <a:r>
              <a:t>Average EAD = ₹1.5 lakh; LGD = 60%.</a:t>
            </a:r>
            <a:br/>
            <a:r>
              <a:t>If better ranking moves 1,000 accounts from a high-risk queue to a lower-risk queue and avoids 2 percentage points of default incidence:</a:t>
            </a:r>
            <a:br/>
            <a:br/>
            <a:r>
              <a:t>Avoided EL ≈ 1,000 × ₹150,000 × 2% × 60% = ₹1.8 million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521208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63240"/>
            <a:ext cx="54864" cy="20574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182112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WHAT THE NUMBER DOES NOT PROVE</a:t>
            </a:r>
          </a:p>
          <a:p>
            <a:pPr>
              <a:spcBef>
                <a:spcPts val="500"/>
              </a:spcBef>
              <a:defRPr sz="1019">
                <a:solidFill>
                  <a:srgbClr val="4B5869"/>
                </a:solidFill>
                <a:latin typeface="Aptos"/>
              </a:defRPr>
            </a:pPr>
            <a:r>
              <a:t>• It does not prove the model caused the savings.</a:t>
            </a:r>
            <a:br/>
            <a:r>
              <a:t>• Real impact depends on cut-offs, actions, acceptance, pricing and recovery.</a:t>
            </a:r>
            <a:br/>
            <a:r>
              <a:t>• AUC/KS improvements can have little P&amp;L impact if policy does not change.</a:t>
            </a:r>
            <a:br/>
            <a:br/>
            <a:r>
              <a:t>Business value = predictive lift × decision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0"/>
                </a:solidFill>
                <a:latin typeface="Aptos Display"/>
              </a:defRPr>
            </a:pPr>
            <a:r>
              <a:t>Model Risk: Red Flags Before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869"/>
                </a:solidFill>
                <a:latin typeface="Aptos"/>
              </a:defRPr>
            </a:pPr>
            <a:r>
              <a:t>The strongest predictive model can become a weak credit system if data, validation or governance is weak.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4864" cy="16002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44752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LEAKAGE</a:t>
            </a:r>
          </a:p>
          <a:p>
            <a:pPr>
              <a:spcBef>
                <a:spcPts val="500"/>
              </a:spcBef>
              <a:defRPr sz="1019">
                <a:solidFill>
                  <a:srgbClr val="4B5869"/>
                </a:solidFill>
                <a:latin typeface="Aptos"/>
              </a:defRPr>
            </a:pPr>
            <a:r>
              <a:t>Post-default / post-decision information enters training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54864" cy="16002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444752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OVERFIT</a:t>
            </a:r>
          </a:p>
          <a:p>
            <a:pPr>
              <a:spcBef>
                <a:spcPts val="500"/>
              </a:spcBef>
              <a:defRPr sz="1019">
                <a:solidFill>
                  <a:srgbClr val="4B5869"/>
                </a:solidFill>
                <a:latin typeface="Aptos"/>
              </a:defRPr>
            </a:pPr>
            <a:r>
              <a:t>Excellent train performance; weak temporal or out-of-time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325880"/>
            <a:ext cx="54864" cy="160020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444752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CORRELATED FEATURES</a:t>
            </a:r>
          </a:p>
          <a:p>
            <a:pPr>
              <a:spcBef>
                <a:spcPts val="500"/>
              </a:spcBef>
              <a:defRPr sz="1019">
                <a:solidFill>
                  <a:srgbClr val="4B5869"/>
                </a:solidFill>
                <a:latin typeface="Aptos"/>
              </a:defRPr>
            </a:pPr>
            <a:r>
              <a:t>Importance gets split or duplicated; interpretation becomes unstable.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39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39"/>
            <a:ext cx="54864" cy="1600200"/>
          </a:xfrm>
          <a:prstGeom prst="rect">
            <a:avLst/>
          </a:prstGeom>
          <a:solidFill>
            <a:srgbClr val="C48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10711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DRIFT</a:t>
            </a:r>
          </a:p>
          <a:p>
            <a:pPr>
              <a:spcBef>
                <a:spcPts val="500"/>
              </a:spcBef>
              <a:defRPr sz="1019">
                <a:solidFill>
                  <a:srgbClr val="4B5869"/>
                </a:solidFill>
                <a:latin typeface="Aptos"/>
              </a:defRPr>
            </a:pPr>
            <a:r>
              <a:t>Borrower mix, bureau behaviour or macro regime changes after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91839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91839"/>
            <a:ext cx="54864" cy="16002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410711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BLACK-BOX POLICY</a:t>
            </a:r>
          </a:p>
          <a:p>
            <a:pPr>
              <a:spcBef>
                <a:spcPts val="500"/>
              </a:spcBef>
              <a:defRPr sz="1019">
                <a:solidFill>
                  <a:srgbClr val="4B5869"/>
                </a:solidFill>
                <a:latin typeface="Aptos"/>
              </a:defRPr>
            </a:pPr>
            <a:r>
              <a:t>No clear mapping from PD to credit action or override.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291839"/>
            <a:ext cx="34290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3291839"/>
            <a:ext cx="54864" cy="16002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3410711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FAIRNESS / BIAS</a:t>
            </a:r>
          </a:p>
          <a:p>
            <a:pPr>
              <a:spcBef>
                <a:spcPts val="500"/>
              </a:spcBef>
              <a:defRPr sz="1019">
                <a:solidFill>
                  <a:srgbClr val="4B5869"/>
                </a:solidFill>
                <a:latin typeface="Aptos"/>
              </a:defRPr>
            </a:pPr>
            <a:r>
              <a:t>Proxy variables or data coverage create unintended segment effects.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1F30"/>
                </a:solidFill>
              </a:defRPr>
            </a:pPr>
            <a:r>
              <a:t>Validation should test discrimination, calibration, stability, robustness, data lineage, explainability and decision impact — not just headline AUC.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Executive Framework — From Model to Credit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Aptos"/>
              </a:defRPr>
            </a:pPr>
            <a:r>
              <a:t>A model becomes valuable only when its predictions are translated into controlled business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965960" cy="1828800"/>
          </a:xfrm>
          <a:prstGeom prst="roundRect">
            <a:avLst/>
          </a:prstGeom>
          <a:solidFill>
            <a:srgbClr val="1E2F45"/>
          </a:solidFill>
          <a:ln>
            <a:solidFill>
              <a:srgbClr val="4A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05740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B9DC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DATA</a:t>
            </a:r>
          </a:p>
          <a:p>
            <a:pPr>
              <a:spcBef>
                <a:spcPts val="700"/>
              </a:spcBef>
              <a:defRPr sz="950">
                <a:solidFill>
                  <a:srgbClr val="BECDDC"/>
                </a:solidFill>
              </a:defRPr>
            </a:pPr>
            <a:r>
              <a:t>Quality • lineage • leakage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788920"/>
            <a:ext cx="256032" cy="0"/>
          </a:xfrm>
          <a:prstGeom prst="line">
            <a:avLst/>
          </a:prstGeom>
          <a:ln w="19050">
            <a:solidFill>
              <a:srgbClr val="82A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1874519"/>
            <a:ext cx="1965960" cy="1828800"/>
          </a:xfrm>
          <a:prstGeom prst="roundRect">
            <a:avLst/>
          </a:prstGeom>
          <a:solidFill>
            <a:srgbClr val="1E2F45"/>
          </a:solidFill>
          <a:ln>
            <a:solidFill>
              <a:srgbClr val="4A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205740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B9DC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MODEL</a:t>
            </a:r>
          </a:p>
          <a:p>
            <a:pPr>
              <a:spcBef>
                <a:spcPts val="700"/>
              </a:spcBef>
              <a:defRPr sz="950">
                <a:solidFill>
                  <a:srgbClr val="BECDDC"/>
                </a:solidFill>
              </a:defRPr>
            </a:pPr>
            <a:r>
              <a:t>RF / XGBoost • tuning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2788920"/>
            <a:ext cx="256032" cy="0"/>
          </a:xfrm>
          <a:prstGeom prst="line">
            <a:avLst/>
          </a:prstGeom>
          <a:ln w="19050">
            <a:solidFill>
              <a:srgbClr val="82A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59" y="1874519"/>
            <a:ext cx="1965960" cy="1828800"/>
          </a:xfrm>
          <a:prstGeom prst="roundRect">
            <a:avLst/>
          </a:prstGeom>
          <a:solidFill>
            <a:srgbClr val="1E2F45"/>
          </a:solidFill>
          <a:ln>
            <a:solidFill>
              <a:srgbClr val="4A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6088" y="205740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B9DC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VALIDATE</a:t>
            </a:r>
          </a:p>
          <a:p>
            <a:pPr>
              <a:spcBef>
                <a:spcPts val="700"/>
              </a:spcBef>
              <a:defRPr sz="950">
                <a:solidFill>
                  <a:srgbClr val="BECDDC"/>
                </a:solidFill>
              </a:defRPr>
            </a:pPr>
            <a:r>
              <a:t>OOS • calibration • stability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78040" y="2788920"/>
            <a:ext cx="256031" cy="0"/>
          </a:xfrm>
          <a:prstGeom prst="line">
            <a:avLst/>
          </a:prstGeom>
          <a:ln w="19050">
            <a:solidFill>
              <a:srgbClr val="82A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1874519"/>
            <a:ext cx="1965960" cy="1828800"/>
          </a:xfrm>
          <a:prstGeom prst="roundRect">
            <a:avLst/>
          </a:prstGeom>
          <a:solidFill>
            <a:srgbClr val="1E2F45"/>
          </a:solidFill>
          <a:ln>
            <a:solidFill>
              <a:srgbClr val="4A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205740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B9DC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DECIDE</a:t>
            </a:r>
          </a:p>
          <a:p>
            <a:pPr>
              <a:spcBef>
                <a:spcPts val="700"/>
              </a:spcBef>
              <a:defRPr sz="950">
                <a:solidFill>
                  <a:srgbClr val="BECDDC"/>
                </a:solidFill>
              </a:defRPr>
            </a:pPr>
            <a:r>
              <a:t>Cut-offs • pricing • limits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59" y="2788920"/>
            <a:ext cx="256033" cy="0"/>
          </a:xfrm>
          <a:prstGeom prst="line">
            <a:avLst/>
          </a:prstGeom>
          <a:ln w="19050">
            <a:solidFill>
              <a:srgbClr val="82A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29800" y="1874519"/>
            <a:ext cx="1965960" cy="1828800"/>
          </a:xfrm>
          <a:prstGeom prst="roundRect">
            <a:avLst/>
          </a:prstGeom>
          <a:solidFill>
            <a:srgbClr val="1E2F45"/>
          </a:solidFill>
          <a:ln>
            <a:solidFill>
              <a:srgbClr val="4A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9528" y="2057400"/>
            <a:ext cx="1737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B9DC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MONITOR</a:t>
            </a:r>
          </a:p>
          <a:p>
            <a:pPr>
              <a:spcBef>
                <a:spcPts val="700"/>
              </a:spcBef>
              <a:defRPr sz="950">
                <a:solidFill>
                  <a:srgbClr val="BECDDC"/>
                </a:solidFill>
              </a:defRPr>
            </a:pPr>
            <a:r>
              <a:t>Drift • performance • triggers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10287000" cy="1005840"/>
          </a:xfrm>
          <a:prstGeom prst="roundRect">
            <a:avLst/>
          </a:prstGeom>
          <a:solidFill>
            <a:srgbClr val="1E2F4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389120"/>
            <a:ext cx="54864" cy="1005840"/>
          </a:xfrm>
          <a:prstGeom prst="rect">
            <a:avLst/>
          </a:prstGeom>
          <a:solidFill>
            <a:srgbClr val="21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507992"/>
            <a:ext cx="9994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F30"/>
                </a:solidFill>
                <a:latin typeface="Aptos"/>
              </a:defRPr>
            </a:pPr>
            <a:r>
              <a:t>EXECUTIVE TAKEAWAY</a:t>
            </a:r>
          </a:p>
          <a:p>
            <a:pPr>
              <a:spcBef>
                <a:spcPts val="500"/>
              </a:spcBef>
              <a:defRPr sz="1120">
                <a:solidFill>
                  <a:srgbClr val="4B5869"/>
                </a:solidFill>
                <a:latin typeface="Aptos"/>
              </a:defRPr>
            </a:pPr>
            <a:r>
              <a:t>Random Forest gives a diversified, robust tree ensemble; XGBoost adds sequential error correction and powerful optimisation. In credit risk, model quality is only half the story — governance, stability and decision economics determine whether the model is safe and useful.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601968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4B5869"/>
                </a:solidFill>
              </a:defRPr>
            </a:pPr>
            <a:r>
              <a:t>CREDIT RISK ANALYTICS  •  ENSEMBLE METHODS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