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91695" cy="210312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59552"/>
            <a:ext cx="12191695" cy="210312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769864"/>
            <a:ext cx="12191695" cy="210312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FFFFF"/>
                </a:solidFill>
              </a:defRPr>
            </a:pPr>
            <a:r>
              <a:t>Financial Statement Analysis</a:t>
            </a:r>
          </a:p>
          <a:p>
            <a:pPr>
              <a:defRPr sz="2000">
                <a:solidFill>
                  <a:srgbClr val="BED7EB"/>
                </a:solidFill>
              </a:defRPr>
            </a:pPr>
            <a:r>
              <a:t>Corporate Credit Analysis — Module 3.1</a:t>
            </a:r>
          </a:p>
          <a:p>
            <a:pPr>
              <a:defRPr sz="1300">
                <a:solidFill>
                  <a:srgbClr val="DCE4EE"/>
                </a:solidFill>
              </a:defRPr>
            </a:pPr>
            <a:r>
              <a:t>How lenders read the Balance Sheet, P&amp;L and Cash Flow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39"/>
            <a:ext cx="2103120" cy="347472"/>
          </a:xfrm>
          <a:prstGeom prst="round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BALANCE SHEET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53512" y="4151376"/>
            <a:ext cx="612648" cy="0"/>
          </a:xfrm>
          <a:prstGeom prst="line">
            <a:avLst/>
          </a:prstGeom>
          <a:ln w="25400">
            <a:solidFill>
              <a:srgbClr val="A0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03320" y="3977639"/>
            <a:ext cx="2103120" cy="347472"/>
          </a:xfrm>
          <a:prstGeom prst="round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P&amp;L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33872" y="4151376"/>
            <a:ext cx="612648" cy="0"/>
          </a:xfrm>
          <a:prstGeom prst="line">
            <a:avLst/>
          </a:prstGeom>
          <a:ln w="25400">
            <a:solidFill>
              <a:srgbClr val="A0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80" y="3977639"/>
            <a:ext cx="2103120" cy="347472"/>
          </a:xfrm>
          <a:prstGeom prst="round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CASH FLOW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14232" y="4151376"/>
            <a:ext cx="612648" cy="0"/>
          </a:xfrm>
          <a:prstGeom prst="line">
            <a:avLst/>
          </a:prstGeom>
          <a:ln w="25400">
            <a:solidFill>
              <a:srgbClr val="A0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64040" y="3977639"/>
            <a:ext cx="2103120" cy="347472"/>
          </a:xfrm>
          <a:prstGeom prst="round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CREDIT 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67727E"/>
                </a:solidFill>
              </a:defRPr>
            </a:pPr>
            <a:r>
              <a:t>Move from accounting statements to a lender's view of repayment capacity, liquidity and financial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1663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Read the Balance Sheet</a:t>
            </a:r>
          </a:p>
          <a:p>
            <a:pPr>
              <a:spcAft>
                <a:spcPts val="300"/>
              </a:spcAft>
              <a:defRPr sz="1120">
                <a:solidFill>
                  <a:srgbClr val="262F3A"/>
                </a:solidFill>
              </a:defRPr>
            </a:pPr>
            <a:r>
              <a:t>Understand assets, liabilities and equity — and what they imply about solvency and liquidity.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160020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1536192"/>
            <a:ext cx="566928" cy="347472"/>
          </a:xfrm>
          <a:prstGeom prst="round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663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Read the P&amp;L</a:t>
            </a:r>
          </a:p>
          <a:p>
            <a:pPr>
              <a:spcAft>
                <a:spcPts val="300"/>
              </a:spcAft>
              <a:defRPr sz="1120">
                <a:solidFill>
                  <a:srgbClr val="262F3A"/>
                </a:solidFill>
              </a:defRPr>
            </a:pPr>
            <a:r>
              <a:t>Assess revenue quality, margins, operating leverage, profitability and interest coverage.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64008" cy="160020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536192"/>
            <a:ext cx="566928" cy="347472"/>
          </a:xfrm>
          <a:prstGeom prst="round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51663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Read Cash Flow</a:t>
            </a:r>
          </a:p>
          <a:p>
            <a:pPr>
              <a:spcAft>
                <a:spcPts val="300"/>
              </a:spcAft>
              <a:defRPr sz="1120">
                <a:solidFill>
                  <a:srgbClr val="262F3A"/>
                </a:solidFill>
              </a:defRPr>
            </a:pPr>
            <a:r>
              <a:t>Separate accounting profit from cash generation and identify working-capital pressure.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64008" cy="160020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59" y="3639312"/>
            <a:ext cx="566928" cy="347472"/>
          </a:xfrm>
          <a:prstGeom prst="round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474720"/>
            <a:ext cx="51663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Connect the statements</a:t>
            </a:r>
          </a:p>
          <a:p>
            <a:pPr>
              <a:spcAft>
                <a:spcPts val="300"/>
              </a:spcAft>
              <a:defRPr sz="1120">
                <a:solidFill>
                  <a:srgbClr val="262F3A"/>
                </a:solidFill>
              </a:defRPr>
            </a:pPr>
            <a:r>
              <a:t>Build one integrated credit story rather than analyzing each statement in isolation.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474720"/>
            <a:ext cx="64008" cy="160020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3639312"/>
            <a:ext cx="566928" cy="347472"/>
          </a:xfrm>
          <a:prstGeom prst="round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Corporate Credit Analysis  |  Financial Statement Analysis     •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The Three Financial Statements — One Business, Three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67727E"/>
                </a:solidFill>
              </a:defRPr>
            </a:pPr>
            <a:r>
              <a:t>Each statement answers a different question. Credit analysis connects all three.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700" b="1">
                <a:solidFill>
                  <a:srgbClr val="12263F"/>
                </a:solidFill>
              </a:defRPr>
            </a:pPr>
            <a:r>
              <a:t>BALANCE SHEET</a:t>
            </a:r>
          </a:p>
          <a:p>
            <a:pPr>
              <a:spcAft>
                <a:spcPts val="300"/>
              </a:spcAft>
              <a:defRPr sz="1200">
                <a:solidFill>
                  <a:srgbClr val="262F3A"/>
                </a:solidFill>
              </a:defRPr>
            </a:pPr>
            <a:r>
              <a:t>Question: What does the company own and owe at a point in time?</a:t>
            </a:r>
          </a:p>
          <a:p>
            <a:pPr>
              <a:spcAft>
                <a:spcPts val="300"/>
              </a:spcAft>
              <a:defRPr sz="120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62F3A"/>
                </a:solidFill>
              </a:defRPr>
            </a:pPr>
            <a:r>
              <a:t>Assets = resources</a:t>
            </a:r>
          </a:p>
          <a:p>
            <a:pPr>
              <a:spcAft>
                <a:spcPts val="300"/>
              </a:spcAft>
              <a:defRPr sz="1200">
                <a:solidFill>
                  <a:srgbClr val="262F3A"/>
                </a:solidFill>
              </a:defRPr>
            </a:pPr>
            <a:r>
              <a:t>Liabilities = obligations</a:t>
            </a:r>
          </a:p>
          <a:p>
            <a:pPr>
              <a:spcAft>
                <a:spcPts val="300"/>
              </a:spcAft>
              <a:defRPr sz="1200">
                <a:solidFill>
                  <a:srgbClr val="262F3A"/>
                </a:solidFill>
              </a:defRPr>
            </a:pPr>
            <a:r>
              <a:t>Equity = owners' residual interest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338328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33756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700" b="1">
                <a:solidFill>
                  <a:srgbClr val="12263F"/>
                </a:solidFill>
              </a:defRPr>
            </a:pPr>
            <a:r>
              <a:t>PROFIT &amp; LOSS</a:t>
            </a:r>
          </a:p>
          <a:p>
            <a:pPr>
              <a:spcAft>
                <a:spcPts val="300"/>
              </a:spcAft>
              <a:defRPr sz="1200">
                <a:solidFill>
                  <a:srgbClr val="262F3A"/>
                </a:solidFill>
              </a:defRPr>
            </a:pPr>
            <a:r>
              <a:t>Question: Did the business generate profit over a period?</a:t>
            </a:r>
          </a:p>
          <a:p>
            <a:pPr>
              <a:spcAft>
                <a:spcPts val="300"/>
              </a:spcAft>
              <a:defRPr sz="120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62F3A"/>
                </a:solidFill>
              </a:defRPr>
            </a:pPr>
            <a:r>
              <a:t>Revenue → costs → operating profit → interest → tax → net profit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64008" cy="338328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83879" y="1417320"/>
            <a:ext cx="333756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700" b="1">
                <a:solidFill>
                  <a:srgbClr val="12263F"/>
                </a:solidFill>
              </a:defRPr>
            </a:pPr>
            <a:r>
              <a:t>CASH FLOW</a:t>
            </a:r>
          </a:p>
          <a:p>
            <a:pPr>
              <a:spcAft>
                <a:spcPts val="300"/>
              </a:spcAft>
              <a:defRPr sz="1200">
                <a:solidFill>
                  <a:srgbClr val="262F3A"/>
                </a:solidFill>
              </a:defRPr>
            </a:pPr>
            <a:r>
              <a:t>Question: Did the business actually generate / consume cash?</a:t>
            </a:r>
          </a:p>
          <a:p>
            <a:pPr>
              <a:spcAft>
                <a:spcPts val="300"/>
              </a:spcAft>
              <a:defRPr sz="120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62F3A"/>
                </a:solidFill>
              </a:defRPr>
            </a:pPr>
            <a:r>
              <a:t>Operating cash flow</a:t>
            </a:r>
          </a:p>
          <a:p>
            <a:pPr>
              <a:spcAft>
                <a:spcPts val="300"/>
              </a:spcAft>
              <a:defRPr sz="1200">
                <a:solidFill>
                  <a:srgbClr val="262F3A"/>
                </a:solidFill>
              </a:defRPr>
            </a:pPr>
            <a:r>
              <a:t>Investing cash flow</a:t>
            </a:r>
          </a:p>
          <a:p>
            <a:pPr>
              <a:spcAft>
                <a:spcPts val="300"/>
              </a:spcAft>
              <a:defRPr sz="1200">
                <a:solidFill>
                  <a:srgbClr val="262F3A"/>
                </a:solidFill>
              </a:defRPr>
            </a:pPr>
            <a:r>
              <a:t>Financing cash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417320"/>
            <a:ext cx="64008" cy="338328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17520" y="5257800"/>
            <a:ext cx="6172200" cy="347472"/>
          </a:xfrm>
          <a:prstGeom prst="round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CREDIT ANALYST'S QUESTION: “WHERE WILL DEBT SERVICE CASH COME FROM?”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Corporate Credit Analysis  |  Financial Statement Analysis     •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1. How to Read a 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67727E"/>
                </a:solidFill>
              </a:defRPr>
            </a:pPr>
            <a:r>
              <a:t>Start with the accounting equation, then move to liquidity, leverage, asset quality and funding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234440"/>
            <a:ext cx="2148840" cy="347472"/>
          </a:xfrm>
          <a:prstGeom prst="round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ASSETS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2148840" cy="347472"/>
          </a:xfrm>
          <a:prstGeom prst="round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LIABILITIES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737360"/>
            <a:ext cx="2148840" cy="347472"/>
          </a:xfrm>
          <a:prstGeom prst="round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EQUITY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06440" y="1581912"/>
            <a:ext cx="0" cy="13716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4360" y="2331720"/>
            <a:ext cx="3429000" cy="28803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Assets — What to inspect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Cash &amp; equivalents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Trade receivables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Inventory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Property, plant &amp; equipment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Other / intangible assets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331720"/>
            <a:ext cx="64008" cy="288036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2331720"/>
            <a:ext cx="3429000" cy="28803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Liabilities — What to inspect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Trade payables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Short-term borrowings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Long-term debt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Lease / other obligations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Contingent liabilities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331720"/>
            <a:ext cx="64008" cy="2880360"/>
          </a:xfrm>
          <a:prstGeom prst="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83879" y="2331720"/>
            <a:ext cx="3429000" cy="28803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Equity — What to inspect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Share capital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Retained earnings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Reserves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Accumulated losses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Changes over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2331720"/>
            <a:ext cx="64008" cy="288036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28800" y="5486400"/>
            <a:ext cx="8549640" cy="566928"/>
          </a:xfrm>
          <a:prstGeom prst="roundRect">
            <a:avLst/>
          </a:prstGeom>
          <a:solidFill>
            <a:srgbClr val="F7F9FC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Credit lens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Liquidity + leverage + asset quality + funding maturity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5486400"/>
            <a:ext cx="64008" cy="566928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Corporate Credit Analysis  |  Financial Statement Analysis     •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2. Balance Sheet — Credit Ratios &amp; Red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67727E"/>
                </a:solidFill>
              </a:defRPr>
            </a:pPr>
            <a:r>
              <a:t>Ratios are signals, not conclusions. Compare with prior years, peers, covenants and sector economics.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Current Ratio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Current Assets ÷ Current Liabilities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Short-term liquidity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164592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Debt / Equity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Total Debt ÷ Equity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Financial leverage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64008" cy="1645920"/>
          </a:xfrm>
          <a:prstGeom prst="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83880" y="132588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Net Debt / EBITDA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(Debt − Cash) ÷ EBITDA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Debt burden vs earnings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1325880"/>
            <a:ext cx="64008" cy="164592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347472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Receivable Days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Receivables ÷ Revenue × 365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Collection discipline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474720"/>
            <a:ext cx="64008" cy="164592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347472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Inventory Days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Inventory ÷ COGS × 365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Working-capital intensity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474720"/>
            <a:ext cx="64008" cy="164592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80" y="347472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Asset Turnover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Revenue ÷ Average Assets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Asset productivity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3474720"/>
            <a:ext cx="64008" cy="164592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5715000"/>
            <a:ext cx="10287000" cy="502920"/>
          </a:xfrm>
          <a:prstGeom prst="roundRect">
            <a:avLst/>
          </a:prstGeom>
          <a:solidFill>
            <a:srgbClr val="FCF6F6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Red flags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Rapid receivables growth • inventory build-up • short-term debt funding long-term assets • falling equity • covenant pressure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715000"/>
            <a:ext cx="64008" cy="502920"/>
          </a:xfrm>
          <a:prstGeom prst="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Corporate Credit Analysis  |  Financial Statement Analysis     •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3. How to Read a Profit &amp; Loss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67727E"/>
                </a:solidFill>
              </a:defRPr>
            </a:pPr>
            <a:r>
              <a:t>Follow the economics from sales to cash-like earnings — then test whether profits are durable.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1627632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Revenue</a:t>
            </a:r>
          </a:p>
          <a:p>
            <a:pPr>
              <a:spcAft>
                <a:spcPts val="300"/>
              </a:spcAft>
              <a:defRPr sz="1030">
                <a:solidFill>
                  <a:srgbClr val="262F3A"/>
                </a:solidFill>
              </a:defRPr>
            </a:pPr>
            <a:r>
              <a:t>Volume × price</a:t>
            </a:r>
          </a:p>
          <a:p>
            <a:pPr>
              <a:spcAft>
                <a:spcPts val="300"/>
              </a:spcAft>
              <a:defRPr sz="1030">
                <a:solidFill>
                  <a:srgbClr val="262F3A"/>
                </a:solidFill>
              </a:defRPr>
            </a:pPr>
            <a:r>
              <a:t>Customer / product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64008" cy="201168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011680" y="2816352"/>
            <a:ext cx="274320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22576" y="1828800"/>
            <a:ext cx="1627632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Gross Profit</a:t>
            </a:r>
          </a:p>
          <a:p>
            <a:pPr>
              <a:spcAft>
                <a:spcPts val="300"/>
              </a:spcAft>
              <a:defRPr sz="1030">
                <a:solidFill>
                  <a:srgbClr val="262F3A"/>
                </a:solidFill>
              </a:defRPr>
            </a:pPr>
            <a:r>
              <a:t>Revenue − COGS</a:t>
            </a:r>
          </a:p>
          <a:p>
            <a:pPr>
              <a:spcAft>
                <a:spcPts val="300"/>
              </a:spcAft>
              <a:defRPr sz="1030">
                <a:solidFill>
                  <a:srgbClr val="262F3A"/>
                </a:solidFill>
              </a:defRPr>
            </a:pPr>
            <a:r>
              <a:t>Gross margin trend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322576" y="1828800"/>
            <a:ext cx="64008" cy="201168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968496" y="2816352"/>
            <a:ext cx="274320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79392" y="1828800"/>
            <a:ext cx="1627632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EBITDA</a:t>
            </a:r>
          </a:p>
          <a:p>
            <a:pPr>
              <a:spcAft>
                <a:spcPts val="300"/>
              </a:spcAft>
              <a:defRPr sz="1030">
                <a:solidFill>
                  <a:srgbClr val="262F3A"/>
                </a:solidFill>
              </a:defRPr>
            </a:pPr>
            <a:r>
              <a:t>Operating profit before D&amp;A</a:t>
            </a:r>
          </a:p>
          <a:p>
            <a:pPr>
              <a:spcAft>
                <a:spcPts val="300"/>
              </a:spcAft>
              <a:defRPr sz="1030">
                <a:solidFill>
                  <a:srgbClr val="262F3A"/>
                </a:solidFill>
              </a:defRPr>
            </a:pPr>
            <a:r>
              <a:t>Core operating earning power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828800"/>
            <a:ext cx="64008" cy="201168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925312" y="2816352"/>
            <a:ext cx="274320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36208" y="1828800"/>
            <a:ext cx="1627632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EBIT</a:t>
            </a:r>
          </a:p>
          <a:p>
            <a:pPr>
              <a:spcAft>
                <a:spcPts val="300"/>
              </a:spcAft>
              <a:defRPr sz="1030">
                <a:solidFill>
                  <a:srgbClr val="262F3A"/>
                </a:solidFill>
              </a:defRPr>
            </a:pPr>
            <a:r>
              <a:t>After depreciation &amp; amortization</a:t>
            </a:r>
          </a:p>
          <a:p>
            <a:pPr>
              <a:spcAft>
                <a:spcPts val="300"/>
              </a:spcAft>
              <a:defRPr sz="1030">
                <a:solidFill>
                  <a:srgbClr val="262F3A"/>
                </a:solidFill>
              </a:defRPr>
            </a:pPr>
            <a:r>
              <a:t>Capital intensity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828800"/>
            <a:ext cx="64008" cy="201168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882128" y="2816352"/>
            <a:ext cx="274320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93024" y="1828800"/>
            <a:ext cx="1627632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PBT</a:t>
            </a:r>
          </a:p>
          <a:p>
            <a:pPr>
              <a:spcAft>
                <a:spcPts val="300"/>
              </a:spcAft>
              <a:defRPr sz="1030">
                <a:solidFill>
                  <a:srgbClr val="262F3A"/>
                </a:solidFill>
              </a:defRPr>
            </a:pPr>
            <a:r>
              <a:t>After finance cost</a:t>
            </a:r>
          </a:p>
          <a:p>
            <a:pPr>
              <a:spcAft>
                <a:spcPts val="300"/>
              </a:spcAft>
              <a:defRPr sz="1030">
                <a:solidFill>
                  <a:srgbClr val="262F3A"/>
                </a:solidFill>
              </a:defRPr>
            </a:pPr>
            <a:r>
              <a:t>Debt burden visible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1828800"/>
            <a:ext cx="64008" cy="2011680"/>
          </a:xfrm>
          <a:prstGeom prst="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9838944" y="2816352"/>
            <a:ext cx="274320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149840" y="1828800"/>
            <a:ext cx="1627632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Net Profit</a:t>
            </a:r>
          </a:p>
          <a:p>
            <a:pPr>
              <a:spcAft>
                <a:spcPts val="300"/>
              </a:spcAft>
              <a:defRPr sz="1030">
                <a:solidFill>
                  <a:srgbClr val="262F3A"/>
                </a:solidFill>
              </a:defRPr>
            </a:pPr>
            <a:r>
              <a:t>After tax</a:t>
            </a:r>
          </a:p>
          <a:p>
            <a:pPr>
              <a:spcAft>
                <a:spcPts val="300"/>
              </a:spcAft>
              <a:defRPr sz="1030">
                <a:solidFill>
                  <a:srgbClr val="262F3A"/>
                </a:solidFill>
              </a:defRPr>
            </a:pPr>
            <a:r>
              <a:t>Bottom-line 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1828800"/>
            <a:ext cx="64008" cy="201168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" y="4343400"/>
            <a:ext cx="9966960" cy="1051560"/>
          </a:xfrm>
          <a:prstGeom prst="roundRect">
            <a:avLst/>
          </a:prstGeom>
          <a:solidFill>
            <a:srgbClr val="F7F9FC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What the lender asks</a:t>
            </a:r>
          </a:p>
          <a:p>
            <a:pPr>
              <a:spcAft>
                <a:spcPts val="300"/>
              </a:spcAft>
              <a:defRPr sz="1200">
                <a:solidFill>
                  <a:srgbClr val="262F3A"/>
                </a:solidFill>
              </a:defRPr>
            </a:pPr>
            <a:r>
              <a:t>Is revenue recurring? Are margins stable? Is EBITDA converting to cash? Can operating earnings cover interest and scheduled debt service?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343400"/>
            <a:ext cx="64008" cy="10515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Corporate Credit Analysis  |  Financial Statement Analysis     •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4. P&amp;L — Profitability, Coverage &amp; Trend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Revenue Growth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(Current − Prior) ÷ Prior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Demand / pricing / expansion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64008" cy="164592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Gross Margin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Gross Profit ÷ Revenue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Pricing power / cost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64008" cy="164592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83880" y="137160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EBITDA Margin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EBITDA ÷ Revenue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Core operating profitability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80" y="1371600"/>
            <a:ext cx="64008" cy="164592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352044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EBIT Margin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EBIT ÷ Revenue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After asset intensity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520440"/>
            <a:ext cx="64008" cy="164592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352044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Interest Coverage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EBIT / Interest Expense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Ability to service interest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520440"/>
            <a:ext cx="64008" cy="1645920"/>
          </a:xfrm>
          <a:prstGeom prst="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0" y="352044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ROCE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EBIT ÷ Capital Employed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Return on invested capital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3520440"/>
            <a:ext cx="64008" cy="164592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5715000"/>
            <a:ext cx="10287000" cy="502920"/>
          </a:xfrm>
          <a:prstGeom prst="roundRect">
            <a:avLst/>
          </a:prstGeom>
          <a:solidFill>
            <a:srgbClr val="FAF8F0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Analytical discipline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Do not celebrate profit growth without checking margin quality, one-off items, accounting policy changes and cash conversion.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715000"/>
            <a:ext cx="64008" cy="50292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Corporate Credit Analysis  |  Financial Statement Analysis     •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5. How to Read a Cash Flow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67727E"/>
                </a:solidFill>
              </a:defRPr>
            </a:pPr>
            <a:r>
              <a:t>Cash flow explains why cash moved — and whether debt service is funded by the business or by new financing.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383280" cy="41605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Operating Cash Flow (CFO)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Cash generated from the core business.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Start with profit, then adjust for: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• non-cash items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• working-capital movements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• operating timing differences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Credit question: Is the business self-funding?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416052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1605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Investing Cash Flow (CFI)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Cash used for / generated from investments.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Typical items: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• capex / fixed assets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• acquisitions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• asset disposals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Credit question: Is capex necessary to sustain earnings?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64008" cy="416052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383280" cy="41605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Financing Cash Flow (CFF)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Cash from / returned to capital providers.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Typical items: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• new debt / repayments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• equity issuance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• dividends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Credit question: Is the company dependent on external funding?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64008" cy="416052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Corporate Credit Analysis  |  Financial Statement Analysis     •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6. Cash Flow — The Credit Analyst's Cash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67727E"/>
                </a:solidFill>
              </a:defRPr>
            </a:pPr>
            <a:r>
              <a:t>A profitable company can still face a liquidity problem if cash is trapped in working capital or absorbed by investment.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234440"/>
            <a:ext cx="9966960" cy="621792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Net Profit</a:t>
            </a:r>
          </a:p>
          <a:p>
            <a:pPr>
              <a:spcAft>
                <a:spcPts val="300"/>
              </a:spcAft>
              <a:defRPr sz="1050">
                <a:solidFill>
                  <a:srgbClr val="262F3A"/>
                </a:solidFill>
              </a:defRPr>
            </a:pPr>
            <a:r>
              <a:t>Accounting earnings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234440"/>
            <a:ext cx="64008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020824"/>
            <a:ext cx="9966960" cy="621792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± Working Capital</a:t>
            </a:r>
          </a:p>
          <a:p>
            <a:pPr>
              <a:spcAft>
                <a:spcPts val="300"/>
              </a:spcAft>
              <a:defRPr sz="1050">
                <a:solidFill>
                  <a:srgbClr val="262F3A"/>
                </a:solidFill>
              </a:defRPr>
            </a:pPr>
            <a:r>
              <a:t>Receivables / inventory / payables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020824"/>
            <a:ext cx="64008" cy="621792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807208"/>
            <a:ext cx="9966960" cy="621792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± Non-cash / Other</a:t>
            </a:r>
          </a:p>
          <a:p>
            <a:pPr>
              <a:spcAft>
                <a:spcPts val="300"/>
              </a:spcAft>
              <a:defRPr sz="1050">
                <a:solidFill>
                  <a:srgbClr val="262F3A"/>
                </a:solidFill>
              </a:defRPr>
            </a:pPr>
            <a:r>
              <a:t>D&amp;A and other adjustments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807208"/>
            <a:ext cx="64008" cy="621792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593592"/>
            <a:ext cx="9966960" cy="621792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= Operating Cash Flow</a:t>
            </a:r>
          </a:p>
          <a:p>
            <a:pPr>
              <a:spcAft>
                <a:spcPts val="300"/>
              </a:spcAft>
              <a:defRPr sz="1050">
                <a:solidFill>
                  <a:srgbClr val="262F3A"/>
                </a:solidFill>
              </a:defRPr>
            </a:pPr>
            <a:r>
              <a:t>Cash from 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593592"/>
            <a:ext cx="64008" cy="621792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4379976"/>
            <a:ext cx="9966960" cy="621792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− Capex</a:t>
            </a:r>
          </a:p>
          <a:p>
            <a:pPr>
              <a:spcAft>
                <a:spcPts val="300"/>
              </a:spcAft>
              <a:defRPr sz="1050">
                <a:solidFill>
                  <a:srgbClr val="262F3A"/>
                </a:solidFill>
              </a:defRPr>
            </a:pPr>
            <a:r>
              <a:t>Investment required to operate / grow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379976"/>
            <a:ext cx="64008" cy="621792"/>
          </a:xfrm>
          <a:prstGeom prst="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5166360"/>
            <a:ext cx="9966960" cy="621792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= Free Cash Flow</a:t>
            </a:r>
          </a:p>
          <a:p>
            <a:pPr>
              <a:spcAft>
                <a:spcPts val="300"/>
              </a:spcAft>
              <a:defRPr sz="1050">
                <a:solidFill>
                  <a:srgbClr val="262F3A"/>
                </a:solidFill>
              </a:defRPr>
            </a:pPr>
            <a:r>
              <a:t>Potential debt-service / shareholder cash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166360"/>
            <a:ext cx="64008" cy="621792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0" y="5989320"/>
            <a:ext cx="4892040" cy="347472"/>
          </a:xfrm>
          <a:prstGeom prst="round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KEY TEST: PROFIT → CASH → DEBT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Corporate Credit Analysis  |  Financial Statement Analysis     •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7. Balance Sheet vs P&amp;L vs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67727E"/>
                </a:solidFill>
              </a:defRPr>
            </a:pPr>
            <a:r>
              <a:t>The same company can look strong on one statement and weak on another.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194560" cy="594360"/>
          </a:xfrm>
          <a:prstGeom prst="roundRect">
            <a:avLst/>
          </a:prstGeom>
          <a:solidFill>
            <a:srgbClr val="ECF1F7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150" b="1">
                <a:solidFill>
                  <a:srgbClr val="12263F"/>
                </a:solidFill>
              </a:defRPr>
            </a:pPr>
            <a:r>
              <a:t>Statement</a:t>
            </a:r>
          </a:p>
          <a:p>
            <a:pPr>
              <a:spcAft>
                <a:spcPts val="300"/>
              </a:spcAft>
              <a:defRPr sz="1120">
                <a:solidFill>
                  <a:srgbClr val="262F3A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64008" cy="5943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39" y="1325880"/>
            <a:ext cx="2194560" cy="594360"/>
          </a:xfrm>
          <a:prstGeom prst="roundRect">
            <a:avLst/>
          </a:prstGeom>
          <a:solidFill>
            <a:srgbClr val="ECF1F7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150" b="1">
                <a:solidFill>
                  <a:srgbClr val="12263F"/>
                </a:solidFill>
              </a:defRPr>
            </a:pPr>
            <a:r>
              <a:t>Time view</a:t>
            </a:r>
          </a:p>
          <a:p>
            <a:pPr>
              <a:spcAft>
                <a:spcPts val="300"/>
              </a:spcAft>
              <a:defRPr sz="1120">
                <a:solidFill>
                  <a:srgbClr val="262F3A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2834639" y="1325880"/>
            <a:ext cx="64008" cy="5943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66359" y="1325880"/>
            <a:ext cx="2194560" cy="594360"/>
          </a:xfrm>
          <a:prstGeom prst="roundRect">
            <a:avLst/>
          </a:prstGeom>
          <a:solidFill>
            <a:srgbClr val="ECF1F7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150" b="1">
                <a:solidFill>
                  <a:srgbClr val="12263F"/>
                </a:solidFill>
              </a:defRPr>
            </a:pPr>
            <a:r>
              <a:t>Core question</a:t>
            </a:r>
          </a:p>
          <a:p>
            <a:pPr>
              <a:spcAft>
                <a:spcPts val="300"/>
              </a:spcAft>
              <a:defRPr sz="1120">
                <a:solidFill>
                  <a:srgbClr val="262F3A"/>
                </a:solidFill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5166359" y="1325880"/>
            <a:ext cx="64008" cy="5943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79" y="1325880"/>
            <a:ext cx="2194560" cy="594360"/>
          </a:xfrm>
          <a:prstGeom prst="roundRect">
            <a:avLst/>
          </a:prstGeom>
          <a:solidFill>
            <a:srgbClr val="ECF1F7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150" b="1">
                <a:solidFill>
                  <a:srgbClr val="12263F"/>
                </a:solidFill>
              </a:defRPr>
            </a:pPr>
            <a:r>
              <a:t>Credit insight</a:t>
            </a:r>
          </a:p>
          <a:p>
            <a:pPr>
              <a:spcAft>
                <a:spcPts val="300"/>
              </a:spcAft>
              <a:defRPr sz="1120">
                <a:solidFill>
                  <a:srgbClr val="262F3A"/>
                </a:solidFill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64008" cy="5943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29800" y="1325880"/>
            <a:ext cx="2194560" cy="594360"/>
          </a:xfrm>
          <a:prstGeom prst="roundRect">
            <a:avLst/>
          </a:prstGeom>
          <a:solidFill>
            <a:srgbClr val="ECF1F7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150" b="1">
                <a:solidFill>
                  <a:srgbClr val="12263F"/>
                </a:solidFill>
              </a:defRPr>
            </a:pPr>
            <a:r>
              <a:t>Common warning</a:t>
            </a:r>
          </a:p>
          <a:p>
            <a:pPr>
              <a:spcAft>
                <a:spcPts val="300"/>
              </a:spcAft>
              <a:defRPr sz="1120">
                <a:solidFill>
                  <a:srgbClr val="262F3A"/>
                </a:solidFill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9829800" y="1325880"/>
            <a:ext cx="64008" cy="5943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01168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000" b="1">
                <a:solidFill>
                  <a:srgbClr val="12263F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Balance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011680"/>
            <a:ext cx="64008" cy="96012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34639" y="201168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000" b="1">
                <a:solidFill>
                  <a:srgbClr val="12263F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Point in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39" y="2011680"/>
            <a:ext cx="64008" cy="96012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59" y="201168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000" b="1">
                <a:solidFill>
                  <a:srgbClr val="12263F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What do we own / owe?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6359" y="2011680"/>
            <a:ext cx="64008" cy="96012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79" y="201168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000" b="1">
                <a:solidFill>
                  <a:srgbClr val="12263F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Liquidity, leverage, asset quality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2011680"/>
            <a:ext cx="64008" cy="96012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29800" y="201168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000" b="1">
                <a:solidFill>
                  <a:srgbClr val="12263F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Weak liquidity / high debt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2011680"/>
            <a:ext cx="64008" cy="96012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315468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000" b="1">
                <a:solidFill>
                  <a:srgbClr val="12263F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P&amp;L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154680"/>
            <a:ext cx="64008" cy="96012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834639" y="315468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000" b="1">
                <a:solidFill>
                  <a:srgbClr val="12263F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Period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39" y="3154680"/>
            <a:ext cx="64008" cy="96012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166359" y="315468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000" b="1">
                <a:solidFill>
                  <a:srgbClr val="12263F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Are we profitable?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66359" y="3154680"/>
            <a:ext cx="64008" cy="96012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98079" y="315468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000" b="1">
                <a:solidFill>
                  <a:srgbClr val="12263F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Margins, earnings quality, coverage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3154680"/>
            <a:ext cx="64008" cy="96012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29800" y="315468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000" b="1">
                <a:solidFill>
                  <a:srgbClr val="12263F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Profit without durability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29800" y="3154680"/>
            <a:ext cx="64008" cy="96012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429768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000" b="1">
                <a:solidFill>
                  <a:srgbClr val="12263F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Cash Flow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297680"/>
            <a:ext cx="64008" cy="96012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834639" y="429768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000" b="1">
                <a:solidFill>
                  <a:srgbClr val="12263F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Period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39" y="4297680"/>
            <a:ext cx="64008" cy="96012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166359" y="429768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000" b="1">
                <a:solidFill>
                  <a:srgbClr val="12263F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Where did cash go?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66359" y="4297680"/>
            <a:ext cx="64008" cy="96012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98079" y="429768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000" b="1">
                <a:solidFill>
                  <a:srgbClr val="12263F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Cash generation &amp; funding dependency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79" y="4297680"/>
            <a:ext cx="64008" cy="96012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829800" y="429768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000" b="1">
                <a:solidFill>
                  <a:srgbClr val="12263F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Profit not converting to cash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29800" y="4297680"/>
            <a:ext cx="64008" cy="96012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143000" y="5623560"/>
            <a:ext cx="9921240" cy="594360"/>
          </a:xfrm>
          <a:prstGeom prst="roundRect">
            <a:avLst/>
          </a:prstGeom>
          <a:solidFill>
            <a:srgbClr val="F7F9FC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263F"/>
                </a:solidFill>
              </a:defRPr>
            </a:pPr>
            <a:r>
              <a:t>Best practice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Read horizontally across statements and vertically across years.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5623560"/>
            <a:ext cx="64008" cy="5943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Corporate Credit Analysis  |  Financial Statement Analysis     •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8. Real-World Credit Case: Manufacturing Borrower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67727E"/>
                </a:solidFill>
              </a:defRPr>
            </a:pPr>
            <a:r>
              <a:t>Illustrative company requesting a ₹50 crore term loan. The statements reveal a mixed but analyzable credit picture.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74320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Balance Sheet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Revenue: ₹180 Cr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Receivables: ₹42 Cr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Inventory: ₹36 Cr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Debt: ₹70 Cr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Cash: ₹8 Cr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Equity: ₹55 Cr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Signal: leverage is meaningful; working capital is material.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64008" cy="452628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9000" y="1325880"/>
            <a:ext cx="274320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P&amp;L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Revenue: ₹180 Cr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EBITDA: ₹27 Cr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EBITDA margin: 15%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Interest: ₹8 Cr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Interest coverage ≈ 3.4×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Signal: operating profitability appears adequate, but debt burden matters.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325880"/>
            <a:ext cx="64008" cy="452628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274320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Cash Flow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CFO: ₹10 Cr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Capex: ₹14 Cr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Free cash flow: −₹4 Cr</a:t>
            </a: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62F3A"/>
                </a:solidFill>
              </a:defRPr>
            </a:pPr>
            <a:r>
              <a:t>Signal: profit is not fully converting into discretionary cash because of working capital + capex.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325880"/>
            <a:ext cx="64008" cy="452628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81160" y="1325880"/>
            <a:ext cx="242316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Credit View</a:t>
            </a: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  <a:r>
              <a:t>STRENGTHS</a:t>
            </a: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  <a:r>
              <a:t>✓ Positive EBITDA</a:t>
            </a: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  <a:r>
              <a:t>✓ Coverage &gt; 1×</a:t>
            </a: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  <a:r>
              <a:t>✓ Operating cash positive</a:t>
            </a: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  <a:r>
              <a:t>CONCERNS</a:t>
            </a: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  <a:r>
              <a:t>! FCF negative</a:t>
            </a: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  <a:r>
              <a:t>! Debt sizeable</a:t>
            </a: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  <a:r>
              <a:t>! Working-capital intensity</a:t>
            </a: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  <a:r>
              <a:t>Likely action:</a:t>
            </a: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  <a:r>
              <a:t>Deeper cash-flow + debt-service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1325880"/>
            <a:ext cx="64008" cy="452628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Corporate Credit Analysis  |  Financial Statement Analysis     •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9. From Financial Statements to a Lending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67727E"/>
                </a:solidFill>
              </a:defRPr>
            </a:pPr>
            <a:r>
              <a:t>The lender does not stop at ratios. The next step is to translate them into repayment capacity and downside resilience.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60320" cy="36118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1. Earnings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EBITDA ₹27 Cr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Coverage ≈ 3.4×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→ Base operating earnings support interest.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361188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20440" y="1417320"/>
            <a:ext cx="2560320" cy="36118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2. Liquidity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Cash ₹8 Cr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CFO ₹10 Cr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FCF −₹4 Cr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→ Liquidity buffer needs scrutiny.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417320"/>
            <a:ext cx="64008" cy="361188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2560320" cy="36118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3. Leverage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Debt ₹70 Cr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Equity ₹55 Cr</a:t>
            </a: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262F3A"/>
                </a:solidFill>
              </a:defRPr>
            </a:pPr>
            <a:r>
              <a:t>→ Material leverage; debt capacity cannot be judged from EBITDA alone.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64008" cy="3611880"/>
          </a:xfrm>
          <a:prstGeom prst="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81160" y="1417320"/>
            <a:ext cx="2240280" cy="36118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4. Structure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Potential mitigants: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• tenor aligned to cash flows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• covenant package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• working-capital controls</a:t>
            </a:r>
          </a:p>
          <a:p>
            <a:pPr>
              <a:spcAft>
                <a:spcPts val="300"/>
              </a:spcAft>
              <a:defRPr sz="1080">
                <a:solidFill>
                  <a:srgbClr val="262F3A"/>
                </a:solidFill>
              </a:defRPr>
            </a:pPr>
            <a:r>
              <a:t>• sponsor support where relevant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1417320"/>
            <a:ext cx="64008" cy="361188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5486400"/>
            <a:ext cx="6309360" cy="347472"/>
          </a:xfrm>
          <a:prstGeom prst="round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ILLUSTRATIVE OUTCOME: CONDITIONAL / STRUCTURED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Corporate Credit Analysis  |  Financial Statement Analysis     •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10. Financial Statement Red Flags — What Should Trigger Deeper Review?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16636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Receivables grow faster than sales</a:t>
            </a: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  <a:r>
              <a:t>Possible collection stress / aggressive revenue recognition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64008" cy="1234440"/>
          </a:xfrm>
          <a:prstGeom prst="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6636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Profit rises while CFO falls</a:t>
            </a: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  <a:r>
              <a:t>Working capital absorption or earnings-quality concern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64008" cy="123444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834639"/>
            <a:ext cx="516636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Debt rises to fund dividends / buybacks</a:t>
            </a: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  <a:r>
              <a:t>Capital structure or shareholder extraction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39"/>
            <a:ext cx="64008" cy="1234440"/>
          </a:xfrm>
          <a:prstGeom prst="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2834639"/>
            <a:ext cx="516636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Inventory builds without matching sales</a:t>
            </a: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  <a:r>
              <a:t>Obsolescence / demand / cash-lock-up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34639"/>
            <a:ext cx="64008" cy="123444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389120"/>
            <a:ext cx="516636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Large “other” / one-off income</a:t>
            </a: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  <a:r>
              <a:t>Potentially weak recurring earnings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89120"/>
            <a:ext cx="64008" cy="123444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4389120"/>
            <a:ext cx="516636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Frequent accounting policy changes</a:t>
            </a:r>
          </a:p>
          <a:p>
            <a:pPr>
              <a:spcAft>
                <a:spcPts val="300"/>
              </a:spcAft>
              <a:defRPr sz="1060">
                <a:solidFill>
                  <a:srgbClr val="262F3A"/>
                </a:solidFill>
              </a:defRPr>
            </a:pPr>
            <a:r>
              <a:t>Comparability and transparency concern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389120"/>
            <a:ext cx="64008" cy="123444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5989320"/>
            <a:ext cx="10332720" cy="384048"/>
          </a:xfrm>
          <a:prstGeom prst="roundRect">
            <a:avLst/>
          </a:prstGeom>
          <a:solidFill>
            <a:srgbClr val="F7F9FC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050" b="1">
                <a:solidFill>
                  <a:srgbClr val="12263F"/>
                </a:solidFill>
              </a:defRPr>
            </a:pPr>
            <a:r>
              <a:t>Rule of thumb</a:t>
            </a:r>
          </a:p>
          <a:p>
            <a:pPr>
              <a:spcAft>
                <a:spcPts val="300"/>
              </a:spcAft>
              <a:defRPr sz="950">
                <a:solidFill>
                  <a:srgbClr val="262F3A"/>
                </a:solidFill>
              </a:defRPr>
            </a:pPr>
            <a:r>
              <a:t>A red flag is a prompt for investigation — not proof of misconduct or credit failure.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989320"/>
            <a:ext cx="64008" cy="384048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Corporate Credit Analysis  |  Financial Statement Analysis     •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11. Corporate Credit Analysis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67727E"/>
                </a:solidFill>
              </a:defRPr>
            </a:pPr>
            <a:r>
              <a:t>A practical sequence for analysts reviewing borrower financials.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28800"/>
            <a:ext cx="1627632" cy="22860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50" b="1">
                <a:solidFill>
                  <a:srgbClr val="12263F"/>
                </a:solidFill>
              </a:defRPr>
            </a:pPr>
            <a:r>
              <a:t>Collect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Audited financials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Management accounts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Banking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28800"/>
            <a:ext cx="64008" cy="228600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965960" y="2971800"/>
            <a:ext cx="256032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58568" y="1828800"/>
            <a:ext cx="1627632" cy="22860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50" b="1">
                <a:solidFill>
                  <a:srgbClr val="12263F"/>
                </a:solidFill>
              </a:defRPr>
            </a:pPr>
            <a:r>
              <a:t>Normalize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Remove one-offs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Reclassify items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Check consistency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8568" y="1828800"/>
            <a:ext cx="64008" cy="228600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904488" y="2971800"/>
            <a:ext cx="256032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97096" y="1828800"/>
            <a:ext cx="1627632" cy="22860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50" b="1">
                <a:solidFill>
                  <a:srgbClr val="12263F"/>
                </a:solidFill>
              </a:defRPr>
            </a:pPr>
            <a:r>
              <a:t>Trend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3–5 year revenue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Margins / leverage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Cash conversion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64008" cy="228600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843016" y="2971800"/>
            <a:ext cx="256032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35624" y="1828800"/>
            <a:ext cx="1627632" cy="22860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50" b="1">
                <a:solidFill>
                  <a:srgbClr val="12263F"/>
                </a:solidFill>
              </a:defRPr>
            </a:pPr>
            <a:r>
              <a:t>Benchmark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Peer / sector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Covenants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Internal policy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5624" y="1828800"/>
            <a:ext cx="64008" cy="228600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781544" y="2971800"/>
            <a:ext cx="256031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74152" y="1828800"/>
            <a:ext cx="1627632" cy="22860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50" b="1">
                <a:solidFill>
                  <a:srgbClr val="12263F"/>
                </a:solidFill>
              </a:defRPr>
            </a:pPr>
            <a:r>
              <a:t>Stress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Downside revenue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Margin pressure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Rate / liquidity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4152" y="1828800"/>
            <a:ext cx="64008" cy="2286000"/>
          </a:xfrm>
          <a:prstGeom prst="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9720072" y="2971800"/>
            <a:ext cx="256032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12680" y="1828800"/>
            <a:ext cx="1627632" cy="22860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50" b="1">
                <a:solidFill>
                  <a:srgbClr val="12263F"/>
                </a:solidFill>
              </a:defRPr>
            </a:pPr>
            <a:r>
              <a:t>Conclude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Risk grade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Debt capacity</a:t>
            </a:r>
          </a:p>
          <a:p>
            <a:pPr>
              <a:spcAft>
                <a:spcPts val="300"/>
              </a:spcAft>
              <a:defRPr sz="1000">
                <a:solidFill>
                  <a:srgbClr val="262F3A"/>
                </a:solidFill>
              </a:defRPr>
            </a:pPr>
            <a:r>
              <a:t>Structure / conditions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2680" y="1828800"/>
            <a:ext cx="64008" cy="22860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43200" y="4983480"/>
            <a:ext cx="6675120" cy="347472"/>
          </a:xfrm>
          <a:prstGeom prst="round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OUTPUT: A DEFENSIBLE CREDIT VIEW, NOT JUST A RATIO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Corporate Credit Analysis  |  Financial Statement Analysis     •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12. Key Takeaways for Credit Professionals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80160"/>
            <a:ext cx="502920" cy="347472"/>
          </a:xfrm>
          <a:prstGeom prst="round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261872"/>
            <a:ext cx="9875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FFFFFF"/>
                </a:solidFill>
              </a:defRPr>
            </a:pPr>
            <a:r>
              <a:t>Balance Sheet tells you where the borrower stands financially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48255"/>
            <a:ext cx="502920" cy="347472"/>
          </a:xfrm>
          <a:prstGeom prst="round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29967"/>
            <a:ext cx="9875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FFFFFF"/>
                </a:solidFill>
              </a:defRPr>
            </a:pPr>
            <a:r>
              <a:t>P&amp;L tells you how the business earns — and whether earnings are durable.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16352"/>
            <a:ext cx="502920" cy="347472"/>
          </a:xfrm>
          <a:prstGeom prst="round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98064"/>
            <a:ext cx="9875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FFFFFF"/>
                </a:solidFill>
              </a:defRPr>
            </a:pPr>
            <a:r>
              <a:t>Cash Flow tells you whether accounting profit becomes actual liquidity.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84448"/>
            <a:ext cx="502920" cy="347472"/>
          </a:xfrm>
          <a:prstGeom prst="round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566160"/>
            <a:ext cx="9875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FFFFFF"/>
                </a:solidFill>
              </a:defRPr>
            </a:pPr>
            <a:r>
              <a:t>Leverage must be assessed alongside cash generation, not EBITDA alone.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52544"/>
            <a:ext cx="502920" cy="347472"/>
          </a:xfrm>
          <a:prstGeom prst="round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34256"/>
            <a:ext cx="9875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FFFFFF"/>
                </a:solidFill>
              </a:defRPr>
            </a:pPr>
            <a:r>
              <a:t>Working capital can consume cash even when the company reports healthy profit.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120640"/>
            <a:ext cx="502920" cy="347472"/>
          </a:xfrm>
          <a:prstGeom prst="round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102352"/>
            <a:ext cx="9875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FFFFFF"/>
                </a:solidFill>
              </a:defRPr>
            </a:pPr>
            <a:r>
              <a:t>Good credit analysis connects statements, trends, sector context and downside scenarios.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5989320"/>
            <a:ext cx="4572000" cy="347472"/>
          </a:xfrm>
          <a:prstGeom prst="round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</a:defRPr>
            </a:pPr>
            <a:r>
              <a:t>READ THE STATEMENTS AS ONE CREDIT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Corporate Credit Analysis  |  Financial Statement Analysis     •   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