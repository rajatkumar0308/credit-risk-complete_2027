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91695" cy="210312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59552"/>
            <a:ext cx="12191695" cy="210312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769864"/>
            <a:ext cx="12191695" cy="210312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How Banks Approve a Loan</a:t>
            </a:r>
          </a:p>
          <a:p>
            <a:pPr>
              <a:spcBef>
                <a:spcPts val="1000"/>
              </a:spcBef>
              <a:defRPr sz="2000">
                <a:solidFill>
                  <a:srgbClr val="BED7EB"/>
                </a:solidFill>
              </a:defRPr>
            </a:pPr>
            <a:r>
              <a:t>End-to-End Consumer Credit Decisioning</a:t>
            </a:r>
          </a:p>
          <a:p>
            <a:pPr>
              <a:spcBef>
                <a:spcPts val="1800"/>
              </a:spcBef>
              <a:defRPr sz="1250">
                <a:solidFill>
                  <a:srgbClr val="DCE4EE"/>
                </a:solidFill>
              </a:defRPr>
            </a:pPr>
            <a:r>
              <a:t>Corporate Training • Consumer Credit &amp; Assessment • Module 2.4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2240280" cy="347472"/>
          </a:xfrm>
          <a:prstGeom prst="round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APPLY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99232" y="4151376"/>
            <a:ext cx="475488" cy="0"/>
          </a:xfrm>
          <a:prstGeom prst="line">
            <a:avLst/>
          </a:prstGeom>
          <a:ln w="25400">
            <a:solidFill>
              <a:srgbClr val="A0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20439" y="3977639"/>
            <a:ext cx="2240280" cy="347472"/>
          </a:xfrm>
          <a:prstGeom prst="round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UNDERWRITE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88152" y="4151376"/>
            <a:ext cx="475488" cy="0"/>
          </a:xfrm>
          <a:prstGeom prst="line">
            <a:avLst/>
          </a:prstGeom>
          <a:ln w="25400">
            <a:solidFill>
              <a:srgbClr val="A0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9359" y="3977639"/>
            <a:ext cx="2240280" cy="347472"/>
          </a:xfrm>
          <a:prstGeom prst="round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DECIDE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77072" y="4151376"/>
            <a:ext cx="475487" cy="0"/>
          </a:xfrm>
          <a:prstGeom prst="line">
            <a:avLst/>
          </a:prstGeom>
          <a:ln w="25400">
            <a:solidFill>
              <a:srgbClr val="A0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98280" y="3977639"/>
            <a:ext cx="2240280" cy="347472"/>
          </a:xfrm>
          <a:prstGeom prst="round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APPROVE / DECLINE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27E"/>
                </a:solidFill>
              </a:defRPr>
            </a:pPr>
            <a:r>
              <a:t>By the end of this module, learners should be able to explain both the customer journey and the bank's risk-control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16636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Map the loan journey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Application → verification → underwriting → decision → documentation → disbursal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60020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7" y="1581912"/>
            <a:ext cx="594360" cy="347472"/>
          </a:xfrm>
          <a:prstGeom prst="round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16636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Explain underwriting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How income, obligations, bureau data, collateral and policy rules become a risk 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64008" cy="160020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19088" y="1581912"/>
            <a:ext cx="594360" cy="347472"/>
          </a:xfrm>
          <a:prstGeom prst="round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74720"/>
            <a:ext cx="516636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Understand decisioning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How scorecards, policy rules, affordability and exceptions drive approve / decline / refer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64008" cy="160020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3639312"/>
            <a:ext cx="594360" cy="347472"/>
          </a:xfrm>
          <a:prstGeom prst="round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474720"/>
            <a:ext cx="516636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Use a real case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Trace a salaried borrower's application from submission to final 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474720"/>
            <a:ext cx="64008" cy="160020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19088" y="3639312"/>
            <a:ext cx="594360" cy="347472"/>
          </a:xfrm>
          <a:prstGeom prst="round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Consumer Credit &amp; Assessment  |  How Banks Approve a Loan     •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1. The End-to-End Loan Approval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27E"/>
                </a:solidFill>
              </a:defRPr>
            </a:pPr>
            <a:r>
              <a:t>A bank does not simply ask “Can we lend?” It asks: “Can we lend, to whom, how much, at what risk, and under what conditions?”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627632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Application</a:t>
            </a:r>
          </a:p>
          <a:p>
            <a:pPr>
              <a:spcAft>
                <a:spcPts val="400"/>
              </a:spcAft>
              <a:defRPr sz="1019">
                <a:solidFill>
                  <a:srgbClr val="262F3A"/>
                </a:solidFill>
              </a:defRPr>
            </a:pPr>
            <a:r>
              <a:t>Customer data + loan 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64008" cy="1874519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02920" cy="347472"/>
          </a:xfrm>
          <a:prstGeom prst="round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48840" y="2743200"/>
            <a:ext cx="210312" cy="0"/>
          </a:xfrm>
          <a:prstGeom prst="line">
            <a:avLst/>
          </a:prstGeom>
          <a:ln w="25400">
            <a:solidFill>
              <a:srgbClr val="2463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04872" y="1828800"/>
            <a:ext cx="1627632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KYC &amp; Verification</a:t>
            </a:r>
          </a:p>
          <a:p>
            <a:pPr>
              <a:spcAft>
                <a:spcPts val="400"/>
              </a:spcAft>
              <a:defRPr sz="1019">
                <a:solidFill>
                  <a:srgbClr val="262F3A"/>
                </a:solidFill>
              </a:defRPr>
            </a:pPr>
            <a:r>
              <a:t>Identity, employment, income, documents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04872" y="1828800"/>
            <a:ext cx="64008" cy="1874519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42032" y="1417320"/>
            <a:ext cx="502920" cy="347472"/>
          </a:xfrm>
          <a:prstGeom prst="round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50791" y="2743200"/>
            <a:ext cx="210313" cy="0"/>
          </a:xfrm>
          <a:prstGeom prst="line">
            <a:avLst/>
          </a:prstGeom>
          <a:ln w="25400">
            <a:solidFill>
              <a:srgbClr val="2463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06824" y="1828800"/>
            <a:ext cx="1627632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Credit Underwriting</a:t>
            </a:r>
          </a:p>
          <a:p>
            <a:pPr>
              <a:spcAft>
                <a:spcPts val="400"/>
              </a:spcAft>
              <a:defRPr sz="1019">
                <a:solidFill>
                  <a:srgbClr val="262F3A"/>
                </a:solidFill>
              </a:defRPr>
            </a:pPr>
            <a:r>
              <a:t>Repayment capacity + credit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1828800"/>
            <a:ext cx="64008" cy="1874519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43984" y="1417320"/>
            <a:ext cx="502920" cy="347472"/>
          </a:xfrm>
          <a:prstGeom prst="round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2744" y="2743200"/>
            <a:ext cx="210312" cy="0"/>
          </a:xfrm>
          <a:prstGeom prst="line">
            <a:avLst/>
          </a:prstGeom>
          <a:ln w="25400">
            <a:solidFill>
              <a:srgbClr val="2463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08776" y="1828800"/>
            <a:ext cx="1627632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Decisioning</a:t>
            </a:r>
          </a:p>
          <a:p>
            <a:pPr>
              <a:spcAft>
                <a:spcPts val="400"/>
              </a:spcAft>
              <a:defRPr sz="1019">
                <a:solidFill>
                  <a:srgbClr val="262F3A"/>
                </a:solidFill>
              </a:defRPr>
            </a:pPr>
            <a:r>
              <a:t>Policy rules + score + exceptions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828800"/>
            <a:ext cx="64008" cy="1874519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45936" y="1417320"/>
            <a:ext cx="502920" cy="347472"/>
          </a:xfrm>
          <a:prstGeom prst="round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54696" y="2743200"/>
            <a:ext cx="210312" cy="0"/>
          </a:xfrm>
          <a:prstGeom prst="line">
            <a:avLst/>
          </a:prstGeom>
          <a:ln w="25400">
            <a:solidFill>
              <a:srgbClr val="2463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10728" y="1828800"/>
            <a:ext cx="1627632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Approval &amp; Documentation</a:t>
            </a:r>
          </a:p>
          <a:p>
            <a:pPr>
              <a:spcAft>
                <a:spcPts val="400"/>
              </a:spcAft>
              <a:defRPr sz="1019">
                <a:solidFill>
                  <a:srgbClr val="262F3A"/>
                </a:solidFill>
              </a:defRPr>
            </a:pPr>
            <a:r>
              <a:t>Sanction, terms, agreements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0728" y="1828800"/>
            <a:ext cx="64008" cy="1874519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47888" y="1417320"/>
            <a:ext cx="502920" cy="347472"/>
          </a:xfrm>
          <a:prstGeom prst="round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756648" y="2743200"/>
            <a:ext cx="210312" cy="0"/>
          </a:xfrm>
          <a:prstGeom prst="line">
            <a:avLst/>
          </a:prstGeom>
          <a:ln w="25400">
            <a:solidFill>
              <a:srgbClr val="2463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12680" y="1828800"/>
            <a:ext cx="1627632" cy="1874519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Disbursal &amp; Monitoring</a:t>
            </a:r>
          </a:p>
          <a:p>
            <a:pPr>
              <a:spcAft>
                <a:spcPts val="400"/>
              </a:spcAft>
              <a:defRPr sz="1019">
                <a:solidFill>
                  <a:srgbClr val="262F3A"/>
                </a:solidFill>
              </a:defRPr>
            </a:pPr>
            <a:r>
              <a:t>Funds released; portfolio monitored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12680" y="1828800"/>
            <a:ext cx="64008" cy="1874519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49840" y="1417320"/>
            <a:ext cx="502920" cy="347472"/>
          </a:xfrm>
          <a:prstGeom prst="round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160520"/>
            <a:ext cx="1074420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Control layer across every stage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Fraud controls • KYC/AML • affordability • bureau checks • policy eligibility • audit trail • fair treatment • regulatory requirements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160520"/>
            <a:ext cx="64008" cy="132588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Consumer Credit &amp; Assessment  |  How Banks Approve a Loan     •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2. Loan Application: What the Bank Captures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27E"/>
                </a:solidFill>
              </a:defRPr>
            </a:pPr>
            <a:r>
              <a:t>The application is the bank's starting dataset — incomplete or inaccurate inputs can create downstream underwriting friction.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Borrower profile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Personal / contact details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Employment &amp; employer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Monthly / annual income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Existing loans &amp; obligations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Residence / stability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Dependants (where relevant)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443484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42900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Loan request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Product: personal / auto / home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Requested amount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Tenor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Purpose / end use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Preferred repayment mode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Collateral, if applicable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64008" cy="443484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1325880"/>
            <a:ext cx="342900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Evidence &amp; consent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Identity documents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Income evidence / bank statements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Employment evidence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Credit-bureau consent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Data / privacy consents</a:t>
            </a:r>
          </a:p>
          <a:p>
            <a:pPr>
              <a:spcAft>
                <a:spcPts val="400"/>
              </a:spcAft>
              <a:defRPr sz="1150">
                <a:solidFill>
                  <a:srgbClr val="262F3A"/>
                </a:solidFill>
              </a:defRPr>
            </a:pPr>
            <a:r>
              <a:t>Digital / physical signatures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25880"/>
            <a:ext cx="64008" cy="443484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5897880"/>
            <a:ext cx="3246120" cy="347472"/>
          </a:xfrm>
          <a:prstGeom prst="round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KEY OUTPUT: VERIFIED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Consumer Credit &amp; Assessment  |  How Banks Approve a Loan     •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3. What Is Credit Underwriting?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27E"/>
                </a:solidFill>
              </a:defRPr>
            </a:pPr>
            <a:r>
              <a:t>Underwriting converts raw customer information into a structured view of repayment ability, risk and appropriate loan terms.</a:t>
            </a:r>
          </a:p>
        </p:txBody>
      </p:sp>
      <p:sp>
        <p:nvSpPr>
          <p:cNvPr id="5" name="Oval 4"/>
          <p:cNvSpPr/>
          <p:nvPr/>
        </p:nvSpPr>
        <p:spPr>
          <a:xfrm>
            <a:off x="4800600" y="1874519"/>
            <a:ext cx="2560320" cy="2560320"/>
          </a:xfrm>
          <a:prstGeom prst="ellipse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CREDIT</a:t>
            </a:r>
            <a:br/>
            <a:r>
              <a:t>UNDERWRITING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43000"/>
            <a:ext cx="306324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Capacity</a:t>
            </a:r>
          </a:p>
          <a:p>
            <a:pPr>
              <a:spcAft>
                <a:spcPts val="400"/>
              </a:spcAft>
              <a:defRPr sz="1050">
                <a:solidFill>
                  <a:srgbClr val="262F3A"/>
                </a:solidFill>
              </a:defRPr>
            </a:pPr>
            <a:r>
              <a:t>Income, expenses, FOIR/DTI, cash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143000"/>
            <a:ext cx="64008" cy="96012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83879" y="1143000"/>
            <a:ext cx="306324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Credit history</a:t>
            </a:r>
          </a:p>
          <a:p>
            <a:pPr>
              <a:spcAft>
                <a:spcPts val="400"/>
              </a:spcAft>
              <a:defRPr sz="1050">
                <a:solidFill>
                  <a:srgbClr val="262F3A"/>
                </a:solidFill>
              </a:defRPr>
            </a:pPr>
            <a:r>
              <a:t>Bureau score, delinquencies, utilization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79" y="1143000"/>
            <a:ext cx="64008" cy="96012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4526280"/>
            <a:ext cx="306324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Stability</a:t>
            </a:r>
          </a:p>
          <a:p>
            <a:pPr>
              <a:spcAft>
                <a:spcPts val="400"/>
              </a:spcAft>
              <a:defRPr sz="1050">
                <a:solidFill>
                  <a:srgbClr val="262F3A"/>
                </a:solidFill>
              </a:defRPr>
            </a:pPr>
            <a:r>
              <a:t>Job/business vintage, residence, income consistency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526280"/>
            <a:ext cx="64008" cy="96012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79" y="4526280"/>
            <a:ext cx="306324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Security &amp; purpose</a:t>
            </a:r>
          </a:p>
          <a:p>
            <a:pPr>
              <a:spcAft>
                <a:spcPts val="400"/>
              </a:spcAft>
              <a:defRPr sz="1050">
                <a:solidFill>
                  <a:srgbClr val="262F3A"/>
                </a:solidFill>
              </a:defRPr>
            </a:pPr>
            <a:r>
              <a:t>Collateral, LTV, end use, product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4526280"/>
            <a:ext cx="64008" cy="96012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3977639" y="1645920"/>
            <a:ext cx="822961" cy="777240"/>
          </a:xfrm>
          <a:prstGeom prst="line">
            <a:avLst/>
          </a:prstGeom>
          <a:ln w="25400">
            <a:solidFill>
              <a:srgbClr val="2463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360920" y="1645920"/>
            <a:ext cx="822959" cy="777240"/>
          </a:xfrm>
          <a:prstGeom prst="line">
            <a:avLst/>
          </a:prstGeom>
          <a:ln w="25400">
            <a:solidFill>
              <a:srgbClr val="1489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977639" y="3886200"/>
            <a:ext cx="822961" cy="1005840"/>
          </a:xfrm>
          <a:prstGeom prst="line">
            <a:avLst/>
          </a:prstGeom>
          <a:ln w="25400">
            <a:solidFill>
              <a:srgbClr val="2A80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7360920" y="3886200"/>
            <a:ext cx="822959" cy="1005840"/>
          </a:xfrm>
          <a:prstGeom prst="line">
            <a:avLst/>
          </a:prstGeom>
          <a:ln w="25400">
            <a:solidFill>
              <a:srgbClr val="D28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Consumer Credit &amp; Assessment  |  How Banks Approve a Loan     •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4. Underwriting: From Data to Risk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27E"/>
                </a:solidFill>
              </a:defRPr>
            </a:pPr>
            <a:r>
              <a:t>Different banks use different models, but the core logic is consistent: verify → assess → stress → compare with policy.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2487168" cy="30175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600" b="1">
                <a:solidFill>
                  <a:srgbClr val="12263F"/>
                </a:solidFill>
              </a:defRPr>
            </a:pPr>
            <a:r>
              <a:t>VERIFY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Are the inputs genuine?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KYC / income / employment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Document consistency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64008" cy="301752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108960" y="3017520"/>
            <a:ext cx="274319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74720" y="1554480"/>
            <a:ext cx="2487168" cy="30175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600" b="1">
                <a:solidFill>
                  <a:srgbClr val="12263F"/>
                </a:solidFill>
              </a:defRPr>
            </a:pPr>
            <a:r>
              <a:t>ASSESS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Can the borrower repay?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Income + obligations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Cash-flow / affordability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554480"/>
            <a:ext cx="64008" cy="301752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989320" y="3017520"/>
            <a:ext cx="274320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55080" y="1554480"/>
            <a:ext cx="2487168" cy="30175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600" b="1">
                <a:solidFill>
                  <a:srgbClr val="12263F"/>
                </a:solidFill>
              </a:defRPr>
            </a:pPr>
            <a:r>
              <a:t>STRESS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What if conditions worsen?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Rate / income / expense sensitivity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Concentration / volatility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554480"/>
            <a:ext cx="64008" cy="301752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869680" y="3017520"/>
            <a:ext cx="274320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235440" y="1554480"/>
            <a:ext cx="2487168" cy="30175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600" b="1">
                <a:solidFill>
                  <a:srgbClr val="12263F"/>
                </a:solidFill>
              </a:defRPr>
            </a:pPr>
            <a:r>
              <a:t>ALIGN TO POLICY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Does the case fit appetite?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Score bands / LTV / DTI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Product &amp; segment rules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554480"/>
            <a:ext cx="64008" cy="301752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08760" y="4983480"/>
            <a:ext cx="914400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Underwriting output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Risk grade / recommendation + proposed amount, tenor, pricing and conditions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4983480"/>
            <a:ext cx="64008" cy="8229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Consumer Credit &amp; Assessment  |  How Banks Approve a Loan     •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5. Credit Decisioning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27E"/>
                </a:solidFill>
              </a:defRPr>
            </a:pPr>
            <a:r>
              <a:t>Decisioning combines automated rules, risk models and — where required — human judgment.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572768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250" b="1">
                <a:solidFill>
                  <a:srgbClr val="12263F"/>
                </a:solidFill>
              </a:defRPr>
            </a:pPr>
            <a:r>
              <a:t>Application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64008" cy="150876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002536" y="2578608"/>
            <a:ext cx="310896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50008" y="1828800"/>
            <a:ext cx="1572768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250" b="1">
                <a:solidFill>
                  <a:srgbClr val="12263F"/>
                </a:solidFill>
              </a:defRPr>
            </a:pPr>
            <a:r>
              <a:t>Policy Rules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Eligibility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350008" y="1828800"/>
            <a:ext cx="64008" cy="150876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941064" y="2578608"/>
            <a:ext cx="310896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88536" y="1828800"/>
            <a:ext cx="1572768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250" b="1">
                <a:solidFill>
                  <a:srgbClr val="12263F"/>
                </a:solidFill>
              </a:defRPr>
            </a:pPr>
            <a:r>
              <a:t>Scorecard / Model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8536" y="1828800"/>
            <a:ext cx="64008" cy="150876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879592" y="2578608"/>
            <a:ext cx="310896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27064" y="1828800"/>
            <a:ext cx="1572768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250" b="1">
                <a:solidFill>
                  <a:srgbClr val="12263F"/>
                </a:solidFill>
              </a:defRPr>
            </a:pPr>
            <a:r>
              <a:t>Affordability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Capacity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7064" y="1828800"/>
            <a:ext cx="64008" cy="150876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818120" y="2578608"/>
            <a:ext cx="310896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65592" y="1828800"/>
            <a:ext cx="1572768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250" b="1">
                <a:solidFill>
                  <a:srgbClr val="12263F"/>
                </a:solidFill>
              </a:defRPr>
            </a:pPr>
            <a:r>
              <a:t>Exception Check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Overrides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65592" y="1828800"/>
            <a:ext cx="64008" cy="150876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9756648" y="2578608"/>
            <a:ext cx="310896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104120" y="1828800"/>
            <a:ext cx="1572768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250" b="1">
                <a:solidFill>
                  <a:srgbClr val="12263F"/>
                </a:solidFill>
              </a:defRPr>
            </a:pPr>
            <a:r>
              <a:t>Decision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Outcome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04120" y="1828800"/>
            <a:ext cx="64008" cy="150876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4114800"/>
            <a:ext cx="324612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AUTO-APPROVE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Within policy + strong risk profile + no material exceptions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114800"/>
            <a:ext cx="64008" cy="128016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80560" y="4114800"/>
            <a:ext cx="324612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REFER / MANUAL REVIEW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Borderline, incomplete, unusual or exception-driven case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114800"/>
            <a:ext cx="64008" cy="128016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38160" y="4114800"/>
            <a:ext cx="324612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DECLINE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Policy breach, affordability failure, unacceptable risk or verification issue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4114800"/>
            <a:ext cx="64008" cy="1280160"/>
          </a:xfrm>
          <a:prstGeom prst="rect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Consumer Credit &amp; Assessment  |  How Banks Approve a Loan     •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6. Loan Approval vs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27E"/>
                </a:solidFill>
              </a:defRPr>
            </a:pPr>
            <a:r>
              <a:t>A decline is not necessarily a judgment on the person; it is a decision against the lender's current risk, affordability and policy criteria.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2064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Typical Approval Path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✓ Eligibility and KYC satisfied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✓ Stable / evidenced income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✓ Affordable repayment burden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✓ Acceptable bureau profile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✓ Product-specific policy met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✓ Collateral / LTV acceptable where relevant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✓ No material fraud or verification concern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Outcome: sanction terms → documentation → disbursal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64008" cy="448056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1417320"/>
            <a:ext cx="512064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Typical Decline / Refer Triggers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× Income not sufficiently evidenced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× Repayment burden too high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× Serious delinquency / adverse bureau history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× Policy eligibility failure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× Fraud / identity inconsistency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× Excessive LTV or weak security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× Unacceptable exception / risk grade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Outcome: decline, or refer for further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417320"/>
            <a:ext cx="64008" cy="4480560"/>
          </a:xfrm>
          <a:prstGeom prst="rect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Consumer Credit &amp; Assessment  |  How Banks Approve a Loan     •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7. Real-World Case Study: ₹12 Lakh Personal Loan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27E"/>
                </a:solidFill>
              </a:defRPr>
            </a:pPr>
            <a:r>
              <a:t>Illustrative case: salaried applicant seeking a 5-year loan. The purpose is to show how multiple signals interact — not to represent any one bank's policy.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74320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Applicant Snapshot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Age: 32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Employment: salaried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Net monthly income: ₹1,20,000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Existing EMI: ₹25,000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Requested loan: ₹12,00,000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Tenor: 60 months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Bureau: strong / clean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452628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325880"/>
            <a:ext cx="274320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Affordability View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Illustrative new EMI ≈ ₹26,700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Total EMI ≈ ₹51,700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EMI / income ≈ 43%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Interpretation: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• within some lender thresholds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• but not automatically “safe”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• income stability + bureau + policy still matter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1325880"/>
            <a:ext cx="64008" cy="452628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29400" y="1325880"/>
            <a:ext cx="228600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Risk Checks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✓ KYC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✓ Employment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✓ Salary credits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✓ Bureau history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✓ Existing obligations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✓ Fraud indicators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✓ Policy score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✓ Exception flags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1325880"/>
            <a:ext cx="64008" cy="452628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0" y="1325880"/>
            <a:ext cx="242316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Decision Example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MODEL OUTPUT: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Low–moderate risk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POLICY: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Eligible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DECISION: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APPROVE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Potential terms: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₹12L / 60 months</a:t>
            </a:r>
          </a:p>
          <a:p>
            <a:pPr>
              <a:spcAft>
                <a:spcPts val="400"/>
              </a:spcAft>
              <a:defRPr sz="1120">
                <a:solidFill>
                  <a:srgbClr val="262F3A"/>
                </a:solidFill>
              </a:defRPr>
            </a:pPr>
            <a:r>
              <a:t>subject to final verification &amp; pricing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325880"/>
            <a:ext cx="64008" cy="452628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49039" y="5989320"/>
            <a:ext cx="4709160" cy="347472"/>
          </a:xfrm>
          <a:prstGeom prst="round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KEY LESSON: ONE NUMBER NEVER MAKES THE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Consumer Credit &amp; Assessment  |  How Banks Approve a Loan     •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8. Counterfactual Case: Same Applicant, Different Risk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27E"/>
                </a:solidFill>
              </a:defRPr>
            </a:pPr>
            <a:r>
              <a:t>Change a few facts and the same requested loan can produce a different outcome.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33756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Scenario A — Approve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Income: ₹1.20L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Existing EMI: ₹25K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Clean bureau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Stable employment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Verified salary credits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Policy score: pass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→ APPROVE / SANCTION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64008" cy="443484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34840" y="1371600"/>
            <a:ext cx="333756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Scenario B — Refer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Income: ₹1.20L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Existing EMI: ₹38K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Recent job change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High bureau utilization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Minor documentation gap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→ MANUAL REVIEW / POSSIBLE REDUCTION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371600"/>
            <a:ext cx="64008" cy="443484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33756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Scenario C — Decline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Income: ₹1.20L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Existing EMI: ₹55K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Recent serious delinquency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Unverified income document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Policy score: fail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→ DECLINE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71600"/>
            <a:ext cx="64008" cy="4434840"/>
          </a:xfrm>
          <a:prstGeom prst="rect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Consumer Credit &amp; Assessment  |  How Banks Approve a Loan     •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9. Automated Decisioning vs Human Underwriting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27E"/>
                </a:solidFill>
              </a:defRPr>
            </a:pPr>
            <a:r>
              <a:t>Modern lending is often a hybrid operating model: automation handles scale; human review handles complexity and exceptions.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Automated Decisioning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Best suited for: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• High-volume standard products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• Clear policy eligibility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• Structured customer data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• Straightforward affordability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• Low exception rates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Advantages: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Speed • consistency • scalability • lower processing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48056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21208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Human Underwriting / Review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Best suited for: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• Complex income structures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• Self-employed / irregular cash flows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• Exceptions to standard policy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• Conflicting evidence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• High-value / higher-risk cases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Advantages: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Context • judgment • exception assessment • deeper investigation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64008" cy="448056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5989320"/>
            <a:ext cx="4937760" cy="347472"/>
          </a:xfrm>
          <a:prstGeom prst="round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TARGET OPERATING MODEL: CONTROLLED HYBRID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Consumer Credit &amp; Assessment  |  How Banks Approve a Loan     •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10. After Approval: Sanction → Documentation → Disbursal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27E"/>
                </a:solidFill>
              </a:defRPr>
            </a:pPr>
            <a:r>
              <a:t>Credit approval is not the same as money moving to the customer. Several controls still sit between decision and disbursal.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96596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SANCTION</a:t>
            </a:r>
          </a:p>
          <a:p>
            <a:pPr>
              <a:spcAft>
                <a:spcPts val="400"/>
              </a:spcAft>
              <a:defRPr sz="1050">
                <a:solidFill>
                  <a:srgbClr val="262F3A"/>
                </a:solidFill>
              </a:defRPr>
            </a:pPr>
            <a:r>
              <a:t>Approved amount, tenor, pricing,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64008" cy="205740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487168" y="2834640"/>
            <a:ext cx="283464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07208" y="1828800"/>
            <a:ext cx="196596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CUSTOMER ACCEPTANCE</a:t>
            </a:r>
          </a:p>
          <a:p>
            <a:pPr>
              <a:spcAft>
                <a:spcPts val="400"/>
              </a:spcAft>
              <a:defRPr sz="1050">
                <a:solidFill>
                  <a:srgbClr val="262F3A"/>
                </a:solidFill>
              </a:defRPr>
            </a:pPr>
            <a:r>
              <a:t>Terms accepted; required consents/signatures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7208" y="1828800"/>
            <a:ext cx="64008" cy="205740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791456" y="2834640"/>
            <a:ext cx="283464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11496" y="1828800"/>
            <a:ext cx="196596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DOCUMENTATION</a:t>
            </a:r>
          </a:p>
          <a:p>
            <a:pPr>
              <a:spcAft>
                <a:spcPts val="400"/>
              </a:spcAft>
              <a:defRPr sz="1050">
                <a:solidFill>
                  <a:srgbClr val="262F3A"/>
                </a:solidFill>
              </a:defRPr>
            </a:pPr>
            <a:r>
              <a:t>Agreement, mandate, collateral/security documents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11496" y="1828800"/>
            <a:ext cx="64008" cy="205740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095744" y="2834640"/>
            <a:ext cx="283464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15784" y="1828800"/>
            <a:ext cx="196596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PRE-DISBURSAL CHECKS</a:t>
            </a:r>
          </a:p>
          <a:p>
            <a:pPr>
              <a:spcAft>
                <a:spcPts val="400"/>
              </a:spcAft>
              <a:defRPr sz="1050">
                <a:solidFill>
                  <a:srgbClr val="262F3A"/>
                </a:solidFill>
              </a:defRPr>
            </a:pPr>
            <a:r>
              <a:t>Conditions precedent + final verification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15784" y="1828800"/>
            <a:ext cx="64008" cy="205740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400032" y="2834640"/>
            <a:ext cx="283464" cy="0"/>
          </a:xfrm>
          <a:prstGeom prst="line">
            <a:avLst/>
          </a:prstGeom>
          <a:ln w="25400">
            <a:solidFill>
              <a:srgbClr val="122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20072" y="1828800"/>
            <a:ext cx="196596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DISBURSAL</a:t>
            </a:r>
          </a:p>
          <a:p>
            <a:pPr>
              <a:spcAft>
                <a:spcPts val="400"/>
              </a:spcAft>
              <a:defRPr sz="1050">
                <a:solidFill>
                  <a:srgbClr val="262F3A"/>
                </a:solidFill>
              </a:defRPr>
            </a:pPr>
            <a:r>
              <a:t>Funds released to borrower / approved beneficiary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20072" y="1828800"/>
            <a:ext cx="64008" cy="205740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4709160"/>
            <a:ext cx="9966960" cy="960120"/>
          </a:xfrm>
          <a:prstGeom prst="roundRect">
            <a:avLst/>
          </a:prstGeom>
          <a:solidFill>
            <a:srgbClr val="FAF8F0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Important control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An approval can still be paused or cancelled if conditions are not satisfied before disbursal.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709160"/>
            <a:ext cx="64008" cy="96012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Consumer Credit &amp; Assessment  |  How Banks Approve a Loan     •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11. The Bank's Job Does Not End at Disbursal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27E"/>
                </a:solidFill>
              </a:defRPr>
            </a:pPr>
            <a:r>
              <a:t>Portfolio risk management continues after the loan is booked.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1033272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Repayment behavior</a:t>
            </a:r>
          </a:p>
          <a:p>
            <a:pPr>
              <a:spcAft>
                <a:spcPts val="400"/>
              </a:spcAft>
              <a:defRPr sz="1080">
                <a:solidFill>
                  <a:srgbClr val="262F3A"/>
                </a:solidFill>
              </a:defRPr>
            </a:pPr>
            <a:r>
              <a:t>EMI performance, missed payments, roll rates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25880"/>
            <a:ext cx="64008" cy="749808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1033272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Early-warning signals</a:t>
            </a:r>
          </a:p>
          <a:p>
            <a:pPr>
              <a:spcAft>
                <a:spcPts val="400"/>
              </a:spcAft>
              <a:defRPr sz="1080">
                <a:solidFill>
                  <a:srgbClr val="262F3A"/>
                </a:solidFill>
              </a:defRPr>
            </a:pPr>
            <a:r>
              <a:t>Cash-flow stress, repeated overdrafts, utilization changes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64008" cy="749808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246120"/>
            <a:ext cx="1033272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Collections</a:t>
            </a:r>
          </a:p>
          <a:p>
            <a:pPr>
              <a:spcAft>
                <a:spcPts val="400"/>
              </a:spcAft>
              <a:defRPr sz="1080">
                <a:solidFill>
                  <a:srgbClr val="262F3A"/>
                </a:solidFill>
              </a:defRPr>
            </a:pPr>
            <a:r>
              <a:t>Segmentation, contact strategy, cure / recovery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46120"/>
            <a:ext cx="64008" cy="749808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4206240"/>
            <a:ext cx="1033272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Portfolio monitoring</a:t>
            </a:r>
          </a:p>
          <a:p>
            <a:pPr>
              <a:spcAft>
                <a:spcPts val="400"/>
              </a:spcAft>
              <a:defRPr sz="1080">
                <a:solidFill>
                  <a:srgbClr val="262F3A"/>
                </a:solidFill>
              </a:defRPr>
            </a:pPr>
            <a:r>
              <a:t>Vintage, delinquency, default, loss and concentration trends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206240"/>
            <a:ext cx="64008" cy="749808"/>
          </a:xfrm>
          <a:prstGeom prst="rect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5166360"/>
            <a:ext cx="1033272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Model / policy feedback</a:t>
            </a:r>
          </a:p>
          <a:p>
            <a:pPr>
              <a:spcAft>
                <a:spcPts val="400"/>
              </a:spcAft>
              <a:defRPr sz="1080">
                <a:solidFill>
                  <a:srgbClr val="262F3A"/>
                </a:solidFill>
              </a:defRPr>
            </a:pPr>
            <a:r>
              <a:t>Use observed outcomes to recalibrate risk rules and underwriting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166360"/>
            <a:ext cx="64008" cy="749808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Consumer Credit &amp; Assessment  |  How Banks Approve a Loan     •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12. Metrics Used to Manage the Approval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27E"/>
                </a:solidFill>
              </a:defRPr>
            </a:pPr>
            <a:r>
              <a:t>A strong lending process balances customer experience, risk quality and operational efficiency.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38328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Approval Rate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% applications approved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Customer + policy 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160020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TAT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Application-to-decision time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Speed /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17320"/>
            <a:ext cx="64008" cy="160020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83880" y="1417320"/>
            <a:ext cx="338328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Funnel Drop-off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Where applications exit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Process friction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80" y="1417320"/>
            <a:ext cx="64008" cy="160020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3520439"/>
            <a:ext cx="338328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Delinquency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Loans past due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Portfolio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520439"/>
            <a:ext cx="64008" cy="1600200"/>
          </a:xfrm>
          <a:prstGeom prst="rect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3520439"/>
            <a:ext cx="338328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Default / Loss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Credit loss outcome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Economic performance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520439"/>
            <a:ext cx="64008" cy="16002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80" y="3520439"/>
            <a:ext cx="3383280" cy="16002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Exception Rate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Cases outside straight-through rules</a:t>
            </a: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62F3A"/>
                </a:solidFill>
              </a:defRPr>
            </a:pPr>
            <a:r>
              <a:t>Control complexity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3520439"/>
            <a:ext cx="64008" cy="160020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Consumer Credit &amp; Assessment  |  How Banks Approve a Loan     •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13. Complete Bank Loan Approval Process —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27E"/>
                </a:solidFill>
              </a:defRPr>
            </a:pPr>
            <a:r>
              <a:t>A single case, viewed through the bank's operating lens.</a:t>
            </a:r>
          </a:p>
        </p:txBody>
      </p:sp>
      <p:sp>
        <p:nvSpPr>
          <p:cNvPr id="5" name="Oval 4"/>
          <p:cNvSpPr/>
          <p:nvPr/>
        </p:nvSpPr>
        <p:spPr>
          <a:xfrm>
            <a:off x="320040" y="1828800"/>
            <a:ext cx="658368" cy="658368"/>
          </a:xfrm>
          <a:prstGeom prst="ellipse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96695" y="2157984"/>
            <a:ext cx="740665" cy="0"/>
          </a:xfrm>
          <a:prstGeom prst="line">
            <a:avLst/>
          </a:prstGeom>
          <a:ln w="2540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2879" y="2743200"/>
            <a:ext cx="9601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050" b="1">
                <a:solidFill>
                  <a:srgbClr val="12263F"/>
                </a:solidFill>
              </a:defRPr>
            </a:pPr>
            <a:r>
              <a:t>Apply</a:t>
            </a:r>
          </a:p>
          <a:p>
            <a:pPr>
              <a:spcAft>
                <a:spcPts val="400"/>
              </a:spcAft>
              <a:defRPr sz="900">
                <a:solidFill>
                  <a:srgbClr val="262F3A"/>
                </a:solidFill>
              </a:defRPr>
            </a:pPr>
            <a:r>
              <a:t>₹12L personal loan requested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79" y="2743200"/>
            <a:ext cx="64008" cy="182880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01368" y="1828800"/>
            <a:ext cx="658368" cy="658368"/>
          </a:xfrm>
          <a:prstGeom prst="ellipse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78024" y="2157984"/>
            <a:ext cx="740664" cy="0"/>
          </a:xfrm>
          <a:prstGeom prst="line">
            <a:avLst/>
          </a:prstGeom>
          <a:ln w="2540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664208" y="2743200"/>
            <a:ext cx="9601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050" b="1">
                <a:solidFill>
                  <a:srgbClr val="12263F"/>
                </a:solidFill>
              </a:defRPr>
            </a:pPr>
            <a:r>
              <a:t>Verify</a:t>
            </a:r>
          </a:p>
          <a:p>
            <a:pPr>
              <a:spcAft>
                <a:spcPts val="400"/>
              </a:spcAft>
              <a:defRPr sz="900">
                <a:solidFill>
                  <a:srgbClr val="262F3A"/>
                </a:solidFill>
              </a:defRPr>
            </a:pPr>
            <a:r>
              <a:t>KYC + income + employment validated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64208" y="2743200"/>
            <a:ext cx="64008" cy="1828800"/>
          </a:xfrm>
          <a:prstGeom prst="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82696" y="1828800"/>
            <a:ext cx="658368" cy="658368"/>
          </a:xfrm>
          <a:prstGeom prst="ellipse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59352" y="2157984"/>
            <a:ext cx="740664" cy="0"/>
          </a:xfrm>
          <a:prstGeom prst="line">
            <a:avLst/>
          </a:prstGeom>
          <a:ln w="2540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145536" y="2743200"/>
            <a:ext cx="9601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050" b="1">
                <a:solidFill>
                  <a:srgbClr val="12263F"/>
                </a:solidFill>
              </a:defRPr>
            </a:pPr>
            <a:r>
              <a:t>Underwrite</a:t>
            </a:r>
          </a:p>
          <a:p>
            <a:pPr>
              <a:spcAft>
                <a:spcPts val="400"/>
              </a:spcAft>
              <a:defRPr sz="900">
                <a:solidFill>
                  <a:srgbClr val="262F3A"/>
                </a:solidFill>
              </a:defRPr>
            </a:pPr>
            <a:r>
              <a:t>Capacity + bureau + stability assessed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45536" y="2743200"/>
            <a:ext cx="64008" cy="1828800"/>
          </a:xfrm>
          <a:prstGeom prst="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64024" y="1828800"/>
            <a:ext cx="658368" cy="658368"/>
          </a:xfrm>
          <a:prstGeom prst="ellipse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40680" y="2157984"/>
            <a:ext cx="740664" cy="0"/>
          </a:xfrm>
          <a:prstGeom prst="line">
            <a:avLst/>
          </a:prstGeom>
          <a:ln w="2540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626864" y="2743200"/>
            <a:ext cx="9601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050" b="1">
                <a:solidFill>
                  <a:srgbClr val="12263F"/>
                </a:solidFill>
              </a:defRPr>
            </a:pPr>
            <a:r>
              <a:t>Decision</a:t>
            </a:r>
          </a:p>
          <a:p>
            <a:pPr>
              <a:spcAft>
                <a:spcPts val="400"/>
              </a:spcAft>
              <a:defRPr sz="900">
                <a:solidFill>
                  <a:srgbClr val="262F3A"/>
                </a:solidFill>
              </a:defRPr>
            </a:pPr>
            <a:r>
              <a:t>Policy + score + affordability combined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26864" y="2743200"/>
            <a:ext cx="64008" cy="1828800"/>
          </a:xfrm>
          <a:prstGeom prst="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45352" y="1828800"/>
            <a:ext cx="658368" cy="658368"/>
          </a:xfrm>
          <a:prstGeom prst="ellipse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22008" y="2157984"/>
            <a:ext cx="740664" cy="0"/>
          </a:xfrm>
          <a:prstGeom prst="line">
            <a:avLst/>
          </a:prstGeom>
          <a:ln w="2540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08192" y="2743200"/>
            <a:ext cx="9601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050" b="1">
                <a:solidFill>
                  <a:srgbClr val="12263F"/>
                </a:solidFill>
              </a:defRPr>
            </a:pPr>
            <a:r>
              <a:t>Approve</a:t>
            </a:r>
          </a:p>
          <a:p>
            <a:pPr>
              <a:spcAft>
                <a:spcPts val="400"/>
              </a:spcAft>
              <a:defRPr sz="900">
                <a:solidFill>
                  <a:srgbClr val="262F3A"/>
                </a:solidFill>
              </a:defRPr>
            </a:pPr>
            <a:r>
              <a:t>Terms sanctioned; conditions defined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08192" y="2743200"/>
            <a:ext cx="64008" cy="182880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26680" y="1828800"/>
            <a:ext cx="658368" cy="658368"/>
          </a:xfrm>
          <a:prstGeom prst="ellipse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03336" y="2157984"/>
            <a:ext cx="740664" cy="0"/>
          </a:xfrm>
          <a:prstGeom prst="line">
            <a:avLst/>
          </a:prstGeom>
          <a:ln w="2540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589520" y="2743200"/>
            <a:ext cx="9601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050" b="1">
                <a:solidFill>
                  <a:srgbClr val="12263F"/>
                </a:solidFill>
              </a:defRPr>
            </a:pPr>
            <a:r>
              <a:t>Document</a:t>
            </a:r>
          </a:p>
          <a:p>
            <a:pPr>
              <a:spcAft>
                <a:spcPts val="400"/>
              </a:spcAft>
              <a:defRPr sz="900">
                <a:solidFill>
                  <a:srgbClr val="262F3A"/>
                </a:solidFill>
              </a:defRPr>
            </a:pPr>
            <a:r>
              <a:t>Agreement + mandates completed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2743200"/>
            <a:ext cx="64008" cy="182880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08008" y="1828800"/>
            <a:ext cx="658368" cy="658368"/>
          </a:xfrm>
          <a:prstGeom prst="ellipse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84664" y="2157984"/>
            <a:ext cx="740664" cy="0"/>
          </a:xfrm>
          <a:prstGeom prst="line">
            <a:avLst/>
          </a:prstGeom>
          <a:ln w="2540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070848" y="2743200"/>
            <a:ext cx="9601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050" b="1">
                <a:solidFill>
                  <a:srgbClr val="12263F"/>
                </a:solidFill>
              </a:defRPr>
            </a:pPr>
            <a:r>
              <a:t>Disburse</a:t>
            </a:r>
          </a:p>
          <a:p>
            <a:pPr>
              <a:spcAft>
                <a:spcPts val="400"/>
              </a:spcAft>
              <a:defRPr sz="900">
                <a:solidFill>
                  <a:srgbClr val="262F3A"/>
                </a:solidFill>
              </a:defRPr>
            </a:pPr>
            <a:r>
              <a:t>Funds released after controls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70848" y="2743200"/>
            <a:ext cx="64008" cy="1828800"/>
          </a:xfrm>
          <a:prstGeom prst="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89336" y="1828800"/>
            <a:ext cx="658368" cy="658368"/>
          </a:xfrm>
          <a:prstGeom prst="ellipse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52176" y="2743200"/>
            <a:ext cx="9601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050" b="1">
                <a:solidFill>
                  <a:srgbClr val="12263F"/>
                </a:solidFill>
              </a:defRPr>
            </a:pPr>
            <a:r>
              <a:t>Monitor</a:t>
            </a:r>
          </a:p>
          <a:p>
            <a:pPr>
              <a:spcAft>
                <a:spcPts val="400"/>
              </a:spcAft>
              <a:defRPr sz="900">
                <a:solidFill>
                  <a:srgbClr val="262F3A"/>
                </a:solidFill>
              </a:defRPr>
            </a:pPr>
            <a:r>
              <a:t>Repayment and risk signals tracked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52176" y="2743200"/>
            <a:ext cx="64008" cy="18288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97280" y="5166360"/>
            <a:ext cx="9966960" cy="822960"/>
          </a:xfrm>
          <a:prstGeom prst="roundRect">
            <a:avLst/>
          </a:prstGeom>
          <a:solidFill>
            <a:srgbClr val="F7F9FC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/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Core principle</a:t>
            </a:r>
          </a:p>
          <a:p>
            <a:pPr>
              <a:spcAft>
                <a:spcPts val="400"/>
              </a:spcAft>
              <a:defRPr sz="1200">
                <a:solidFill>
                  <a:srgbClr val="262F3A"/>
                </a:solidFill>
              </a:defRPr>
            </a:pPr>
            <a:r>
              <a:t>The loan decision is a controlled sequence of evidence, risk assessment, policy application and documented judgment.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7280" y="5166360"/>
            <a:ext cx="64008" cy="82296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Consumer Credit &amp; Assessment  |  How Banks Approve a Loan     •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14. Key Takeaways for Credit Professionals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502920" cy="347472"/>
          </a:xfrm>
          <a:prstGeom prst="round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0759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Loan approval is a process — not a single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75688"/>
            <a:ext cx="502920" cy="347472"/>
          </a:xfrm>
          <a:prstGeom prst="round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Underwriting tests both repayment capacity and risk quality.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25496"/>
            <a:ext cx="502920" cy="347472"/>
          </a:xfrm>
          <a:prstGeom prst="roundRect">
            <a:avLst/>
          </a:prstGeom>
          <a:solidFill>
            <a:srgbClr val="D2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0720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Decision engines combine policy rules, models and exception handling.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75304"/>
            <a:ext cx="502920" cy="347472"/>
          </a:xfrm>
          <a:prstGeom prst="round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557016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Approval terms can be shaped by risk: amount, tenor, pricing, collateral and conditions.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25112"/>
            <a:ext cx="502920" cy="347472"/>
          </a:xfrm>
          <a:prstGeom prst="roundRect">
            <a:avLst/>
          </a:prstGeom>
          <a:solidFill>
            <a:srgbClr val="24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306824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Documentation and pre-disbursal controls are part of the credit process.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074920"/>
            <a:ext cx="502920" cy="347472"/>
          </a:xfrm>
          <a:prstGeom prst="roundRect">
            <a:avLst/>
          </a:prstGeom>
          <a:solidFill>
            <a:srgbClr val="14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05663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Post-disbursal monitoring closes the learning loop back into underwriting.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5989320"/>
            <a:ext cx="4114800" cy="347472"/>
          </a:xfrm>
          <a:prstGeom prst="roundRect">
            <a:avLst/>
          </a:prstGeom>
          <a:solidFill>
            <a:srgbClr val="2A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FROM APPLICATION → CONTROLLED CREDIT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7727E"/>
                </a:solidFill>
              </a:defRPr>
            </a:pPr>
            <a:r>
              <a:t>Consumer Credit &amp; Assessment  |  How Banks Approve a Loan     •   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