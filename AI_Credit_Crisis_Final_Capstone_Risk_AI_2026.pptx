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142744"/>
          </a:solidFill>
          <a:ln>
            <a:solidFill>
              <a:srgbClr val="14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75320" y="365760"/>
            <a:ext cx="0" cy="612648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869680" y="365760"/>
            <a:ext cx="0" cy="612648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464040" y="365760"/>
            <a:ext cx="0" cy="612648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0" y="365760"/>
            <a:ext cx="0" cy="612648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52760" y="365760"/>
            <a:ext cx="0" cy="612648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247120" y="365760"/>
            <a:ext cx="0" cy="612648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83879" y="502920"/>
            <a:ext cx="3794761" cy="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83879" y="1216152"/>
            <a:ext cx="3794761" cy="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83879" y="1929384"/>
            <a:ext cx="3794761" cy="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83879" y="2642615"/>
            <a:ext cx="3794761" cy="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83879" y="3355848"/>
            <a:ext cx="3794761" cy="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83879" y="4069080"/>
            <a:ext cx="3794761" cy="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83879" y="4782312"/>
            <a:ext cx="3794761" cy="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83879" y="5495544"/>
            <a:ext cx="3794761" cy="0"/>
          </a:xfrm>
          <a:prstGeom prst="line">
            <a:avLst/>
          </a:prstGeom>
          <a:ln w="12700">
            <a:solidFill>
              <a:srgbClr val="26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549640" y="4526280"/>
            <a:ext cx="246888" cy="914400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25128" y="3977639"/>
            <a:ext cx="246888" cy="1463040"/>
          </a:xfrm>
          <a:prstGeom prst="rect">
            <a:avLst/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0616" y="4297680"/>
            <a:ext cx="246888" cy="1143000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76104" y="3246120"/>
            <a:ext cx="246888" cy="2194560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51592" y="3703320"/>
            <a:ext cx="246888" cy="1737360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27080" y="2560320"/>
            <a:ext cx="246888" cy="2880360"/>
          </a:xfrm>
          <a:prstGeom prst="rect">
            <a:avLst/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694944"/>
            <a:ext cx="1874519" cy="310896"/>
          </a:xfrm>
          <a:prstGeom prst="roundRect">
            <a:avLst>
              <a:gd name="adj" fmla="val 12000"/>
            </a:avLst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726948"/>
            <a:ext cx="1801367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FINAL CAPSTONE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1417320"/>
            <a:ext cx="71323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3600" b="1" i="0">
                <a:solidFill>
                  <a:srgbClr val="F7F9FC"/>
                </a:solidFill>
                <a:latin typeface="Aptos"/>
              </a:defRPr>
            </a:pPr>
            <a:r>
              <a:t>THE AI</a:t>
            </a:r>
          </a:p>
          <a:p>
            <a:pPr algn="l">
              <a:spcAft>
                <a:spcPts val="400"/>
              </a:spcAft>
              <a:defRPr sz="3600" b="1" i="0">
                <a:solidFill>
                  <a:srgbClr val="F7F9FC"/>
                </a:solidFill>
                <a:latin typeface="Aptos"/>
              </a:defRPr>
            </a:pPr>
            <a:r>
              <a:t>CREDIT CRISIS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154680"/>
            <a:ext cx="6583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200" b="1" i="0">
                <a:solidFill>
                  <a:srgbClr val="5BD2CF"/>
                </a:solidFill>
                <a:latin typeface="Aptos"/>
              </a:defRPr>
            </a:pPr>
            <a:r>
              <a:t>Can a bank scale lending with AI</a:t>
            </a:r>
          </a:p>
          <a:p>
            <a:pPr algn="l">
              <a:spcAft>
                <a:spcPts val="400"/>
              </a:spcAft>
              <a:defRPr sz="2200" b="1" i="0">
                <a:solidFill>
                  <a:srgbClr val="5BD2CF"/>
                </a:solidFill>
                <a:latin typeface="Aptos"/>
              </a:defRPr>
            </a:pPr>
            <a:r>
              <a:t>without losing trust?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251960"/>
            <a:ext cx="630936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E1E9F2"/>
                </a:solidFill>
                <a:latin typeface="Aptos"/>
              </a:defRPr>
            </a:pPr>
            <a:r>
              <a:t>Risk &amp; AI 2026  |  Apex Bank (fictional case)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E1E9F2"/>
                </a:solidFill>
                <a:latin typeface="Aptos"/>
              </a:defRPr>
            </a:pPr>
            <a:r>
              <a:t>From raw data to responsible credit decisions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9808" y="5897880"/>
            <a:ext cx="6291072" cy="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8" y="6099048"/>
            <a:ext cx="6675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A3B2C6"/>
                </a:solidFill>
                <a:latin typeface="Aptos"/>
              </a:defRPr>
            </a:pPr>
            <a:r>
              <a:t>BUSINESS VALUE  ×  MODEL PERFORMANCE  ×  RESPONSIBLE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01 | 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Apex Bank has a growth decision — and a risk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A realistic composite scenario; Apex Bank and all scenario metrics are illustrative.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20440" cy="1481328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1481328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2082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BUSINESS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04872"/>
            <a:ext cx="3154680" cy="8595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Digital applications are rising. Leadership wants faster decisions, lower operating cost and profitable growth.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1481328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64008" cy="1481328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2082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CREDIT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04872"/>
            <a:ext cx="3154680" cy="8595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The bank must identify borrowers likely to default, including when unemployment and debt burdens rise.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520440" cy="1481328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64008" cy="1481328"/>
          </a:xfrm>
          <a:prstGeom prst="rect">
            <a:avLst/>
          </a:prstGeom>
          <a:solidFill>
            <a:srgbClr val="DE5A5A"/>
          </a:solidFill>
          <a:ln>
            <a:solidFill>
              <a:srgbClr val="DE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02082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TRUST &amp;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04872"/>
            <a:ext cx="3154680" cy="8595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Customers need fair treatment, meaningful explanations, data protection and a review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22191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EA9"/>
                </a:solidFill>
                <a:latin typeface="Aptos"/>
              </a:defRPr>
            </a:pPr>
            <a:r>
              <a:t>THE MODEL CHOICE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87952"/>
            <a:ext cx="4983480" cy="141732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187952"/>
            <a:ext cx="64008" cy="1417320"/>
          </a:xfrm>
          <a:prstGeom prst="rect">
            <a:avLst/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334256"/>
            <a:ext cx="4617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TRADITIONAL SCORECARD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718304"/>
            <a:ext cx="461772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E1E9F2"/>
                </a:solidFill>
                <a:latin typeface="Aptos"/>
              </a:defRPr>
            </a:pPr>
            <a:r>
              <a:t>More transparent and familiar; may miss complex, non-linear relationships.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187952"/>
            <a:ext cx="4983480" cy="141732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4187952"/>
            <a:ext cx="64008" cy="1417320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7" y="4334256"/>
            <a:ext cx="4617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MACHINE LEARNING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7" y="4718304"/>
            <a:ext cx="461772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E1E9F2"/>
                </a:solidFill>
                <a:latin typeface="Aptos"/>
              </a:defRPr>
            </a:pPr>
            <a:r>
              <a:t>May capture complex patterns; can be harder to explain, validate and govern.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15000" y="4892040"/>
            <a:ext cx="612648" cy="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42432" y="4590288"/>
            <a:ext cx="5669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VS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925312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7F9FC"/>
                </a:solidFill>
                <a:latin typeface="Aptos"/>
              </a:defRPr>
            </a:pPr>
            <a:r>
              <a:t>Executive mandate: choose the model and operating controls — not just the highest metric.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CASE CONTEXT | ILLUSTRATIVE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02 | SIX MODULES, ONE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The capstone is the integration test for the full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Each module contributes a distinct control or capability to the same credit decision.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246120" cy="150876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12264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44268"/>
            <a:ext cx="457199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21408"/>
            <a:ext cx="226771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AI &amp;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87752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AI history, ML, neural nets,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GenAI and AI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965960"/>
            <a:ext cx="3246120" cy="150876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98264" y="2112264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144268"/>
            <a:ext cx="457199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2121408"/>
            <a:ext cx="226771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TOOLS &amp; TECHNIQUES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587752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Data prep, learning methods,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NLP, estimation,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08975" y="1965960"/>
            <a:ext cx="3246120" cy="150876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73567" y="2112264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3" y="2144268"/>
            <a:ext cx="457199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121408"/>
            <a:ext cx="226771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RISK FACTORS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5" y="2587752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Bias, explainability, autonomy,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reputation and GenAI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77639"/>
            <a:ext cx="3246120" cy="150876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59" y="4123944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DE5A5A"/>
          </a:solidFill>
          <a:ln>
            <a:solidFill>
              <a:srgbClr val="DE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155948"/>
            <a:ext cx="457199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M4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133087"/>
            <a:ext cx="226771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RESPONSIBLE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599431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Ethics, privacy, cybersecurity,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regulatory landscape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33672" y="3977639"/>
            <a:ext cx="3246120" cy="150876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98264" y="4123944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155948"/>
            <a:ext cx="457199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M5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8344" y="4133087"/>
            <a:ext cx="226771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4599431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Validation, documentation,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change and lifecycle control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08975" y="3977639"/>
            <a:ext cx="3246120" cy="150876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73567" y="4123944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0143" y="4155948"/>
            <a:ext cx="457199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M6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4133087"/>
            <a:ext cx="2267712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PRACTITIONER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91855" y="4599431"/>
            <a:ext cx="28346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Loan defaults, scoring, macro,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market risk and prepayment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879592"/>
            <a:ext cx="107899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5BD2CF"/>
                </a:solidFill>
                <a:latin typeface="Aptos"/>
              </a:defRPr>
            </a:pPr>
            <a:r>
              <a:t>Success means joining prediction, decision policy, ethical safeguards and governance into one operating system.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03 | CASE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Start with a controlled, auditable lending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Use synthetic or appropriately licensed de-identified data for the teaching project.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429000" cy="135331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64008" cy="1353312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082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04872"/>
            <a:ext cx="306324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Predict 12-month default for an eligible personal-loan applicant.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74519"/>
            <a:ext cx="3429000" cy="135331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874519"/>
            <a:ext cx="64008" cy="1353312"/>
          </a:xfrm>
          <a:prstGeom prst="rect">
            <a:avLst/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2082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OBSERVATION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04872"/>
            <a:ext cx="306324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One applicant at application date; no information from after the decision.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74519"/>
            <a:ext cx="3429000" cy="135331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874519"/>
            <a:ext cx="64008" cy="1353312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02082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404872"/>
            <a:ext cx="306324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Default = defined delinquency / charge-off event within the outcome window.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11880"/>
            <a:ext cx="3840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EA9"/>
                </a:solidFill>
                <a:latin typeface="Aptos"/>
              </a:defRPr>
            </a:pPr>
            <a:r>
              <a:t>CANDIDATE FEATURE FAMILIES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05072"/>
            <a:ext cx="5230368" cy="62179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87368"/>
            <a:ext cx="12344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078224"/>
            <a:ext cx="3657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Income, debt-to-income, employment stability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4005072"/>
            <a:ext cx="5230368" cy="62179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087368"/>
            <a:ext cx="12344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BD2CF"/>
                </a:solidFill>
                <a:latin typeface="Aptos"/>
              </a:defRPr>
            </a:pPr>
            <a:r>
              <a:t>BEHAVIOUR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78224"/>
            <a:ext cx="3657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Prior delinquencies, utilization, repayment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809744"/>
            <a:ext cx="5230368" cy="62179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2344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BB44B"/>
                </a:solidFill>
                <a:latin typeface="Aptos"/>
              </a:defRPr>
            </a:pPr>
            <a:r>
              <a:t>EXPOSURE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882896"/>
            <a:ext cx="3657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Requested amount, term, existing obligations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4809744"/>
            <a:ext cx="5230368" cy="62179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892040"/>
            <a:ext cx="12344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DE5A5A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882896"/>
            <a:ext cx="3657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Vintage, geography where lawful, macroeconomic indicators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9788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7F9FC"/>
                </a:solidFill>
                <a:latin typeface="Aptos"/>
              </a:defRPr>
            </a:pPr>
            <a:r>
              <a:t>Controls: time-based train / validation / test split • leakage checks • missingness analysis • data lineage • label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04 | BUILD 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Compare models on the same evidence — not on different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A fair model bake-off keeps the target, data split and evaluation criteria consistent.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719072" cy="160020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31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2487168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9172"/>
            <a:ext cx="40233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07792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273552"/>
            <a:ext cx="14447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Quality, leakage,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missingness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86584" y="3127248"/>
            <a:ext cx="512064" cy="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44368" y="2331720"/>
            <a:ext cx="1719072" cy="160020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31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90672" y="2487168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519172"/>
            <a:ext cx="40233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907792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273552"/>
            <a:ext cx="14447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Logistic regression /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scorecard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90872" y="3127248"/>
            <a:ext cx="512064" cy="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48656" y="2331720"/>
            <a:ext cx="1719072" cy="160020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31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94960" y="2487168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1536" y="2519172"/>
            <a:ext cx="40233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907792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CHALLENGER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273552"/>
            <a:ext cx="14447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Tree ensemble or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other ML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95160" y="3127248"/>
            <a:ext cx="512063" cy="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52944" y="2331720"/>
            <a:ext cx="1719072" cy="160020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31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99248" y="2487168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35823" y="2519172"/>
            <a:ext cx="40233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2907792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CALIBRATE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3273552"/>
            <a:ext cx="14447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PD calibration,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threshold policy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99448" y="3127248"/>
            <a:ext cx="512063" cy="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57232" y="2331720"/>
            <a:ext cx="1719072" cy="160020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31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03536" y="2487168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DE5A5A"/>
          </a:solidFill>
          <a:ln>
            <a:solidFill>
              <a:srgbClr val="DE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1" y="2519172"/>
            <a:ext cx="40233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3536" y="2907792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3273552"/>
            <a:ext cx="14447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Out-of-time and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segment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407408"/>
            <a:ext cx="5120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EA9"/>
                </a:solidFill>
                <a:latin typeface="Aptos"/>
              </a:defRPr>
            </a:pPr>
            <a:r>
              <a:t>MEASURE MORE THAN AUC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54880"/>
            <a:ext cx="5166360" cy="1143000"/>
          </a:xfrm>
          <a:prstGeom prst="rect">
            <a:avLst/>
          </a:prstGeom>
          <a:noFill/>
        </p:spPr>
        <p:txBody>
          <a:bodyPr wrap="square" lIns="73152" rIns="54864" tIns="54864" bIns="36576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Discrimination: ROC-AUC / PR-AUC</a:t>
            </a:r>
          </a:p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Calibration: predicted PD vs observed default</a:t>
            </a:r>
          </a:p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Stability: time, product and customer segments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407408"/>
            <a:ext cx="48463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EBB44B"/>
                </a:solidFill>
                <a:latin typeface="Aptos"/>
              </a:defRPr>
            </a:pPr>
            <a:r>
              <a:t>CONNECT MODEL TO BUSINESS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4754880"/>
            <a:ext cx="5120640" cy="1143000"/>
          </a:xfrm>
          <a:prstGeom prst="rect">
            <a:avLst/>
          </a:prstGeom>
          <a:noFill/>
        </p:spPr>
        <p:txBody>
          <a:bodyPr wrap="square" lIns="73152" rIns="54864" tIns="54864" bIns="36576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False approvals can increase credit losses</a:t>
            </a:r>
          </a:p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False declines can lose good customers</a:t>
            </a:r>
          </a:p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Thresholds depend on risk appetite and economics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05 | ILLUSTRATIVE NUMERICAL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A better ranking model is not automatically the better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All values below are illustrative teaching assumptions — not observed bank results.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993392"/>
          <a:ext cx="6537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371600"/>
                <a:gridCol w="1371600"/>
                <a:gridCol w="1371600"/>
              </a:tblGrid>
              <a:tr h="5257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Scorecard</a:t>
                      </a:r>
                    </a:p>
                  </a:txBody>
                  <a:tcPr>
                    <a:solidFill>
                      <a:srgbClr val="0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ML challenger</a:t>
                      </a:r>
                    </a:p>
                  </a:txBody>
                  <a:tcPr>
                    <a:solidFill>
                      <a:srgbClr val="0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00AEA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Ranking</a:t>
                      </a:r>
                    </a:p>
                  </a:txBody>
                  <a:tcPr>
                    <a:solidFill>
                      <a:srgbClr val="14274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Brier score</a:t>
                      </a:r>
                    </a:p>
                  </a:txBody>
                  <a:tcPr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0.142</a:t>
                      </a:r>
                    </a:p>
                  </a:txBody>
                  <a:tcPr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0.151</a:t>
                      </a:r>
                    </a:p>
                  </a:txBody>
                  <a:tcPr>
                    <a:solidFill>
                      <a:srgbClr val="1C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Lower is better</a:t>
                      </a:r>
                    </a:p>
                  </a:txBody>
                  <a:tcPr>
                    <a:solidFill>
                      <a:srgbClr val="1C304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Out-of-time AUC</a:t>
                      </a:r>
                    </a:p>
                  </a:txBody>
                  <a:tcPr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Stability warning</a:t>
                      </a:r>
                    </a:p>
                  </a:txBody>
                  <a:tcPr>
                    <a:solidFill>
                      <a:srgbClr val="14274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993392"/>
            <a:ext cx="3886200" cy="210312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993392"/>
            <a:ext cx="64008" cy="2103120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2139696"/>
            <a:ext cx="3520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WHAT THE NUMBERS SAY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2523744"/>
            <a:ext cx="3520440" cy="14813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ML ranks risk better in the development sample, but its calibration and out-of-time performance are weaker in this illustration.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62272"/>
            <a:ext cx="49377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EA9"/>
                </a:solidFill>
                <a:latin typeface="Aptos"/>
              </a:defRPr>
            </a:pPr>
            <a:r>
              <a:t>EXAMPLE: EXPECTED CREDIT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49377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F7F9FC"/>
                </a:solidFill>
                <a:latin typeface="Aptos"/>
              </a:defRPr>
            </a:pPr>
            <a:r>
              <a:t>ECL = PD × LGD × EAD</a:t>
            </a:r>
          </a:p>
          <a:p>
            <a:pPr algn="l">
              <a:spcAft>
                <a:spcPts val="400"/>
              </a:spcAft>
              <a:defRPr sz="1700" b="1" i="0">
                <a:solidFill>
                  <a:srgbClr val="F7F9FC"/>
                </a:solidFill>
                <a:latin typeface="Aptos"/>
              </a:defRPr>
            </a:pPr>
            <a:r>
              <a:t>PD 4% × LGD 45% × EAD $10,000 = $180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462272"/>
            <a:ext cx="50292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EBB44B"/>
                </a:solidFill>
                <a:latin typeface="Aptos"/>
              </a:defRPr>
            </a:pPr>
            <a:r>
              <a:t>DECISION 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4828032"/>
            <a:ext cx="50749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E1E9F2"/>
                </a:solidFill>
                <a:latin typeface="Aptos"/>
              </a:defRPr>
            </a:pPr>
            <a:r>
              <a:t>Do not deploy on AUC alone. Investigate calibration, drift, segment outcomes and the cost of false approvals / false declines.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ILLUSTRATIVE DATA | NOT A REAL BANK BENCHMARK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06 | FROM SCORE TO CUSTOMER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Every decision needs a defensible path from evidence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Example borrower profile and model output are synthetic and used only to demonstrate workflow.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2971800" cy="199339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64008" cy="1993392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2606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BORROWER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68880"/>
            <a:ext cx="26060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Annual income: $62,000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DTI: 46%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Recent delinquency: Yes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Utilization: 82%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938528"/>
            <a:ext cx="3246120" cy="199339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938528"/>
            <a:ext cx="64008" cy="1993392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7" y="2084832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MODEL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7" y="2468880"/>
            <a:ext cx="28803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Illustrative predicted PD: 8.4%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Policy threshold: 6.0%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Outcome: Refer for manual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938528"/>
            <a:ext cx="3840480" cy="199339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938528"/>
            <a:ext cx="64008" cy="1993392"/>
          </a:xfrm>
          <a:prstGeom prst="rect">
            <a:avLst/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2084832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EXPLANATION &amp;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468880"/>
            <a:ext cx="34747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1E9F2"/>
                </a:solidFill>
                <a:latin typeface="Aptos"/>
              </a:defRPr>
            </a:pPr>
            <a:r>
              <a:t>Drivers to investigate: high DTI, recent delinquency and high utilization. Verify data, policy rules and any mitigating evidence.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03320" y="2907792"/>
            <a:ext cx="210312" cy="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9480" y="2907792"/>
            <a:ext cx="210312" cy="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315968"/>
            <a:ext cx="4937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EA9"/>
                </a:solidFill>
                <a:latin typeface="Aptos"/>
              </a:defRPr>
            </a:pPr>
            <a:r>
              <a:t>EXPLAINABILITY MUST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45152"/>
            <a:ext cx="5074920" cy="1097280"/>
          </a:xfrm>
          <a:prstGeom prst="rect">
            <a:avLst/>
          </a:prstGeom>
          <a:noFill/>
        </p:spPr>
        <p:txBody>
          <a:bodyPr wrap="square" lIns="73152" rIns="54864" tIns="54864" bIns="36576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Why did the model assign this risk?</a:t>
            </a:r>
          </a:p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Which factors can the customer or analyst verify?</a:t>
            </a:r>
          </a:p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What does the explanation not prove?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4315968"/>
            <a:ext cx="4846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EBB44B"/>
                </a:solidFill>
                <a:latin typeface="Aptos"/>
              </a:defRPr>
            </a:pPr>
            <a:r>
              <a:t>CONTROL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645152"/>
            <a:ext cx="5074920" cy="1097280"/>
          </a:xfrm>
          <a:prstGeom prst="rect">
            <a:avLst/>
          </a:prstGeom>
          <a:noFill/>
        </p:spPr>
        <p:txBody>
          <a:bodyPr wrap="square" lIns="73152" rIns="54864" tIns="54864" bIns="36576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SHAP is an explanation aid, not a causal proof</a:t>
            </a:r>
          </a:p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Never expose sensitive or irrelevant personal data</a:t>
            </a:r>
          </a:p>
          <a:p>
            <a:pPr>
              <a:spcAft>
                <a:spcPts val="500"/>
              </a:spcAft>
              <a:defRPr sz="1200">
                <a:solidFill>
                  <a:srgbClr val="E1E9F2"/>
                </a:solidFill>
                <a:latin typeface="Aptos"/>
              </a:defRPr>
            </a:pPr>
            <a:r>
              <a:t>•  Keep a documented human-review and appeal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SYNTHETIC BORROWER 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07 | RESPONSIBLE AI CONTROL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A model can be predictive and still be unacceptable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Evaluate the complete decision system: data, model, policy, users and outcomes.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606040" cy="1938528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64008" cy="1938528"/>
          </a:xfrm>
          <a:prstGeom prst="rect">
            <a:avLst/>
          </a:prstGeom>
          <a:solidFill>
            <a:srgbClr val="DE5A5A"/>
          </a:solidFill>
          <a:ln>
            <a:solidFill>
              <a:srgbClr val="DE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49424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FAIRNESS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33472"/>
            <a:ext cx="224028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Compare approval / error rates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across legally relevant groups.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Investigate proxies and sample bias.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2103120"/>
            <a:ext cx="2606040" cy="1938528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1296" y="2103120"/>
            <a:ext cx="64008" cy="1938528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3" y="2249424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PRIVACY &amp;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2633472"/>
            <a:ext cx="224028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Minimize data, control access,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protect sensitive fields and test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for leakage / prompt injection.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103120"/>
            <a:ext cx="2606040" cy="1938528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4224" y="2103120"/>
            <a:ext cx="64008" cy="1938528"/>
          </a:xfrm>
          <a:prstGeom prst="rect">
            <a:avLst/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249424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633472"/>
            <a:ext cx="224028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Document global drivers and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case-level reasons; test whether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explanations are stable and useful.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2" y="2103120"/>
            <a:ext cx="2606040" cy="1938528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17152" y="2103120"/>
            <a:ext cx="64008" cy="1938528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249424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633472"/>
            <a:ext cx="2240280" cy="1316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Independent validation, model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inventory, approvals, versioning,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change control and audit 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DE5A5A"/>
                </a:solidFill>
                <a:latin typeface="Aptos"/>
              </a:defRPr>
            </a:pPr>
            <a:r>
              <a:t>RED FLAGS THAT SHOULD STOP OR LIMIT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DE5A5A"/>
                </a:solidFill>
                <a:latin typeface="Aptos"/>
              </a:defRPr>
            </a:pPr>
            <a:r>
              <a:t>DATA LEAKAGE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4892040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Feature contains post-decision information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489204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DE5A5A"/>
                </a:solidFill>
                <a:latin typeface="Aptos"/>
              </a:defRPr>
            </a:pPr>
            <a:r>
              <a:t>UNEXPLAINED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4892040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Material group disparity with no defensible rationale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DE5A5A"/>
                </a:solidFill>
                <a:latin typeface="Aptos"/>
              </a:defRPr>
            </a:pPr>
            <a:r>
              <a:t>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5458968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Population / performance shift beyond approved tolerance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5458968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DE5A5A"/>
                </a:solidFill>
                <a:latin typeface="Aptos"/>
              </a:defRPr>
            </a:pPr>
            <a:r>
              <a:t>GENAI MISUSE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5458968"/>
            <a:ext cx="3749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E1E9F2"/>
                </a:solidFill>
                <a:latin typeface="Aptos"/>
              </a:defRPr>
            </a:pPr>
            <a:r>
              <a:t>LLM invents evidence or sends customer data to an unapproved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08 | STRESS, MONITOR &amp; RESPOND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The real test starts after the model goes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Stress scenarios are designed assumptions; they are not forecasts or claims about current conditions.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3337560" cy="1481328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64008" cy="1481328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BASE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68880"/>
            <a:ext cx="2971800" cy="8595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Unemployment and repayment patterns remain near the reference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938528"/>
            <a:ext cx="3337560" cy="1481328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938528"/>
            <a:ext cx="64008" cy="1481328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8483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DOWNTURN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971800" cy="8595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Income pressure rises; arrears and utilization increase; observed default rate worsens.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38528"/>
            <a:ext cx="3337560" cy="1481328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38528"/>
            <a:ext cx="64008" cy="1481328"/>
          </a:xfrm>
          <a:prstGeom prst="rect">
            <a:avLst/>
          </a:prstGeom>
          <a:solidFill>
            <a:srgbClr val="DE5A5A"/>
          </a:solidFill>
          <a:ln>
            <a:solidFill>
              <a:srgbClr val="DE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08483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DATA / MODEL SHOCK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68880"/>
            <a:ext cx="2971800" cy="8595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Application mix changes or a key input pipeline breaks; score distribution shifts.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22191"/>
            <a:ext cx="4937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EA9"/>
                </a:solidFill>
                <a:latin typeface="Aptos"/>
              </a:defRPr>
            </a:pPr>
            <a:r>
              <a:t>MONITORING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187952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29100"/>
            <a:ext cx="18105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0C1930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229100"/>
            <a:ext cx="4206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Missingness • schema • freshness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617720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58868"/>
            <a:ext cx="18105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0C1930"/>
                </a:solidFill>
                <a:latin typeface="Aptos"/>
              </a:defRPr>
            </a:pPr>
            <a:r>
              <a:t>POPULATION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658868"/>
            <a:ext cx="4206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PSI / segment mix • score distribution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047488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88636"/>
            <a:ext cx="18105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0C1930"/>
                </a:solidFill>
                <a:latin typeface="Aptos"/>
              </a:defRPr>
            </a:pPr>
            <a:r>
              <a:t>MODEL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088636"/>
            <a:ext cx="4206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AUC • calibration • observed defaults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477256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DE5A5A"/>
          </a:solidFill>
          <a:ln>
            <a:solidFill>
              <a:srgbClr val="DE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518404"/>
            <a:ext cx="18105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0C1930"/>
                </a:solidFill>
                <a:latin typeface="Aptos"/>
              </a:defRPr>
            </a:pPr>
            <a:r>
              <a:t>OUTCOME &amp; FAIRNESS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518404"/>
            <a:ext cx="4206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Approval rates • overrides • complaints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4041648"/>
            <a:ext cx="3886200" cy="173736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4041648"/>
            <a:ext cx="64008" cy="1737360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53528" y="4187952"/>
            <a:ext cx="3520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TRIGGER →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3528" y="4572000"/>
            <a:ext cx="3520440" cy="11155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Threshold breach → investigate → restrict / recalibrate / retrain only under change control → revalidate → approve → document.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09 | THE BOARDROOM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Choose the operating model — not a technology winner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A decision should reflect risk appetite, evidence quality, control readiness and business value.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965960"/>
          <a:ext cx="108356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788920"/>
                <a:gridCol w="2788920"/>
                <a:gridCol w="3108960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OPTION</a:t>
                      </a:r>
                    </a:p>
                  </a:txBody>
                  <a:tcPr marL="73152" marR="54864" marT="54864" marB="36576">
                    <a:solidFill>
                      <a:srgbClr val="0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WHEN IT FITS</a:t>
                      </a:r>
                    </a:p>
                  </a:txBody>
                  <a:tcPr marL="73152" marR="54864" marT="54864" marB="36576">
                    <a:solidFill>
                      <a:srgbClr val="0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REQUIRED CONTROL</a:t>
                      </a:r>
                    </a:p>
                  </a:txBody>
                  <a:tcPr marL="73152" marR="54864" marT="54864" marB="36576">
                    <a:solidFill>
                      <a:srgbClr val="0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MAIN TRADE-OFF</a:t>
                      </a:r>
                    </a:p>
                  </a:txBody>
                  <a:tcPr marL="73152" marR="54864" marT="54864" marB="36576">
                    <a:solidFill>
                      <a:srgbClr val="00AEA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Deploy ML</a:t>
                      </a:r>
                    </a:p>
                  </a:txBody>
                  <a:tcPr marL="73152" marR="54864" marT="54864" marB="36576"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Independent evidence supports performance, calibration, fairness and stability</a:t>
                      </a:r>
                    </a:p>
                  </a:txBody>
                  <a:tcPr marL="73152" marR="54864" marT="54864" marB="36576"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Validated use case, approved monitoring, human escalation</a:t>
                      </a:r>
                    </a:p>
                  </a:txBody>
                  <a:tcPr marL="73152" marR="54864" marT="54864" marB="36576"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Higher complexity and control burden</a:t>
                      </a:r>
                    </a:p>
                  </a:txBody>
                  <a:tcPr marL="73152" marR="54864" marT="54864" marB="36576">
                    <a:solidFill>
                      <a:srgbClr val="14274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Restricted pilot</a:t>
                      </a:r>
                    </a:p>
                  </a:txBody>
                  <a:tcPr marL="73152" marR="54864" marT="54864" marB="36576">
                    <a:solidFill>
                      <a:srgbClr val="1B2F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Promising results but residual uncertainty remains</a:t>
                      </a:r>
                    </a:p>
                  </a:txBody>
                  <a:tcPr marL="73152" marR="54864" marT="54864" marB="36576">
                    <a:solidFill>
                      <a:srgbClr val="1B2F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Limited segment / exposure, champion–challenger, kill switch</a:t>
                      </a:r>
                    </a:p>
                  </a:txBody>
                  <a:tcPr marL="73152" marR="54864" marT="54864" marB="36576">
                    <a:solidFill>
                      <a:srgbClr val="1B2F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Slower benefits; controlled learning</a:t>
                      </a:r>
                    </a:p>
                  </a:txBody>
                  <a:tcPr marL="73152" marR="54864" marT="54864" marB="36576">
                    <a:solidFill>
                      <a:srgbClr val="1B2F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Retain scorecard</a:t>
                      </a:r>
                    </a:p>
                  </a:txBody>
                  <a:tcPr marL="73152" marR="54864" marT="54864" marB="36576"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ML evidence or governance is insufficient</a:t>
                      </a:r>
                    </a:p>
                  </a:txBody>
                  <a:tcPr marL="73152" marR="54864" marT="54864" marB="36576"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Improve baseline, remediate data and reassess later</a:t>
                      </a:r>
                    </a:p>
                  </a:txBody>
                  <a:tcPr marL="73152" marR="54864" marT="54864" marB="36576"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7F9FC"/>
                          </a:solidFill>
                          <a:latin typeface="Aptos"/>
                        </a:defRPr>
                      </a:pPr>
                      <a:r>
                        <a:t>May leave some predictive value unrealized</a:t>
                      </a:r>
                    </a:p>
                  </a:txBody>
                  <a:tcPr marL="73152" marR="54864" marT="54864" marB="36576">
                    <a:solidFill>
                      <a:srgbClr val="14274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489204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EA9"/>
                </a:solidFill>
                <a:latin typeface="Aptos"/>
              </a:defRPr>
            </a:pPr>
            <a:r>
              <a:t>RECOMMENDED TEACHING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285232"/>
            <a:ext cx="106984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7F9FC"/>
                </a:solidFill>
                <a:latin typeface="Aptos"/>
              </a:defRPr>
            </a:pPr>
            <a:r>
              <a:t>If the challenger improves ranking but fails calibration, out-of-time stability or governance gates, do not grant unrestricted production approval. Use a controlled pilot only if residual risks are bounded and monitored.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10 | FOUR PROFESSIONAL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One case — four different questions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The project is complete only when technical evidence becomes a decision the institution can defend.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38528"/>
            <a:ext cx="91440" cy="713232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CREDIT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2029968"/>
            <a:ext cx="7635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Would I lend? What risk drivers, affordability checks and policy exceptions matter?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52928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852928"/>
            <a:ext cx="91440" cy="713232"/>
          </a:xfrm>
          <a:prstGeom prst="rect">
            <a:avLst/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62656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DATA SCIENTIST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944368"/>
            <a:ext cx="7635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Does the model generalize? Is it calibrated, reproducible and free of leakage?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767328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767328"/>
            <a:ext cx="91440" cy="713232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877056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MODEL RISK /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858768"/>
            <a:ext cx="7635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Can an independent reviewer challenge assumptions, limitations, performance and controls?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681728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681728"/>
            <a:ext cx="91440" cy="713232"/>
          </a:xfrm>
          <a:prstGeom prst="rect">
            <a:avLst/>
          </a:prstGeom>
          <a:solidFill>
            <a:srgbClr val="DE5A5A"/>
          </a:solidFill>
          <a:ln>
            <a:solidFill>
              <a:srgbClr val="DE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91456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7F9FC"/>
                </a:solidFill>
                <a:latin typeface="Aptos"/>
              </a:defRPr>
            </a:pPr>
            <a:r>
              <a:t>CRO / CFO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4773168"/>
            <a:ext cx="7635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E1E9F2"/>
                </a:solidFill>
                <a:latin typeface="Aptos"/>
              </a:defRPr>
            </a:pPr>
            <a:r>
              <a:t>Is expected return worth expected loss, capital / risk appetite, conduct and implementation cost?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33872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5BD2CF"/>
                </a:solidFill>
                <a:latin typeface="Aptos"/>
              </a:defRPr>
            </a:pPr>
            <a:r>
              <a:t>Deliverable: an executive memo that states the decision, evidence, limits, owners and conditions for continued 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11 | STUDENT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Your mission: take Apex Bank from prototype to a defensible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Suggested final-project outputs; instructors can scale the dataset and technical depth to learner level.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29384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61388"/>
            <a:ext cx="149961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920240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7F9FC"/>
                </a:solidFill>
                <a:latin typeface="Aptos"/>
              </a:defRPr>
            </a:pPr>
            <a:r>
              <a:t>MODEL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Data dictionary • cleaning / leakage checks • baseline and challenger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" y="2478024"/>
            <a:ext cx="10616184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8" y="2624327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5BD2CF"/>
          </a:solidFill>
          <a:ln>
            <a:solidFill>
              <a:srgbClr val="5BD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56332"/>
            <a:ext cx="149961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615184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7F9FC"/>
                </a:solidFill>
                <a:latin typeface="Aptos"/>
              </a:defRPr>
            </a:pPr>
            <a:r>
              <a:t>EVIDENCE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15184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Discrimination • calibration • segment / time tests • stress scenario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8096" y="3172968"/>
            <a:ext cx="10616184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9808" y="3319272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351276"/>
            <a:ext cx="149961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3310128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7F9FC"/>
                </a:solidFill>
                <a:latin typeface="Aptos"/>
              </a:defRPr>
            </a:pPr>
            <a:r>
              <a:t>RESPONSIBLE AI PACK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310128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Explainability • fairness analysis • privacy / security risks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8096" y="3867912"/>
            <a:ext cx="10616184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8" y="401421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E5A5A"/>
          </a:solidFill>
          <a:ln>
            <a:solidFill>
              <a:srgbClr val="DE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046220"/>
            <a:ext cx="149961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4005072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7F9FC"/>
                </a:solidFill>
                <a:latin typeface="Aptos"/>
              </a:defRPr>
            </a:pPr>
            <a:r>
              <a:t>GOVERNANCE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005072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Validation report • model card • inventory entry • monitoring / change plan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8096" y="4562856"/>
            <a:ext cx="10616184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9808" y="4709160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741164"/>
            <a:ext cx="149961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4700016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7F9FC"/>
                </a:solidFill>
                <a:latin typeface="Aptos"/>
              </a:defRPr>
            </a:pPr>
            <a:r>
              <a:t>BOARD MEMO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700016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Deploy / pilot / retain scorecard • rationale • conditions • accountable owners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580644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EBB44B"/>
                </a:solidFill>
                <a:latin typeface="Aptos"/>
              </a:defRPr>
            </a:pPr>
            <a:r>
              <a:t>Final question: what evidence would change your recommendation — and who has authority to act on it?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42744"/>
          </a:solidFill>
          <a:ln>
            <a:solidFill>
              <a:srgbClr val="14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549640" y="2148840"/>
            <a:ext cx="2971800" cy="0"/>
          </a:xfrm>
          <a:prstGeom prst="line">
            <a:avLst/>
          </a:prstGeom>
          <a:ln w="38100">
            <a:solidFill>
              <a:srgbClr val="EBB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12680" y="1325880"/>
            <a:ext cx="0" cy="388620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275320" y="2148840"/>
            <a:ext cx="457200" cy="150876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732520" y="2148840"/>
            <a:ext cx="457200" cy="150876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2148840"/>
            <a:ext cx="457200" cy="1508760"/>
          </a:xfrm>
          <a:prstGeom prst="line">
            <a:avLst/>
          </a:prstGeom>
          <a:ln w="25400">
            <a:solidFill>
              <a:srgbClr val="EBB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201400" y="2148840"/>
            <a:ext cx="457200" cy="1508760"/>
          </a:xfrm>
          <a:prstGeom prst="line">
            <a:avLst/>
          </a:prstGeom>
          <a:ln w="25400">
            <a:solidFill>
              <a:srgbClr val="EBB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83879" y="3657600"/>
            <a:ext cx="1097281" cy="0"/>
          </a:xfrm>
          <a:prstGeom prst="line">
            <a:avLst/>
          </a:prstGeom>
          <a:ln w="25400">
            <a:solidFill>
              <a:srgbClr val="00A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652760" y="3657600"/>
            <a:ext cx="1097280" cy="0"/>
          </a:xfrm>
          <a:prstGeom prst="line">
            <a:avLst/>
          </a:prstGeom>
          <a:ln w="25400">
            <a:solidFill>
              <a:srgbClr val="EBB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229600" y="3657600"/>
            <a:ext cx="1005840" cy="137160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98480" y="3657600"/>
            <a:ext cx="1005840" cy="137160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685800"/>
            <a:ext cx="1554480" cy="310896"/>
          </a:xfrm>
          <a:prstGeom prst="roundRect">
            <a:avLst>
              <a:gd name="adj" fmla="val 12000"/>
            </a:avLst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717804"/>
            <a:ext cx="1481328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7F9FC"/>
                </a:solidFill>
                <a:latin typeface="Aptos"/>
              </a:defRPr>
            </a:pPr>
            <a:r>
              <a:t>THE FINAL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325880"/>
            <a:ext cx="66751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3100" b="1" i="0">
                <a:solidFill>
                  <a:srgbClr val="F7F9FC"/>
                </a:solidFill>
                <a:latin typeface="Aptos"/>
              </a:defRPr>
            </a:pPr>
            <a:r>
              <a:t>PREDICT WELL.</a:t>
            </a:r>
          </a:p>
          <a:p>
            <a:pPr algn="l">
              <a:spcAft>
                <a:spcPts val="400"/>
              </a:spcAft>
              <a:defRPr sz="3100" b="1" i="0">
                <a:solidFill>
                  <a:srgbClr val="F7F9FC"/>
                </a:solidFill>
                <a:latin typeface="Aptos"/>
              </a:defRPr>
            </a:pPr>
            <a:r>
              <a:t>DECIDE RESPONSIBLY.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6583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5BD2CF"/>
                </a:solidFill>
                <a:latin typeface="Aptos"/>
              </a:defRPr>
            </a:pPr>
            <a:r>
              <a:t>A high-performing model is only one part of a safe lending system.</a:t>
            </a:r>
          </a:p>
          <a:p>
            <a:pPr algn="l">
              <a:spcAft>
                <a:spcPts val="400"/>
              </a:spcAft>
              <a:defRPr sz="1800" b="1" i="0">
                <a:solidFill>
                  <a:srgbClr val="5BD2CF"/>
                </a:solidFill>
                <a:latin typeface="Aptos"/>
              </a:defRPr>
            </a:pPr>
            <a:r>
              <a:t>Trust comes from evidence, governance and accountable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617720"/>
            <a:ext cx="64922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EBB44B"/>
                </a:solidFill>
                <a:latin typeface="Aptos"/>
              </a:defRPr>
            </a:pPr>
            <a:r>
              <a:t>THE BOARDROOM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965192"/>
            <a:ext cx="64922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F7F9FC"/>
                </a:solidFill>
                <a:latin typeface="Aptos"/>
              </a:defRPr>
            </a:pPr>
            <a:r>
              <a:t>Should Apex Bank deploy the AI model, restrict its use, or return to the traditional scorecard?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080760"/>
            <a:ext cx="6492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RISK &amp; AI 2026  |  END-TO-END CAPSTONE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00AEA9"/>
                </a:solidFill>
                <a:latin typeface="Aptos"/>
              </a:defRPr>
            </a:pPr>
            <a:r>
              <a:t>APPENDIX | SOURCES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7F9FC"/>
                </a:solidFill>
                <a:latin typeface="Aptos"/>
              </a:defRPr>
            </a:pPr>
            <a:r>
              <a:t>Separate real-world frameworks from the fictional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A3B2C6"/>
                </a:solidFill>
                <a:latin typeface="Aptos"/>
              </a:defRPr>
            </a:pPr>
            <a:r>
              <a:t>The scenario, borrower example and numerical model comparison are illustrative, not actual Apex Bank data.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000232" cy="0"/>
          </a:xfrm>
          <a:prstGeom prst="line">
            <a:avLst/>
          </a:prstGeom>
          <a:ln w="12700">
            <a:solidFill>
              <a:srgbClr val="14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1967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A3B2C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01952"/>
            <a:ext cx="64008" cy="1417320"/>
          </a:xfrm>
          <a:prstGeom prst="rect">
            <a:avLst/>
          </a:prstGeom>
          <a:solidFill>
            <a:srgbClr val="00AEA9"/>
          </a:solidFill>
          <a:ln>
            <a:solidFill>
              <a:srgbClr val="00A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48256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MODEL RISK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32304"/>
            <a:ext cx="489204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Federal Reserve / US banking agencies, SR 11-7 and related model-risk guidance. Confirm current applicability with the relevant regulator and institution policy.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901952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142744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901952"/>
            <a:ext cx="64008" cy="1417320"/>
          </a:xfrm>
          <a:prstGeom prst="rect">
            <a:avLst/>
          </a:prstGeom>
          <a:solidFill>
            <a:srgbClr val="EBB44B"/>
          </a:solidFill>
          <a:ln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048256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7F9FC"/>
                </a:solidFill>
                <a:latin typeface="Aptos"/>
              </a:defRPr>
            </a:pPr>
            <a:r>
              <a:t>RESPONSIBLE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432304"/>
            <a:ext cx="489204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NIST AI Risk Management Framework (AI RMF 1.0): Govern, Map, Measure, Manage. Use as a voluntary risk-management framework, not as a substitute for law.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730752"/>
            <a:ext cx="50292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0AEA9"/>
                </a:solidFill>
                <a:latin typeface="Aptos"/>
              </a:defRPr>
            </a:pPr>
            <a:r>
              <a:t>REFERENCE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53035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Federal Reserve SR 11-7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https://www.federalreserve.gov/supervisionreg/srletters/sr1107.htm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NIST AI RMF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E1E9F2"/>
                </a:solidFill>
                <a:latin typeface="Aptos"/>
              </a:defRPr>
            </a:pPr>
            <a:r>
              <a:t>https://www.nist.gov/itl/ai-risk-management-framework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30752"/>
            <a:ext cx="49377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EBB44B"/>
                </a:solidFill>
                <a:latin typeface="Aptos"/>
              </a:defRPr>
            </a:pPr>
            <a:r>
              <a:t>INTERPRETATION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4096512"/>
            <a:ext cx="5120640" cy="1554480"/>
          </a:xfrm>
          <a:prstGeom prst="rect">
            <a:avLst/>
          </a:prstGeom>
          <a:noFill/>
        </p:spPr>
        <p:txBody>
          <a:bodyPr wrap="square" lIns="73152" rIns="54864" tIns="54864" bIns="36576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E1E9F2"/>
                </a:solidFill>
                <a:latin typeface="Aptos"/>
              </a:defRPr>
            </a:pPr>
            <a:r>
              <a:t>•  No single metric establishes that a model is safe or suitable.</a:t>
            </a:r>
          </a:p>
          <a:p>
            <a:pPr>
              <a:spcAft>
                <a:spcPts val="500"/>
              </a:spcAft>
              <a:defRPr sz="1100">
                <a:solidFill>
                  <a:srgbClr val="E1E9F2"/>
                </a:solidFill>
                <a:latin typeface="Aptos"/>
              </a:defRPr>
            </a:pPr>
            <a:r>
              <a:t>•  Fairness tests depend on context, law, data quality and chosen measures.</a:t>
            </a:r>
          </a:p>
          <a:p>
            <a:pPr>
              <a:spcAft>
                <a:spcPts val="500"/>
              </a:spcAft>
              <a:defRPr sz="1100">
                <a:solidFill>
                  <a:srgbClr val="E1E9F2"/>
                </a:solidFill>
                <a:latin typeface="Aptos"/>
              </a:defRPr>
            </a:pPr>
            <a:r>
              <a:t>•  PD × LGD × EAD is a simplified expected-loss illustration; real accounting / regulatory calculations require additional assumptions.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989320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900" b="0" i="1">
                <a:solidFill>
                  <a:srgbClr val="A3B2C6"/>
                </a:solidFill>
                <a:latin typeface="Aptos"/>
              </a:defRPr>
            </a:pPr>
            <a:r>
              <a:t>Prepared as an educational capstone template. Validate local legal, regulatory and policy requirements before operational 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A3B2C6"/>
                </a:solidFill>
                <a:latin typeface="Aptos"/>
              </a:defRPr>
            </a:pPr>
            <a:r>
              <a:t>RISK &amp; AI 2026  |  CAPSTONE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