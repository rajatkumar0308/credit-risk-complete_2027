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47672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00984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54296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7608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14232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67544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20856" y="731520"/>
            <a:ext cx="18288" cy="5303520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11064240" cy="18288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69079"/>
            <a:ext cx="11064240" cy="18288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18288"/>
          </a:xfrm>
          <a:prstGeom prst="rect">
            <a:avLst/>
          </a:prstGeom>
          <a:solidFill>
            <a:srgbClr val="25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MODULE 2 • TOOLS &amp;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43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UNSUPERVISED LEARNING</a:t>
            </a:r>
            <a:br/>
            <a:r>
              <a:t>&amp; SUPERVISED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743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DD9E5"/>
                </a:solidFill>
                <a:latin typeface="Aptos"/>
              </a:defRPr>
            </a:pPr>
            <a:r>
              <a:t>Econometric techniques • Banking &amp; Finance applications • Risk 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77639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77639"/>
            <a:ext cx="2286000" cy="64008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42231"/>
            <a:ext cx="206654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663440"/>
            <a:ext cx="2066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Learning paradigms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3977639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977639"/>
            <a:ext cx="2286000" cy="64008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4142231"/>
            <a:ext cx="206654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663440"/>
            <a:ext cx="2066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Core technique families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977639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3977639"/>
            <a:ext cx="2286000" cy="64008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4142231"/>
            <a:ext cx="206654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663440"/>
            <a:ext cx="2066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Professional lenses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977639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3977639"/>
            <a:ext cx="2286000" cy="64008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142231"/>
            <a:ext cx="206654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4663440"/>
            <a:ext cx="2066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Case studies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Premium corporate learning module | Credit analyst • Data scientist • MRM • CFO/CRO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AI / ML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The decision map: from data structure to business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Choose the learning paradigm based on the business question—not the algorithm.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920240" cy="196596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54864" cy="196596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7568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BUSINESS</a:t>
            </a:r>
            <a:br/>
            <a: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04872"/>
            <a:ext cx="164592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What are we trying</a:t>
            </a:r>
            <a:br/>
            <a:r>
              <a:t>to decide?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953512"/>
            <a:ext cx="365760" cy="0"/>
          </a:xfrm>
          <a:prstGeom prst="line">
            <a:avLst/>
          </a:prstGeom>
          <a:ln w="2540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1965960"/>
            <a:ext cx="1920240" cy="196596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965960"/>
            <a:ext cx="54864" cy="196596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07568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DATA</a:t>
            </a:r>
            <a:br/>
            <a: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404872"/>
            <a:ext cx="164592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Labels available?</a:t>
            </a:r>
            <a:br/>
            <a:r>
              <a:t>Patterns hidden?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2953512"/>
            <a:ext cx="365760" cy="0"/>
          </a:xfrm>
          <a:prstGeom prst="line">
            <a:avLst/>
          </a:prstGeom>
          <a:ln w="2540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1965960"/>
            <a:ext cx="1920240" cy="196596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965960"/>
            <a:ext cx="54864" cy="196596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07568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404872"/>
            <a:ext cx="164592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Unsupervised / supervised /</a:t>
            </a:r>
            <a:br/>
            <a:r>
              <a:t>econometric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2953512"/>
            <a:ext cx="365760" cy="0"/>
          </a:xfrm>
          <a:prstGeom prst="line">
            <a:avLst/>
          </a:prstGeom>
          <a:ln w="2540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60920" y="1965960"/>
            <a:ext cx="1920240" cy="196596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965960"/>
            <a:ext cx="54864" cy="1965960"/>
          </a:xfrm>
          <a:prstGeom prst="rect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207568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404872"/>
            <a:ext cx="164592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Statistical + business</a:t>
            </a:r>
            <a:br/>
            <a:r>
              <a:t>+ governance checks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60" y="2953512"/>
            <a:ext cx="365760" cy="0"/>
          </a:xfrm>
          <a:prstGeom prst="line">
            <a:avLst/>
          </a:prstGeom>
          <a:ln w="2540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46920" y="1965960"/>
            <a:ext cx="1920240" cy="196596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1965960"/>
            <a:ext cx="54864" cy="196596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2" y="207568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2404872"/>
            <a:ext cx="164592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Credit / pricing /</a:t>
            </a:r>
            <a:br/>
            <a:r>
              <a:t>fraud / growth / capital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434840"/>
            <a:ext cx="10195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" y="4434840"/>
            <a:ext cx="54864" cy="109728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4544568"/>
            <a:ext cx="9921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Executive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4873752"/>
            <a:ext cx="9921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t>A technically strong model can still be a weak business decision if the target, population, validation window or governance objective is wrong.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Unsupervised learning: discover structure when the target is 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Core idea: learn relationships in X without a predefined 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743200" cy="338328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" cy="33832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4708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246888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Find hidden structure, similarity or abnormality.</a:t>
            </a:r>
            <a:br/>
            <a:br/>
            <a:r>
              <a:t>Typical questions:</a:t>
            </a:r>
            <a:br/>
            <a:r>
              <a:t>• Which customers behave alike?</a:t>
            </a:r>
            <a:br/>
            <a:r>
              <a:t>• Which transactions look unusual?</a:t>
            </a:r>
            <a:br/>
            <a:r>
              <a:t>• Which variables move together?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737360"/>
            <a:ext cx="2743200" cy="338328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737360"/>
            <a:ext cx="54864" cy="338328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84708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176272"/>
            <a:ext cx="246888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Useful before labels exist—or when labels are incomplete.</a:t>
            </a:r>
            <a:br/>
            <a:br/>
            <a:r>
              <a:t>Business value:</a:t>
            </a:r>
            <a:br/>
            <a:r>
              <a:t>• segmentation</a:t>
            </a:r>
            <a:br/>
            <a:r>
              <a:t>• anomaly detection</a:t>
            </a:r>
            <a:br/>
            <a:r>
              <a:t>• dimensionality reduction</a:t>
            </a:r>
            <a:br/>
            <a:r>
              <a:t>• exploratory risk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737360"/>
            <a:ext cx="2331720" cy="3383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737360"/>
            <a:ext cx="54864" cy="33832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184708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2176272"/>
            <a:ext cx="205740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Clustering</a:t>
            </a:r>
            <a:br/>
            <a:r>
              <a:t>K-means</a:t>
            </a:r>
            <a:br/>
            <a:r>
              <a:t>Hierarchical</a:t>
            </a:r>
            <a:br/>
            <a:r>
              <a:t>DBSCAN</a:t>
            </a:r>
            <a:br/>
            <a:br/>
            <a:r>
              <a:t>Association</a:t>
            </a:r>
            <a:br/>
            <a:r>
              <a:t>PCA</a:t>
            </a:r>
            <a:br/>
            <a:r>
              <a:t>Autoencoders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737360"/>
            <a:ext cx="2560320" cy="338328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737360"/>
            <a:ext cx="54864" cy="33832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84708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176272"/>
            <a:ext cx="228600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Turns raw data into decision-relevant groups or signals.</a:t>
            </a:r>
            <a:br/>
            <a:br/>
            <a:r>
              <a:t>But: clusters are not automatically “real” customer types; they require stability and business interpretation.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K-means clustering: a simple algorithm with a governance-heavy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Illustrative customer segmentation using 3 behavioural variables.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486400" cy="388620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97280" y="5166360"/>
            <a:ext cx="4754880" cy="0"/>
          </a:xfrm>
          <a:prstGeom prst="line">
            <a:avLst/>
          </a:prstGeom>
          <a:ln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240280"/>
            <a:ext cx="0" cy="2926080"/>
          </a:xfrm>
          <a:prstGeom prst="line">
            <a:avLst/>
          </a:prstGeom>
          <a:ln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4560" y="54864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Monthly spend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286000"/>
            <a:ext cx="548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Txn</a:t>
            </a:r>
            <a:br/>
            <a:r>
              <a:t>freq.</a:t>
            </a:r>
          </a:p>
        </p:txBody>
      </p:sp>
      <p:sp>
        <p:nvSpPr>
          <p:cNvPr id="13" name="Oval 12"/>
          <p:cNvSpPr/>
          <p:nvPr/>
        </p:nvSpPr>
        <p:spPr>
          <a:xfrm>
            <a:off x="1783080" y="2697480"/>
            <a:ext cx="128016" cy="128016"/>
          </a:xfrm>
          <a:prstGeom prst="ellipse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57400" y="2514600"/>
            <a:ext cx="128016" cy="128016"/>
          </a:xfrm>
          <a:prstGeom prst="ellipse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40280" y="2880360"/>
            <a:ext cx="128016" cy="128016"/>
          </a:xfrm>
          <a:prstGeom prst="ellipse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0240" y="2286000"/>
            <a:ext cx="128016" cy="128016"/>
          </a:xfrm>
          <a:prstGeom prst="ellipse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29000" y="3703320"/>
            <a:ext cx="128016" cy="128016"/>
          </a:xfrm>
          <a:prstGeom prst="ellipse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3320" y="3520440"/>
            <a:ext cx="128016" cy="128016"/>
          </a:xfrm>
          <a:prstGeom prst="ellipse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0" y="3794760"/>
            <a:ext cx="128016" cy="128016"/>
          </a:xfrm>
          <a:prstGeom prst="ellipse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66160" y="3977640"/>
            <a:ext cx="128016" cy="128016"/>
          </a:xfrm>
          <a:prstGeom prst="ellipse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0600" y="2423160"/>
            <a:ext cx="128016" cy="128016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74920" y="2240280"/>
            <a:ext cx="128016" cy="128016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57800" y="2606040"/>
            <a:ext cx="128016" cy="128016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83480" y="2788920"/>
            <a:ext cx="128016" cy="128016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1956816" y="2551176"/>
            <a:ext cx="237744" cy="237744"/>
          </a:xfrm>
          <a:prstGeom prst="diamond">
            <a:avLst/>
          </a:prstGeom>
          <a:solidFill>
            <a:srgbClr val="2A5B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3602736" y="3694176"/>
            <a:ext cx="237744" cy="237744"/>
          </a:xfrm>
          <a:prstGeom prst="diamond">
            <a:avLst/>
          </a:prstGeom>
          <a:solidFill>
            <a:srgbClr val="2C7E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4974336" y="2459736"/>
            <a:ext cx="237744" cy="237744"/>
          </a:xfrm>
          <a:prstGeom prst="diamond">
            <a:avLst/>
          </a:prstGeom>
          <a:solidFill>
            <a:srgbClr val="B88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1783080"/>
            <a:ext cx="2423160" cy="118872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1783080"/>
            <a:ext cx="54864" cy="118872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1" y="1892807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Step 1 — Initialize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1" y="2221991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Pick k centroids; assign each customer to nearest centroid.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127248"/>
            <a:ext cx="2423160" cy="118872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127248"/>
            <a:ext cx="54864" cy="118872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1" y="3236976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Step 2 — Recalculate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356616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Move centroids to the mean of assigned observations.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471416"/>
            <a:ext cx="2423160" cy="118872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4471416"/>
            <a:ext cx="54864" cy="118872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1" y="4581144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Step 3 — Iterate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1" y="4910327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Repeat until assignments / centroids stabilize.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1783080"/>
            <a:ext cx="2468880" cy="387705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783080"/>
            <a:ext cx="54864" cy="3877056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2" y="1892807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Governance checks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2221991"/>
            <a:ext cx="2194560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• Standardise variables first</a:t>
            </a:r>
            <a:br/>
            <a:r>
              <a:t>• Test alternative k values</a:t>
            </a:r>
            <a:br/>
            <a:r>
              <a:t>• Use silhouette / stability diagnostics</a:t>
            </a:r>
            <a:br/>
            <a:r>
              <a:t>• Check cluster size and drift</a:t>
            </a:r>
            <a:br/>
            <a:r>
              <a:t>• Profile clusters economically</a:t>
            </a:r>
            <a:br/>
            <a:r>
              <a:t>• Avoid turning clusters into policy without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Unsupervised learning in banking: where it creates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Use cases span customer strategy, financial crime, operations and credit portfolio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743200" cy="86868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4864" cy="8686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Customer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Group customers by spend, balances, digital activity and product depth.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91640"/>
            <a:ext cx="196596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91640"/>
            <a:ext cx="54864" cy="868680"/>
          </a:xfrm>
          <a:prstGeom prst="rect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801368"/>
            <a:ext cx="16916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Business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130552"/>
            <a:ext cx="16916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Retail / SME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91640"/>
            <a:ext cx="2651760" cy="86868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691640"/>
            <a:ext cx="54864" cy="8686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18013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Decision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130552"/>
            <a:ext cx="2377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Next-best-action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91640"/>
            <a:ext cx="283464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1691640"/>
            <a:ext cx="54864" cy="86868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1801368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Risk 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130552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Explainability + stability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70632"/>
            <a:ext cx="2743200" cy="86868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2770632"/>
            <a:ext cx="54864" cy="86868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2880360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Transaction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20954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Identify unusual transaction patterns without relying only on labelled fraud.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2770632"/>
            <a:ext cx="196596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2770632"/>
            <a:ext cx="54864" cy="868680"/>
          </a:xfrm>
          <a:prstGeom prst="rect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2880360"/>
            <a:ext cx="16916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Business 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3209544"/>
            <a:ext cx="16916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Fraud / AML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770632"/>
            <a:ext cx="2651760" cy="86868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0" y="2770632"/>
            <a:ext cx="54864" cy="8686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3872" y="288036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Decision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3872" y="3209544"/>
            <a:ext cx="2377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Alert prioritisation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58200" y="2770632"/>
            <a:ext cx="283464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8200" y="2770632"/>
            <a:ext cx="54864" cy="86868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2880360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Risk lens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2792" y="320954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False positives + review capacity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3849624"/>
            <a:ext cx="2743200" cy="86868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" y="3849624"/>
            <a:ext cx="54864" cy="8686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3959352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Portfolio concentration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4288536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Cluster obligors or sectors by risk/financial characteristics.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3849624"/>
            <a:ext cx="196596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20440" y="3849624"/>
            <a:ext cx="54864" cy="868680"/>
          </a:xfrm>
          <a:prstGeom prst="rect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85032" y="3959352"/>
            <a:ext cx="16916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Business area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85032" y="4288536"/>
            <a:ext cx="16916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Credit risk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0" y="3849624"/>
            <a:ext cx="2651760" cy="86868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3849624"/>
            <a:ext cx="54864" cy="8686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33872" y="395935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Decision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3872" y="4288536"/>
            <a:ext cx="2377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Concentration monitoring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58200" y="3849624"/>
            <a:ext cx="283464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58200" y="3849624"/>
            <a:ext cx="54864" cy="86868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22792" y="3959352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Risk lens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22792" y="4288536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Interpretability + drift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4928616"/>
            <a:ext cx="2743200" cy="86868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4360" y="4928616"/>
            <a:ext cx="54864" cy="8686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8952" y="5038344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Document similarity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" y="5367528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Group complaints, cases or documents by semantic similarity.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20440" y="4928616"/>
            <a:ext cx="196596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20440" y="4928616"/>
            <a:ext cx="54864" cy="868680"/>
          </a:xfrm>
          <a:prstGeom prst="rect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85032" y="5038344"/>
            <a:ext cx="16916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Business area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85032" y="5367528"/>
            <a:ext cx="16916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Operations / Compliance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0" y="4928616"/>
            <a:ext cx="2651760" cy="86868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0" y="4928616"/>
            <a:ext cx="54864" cy="86868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3872" y="503834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Decision output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33872" y="5367528"/>
            <a:ext cx="2377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Triage and thematic review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58200" y="4928616"/>
            <a:ext cx="2834640" cy="868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58200" y="4928616"/>
            <a:ext cx="54864" cy="86868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22792" y="503834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Risk lens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22792" y="536752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32A32"/>
                </a:solidFill>
                <a:latin typeface="Aptos"/>
              </a:defRPr>
            </a:pPr>
            <a:r>
              <a:t>Privacy + model context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Case study 1 — Retail banking: behavioural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Illustrative dataset: 120,000 active customers. Objective: improve portfolio understanding before campaign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2011680" cy="64008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120k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1792224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002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600200"/>
            <a:ext cx="2011680" cy="64008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76479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286000"/>
            <a:ext cx="1792224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6002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1600200"/>
            <a:ext cx="2011680" cy="64008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76479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286000"/>
            <a:ext cx="1792224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clusters tested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6002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1600200"/>
            <a:ext cx="2011680" cy="64008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176479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F34"/>
                </a:solidFill>
                <a:latin typeface="Aptos Display"/>
              </a:defRPr>
            </a:pPr>
            <a:r>
              <a:t>0.58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2286000"/>
            <a:ext cx="1792224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4"/>
                </a:solidFill>
                <a:latin typeface="Aptos"/>
              </a:defRPr>
            </a:pPr>
            <a:r>
              <a:t>silhouette*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600200"/>
            <a:ext cx="2331720" cy="105156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1600200"/>
            <a:ext cx="54864" cy="1051560"/>
          </a:xfrm>
          <a:prstGeom prst="rect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170992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*Illustrative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039112"/>
            <a:ext cx="2057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32A32"/>
                </a:solidFill>
                <a:latin typeface="Aptos"/>
              </a:defRPr>
            </a:pPr>
            <a:r>
              <a:t>A moderate score; interpretation requires stability + business review.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" y="288036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960120"/>
                <a:gridCol w="1280160"/>
                <a:gridCol w="1508760"/>
                <a:gridCol w="2971800"/>
              </a:tblGrid>
              <a:tr h="4572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Spend / mo.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Digital activity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₹3.1k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Digitally engaged, high-frequency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₹1.2k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Mass retail / core relationship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₹6.8k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High-value, multi-product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₹0.6k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Low activity / dormant risk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8686800" y="2880360"/>
            <a:ext cx="2926080" cy="2286000"/>
          </a:xfrm>
          <a:prstGeom prst="roundRect">
            <a:avLst/>
          </a:prstGeom>
          <a:solidFill>
            <a:srgbClr val="F7E6E6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2880360"/>
            <a:ext cx="54864" cy="228600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1392" y="2990088"/>
            <a:ext cx="2651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What the model does NOT 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3319272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It does not prove that clusters are causal customer types, profitable segments or stable over time. Those require downstream analysis and monitoring.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SUPERVISED LEARNING &amp;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Supervised learning + econometrics: predict, explain and quantify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Supervised learning uses a target y; econometrics adds explicit assumptions about relationships, uncertainty and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337560" cy="356616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4864" cy="356616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306324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t>Supervised learning:</a:t>
            </a:r>
            <a:br/>
            <a:r>
              <a:t>learn f(X) → y</a:t>
            </a:r>
            <a:br/>
            <a:br/>
            <a:r>
              <a:t>Econometric modelling:</a:t>
            </a:r>
            <a:br/>
            <a:r>
              <a:t>β estimates + uncertainty + interpretation</a:t>
            </a:r>
            <a:br/>
            <a:br/>
            <a:r>
              <a:t>Examples: PD, churn, loss, demand, pricing.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691640"/>
            <a:ext cx="3337560" cy="356616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691640"/>
            <a:ext cx="54864" cy="356616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801368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130552"/>
            <a:ext cx="306324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Prediction answers:</a:t>
            </a:r>
            <a:br/>
            <a:r>
              <a:t>“Who / what is likely to happen?”</a:t>
            </a:r>
            <a:br/>
            <a:br/>
            <a:r>
              <a:t>Econometric analysis can answer:</a:t>
            </a:r>
            <a:br/>
            <a:r>
              <a:t>“How does y change when X changes, holding other factors constant?”</a:t>
            </a:r>
            <a:br/>
            <a:br/>
            <a:r>
              <a:t>Different objectives → different model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691640"/>
            <a:ext cx="3977639" cy="356616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691640"/>
            <a:ext cx="54864" cy="356616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801368"/>
            <a:ext cx="3703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F34"/>
                </a:solidFill>
                <a:latin typeface="Aptos"/>
              </a:defRPr>
            </a:pPr>
            <a:r>
              <a:t>MODEL FAMILIES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2130552"/>
            <a:ext cx="370332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Regression / logistic regression</a:t>
            </a:r>
            <a:br/>
            <a:r>
              <a:t>Decision trees / boosting</a:t>
            </a:r>
            <a:br/>
            <a:r>
              <a:t>Generalised linear models</a:t>
            </a:r>
            <a:br/>
            <a:r>
              <a:t>Time-series / panel models</a:t>
            </a:r>
            <a:br/>
            <a:r>
              <a:t>Survival / hazard models</a:t>
            </a:r>
            <a:br/>
            <a:r>
              <a:t>Causal / quasi-experimental designs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SUPERVISED LEARNING &amp;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Econometric techniques: the core intuition behind the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Illustrative credit-risk regression: quantify how a financial driver is associated with default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492240" cy="960120"/>
          </a:xfrm>
          <a:prstGeom prst="roundRect">
            <a:avLst/>
          </a:prstGeom>
          <a:solidFill>
            <a:srgbClr val="10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6035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PD = 2.0% + 0.8 × leverage + 0.4 × unemployment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2011680" cy="137160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54864" cy="13716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4436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β / coefficient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73552"/>
            <a:ext cx="1737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Marginal association, conditional on included variables.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834640"/>
            <a:ext cx="2011680" cy="1371600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2834640"/>
            <a:ext cx="54864" cy="137160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294436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SE /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273552"/>
            <a:ext cx="1737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Sampling uncertainty; informs confidence intervals and inference.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834640"/>
            <a:ext cx="2103120" cy="137160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2834640"/>
            <a:ext cx="54864" cy="137160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944368"/>
            <a:ext cx="18287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Residual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273552"/>
            <a:ext cx="182879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What remains unexplained by the specification.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600200"/>
            <a:ext cx="4069080" cy="260604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600200"/>
            <a:ext cx="54864" cy="260604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1" y="1709928"/>
            <a:ext cx="3794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Worked numerical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039112"/>
            <a:ext cx="379476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32A32"/>
                </a:solidFill>
                <a:latin typeface="Aptos"/>
              </a:defRPr>
            </a:pPr>
            <a:r>
              <a:t>Borrower: leverage = 2.0×; unemployment = 5%.</a:t>
            </a:r>
            <a:br/>
            <a:br/>
            <a:r>
              <a:t>PD = 2.0% + 0.8×2.0 + 0.4×5</a:t>
            </a:r>
            <a:br/>
            <a:r>
              <a:t>= 7.6%  (illustrative)</a:t>
            </a:r>
            <a:br/>
            <a:br/>
            <a:r>
              <a:t>If leverage falls by 0.5×, the model-implied PD falls by 0.4 percentage points, holding other inputs constant.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434840"/>
            <a:ext cx="4069080" cy="1005840"/>
          </a:xfrm>
          <a:prstGeom prst="roundRect">
            <a:avLst/>
          </a:prstGeom>
          <a:solidFill>
            <a:srgbClr val="F7E6E6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434840"/>
            <a:ext cx="54864" cy="100584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4544568"/>
            <a:ext cx="3794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Critical caveat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4873752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A32"/>
                </a:solidFill>
                <a:latin typeface="Aptos"/>
              </a:defRPr>
            </a:pPr>
            <a:r>
              <a:t>A coefficient is not automatically causal. Omitted variables, reverse causality and measurement error can bias interpretation.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SUPERVISED LEARNING &amp;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Prediction vs explanation: the same data can support different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Model choice should follow the decision objective and governance requirement.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94560"/>
                <a:gridCol w="2331720"/>
                <a:gridCol w="2743200"/>
                <a:gridCol w="2286000"/>
              </a:tblGrid>
              <a:tr h="6766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Predictive ML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Econometric model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 / governance implication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01F3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Primary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Out-of-sample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Parameter interpretation /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Validation criteria differ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Default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Feature handling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Can capture nonlinearities/interactions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Often explicit specification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Need rationale + stability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Income × utilisation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Prediction intervals /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SEs, CIs, hypothesis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Document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Stress 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SHAP / partial dependence etc.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Coefficients + specification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Narrative must match method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Pricing elasticity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349240"/>
            <a:ext cx="5303520" cy="73152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349240"/>
            <a:ext cx="54864" cy="73152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545896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57881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A32"/>
                </a:solidFill>
                <a:latin typeface="Aptos"/>
              </a:defRPr>
            </a:pPr>
            <a:r>
              <a:t>If the business needs “what happens next?” → prediction. If it needs “what changes y, and with what uncertainty?” → econometric framing.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349240"/>
            <a:ext cx="5303520" cy="73152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5349240"/>
            <a:ext cx="54864" cy="73152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545896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MRM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57881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A32"/>
                </a:solidFill>
                <a:latin typeface="Aptos"/>
              </a:defRPr>
            </a:pPr>
            <a:r>
              <a:t>Do not compare models only on AUC/R²; align validation to intended use, materiality and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SUPERVISED LEARNING &amp;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Case study 2 — Credit risk: from score to portfolio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Illustrative 10,000-account portfolio. The model output becomes useful only after calibration, segmentation and policy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965960" cy="1417320"/>
          </a:xfrm>
          <a:prstGeom prst="roundRect">
            <a:avLst/>
          </a:prstGeom>
          <a:solidFill>
            <a:srgbClr val="E1EBF5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19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88937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32A32"/>
                </a:solidFill>
                <a:latin typeface="Aptos"/>
              </a:defRPr>
            </a:pPr>
            <a:r>
              <a:t>Utilisation, delinquency, income, bureau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304288"/>
            <a:ext cx="320040" cy="0"/>
          </a:xfrm>
          <a:prstGeom prst="line">
            <a:avLst/>
          </a:prstGeom>
          <a:ln w="1905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1600200"/>
            <a:ext cx="1965960" cy="1417320"/>
          </a:xfrm>
          <a:prstGeom prst="roundRect">
            <a:avLst/>
          </a:prstGeom>
          <a:solidFill>
            <a:srgbClr val="E1F1E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719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88937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2121408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32A32"/>
                </a:solidFill>
                <a:latin typeface="Aptos"/>
              </a:defRPr>
            </a:pPr>
            <a:r>
              <a:t>Logistic / tree-based PD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79" y="2304288"/>
            <a:ext cx="320041" cy="0"/>
          </a:xfrm>
          <a:prstGeom prst="line">
            <a:avLst/>
          </a:prstGeom>
          <a:ln w="1905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1600200"/>
            <a:ext cx="1965960" cy="1417320"/>
          </a:xfrm>
          <a:prstGeom prst="roundRect">
            <a:avLst/>
          </a:prstGeom>
          <a:solidFill>
            <a:srgbClr val="F6EFDC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1719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88937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121408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32A32"/>
                </a:solidFill>
                <a:latin typeface="Aptos"/>
              </a:defRPr>
            </a:pPr>
            <a:r>
              <a:t>Predicted PD ↔ observed default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79" y="2304288"/>
            <a:ext cx="320041" cy="0"/>
          </a:xfrm>
          <a:prstGeom prst="line">
            <a:avLst/>
          </a:prstGeom>
          <a:ln w="1905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60920" y="1600200"/>
            <a:ext cx="19659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1719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88937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121408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32A32"/>
                </a:solidFill>
                <a:latin typeface="Aptos"/>
              </a:defRPr>
            </a:pPr>
            <a:r>
              <a:t>EAD × LGD × PD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0" y="2304288"/>
            <a:ext cx="320040" cy="0"/>
          </a:xfrm>
          <a:prstGeom prst="line">
            <a:avLst/>
          </a:prstGeom>
          <a:ln w="19050">
            <a:solidFill>
              <a:srgbClr val="B8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46920" y="1600200"/>
            <a:ext cx="1965960" cy="1417320"/>
          </a:xfrm>
          <a:prstGeom prst="roundRect">
            <a:avLst/>
          </a:prstGeom>
          <a:solidFill>
            <a:srgbClr val="F7E6E6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17190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88937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1F34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121408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32A32"/>
                </a:solidFill>
                <a:latin typeface="Aptos"/>
              </a:defRPr>
            </a:pPr>
            <a:r>
              <a:t>Limit / pricing / 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474720"/>
            <a:ext cx="3246120" cy="1828800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3474720"/>
            <a:ext cx="54864" cy="18288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584448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Expected loss 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3913631"/>
            <a:ext cx="29718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Portfolio EAD = ₹500 crore</a:t>
            </a:r>
            <a:br/>
            <a:r>
              <a:t>Average PD = 2.4%</a:t>
            </a:r>
            <a:br/>
            <a:r>
              <a:t>LGD = 45%</a:t>
            </a:r>
            <a:br/>
            <a:br/>
            <a:r>
              <a:t>EL = 500 × 2.4% × 45%</a:t>
            </a:r>
            <a:br/>
            <a:r>
              <a:t>= ₹5.40 crore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3474720"/>
            <a:ext cx="3246120" cy="1828800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69080" y="3474720"/>
            <a:ext cx="54864" cy="1828800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3584448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Sensitivity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3672" y="3913631"/>
            <a:ext cx="29718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If PD rises to 3.0%:</a:t>
            </a:r>
            <a:br/>
            <a:r>
              <a:t>EL = 500 × 3.0% × 45%</a:t>
            </a:r>
            <a:br/>
            <a:r>
              <a:t>= ₹6.75 crore</a:t>
            </a:r>
            <a:br/>
            <a:br/>
            <a:r>
              <a:t>ΔEL = ₹1.35 crore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3474720"/>
            <a:ext cx="4023360" cy="18288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3474720"/>
            <a:ext cx="54864" cy="1828800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3584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Decision implications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3913631"/>
            <a:ext cx="37490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Credit analyst → borrower / segment review</a:t>
            </a:r>
            <a:br/>
            <a:r>
              <a:t>Data scientist → calibration + drift</a:t>
            </a:r>
            <a:br/>
            <a:r>
              <a:t>MRM → validation + limitations</a:t>
            </a:r>
            <a:br/>
            <a:r>
              <a:t>CFO/CRO → capital, pricing, provisioning and risk appetite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MODEL RISK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Validation and red flags: where technically elegant models 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Controls should cover data, methodology, performance, stability, use and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4864" cy="1170432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Leakage • missingness • sample bias • unstable definitions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54864" cy="117043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0136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30552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Wrong target • overfitting • misspecification • multicollinearity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9164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691640"/>
            <a:ext cx="54864" cy="1170432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80136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130552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Poor calibration • threshold sensitivity • weak out-of-time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54864" cy="1170432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26440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593592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Population drift • feature drift • cluster drift • regime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15468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154680"/>
            <a:ext cx="54864" cy="117043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26440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593592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Policy override • unintended incentives • extrapolation beyond training 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154680"/>
            <a:ext cx="3429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3154680"/>
            <a:ext cx="54864" cy="1170432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326440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1F34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593592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Weak documentation • unclear ownership • inadequate challenger testing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754880"/>
            <a:ext cx="10881360" cy="914400"/>
          </a:xfrm>
          <a:prstGeom prst="roundRect">
            <a:avLst/>
          </a:prstGeom>
          <a:solidFill>
            <a:srgbClr val="F7E6E6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754880"/>
            <a:ext cx="54864" cy="914400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8646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Red-flag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1937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2"/>
                </a:solidFill>
                <a:latin typeface="Aptos"/>
              </a:defRPr>
            </a:pPr>
            <a:r>
              <a:t>If the team cannot clearly state the target, population, validation window, intended use and known limitations, the model is not decision-ready.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EXECUTIVE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1F34"/>
                </a:solidFill>
                <a:latin typeface="Aptos Display"/>
              </a:defRPr>
            </a:pPr>
            <a:r>
              <a:t>Role-based lens: what each stakeholder should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4"/>
                </a:solidFill>
                <a:latin typeface="Aptos"/>
              </a:defRPr>
            </a:pPr>
            <a:r>
              <a:t>One model, four different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651760" cy="3977639"/>
          </a:xfrm>
          <a:prstGeom prst="roundRect">
            <a:avLst/>
          </a:prstGeom>
          <a:solidFill>
            <a:srgbClr val="E1EBF5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" cy="3977639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013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CREDIT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30552"/>
            <a:ext cx="237744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Does the output make economic sense for the borrower / segment?</a:t>
            </a:r>
            <a:br/>
            <a:r>
              <a:t>Are exceptions explainable?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34340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590288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1F34"/>
                </a:solidFill>
                <a:latin typeface="Aptos"/>
              </a:defRPr>
            </a:pPr>
            <a:r>
              <a:t>Borrower quality • concentration • early warning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91640"/>
            <a:ext cx="2651760" cy="3977639"/>
          </a:xfrm>
          <a:prstGeom prst="roundRect">
            <a:avLst/>
          </a:prstGeom>
          <a:solidFill>
            <a:srgbClr val="E1F1E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691640"/>
            <a:ext cx="54864" cy="3977639"/>
          </a:xfrm>
          <a:prstGeom prst="rect">
            <a:avLst/>
          </a:prstGeom>
          <a:solidFill>
            <a:srgbClr val="2C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8013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DATA 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30552"/>
            <a:ext cx="237744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Is the signal real, stable and reproducible?</a:t>
            </a:r>
            <a:br/>
            <a:r>
              <a:t>Are features and labels fit for purpose?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34340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590288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1F34"/>
                </a:solidFill>
                <a:latin typeface="Aptos"/>
              </a:defRPr>
            </a:pPr>
            <a:r>
              <a:t>Feature engineering • calibration •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91640"/>
            <a:ext cx="2651760" cy="3977639"/>
          </a:xfrm>
          <a:prstGeom prst="roundRect">
            <a:avLst/>
          </a:prstGeom>
          <a:solidFill>
            <a:srgbClr val="F6EFDC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91640"/>
            <a:ext cx="54864" cy="3977639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18013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MRM PROFESSIONAL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2130552"/>
            <a:ext cx="237744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Is the methodology validated for intended use?</a:t>
            </a:r>
            <a:br/>
            <a:r>
              <a:t>Are limitations and monitoring adequate?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34340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590288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1F34"/>
                </a:solidFill>
                <a:latin typeface="Aptos"/>
              </a:defRPr>
            </a:pPr>
            <a:r>
              <a:t>Conceptual soundness • outcomes • controls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691640"/>
            <a:ext cx="2651760" cy="3977639"/>
          </a:xfrm>
          <a:prstGeom prst="roundRect">
            <a:avLst/>
          </a:prstGeom>
          <a:solidFill>
            <a:srgbClr val="F7E6E6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691640"/>
            <a:ext cx="54864" cy="3977639"/>
          </a:xfrm>
          <a:prstGeom prst="rect">
            <a:avLst/>
          </a:prstGeom>
          <a:solidFill>
            <a:srgbClr val="B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18013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1F34"/>
                </a:solidFill>
                <a:latin typeface="Aptos"/>
              </a:defRPr>
            </a:pPr>
            <a:r>
              <a:t>CFO / CRO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2130552"/>
            <a:ext cx="237744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What is the financial / risk appetite impact?</a:t>
            </a:r>
            <a:br/>
            <a:r>
              <a:t>What decisions change because of this model?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34340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4590288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1F34"/>
                </a:solidFill>
                <a:latin typeface="Aptos"/>
              </a:defRPr>
            </a:pPr>
            <a:r>
              <a:t>EL • capital • pricing • portfolio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Illustrative examples unless otherwise stated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77484"/>
                </a:solidFill>
                <a:latin typeface="Aptos"/>
              </a:defRPr>
            </a:pPr>
            <a:r>
              <a:t>EXECUTIVE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Five principles to carry into practice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1F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2763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Start with the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FDAE5"/>
                </a:solidFill>
                <a:latin typeface="Aptos"/>
              </a:defRPr>
            </a:pPr>
            <a:r>
              <a:t>Algorithm choice follows the business objective and available evidence.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1F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96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Unsupervised ≠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96312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FDAE5"/>
                </a:solidFill>
                <a:latin typeface="Aptos"/>
              </a:defRPr>
            </a:pPr>
            <a:r>
              <a:t>A cluster is a statistical construct until business meaning and stability are demonstrated.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021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1F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Prediction ≠ causality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64992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FDAE5"/>
                </a:solidFill>
                <a:latin typeface="Aptos"/>
              </a:defRPr>
            </a:pPr>
            <a:r>
              <a:t>High predictive accuracy does not establish that changing a variable will change the outcome.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251959"/>
            <a:ext cx="502920" cy="502920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1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1F3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336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Validation is multidimensional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33672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FDAE5"/>
                </a:solidFill>
                <a:latin typeface="Aptos"/>
              </a:defRPr>
            </a:pPr>
            <a:r>
              <a:t>Accuracy, calibration, stability, economic logic and governance all matter.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120640"/>
            <a:ext cx="502920" cy="502920"/>
          </a:xfrm>
          <a:prstGeom prst="ellipse">
            <a:avLst/>
          </a:prstGeom>
          <a:solidFill>
            <a:srgbClr val="B8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3951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1F3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023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Translate models into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02352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FDAE5"/>
                </a:solidFill>
                <a:latin typeface="Aptos"/>
              </a:defRPr>
            </a:pPr>
            <a:r>
              <a:t>Risk models matter when outputs change pricing, limits, provisioning, capital or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77484"/>
                </a:solidFill>
                <a:latin typeface="Aptos"/>
              </a:defRPr>
            </a:pPr>
            <a:r>
              <a:t>End of module | Unsupervised Learning • Supervised Learning • Econometric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 &amp; Supervised Learning — Econometric Techniques</dc:title>
  <dc:subject>Premium corporate AI/ML and risk learning module</dc:subject>
  <dc:creator>OpenAI</dc:creator>
  <cp:keywords>AI, ML, unsupervised learning, supervised learning, econometrics, banking, credit risk, model risk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