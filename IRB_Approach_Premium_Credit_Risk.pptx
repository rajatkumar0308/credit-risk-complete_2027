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PD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Borrower A</c:v>
                </c:pt>
                <c:pt idx="1">
                  <c:v>Borrower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LGD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Borrower A</c:v>
                </c:pt>
                <c:pt idx="1">
                  <c:v>Borrower 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</c:v>
                </c:pt>
                <c:pt idx="1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2912C"/>
                </a:solidFill>
                <a:latin typeface="Aptos"/>
              </a:rPr>
              <a:t>CREDIT RISK • CAPITAL • 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The IRB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06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2DCE8"/>
                </a:solidFill>
                <a:latin typeface="Aptos"/>
              </a:rPr>
              <a:t>Risk-sensitive regulatory capital through PD, LGD and 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8620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Foundation IRB vs Advanced IRB  |  Practical capital calculation  |  Banker &amp; CFO implications</a:t>
            </a:r>
          </a:p>
        </p:txBody>
      </p:sp>
      <p:sp>
        <p:nvSpPr>
          <p:cNvPr id="7" name="Oval 6"/>
          <p:cNvSpPr/>
          <p:nvPr/>
        </p:nvSpPr>
        <p:spPr>
          <a:xfrm>
            <a:off x="7955279" y="4892040"/>
            <a:ext cx="777240" cy="777240"/>
          </a:xfrm>
          <a:prstGeom prst="ellipse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5102352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PD</a:t>
            </a:r>
          </a:p>
        </p:txBody>
      </p:sp>
      <p:sp>
        <p:nvSpPr>
          <p:cNvPr id="9" name="Oval 8"/>
          <p:cNvSpPr/>
          <p:nvPr/>
        </p:nvSpPr>
        <p:spPr>
          <a:xfrm>
            <a:off x="9006840" y="4892040"/>
            <a:ext cx="777240" cy="777240"/>
          </a:xfrm>
          <a:prstGeom prst="ellipse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5102352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LGD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0" y="4892040"/>
            <a:ext cx="777240" cy="777240"/>
          </a:xfrm>
          <a:prstGeom prst="ellipse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5102352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72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9CC"/>
                </a:solidFill>
                <a:latin typeface="Aptos"/>
              </a:rPr>
              <a:t>Premium corporate training deck • Illustrative calculations clearly labelled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01 | EXECUTIVE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IRB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From borrower risk parameters to regulatory 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331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4231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Risk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7180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PD • LGD • EAD
+ maturity / correlation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4952" y="3154680"/>
            <a:ext cx="384048" cy="0"/>
          </a:xfrm>
          <a:prstGeom prst="line">
            <a:avLst/>
          </a:prstGeom>
          <a:ln w="2159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2240280"/>
            <a:ext cx="2331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79" y="2423160"/>
            <a:ext cx="502920" cy="502920"/>
          </a:xfrm>
          <a:prstGeom prst="ellipse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55117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4231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IRB formula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97180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Unexpected-loss capital
K × 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33872" y="3154680"/>
            <a:ext cx="384048" cy="0"/>
          </a:xfrm>
          <a:prstGeom prst="line">
            <a:avLst/>
          </a:prstGeom>
          <a:ln w="2159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63640" y="2240280"/>
            <a:ext cx="2331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2423160"/>
            <a:ext cx="502920" cy="502920"/>
          </a:xfrm>
          <a:prstGeom prst="ellipse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5117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4231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Capital requirement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97180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Risk-weighted assets
RWA = K × 12.5 × EAD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22792" y="3154680"/>
            <a:ext cx="384048" cy="0"/>
          </a:xfrm>
          <a:prstGeom prst="line">
            <a:avLst/>
          </a:prstGeom>
          <a:ln w="2159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2559" y="2240280"/>
            <a:ext cx="2331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89719" y="2423160"/>
            <a:ext cx="502920" cy="502920"/>
          </a:xfrm>
          <a:prstGeom prst="ellipse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255117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7" y="24231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Business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97180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Pricing • limits • capital
portfolio steering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2034"/>
                </a:solidFill>
                <a:latin typeface="Aptos"/>
              </a:rPr>
              <a:t>Core idea: IRB does not simply ask “how risky is this loan?” It translates measured credit risk into a capital requirement that is sensitive to portfolio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02 |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What is the IRB Approach?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Internal Ratings-Based approach under the Basel capital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4747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64008" cy="33375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578608"/>
            <a:ext cx="3154679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A34"/>
                </a:solidFill>
                <a:latin typeface="Aptos"/>
              </a:rPr>
              <a:t>A regulatory capital framework in which banks use internal risk estimates—subject to supervisory standards—to determine credit-risk capital.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011680"/>
            <a:ext cx="34747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11680"/>
            <a:ext cx="64008" cy="3337560"/>
          </a:xfrm>
          <a:prstGeom prst="rect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148840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578608"/>
            <a:ext cx="3154679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A34"/>
                </a:solidFill>
                <a:latin typeface="Aptos"/>
              </a:rPr>
              <a:t>Move from relatively blunt risk weights toward risk-sensitive capital that reflects borrower quality, loss severity and exposure.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011680"/>
            <a:ext cx="34747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2011680"/>
            <a:ext cx="64008" cy="333756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148840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SO 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578608"/>
            <a:ext cx="3154679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A34"/>
                </a:solidFill>
                <a:latin typeface="Aptos"/>
              </a:rPr>
              <a:t>Better risk differentiation can change RWA, capital consumption, pricing, portfolio mix and strategic capacity.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24040"/>
                </a:solidFill>
                <a:latin typeface="Aptos"/>
              </a:rPr>
              <a:t>Important: IRB parameters are not “free-form model outputs”; governance, data quality, validation, conservatism and supervisory approval are central.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03 |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How IRB turns risk into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A conceptual chain from borrower characteristics to RWA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2395728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64008" cy="19659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2075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4"/>
                </a:solidFill>
                <a:latin typeface="Aptos"/>
              </a:rPr>
              <a:t>Borrower / facility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15768"/>
            <a:ext cx="207568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financials • bureau • collateral
utilisation • maturity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26664" y="3127248"/>
            <a:ext cx="356615" cy="0"/>
          </a:xfrm>
          <a:prstGeom prst="line">
            <a:avLst/>
          </a:prstGeom>
          <a:ln w="2540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47288" y="2148840"/>
            <a:ext cx="2395728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2148840"/>
            <a:ext cx="64008" cy="1965960"/>
          </a:xfrm>
          <a:prstGeom prst="rect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86000"/>
            <a:ext cx="2075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4"/>
                </a:solidFill>
                <a:latin typeface="Aptos"/>
              </a:rPr>
              <a:t>Risk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15768"/>
            <a:ext cx="207568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PD estimate
LGD estimate
EAD estimate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9592" y="3127248"/>
            <a:ext cx="356616" cy="0"/>
          </a:xfrm>
          <a:prstGeom prst="line">
            <a:avLst/>
          </a:prstGeom>
          <a:ln w="2540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0216" y="2148840"/>
            <a:ext cx="2395728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2148840"/>
            <a:ext cx="64008" cy="196596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286000"/>
            <a:ext cx="2075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4"/>
                </a:solidFill>
                <a:latin typeface="Aptos"/>
              </a:rPr>
              <a:t>Regulatory 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715768"/>
            <a:ext cx="207568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correlation • maturity
capital function 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32520" y="3127248"/>
            <a:ext cx="356616" cy="0"/>
          </a:xfrm>
          <a:prstGeom prst="line">
            <a:avLst/>
          </a:prstGeom>
          <a:ln w="2540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53144" y="2148840"/>
            <a:ext cx="2395728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2148840"/>
            <a:ext cx="64008" cy="196596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2286000"/>
            <a:ext cx="2075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4"/>
                </a:solidFill>
                <a:latin typeface="Aptos"/>
              </a:rPr>
              <a:t>Capital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715768"/>
            <a:ext cx="207568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K × EAD
RWA = K × 12.5 × 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091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22A34"/>
                </a:solidFill>
                <a:latin typeface="Aptos"/>
              </a:rPr>
              <a:t>The architecture separates economic risk measurement from the regulatory capital formula. A bank may have sophisticated internal analytics, but regulatory capital still depends on the prescribed IRB methodology and parameter definitions.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04 |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PD, LGD and EAD under IRB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Three parameters describe different dimensions of credit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31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65CAA"/>
                </a:solidFill>
                <a:latin typeface="Aptos"/>
              </a:rPr>
              <a:t>PD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892807"/>
            <a:ext cx="27432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1892807"/>
            <a:ext cx="64008" cy="9601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9072" y="2029967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Probability of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459736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Likelihood borrower defaults over the regulatory horizon.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92807"/>
            <a:ext cx="68122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92807"/>
            <a:ext cx="64008" cy="9601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029967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4"/>
                </a:solidFill>
                <a:latin typeface="Aptos"/>
              </a:rPr>
              <a:t>WHAT DRIVES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459736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Borrower quality • rating migration • default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1839"/>
            <a:ext cx="731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8287"/>
                </a:solidFill>
                <a:latin typeface="Aptos"/>
              </a:rPr>
              <a:t>LGD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218687"/>
            <a:ext cx="27432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4480" y="3218687"/>
            <a:ext cx="64008" cy="960120"/>
          </a:xfrm>
          <a:prstGeom prst="rect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3355847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Loss Given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3785615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Economic loss if default occurs, after recoveries and relevant costs.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218687"/>
            <a:ext cx="68122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218687"/>
            <a:ext cx="64008" cy="960120"/>
          </a:xfrm>
          <a:prstGeom prst="rect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3355847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4"/>
                </a:solidFill>
                <a:latin typeface="Aptos"/>
              </a:rPr>
              <a:t>WHAT DRIVES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785615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Collateral • seniority • recovery timing • workout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731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C2912C"/>
                </a:solidFill>
                <a:latin typeface="Aptos"/>
              </a:rPr>
              <a:t>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4544568"/>
            <a:ext cx="27432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54480" y="4544568"/>
            <a:ext cx="64008" cy="96012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19072" y="4681728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Exposure at Default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19072" y="5111496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Exposure expected to be outstanding when default occurs.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544568"/>
            <a:ext cx="68122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26280" y="4544568"/>
            <a:ext cx="64008" cy="96012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4681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4"/>
                </a:solidFill>
                <a:latin typeface="Aptos"/>
              </a:rPr>
              <a:t>WHAT DRIVES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5111496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Drawn balance • undrawn commitments • CCF behaviour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08076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2034"/>
                </a:solidFill>
                <a:latin typeface="Aptos"/>
              </a:rPr>
              <a:t>PD answers “will it default?” • LGD asks “how much is lost?” • EAD asks “how much is exposed?”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05 |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Foundation IRB vs Advanced IRB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The key distinction: who supplies the risk parameters?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468880" cy="594360"/>
          </a:xfrm>
          <a:prstGeom prst="round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093976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920240"/>
            <a:ext cx="3154680" cy="594360"/>
          </a:xfrm>
          <a:prstGeom prst="round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093976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Foundation IRB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920240"/>
            <a:ext cx="4892040" cy="594360"/>
          </a:xfrm>
          <a:prstGeom prst="round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093976"/>
            <a:ext cx="470915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Advanced IRB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33472"/>
            <a:ext cx="246888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770632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034"/>
                </a:solidFill>
                <a:latin typeface="Aptos"/>
              </a:rPr>
              <a:t>PD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633472"/>
            <a:ext cx="315468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770632"/>
            <a:ext cx="2935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Bank estimates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633472"/>
            <a:ext cx="48920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2770632"/>
            <a:ext cx="467258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Bank estimates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2468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383279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034"/>
                </a:solidFill>
                <a:latin typeface="Aptos"/>
              </a:rPr>
              <a:t>LGD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246120"/>
            <a:ext cx="3154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3383279"/>
            <a:ext cx="2935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Regulatory/supervisory inputs or prescribed methodology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3246120"/>
            <a:ext cx="4892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3383279"/>
            <a:ext cx="467258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Bank estimates, subject to requirements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58768"/>
            <a:ext cx="246888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995928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034"/>
                </a:solidFill>
                <a:latin typeface="Aptos"/>
              </a:rPr>
              <a:t>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858768"/>
            <a:ext cx="315468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3995928"/>
            <a:ext cx="2935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Regulatory/supervisory inputs or prescribed methodology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3858768"/>
            <a:ext cx="48920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9128" y="3995928"/>
            <a:ext cx="467258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Bank estimates, subject to requirements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471416"/>
            <a:ext cx="2468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608576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034"/>
                </a:solidFill>
                <a:latin typeface="Aptos"/>
              </a:rPr>
              <a:t>Model burden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471416"/>
            <a:ext cx="3154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5848" y="4608576"/>
            <a:ext cx="2935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Lower internal-parameter 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4471416"/>
            <a:ext cx="4892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39128" y="4608576"/>
            <a:ext cx="467258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Higher data, model and governance burden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084064"/>
            <a:ext cx="246888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221224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42034"/>
                </a:solidFill>
                <a:latin typeface="Aptos"/>
              </a:rPr>
              <a:t>Business implication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5084064"/>
            <a:ext cx="315468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5848" y="5221224"/>
            <a:ext cx="2935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Less parameter flexibility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5084064"/>
            <a:ext cx="48920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6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39128" y="5221224"/>
            <a:ext cx="467258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22A34"/>
                </a:solidFill>
                <a:latin typeface="Aptos"/>
              </a:rPr>
              <a:t>More internal risk differentiation potential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9893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77484"/>
                </a:solidFill>
                <a:latin typeface="Aptos"/>
              </a:rPr>
              <a:t>Terminology and parameter treatment can vary by exposure class and regulatory jurisdiction; the table captures the core conceptual distinction.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06 |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IRB capital formula — conceptual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For training purposes, isolate the moving parts before applying the full prescribed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2034"/>
                </a:solidFill>
                <a:latin typeface="Aptos"/>
              </a:rPr>
              <a:t>K = f(PD, LGD, EAD-related treatment, correlation, maturity, and other prescribed inputs)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24231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71800"/>
            <a:ext cx="64008" cy="15087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1089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4"/>
                </a:solidFill>
                <a:latin typeface="Aptos"/>
              </a:rPr>
              <a:t>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538728"/>
            <a:ext cx="2103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Higher PD → higher capital requirement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971800"/>
            <a:ext cx="24231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971800"/>
            <a:ext cx="64008" cy="1508760"/>
          </a:xfrm>
          <a:prstGeom prst="rect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31089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4"/>
                </a:solidFill>
                <a:latin typeface="Aptos"/>
              </a:rPr>
              <a:t>LGD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538728"/>
            <a:ext cx="2103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Higher loss severity → higher capital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971800"/>
            <a:ext cx="24231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971800"/>
            <a:ext cx="64008" cy="150876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1089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4"/>
                </a:solidFill>
                <a:latin typeface="Aptos"/>
              </a:rPr>
              <a:t>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538728"/>
            <a:ext cx="2103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Systematic risk linkage affects capital sensitivity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971800"/>
            <a:ext cx="24231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971800"/>
            <a:ext cx="64008" cy="150876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31089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4"/>
                </a:solidFill>
                <a:latin typeface="Aptos"/>
              </a:rPr>
              <a:t>Maturity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3538728"/>
            <a:ext cx="2103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A34"/>
                </a:solidFill>
                <a:latin typeface="Aptos"/>
              </a:rPr>
              <a:t>Longer effective maturity can affect capital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42034"/>
                </a:solidFill>
                <a:latin typeface="Aptos"/>
              </a:rPr>
              <a:t>RWA = K × 12.5 × 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5955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77484"/>
                </a:solidFill>
                <a:latin typeface="Aptos"/>
              </a:rPr>
              <a:t>12.5 is the conversion factor because 1 / 8% = 12.5 in the Basel capital framework.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07 | NUMERICAL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Practical Example — a corporate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Illustrative training case; simplified to isolate the 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7432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34747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11679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4"/>
                </a:solidFill>
                <a:latin typeface="Aptos"/>
              </a:rPr>
              <a:t>CASE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41448"/>
            <a:ext cx="24231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Exposure (EAD): ₹100 crore
PD: 2.0%
LGD: 45%
Illustrative capital factor K: 8.0%
Note: K is deliberately simplified for training; actual IRB K is produced by the prescribed formula.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0195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794760" y="1901952"/>
            <a:ext cx="411480" cy="411480"/>
          </a:xfrm>
          <a:prstGeom prst="ellipse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856232"/>
            <a:ext cx="27432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56232"/>
            <a:ext cx="64008" cy="9601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9339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4"/>
                </a:solidFill>
                <a:latin typeface="Aptos"/>
              </a:rPr>
              <a:t>Capital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42316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K × 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039112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8.0% × ₹100 cr = ₹8.0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04495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3794760" y="3044952"/>
            <a:ext cx="411480" cy="411480"/>
          </a:xfrm>
          <a:prstGeom prst="ellipse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2999232"/>
            <a:ext cx="27432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999232"/>
            <a:ext cx="64008" cy="960120"/>
          </a:xfrm>
          <a:prstGeom prst="rect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13639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4"/>
                </a:solidFill>
                <a:latin typeface="Aptos"/>
              </a:rPr>
              <a:t>RWA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56616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Capital ÷ 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82112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₹8.0 cr ÷ 8% = ₹100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18795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3794760" y="4187952"/>
            <a:ext cx="411480" cy="411480"/>
          </a:xfrm>
          <a:prstGeom prst="ellipse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4142232"/>
            <a:ext cx="27432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142232"/>
            <a:ext cx="64008" cy="96012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427939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4"/>
                </a:solidFill>
                <a:latin typeface="Aptos"/>
              </a:rPr>
              <a:t>Capital intensity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70916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RWA ÷ 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325112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B24040"/>
                </a:solidFill>
                <a:latin typeface="Aptos"/>
              </a:rPr>
              <a:t>Key insight: regulatory capital is not the same as expected loss. Expected loss is typically linked to PD × LGD × EAD; IRB capital is designed primarily for unexpected loss / capital adequacy.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08 | RISK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Expected Loss ≠ IRB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A common conceptual trap in credit-risk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1206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182880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EXPECTED LOSS (EL)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87168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EL ≈ PD × LGD × EAD
Illustrative case: 2% × 45% × ₹100 cr = ₹0.90 cr
Used for provisioning / pricing economics, subject to accounting framework.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920240"/>
            <a:ext cx="539496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920240"/>
            <a:ext cx="64008" cy="182880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0574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IRB REGULATORY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487168"/>
            <a:ext cx="5074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Capital requirement is based on the prescribed IRB capital function and is intended to absorb unexpected losses at a high confidence level.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2034"/>
                </a:solidFill>
                <a:latin typeface="Aptos"/>
              </a:rPr>
              <a:t>Think of the stack: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709160"/>
            <a:ext cx="4389120" cy="5943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896612"/>
            <a:ext cx="4206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Expected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4114800"/>
            <a:ext cx="4389120" cy="114300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4576572"/>
            <a:ext cx="4206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Unexpected loss / capital buffer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971800"/>
            <a:ext cx="4389120" cy="45720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090672"/>
            <a:ext cx="4206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Stress / management 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09 |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Case Study — Two borrowers, same 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Illustrative data: why risk differentiation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Illustrative borrower comparison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2240280"/>
          <a:ext cx="5303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1920240"/>
            <a:ext cx="50749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64008" cy="114300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20574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BORROWER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4871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PD 1.0% • LGD 35% • EAD ₹100 cr
Illustrative EL = ₹0.35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291840"/>
            <a:ext cx="50749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291840"/>
            <a:ext cx="64008" cy="1143000"/>
          </a:xfrm>
          <a:prstGeom prst="rect">
            <a:avLst/>
          </a:prstGeom>
          <a:solidFill>
            <a:srgbClr val="B2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34290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BORROWER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38587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PD 4.0% • LGD 60% • EAD ₹100 cr
Illustrative EL = ₹2.40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800600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2034"/>
                </a:solidFill>
                <a:latin typeface="Aptos"/>
              </a:rPr>
              <a:t>Same exposure size, materially different risk economics. Under a risk-sensitive framework, parameter quality can affect capital allocation and pricing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10 |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IRB model lifecycle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The model is only one component of the control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96596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64008" cy="201168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40279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164591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definition • lineage
quality • representativeness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96312" y="3108960"/>
            <a:ext cx="274320" cy="0"/>
          </a:xfrm>
          <a:prstGeom prst="line">
            <a:avLst/>
          </a:prstGeom>
          <a:ln w="2032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39" y="2103120"/>
            <a:ext cx="196596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39" y="2103120"/>
            <a:ext cx="64008" cy="2011680"/>
          </a:xfrm>
          <a:prstGeom prst="rect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240279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670048"/>
            <a:ext cx="164591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segmentation • calibration
model design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8031" y="3108960"/>
            <a:ext cx="274321" cy="0"/>
          </a:xfrm>
          <a:prstGeom prst="line">
            <a:avLst/>
          </a:prstGeom>
          <a:ln w="2032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59" y="2103120"/>
            <a:ext cx="196596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59" y="2103120"/>
            <a:ext cx="64008" cy="201168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1" y="2240279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1" y="2670048"/>
            <a:ext cx="164591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discrimination • calibration
stability • benchmarking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59752" y="3108960"/>
            <a:ext cx="274319" cy="0"/>
          </a:xfrm>
          <a:prstGeom prst="line">
            <a:avLst/>
          </a:prstGeom>
          <a:ln w="2032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79" y="2103120"/>
            <a:ext cx="196596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103120"/>
            <a:ext cx="64008" cy="201168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1" y="2240279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670048"/>
            <a:ext cx="164591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underwriting • limits
pricing • monitoring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91472" y="3108960"/>
            <a:ext cx="274320" cy="0"/>
          </a:xfrm>
          <a:prstGeom prst="line">
            <a:avLst/>
          </a:prstGeom>
          <a:ln w="2032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29800" y="2103120"/>
            <a:ext cx="196596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2103120"/>
            <a:ext cx="64008" cy="2011680"/>
          </a:xfrm>
          <a:prstGeom prst="rect">
            <a:avLst/>
          </a:prstGeom>
          <a:solidFill>
            <a:srgbClr val="B2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4392" y="2240279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4"/>
                </a:solidFill>
                <a:latin typeface="Aptos"/>
              </a:rPr>
              <a:t>Supervision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2670048"/>
            <a:ext cx="164591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A34"/>
                </a:solidFill>
                <a:latin typeface="Aptos"/>
              </a:rPr>
              <a:t>approval • review
capital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00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24040"/>
                </a:solidFill>
                <a:latin typeface="Aptos"/>
              </a:rPr>
              <a:t>Model risk is broader than statistical error: weak data lineage, poor use-test evidence, parameter overrides, outdated calibration and weak governance can all undermine IRB outcomes.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11 | BUSINESS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Who uses IRB — and for what?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Different decision-makers look at the same capital number differently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52120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64008" cy="16459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0312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Credit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32888"/>
            <a:ext cx="4892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A34"/>
                </a:solidFill>
                <a:latin typeface="Aptos"/>
              </a:rPr>
              <a:t>Is the borrower’s PD credible?
Are collateral and recovery assumptions defensible?
Are risk drivers changing?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120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64008" cy="1645920"/>
          </a:xfrm>
          <a:prstGeom prst="rect">
            <a:avLst/>
          </a:prstGeom>
          <a:solidFill>
            <a:srgbClr val="1A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0312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Banker / 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532888"/>
            <a:ext cx="4892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A34"/>
                </a:solidFill>
                <a:latin typeface="Aptos"/>
              </a:rPr>
              <a:t>How much capital does the relationship consume?
Does pricing compensate for risk and capital?
Where are concentration limits binding?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31920"/>
            <a:ext cx="52120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31920"/>
            <a:ext cx="64008" cy="164592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6908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CFO / Treasurer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498848"/>
            <a:ext cx="4892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A34"/>
                </a:solidFill>
                <a:latin typeface="Aptos"/>
              </a:rPr>
              <a:t>How does bank capital allocation affect funding terms?
How might risk migration change capacity?
What does this mean for lenders?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2120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64008" cy="164592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06908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Investor / 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498848"/>
            <a:ext cx="4892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A34"/>
                </a:solidFill>
                <a:latin typeface="Aptos"/>
              </a:rPr>
              <a:t>How sensitive is capital to credit-cycle deterioration?
Are model assumptions transparent?
How resilient is the capital stack?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12 |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IRB red flags, mistakes and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What can make a sophisticated framework produce weak decisions?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5CAA"/>
                </a:solidFill>
                <a:latin typeface="Aptos"/>
              </a:rPr>
              <a:t>Data /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82880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22A34"/>
                </a:solidFill>
                <a:latin typeface="Aptos"/>
              </a:rPr>
              <a:t>Default definition mismatch • short history • survivorship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82880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4"/>
                </a:solidFill>
                <a:latin typeface="Aptos"/>
              </a:rPr>
              <a:t>CONTROL: Reconcile definitions; test representativeness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8287"/>
                </a:solidFill>
                <a:latin typeface="Aptos"/>
              </a:rPr>
              <a:t>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65176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22A34"/>
                </a:solidFill>
                <a:latin typeface="Aptos"/>
              </a:rPr>
              <a:t>PDs too low • LGDs too optimistic • downturn effects ignored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6517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4"/>
                </a:solidFill>
                <a:latin typeface="Aptos"/>
              </a:rPr>
              <a:t>CONTROL: Back-test; benchmark; apply conservatism where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2912C"/>
                </a:solidFill>
                <a:latin typeface="Aptos"/>
              </a:rPr>
              <a:t>Collateral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4747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22A34"/>
                </a:solidFill>
                <a:latin typeface="Aptos"/>
              </a:rPr>
              <a:t>Gross collateral value treated as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4747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4"/>
                </a:solidFill>
                <a:latin typeface="Aptos"/>
              </a:rPr>
              <a:t>CONTROL: Haircuts, enforceability, time-to-recovery and costs matter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97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24040"/>
                </a:solidFill>
                <a:latin typeface="Aptos"/>
              </a:rPr>
              <a:t>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2976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22A34"/>
                </a:solidFill>
                <a:latin typeface="Aptos"/>
              </a:rPr>
              <a:t>Static drawn balance used for revolving facilities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2976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4"/>
                </a:solidFill>
                <a:latin typeface="Aptos"/>
              </a:rPr>
              <a:t>CONTROL: Model conversion / utilisation behaviour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206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4"/>
                </a:solidFill>
                <a:latin typeface="Aptos"/>
              </a:rP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1206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22A34"/>
                </a:solidFill>
                <a:latin typeface="Aptos"/>
              </a:rPr>
              <a:t>Overrides without evidence • weak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1206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4"/>
                </a:solidFill>
                <a:latin typeface="Aptos"/>
              </a:rPr>
              <a:t>CONTROL: Independent validation, audit trail and use-test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2912C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IRB is a capital-allocation system, not just a credit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912C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920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Risk parameters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6DFEA"/>
                </a:solidFill>
                <a:latin typeface="Aptos"/>
              </a:rPr>
              <a:t>PD, LGD and EAD convert borrower/facility risk into measurable capital inputs.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912C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5292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Foundation vs Advanced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852928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6DFEA"/>
                </a:solidFill>
                <a:latin typeface="Aptos"/>
              </a:rPr>
              <a:t>The central difference is the extent to which the bank estimates its own regulatory risk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8561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912C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8561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Governance is part of the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785616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6DFEA"/>
                </a:solidFill>
                <a:latin typeface="Aptos"/>
              </a:rPr>
              <a:t>Data, validation, calibration, documentation and supervisory expectations determine credibility.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1830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912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718304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Capital changes 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718304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6DFEA"/>
                </a:solidFill>
                <a:latin typeface="Aptos"/>
              </a:rPr>
              <a:t>RWA affects pricing, limits, portfolio mix, return-on-capital analysis and strategic capacity.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0B0C6"/>
                </a:solidFill>
                <a:latin typeface="Aptos"/>
              </a:rPr>
              <a:t>Training note: actual regulatory implementation depends on jurisdiction, exposure class, Basel framework version and supervisory approval.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2912C"/>
                </a:solidFill>
                <a:latin typeface="Aptos"/>
              </a:rPr>
              <a:t>13 |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4"/>
                </a:solidFill>
                <a:latin typeface="Aptos"/>
              </a:rPr>
              <a:t>Technical note &amp;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Use the full regulatory text for implementation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338328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KEY TERMS TO RETAIN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95728"/>
            <a:ext cx="48920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IRB = Internal Ratings-Based approach
PD = Probability of Default
LGD = Loss Given Default
EAD = Exposure at Default
RWA = Risk-Weighted Assets
EL = Expected Loss
K = capital requirement / capital function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2578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64008" cy="3383280"/>
          </a:xfrm>
          <a:prstGeom prst="rect">
            <a:avLst/>
          </a:prstGeom>
          <a:solidFill>
            <a:srgbClr val="C29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9659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034"/>
                </a:solidFill>
                <a:latin typeface="Aptos"/>
              </a:rPr>
              <a:t>IMPLEMENTATION CAUTION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95728"/>
            <a:ext cx="49377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This deck intentionally uses simplified formulas and illustrative numbers for learning.
Actual IRB implementation involves prescribed definitions, exposure classes, maturity treatment, downturn LGD considerations, CCF/EAD requirements, validation and supervisory approval.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77484"/>
                </a:solidFill>
                <a:latin typeface="Aptos"/>
              </a:rPr>
              <a:t>Suggested primary reference: Basel Committee — Basel Framework, CRE (credit risk) standards and jurisdiction-specific implementation rules.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IRB APPROACH  |  CREDIT RISK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