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DTI</c:v>
                </c:pt>
                <c:pt idx="1">
                  <c:v>Delinquencies</c:v>
                </c:pt>
                <c:pt idx="2">
                  <c:v>Credit score</c:v>
                </c:pt>
                <c:pt idx="3">
                  <c:v>Utilization</c:v>
                </c:pt>
                <c:pt idx="4">
                  <c:v>Income</c:v>
                </c:pt>
                <c:pt idx="5">
                  <c:v>Employment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0.42</c:v>
                </c:pt>
                <c:pt idx="1">
                  <c:v>0.37</c:v>
                </c:pt>
                <c:pt idx="2">
                  <c:v>0.31</c:v>
                </c:pt>
                <c:pt idx="3">
                  <c:v>0.25</c:v>
                </c:pt>
                <c:pt idx="4">
                  <c:v>0.16</c:v>
                </c:pt>
                <c:pt idx="5">
                  <c:v>0.11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EXPLAINABLE AI</a:t>
            </a:r>
            <a:br/>
            <a:r>
              <a:t>IN CREDIT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CDD7E1"/>
                </a:solidFill>
              </a:defRPr>
            </a:pPr>
            <a:r>
              <a:t>From model transparency to SHAP-powered decision explanations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94760"/>
            <a:ext cx="1828800" cy="347472"/>
          </a:xfrm>
          <a:prstGeom prst="roundRect">
            <a:avLst/>
          </a:prstGeom>
          <a:solidFill>
            <a:srgbClr val="2A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5876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1EBF5"/>
                </a:solidFill>
              </a:defRPr>
            </a:pPr>
            <a:r>
              <a:t>BANKING • RISK •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AB9C8"/>
                </a:solidFill>
              </a:defRPr>
            </a:pPr>
            <a:r>
              <a:t>Premium executive learning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4BEC8"/>
                </a:solidFill>
              </a:defRPr>
            </a:pPr>
            <a:r>
              <a:t>EXPLAINABLE AI IN CREDIT RISK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EXECUTIVE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Why Explainability Is a Credit-Risk Requirement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425196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63624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01952"/>
            <a:ext cx="31546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A high-performing model can still be difficult to defend if decision-makers cannot explain why a borrower was classified as high or low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50292" cy="425196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63624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THE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01952"/>
            <a:ext cx="31546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Credit decisions affect pricing, limits, approvals, monitoring and customer outcomes — creating a need for traceable rationale.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50292" cy="425196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63624"/>
            <a:ext cx="3154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THE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01952"/>
            <a:ext cx="31546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Explainability creates a bridge between model output, human review, governance evidence and challenge.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CONCEPTUAL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The Explainability Stack: What → Why → How → So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50292" cy="338328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93391"/>
            <a:ext cx="21945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02730"/>
                </a:solidFill>
              </a:defRPr>
            </a:pPr>
            <a:r>
              <a:t>What did the model predict?</a:t>
            </a:r>
            <a:br/>
            <a:r>
              <a:t>PD = 7.8%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3154680"/>
            <a:ext cx="32004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50876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508760"/>
            <a:ext cx="50292" cy="338328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65506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93391"/>
            <a:ext cx="21945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02730"/>
                </a:solidFill>
              </a:defRPr>
            </a:pPr>
            <a:r>
              <a:t>Which factors moved the prediction?</a:t>
            </a:r>
            <a:br/>
            <a:r>
              <a:t>Income ↓, DTI ↑, delinquency 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3154680"/>
            <a:ext cx="32004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80" y="150876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508760"/>
            <a:ext cx="50292" cy="338328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65506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93391"/>
            <a:ext cx="21945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02730"/>
                </a:solidFill>
              </a:defRPr>
            </a:pPr>
            <a:r>
              <a:t>Can we reproduce the explanation?</a:t>
            </a:r>
            <a:br/>
            <a:r>
              <a:t>Local + global evidence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3154680"/>
            <a:ext cx="32004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35440" y="150876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508760"/>
            <a:ext cx="50292" cy="338328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165506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SO WHAT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1993391"/>
            <a:ext cx="21945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02730"/>
                </a:solidFill>
              </a:defRPr>
            </a:pPr>
            <a:r>
              <a:t>What should the banker do?</a:t>
            </a:r>
            <a:br/>
            <a:r>
              <a:t>Review, price, limit or decline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2337"/>
                </a:solidFill>
              </a:defRPr>
            </a:pPr>
            <a:r>
              <a:t>Key principle: explanation is not the same thing as model transparency.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Interpretability vs Explainability vs Transparency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3520440" cy="50292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Practical 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53312"/>
            <a:ext cx="3520440" cy="50292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4173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Credit-risk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353312"/>
            <a:ext cx="3520440" cy="50292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920240"/>
            <a:ext cx="3520440" cy="10789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057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2730"/>
                </a:solidFill>
              </a:defRPr>
            </a:pPr>
            <a:r>
              <a:t>Interpretability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3520440" cy="10789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057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A human can understand how inputs relate to the model's behavior.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920240"/>
            <a:ext cx="3520440" cy="10789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057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A shallow tree shows a sequence of understandable rules.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54680"/>
            <a:ext cx="352044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91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2730"/>
                </a:solidFill>
              </a:defRPr>
            </a:pPr>
            <a:r>
              <a:t>Explainability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154680"/>
            <a:ext cx="352044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3291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A method provides reasons for a particular prediction or model behavior.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3154680"/>
            <a:ext cx="352044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3291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SHAP shows why this applicant's PD moved upward.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89120"/>
            <a:ext cx="3520440" cy="10789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526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02730"/>
                </a:solidFill>
              </a:defRPr>
            </a:pPr>
            <a:r>
              <a:t>Transparency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389120"/>
            <a:ext cx="3520440" cy="10789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4526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Visibility into model design, data, assumptions, limitations and controls.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4389120"/>
            <a:ext cx="3520440" cy="1078992"/>
          </a:xfrm>
          <a:prstGeom prst="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4526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Documentation covers data lineage, variables, methodology and validation.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GOVERNANCE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Why Explainability Matters in Regulated Credit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060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416052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63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01952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Clear adverse-action / decision rationale</a:t>
            </a:r>
            <a:br/>
            <a:br/>
            <a:r>
              <a:t>Consistent explanations</a:t>
            </a:r>
            <a:br/>
            <a:br/>
            <a:r>
              <a:t>Human review where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6060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50292" cy="416052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563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MODEL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901952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Challenge assumptions</a:t>
            </a:r>
            <a:br/>
            <a:br/>
            <a:r>
              <a:t>Identify instability</a:t>
            </a:r>
            <a:br/>
            <a:br/>
            <a:r>
              <a:t>Detect unexpected drivers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6060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0292" cy="416052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63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01952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Evidence trail</a:t>
            </a:r>
            <a:br/>
            <a:br/>
            <a:r>
              <a:t>Reproducible analysis</a:t>
            </a:r>
            <a:br/>
            <a:br/>
            <a:r>
              <a:t>Documented limitations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417320"/>
            <a:ext cx="26060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417320"/>
            <a:ext cx="50292" cy="416052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563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1901952"/>
            <a:ext cx="2286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Pricing &amp; limits</a:t>
            </a:r>
            <a:br/>
            <a:br/>
            <a:r>
              <a:t>Portfolio steering</a:t>
            </a:r>
            <a:br/>
            <a:br/>
            <a:r>
              <a:t>Analyst productivity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06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180"/>
                </a:solidFill>
              </a:defRPr>
            </a:pPr>
            <a:r>
              <a:t>Important: explainability supports governance; it does not by itself prove fairness, causality, accuracy or regulatory compliance.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Where Explainability Fits in the Credit-Risk Decision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242316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751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Income</a:t>
            </a:r>
            <a:br/>
            <a:r>
              <a:t>DTI</a:t>
            </a:r>
            <a:br/>
            <a:r>
              <a:t>Bureau</a:t>
            </a:r>
            <a:br/>
            <a:r>
              <a:t>Behavior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3017520"/>
            <a:ext cx="32004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82880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50292" cy="242316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9751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13432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Logistic</a:t>
            </a:r>
            <a:br/>
            <a:r>
              <a:t>GBM / XGBoost</a:t>
            </a:r>
            <a:br/>
            <a:r>
              <a:t>Neural net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79" y="3017520"/>
            <a:ext cx="320041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59" y="182880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0292" cy="242316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19751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313432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PD = 7.8%</a:t>
            </a:r>
            <a:br/>
            <a:r>
              <a:t>Risk grade 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600" y="3017520"/>
            <a:ext cx="32004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82880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50292" cy="242316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59" y="19751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59" y="2313432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SHAP</a:t>
            </a:r>
            <a:br/>
            <a:r>
              <a:t>Rules</a:t>
            </a:r>
            <a:br/>
            <a:r>
              <a:t>Counterfactuals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18319" y="3017520"/>
            <a:ext cx="320040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1828800"/>
            <a:ext cx="1920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828800"/>
            <a:ext cx="50292" cy="242316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19751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313432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Approve</a:t>
            </a:r>
            <a:br/>
            <a:r>
              <a:t>Price</a:t>
            </a:r>
            <a:br/>
            <a:r>
              <a:t>Limit</a:t>
            </a:r>
            <a:br/>
            <a: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5892E"/>
                </a:solidFill>
              </a:defRPr>
            </a:pPr>
            <a:r>
              <a:t>Control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074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2337"/>
                </a:solidFill>
              </a:defRPr>
            </a:pPr>
            <a:r>
              <a:t>Explanation should be generated from the same production model/version that made the decision.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Illustrative Credit Decision: Same PD, Different Explanations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6888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5B96"/>
                </a:solidFill>
              </a:defRPr>
            </a:pPr>
            <a:r>
              <a:t>7.8%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Predicted probability of default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46888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07E87"/>
                </a:solidFill>
              </a:defRPr>
            </a:pPr>
            <a:r>
              <a:t>3.1%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Portfolio average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246888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5892E"/>
                </a:solidFill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Risk 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17320"/>
            <a:ext cx="246888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04040"/>
                </a:solidFill>
              </a:defRPr>
            </a:pPr>
            <a:r>
              <a:t>Manual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88920"/>
            <a:ext cx="51663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788920"/>
            <a:ext cx="50292" cy="233172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352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Top drivers increasing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7355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02730"/>
                </a:solidFill>
              </a:defRPr>
            </a:pPr>
            <a:r>
              <a:t>• DTI 42% — above portfolio median</a:t>
            </a:r>
            <a:br/>
            <a:r>
              <a:t>• 2 delinquencies in last 24 months</a:t>
            </a:r>
            <a:br/>
            <a:r>
              <a:t>• High utilization 78%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788920"/>
            <a:ext cx="51663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788920"/>
            <a:ext cx="50292" cy="2331720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352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Drivers reducing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7355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02730"/>
                </a:solidFill>
              </a:defRPr>
            </a:pPr>
            <a:r>
              <a:t>• Stable employment 8 years</a:t>
            </a:r>
            <a:br/>
            <a:r>
              <a:t>• Credit score 735</a:t>
            </a:r>
            <a:br/>
            <a:r>
              <a:t>• No recent severe delinquency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180"/>
                </a:solidFill>
              </a:defRPr>
            </a:pPr>
            <a:r>
              <a:t>Illustrative data — not a claim about any specific bank's production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ILLUSTRATIVE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Case Study 1 — SME Lending: From Black Box to Reviewable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5892E"/>
                </a:solidFill>
              </a:defRPr>
            </a:pPr>
            <a: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An SME applicant receives a high-risk score from a gradient-boosting model. The relationship manager wants a defensible reason before escalating the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80360"/>
            <a:ext cx="2423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880360"/>
            <a:ext cx="50292" cy="214884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266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64991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Revenue: ₹12 Cr</a:t>
            </a:r>
            <a:br/>
            <a:r>
              <a:t>DSCR: 1.18x</a:t>
            </a:r>
            <a:br/>
            <a:r>
              <a:t>Leverage: 3.4x</a:t>
            </a:r>
            <a:br/>
            <a:r>
              <a:t>Utilization: 81%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880360"/>
            <a:ext cx="2423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880360"/>
            <a:ext cx="50292" cy="214884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0266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64991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02730"/>
                </a:solidFill>
              </a:defRPr>
            </a:pPr>
            <a:r>
              <a:t>PD: 9.6%</a:t>
            </a:r>
            <a:br/>
            <a:r>
              <a:t>Grade: High review</a:t>
            </a:r>
            <a:br/>
            <a:r>
              <a:t>Action: Escalate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17320"/>
            <a:ext cx="53035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50292" cy="365760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6362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EXPLANATION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01952"/>
            <a:ext cx="49834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1  Leverage increased risk materially</a:t>
            </a:r>
            <a:br/>
            <a:r>
              <a:t>2  DSCR below portfolio benchmark increased risk</a:t>
            </a:r>
            <a:br/>
            <a:r>
              <a:t>3  High utilization added incremental risk</a:t>
            </a:r>
            <a:br/>
            <a:r>
              <a:t>4  Strong revenue growth partially offset risk</a:t>
            </a:r>
            <a:br/>
            <a:br/>
            <a:r>
              <a:t>Business interpretation: the model is responding to balance-sheet pressure more strongly than top-line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METHOD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Explainability Methods: Choose the Question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Feature importance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71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What matters globally?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44168"/>
            <a:ext cx="4572000" cy="34747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08176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5B96"/>
                </a:solidFill>
              </a:defRPr>
            </a:pPr>
            <a:r>
              <a:t>Portfolio / model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SHAP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Why this prediction?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258568"/>
            <a:ext cx="4572000" cy="34747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22576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5B96"/>
                </a:solidFill>
              </a:defRPr>
            </a:pPr>
            <a:r>
              <a:t>Case-level analyst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Partial dependence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How does risk change with a feature?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172968"/>
            <a:ext cx="4572000" cy="34747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36976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07E87"/>
                </a:solidFill>
              </a:defRPr>
            </a:pPr>
            <a:r>
              <a:t>Model behavior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Counterfactual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What change could alter the decision?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087368"/>
            <a:ext cx="4572000" cy="34747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51376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07E87"/>
                </a:solidFill>
              </a:defRPr>
            </a:pPr>
            <a:r>
              <a:t>Customer / remediation 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Surrogate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Can complex behavior be approximated simply?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5001768"/>
            <a:ext cx="4572000" cy="34747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065776"/>
            <a:ext cx="4480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07E87"/>
                </a:solidFill>
              </a:defRPr>
            </a:pPr>
            <a:r>
              <a:t>Model 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BE6E"/>
                </a:solidFill>
              </a:defRPr>
            </a:pPr>
            <a:r>
              <a:t>FROM PREDICTION TO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SHAP: A Common Language for Model Explanations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SHAP = SHapley Additive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D2DCE6"/>
                </a:solidFill>
              </a:defRPr>
            </a:pPr>
            <a:r>
              <a:t>The core idea: start from a baseline prediction and decompose the individual prediction into feature-level contributions.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237744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5892E"/>
                </a:solidFill>
              </a:defRPr>
            </a:pPr>
            <a:r>
              <a:t>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Baseline / expected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337560"/>
            <a:ext cx="237744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07E87"/>
                </a:solidFill>
              </a:defRPr>
            </a:pPr>
            <a: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Feature contribution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337560"/>
            <a:ext cx="237744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04040"/>
                </a:solidFill>
              </a:defRPr>
            </a:pPr>
            <a:r>
              <a:t>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Feature contribution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337560"/>
            <a:ext cx="2377440" cy="10515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5B96"/>
                </a:solidFill>
              </a:defRPr>
            </a:pPr>
            <a:r>
              <a:t>7.8%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180"/>
                </a:solidFill>
              </a:defRPr>
            </a:pPr>
            <a:r>
              <a:t>Final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B9C8"/>
                </a:solidFill>
              </a:defRPr>
            </a:pPr>
            <a:r>
              <a:t>Illustrative probability-space example; real SHAP implementations may use model-specific output scales such as log-odds.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4BEC8"/>
                </a:solidFill>
              </a:defRPr>
            </a:pPr>
            <a:r>
              <a:t>EXPLAINABLE AI IN CREDIT RISK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SHAP Numerical Example: Reconstructing One Borrower's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5892E"/>
                </a:solidFill>
              </a:defRPr>
            </a:pPr>
            <a:r>
              <a:t>Illustrative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02730"/>
                </a:solidFill>
              </a:defRPr>
            </a:pPr>
            <a:r>
              <a:t>Baseline PD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75B96"/>
                </a:solidFill>
              </a:defRPr>
            </a:pPr>
            <a:r>
              <a:t>+3.10 pp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764792"/>
            <a:ext cx="1559052" cy="201168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591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DTI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591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04040"/>
                </a:solidFill>
              </a:defRPr>
            </a:pPr>
            <a:r>
              <a:t>+1.70 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386584"/>
            <a:ext cx="854964" cy="201168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809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Delinquency contribution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04040"/>
                </a:solidFill>
              </a:defRPr>
            </a:pPr>
            <a:r>
              <a:t>+2.10 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3008376"/>
            <a:ext cx="1056132" cy="201168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027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Credit score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027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77D54"/>
                </a:solidFill>
              </a:defRPr>
            </a:pPr>
            <a:r>
              <a:t>-0.80 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630168"/>
            <a:ext cx="402336" cy="201168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245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Stable employment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224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77D54"/>
                </a:solidFill>
              </a:defRPr>
            </a:pPr>
            <a:r>
              <a:t>-0.40 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251960"/>
            <a:ext cx="201168" cy="201168"/>
          </a:xfrm>
          <a:prstGeom prst="rect">
            <a:avLst/>
          </a:prstGeom>
          <a:solidFill>
            <a:srgbClr val="37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Other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46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04040"/>
                </a:solidFill>
              </a:defRPr>
            </a:pPr>
            <a:r>
              <a:t>+2.10 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4873752"/>
            <a:ext cx="1056132" cy="201168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05740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2337"/>
                </a:solidFill>
              </a:defRPr>
            </a:pPr>
            <a:r>
              <a:t>3.10 + 1.70 + 2.10 − 0.80 − 0.40 + 2.10 = 7.80%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63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180"/>
                </a:solidFill>
              </a:defRPr>
            </a:pPr>
            <a:r>
              <a:t>Interpretation: SHAP attributes the model output to feature contributions. It does not establish that a feature causally created the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TWO DIFFERENT MANAGEMENT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Local vs Global Explanations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0292" cy="416052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934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LOCAL — ONE BORROWER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Question: Why did this customer receive this prediction?</a:t>
            </a:r>
            <a:br/>
            <a:br/>
            <a:r>
              <a:t>Typical output:</a:t>
            </a:r>
            <a:br/>
            <a:r>
              <a:t>• SHAP waterfall</a:t>
            </a:r>
            <a:br/>
            <a:r>
              <a:t>• Top positive / negative drivers</a:t>
            </a:r>
            <a:br/>
            <a:r>
              <a:t>• Case-level review evidence</a:t>
            </a:r>
            <a:br/>
            <a:br/>
            <a:r>
              <a:t>Primary users: credit analyst, underwriter, relationship 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0292" cy="416052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934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GLOBAL — THE PORTFOLIO /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Question: How does the model behave overall?</a:t>
            </a:r>
            <a:br/>
            <a:br/>
            <a:r>
              <a:t>Typical output:</a:t>
            </a:r>
            <a:br/>
            <a:r>
              <a:t>• Mean |SHAP|</a:t>
            </a:r>
            <a:br/>
            <a:r>
              <a:t>• Feature importance</a:t>
            </a:r>
            <a:br/>
            <a:r>
              <a:t>• Dependence plots</a:t>
            </a:r>
            <a:br/>
            <a:r>
              <a:t>• Segment comparisons</a:t>
            </a:r>
            <a:br/>
            <a:br/>
            <a:r>
              <a:t>Primary users: model risk, portfolio risk, governance, senior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ILLUSTRATIVE MODEL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Global SHAP: What Drives Risk Across the Portfolio?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17320"/>
          <a:ext cx="6400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43800" y="1508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5892E"/>
                </a:solidFill>
              </a:defRPr>
            </a:pPr>
            <a:r>
              <a:t>READ THE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920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337"/>
                </a:solidFill>
              </a:defRPr>
            </a:pPr>
            <a:r>
              <a:t>DTI and delinquency behavior have the largest average absolute contribution in this illustrative portfolio.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7E87"/>
                </a:solidFill>
              </a:defRPr>
            </a:pPr>
            <a:r>
              <a:t>Governance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566160"/>
            <a:ext cx="3566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02730"/>
                </a:solidFill>
              </a:defRPr>
            </a:pPr>
            <a:r>
              <a:t>Are these drivers economically sensible, stable over time, and consistent with policy and underwriting practice?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LOCAL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Reading a SHAP Waterfall for a Credit Analyst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180"/>
                </a:solidFill>
              </a:defRPr>
            </a:pPr>
            <a: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2337"/>
                </a:solidFill>
              </a:defRPr>
            </a:pPr>
            <a:r>
              <a:t>3.1%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828800"/>
            <a:ext cx="1508760" cy="34747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79" y="1892807"/>
            <a:ext cx="14173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42337"/>
                </a:solidFill>
              </a:defRPr>
            </a:pPr>
            <a:r>
              <a:t>DTI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3317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4040"/>
                </a:solidFill>
              </a:defRPr>
            </a:pPr>
            <a:r>
              <a:t>+1.7 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79" y="1828800"/>
            <a:ext cx="1508760" cy="34747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199" y="1892807"/>
            <a:ext cx="14173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42337"/>
                </a:solidFill>
              </a:defRPr>
            </a:pPr>
            <a:r>
              <a:t>Delinq.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23317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4040"/>
                </a:solidFill>
              </a:defRPr>
            </a:pPr>
            <a:r>
              <a:t>+2.1 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4999" y="1828800"/>
            <a:ext cx="1508760" cy="34747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19" y="1892807"/>
            <a:ext cx="14173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42337"/>
                </a:solidFill>
              </a:defRPr>
            </a:pPr>
            <a:r>
              <a:t>Score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999" y="23317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7D54"/>
                </a:solidFill>
              </a:defRPr>
            </a:pPr>
            <a:r>
              <a:t>−0.8 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1828800"/>
            <a:ext cx="1508760" cy="34747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892807"/>
            <a:ext cx="14173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42337"/>
                </a:solidFill>
              </a:defRPr>
            </a:pPr>
            <a:r>
              <a:t>Employment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3317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7D54"/>
                </a:solidFill>
              </a:defRPr>
            </a:pPr>
            <a:r>
              <a:t>−0.4 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39" y="1828800"/>
            <a:ext cx="1508760" cy="347472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59" y="1892807"/>
            <a:ext cx="14173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42337"/>
                </a:solidFill>
              </a:defRPr>
            </a:pPr>
            <a:r>
              <a:t>Other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39" y="23317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4040"/>
                </a:solidFill>
              </a:defRPr>
            </a:pPr>
            <a:r>
              <a:t>+2.1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180"/>
                </a:solidFill>
              </a:defRPr>
            </a:pPr>
            <a:r>
              <a:t>Final PD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240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04040"/>
                </a:solidFill>
              </a:defRPr>
            </a:pPr>
            <a:r>
              <a:t>7.8%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3080" y="2788920"/>
            <a:ext cx="731520" cy="0"/>
          </a:xfrm>
          <a:prstGeom prst="line">
            <a:avLst/>
          </a:prstGeom>
          <a:ln w="1905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66160" y="2788920"/>
            <a:ext cx="731520" cy="0"/>
          </a:xfrm>
          <a:prstGeom prst="line">
            <a:avLst/>
          </a:prstGeom>
          <a:ln w="1905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40680" y="2788920"/>
            <a:ext cx="731520" cy="0"/>
          </a:xfrm>
          <a:prstGeom prst="line">
            <a:avLst/>
          </a:prstGeom>
          <a:ln w="1905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2788920"/>
            <a:ext cx="731520" cy="0"/>
          </a:xfrm>
          <a:prstGeom prst="line">
            <a:avLst/>
          </a:prstGeom>
          <a:ln w="1905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89720" y="2788920"/>
            <a:ext cx="731520" cy="0"/>
          </a:xfrm>
          <a:prstGeom prst="line">
            <a:avLst/>
          </a:prstGeom>
          <a:ln w="1905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4400" y="3794760"/>
            <a:ext cx="10149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3794760"/>
            <a:ext cx="50292" cy="128016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41064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ANALYST TAKEAWAY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279392"/>
            <a:ext cx="98298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Focus on the largest contributions first, then validate whether the underlying data and model behavior are credible before using the explanation in a decision.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ILLUSTRATIVE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Case Study 2 — Consumer Lending: Explanation vs Causation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438912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636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MODEL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301752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02730"/>
                </a:solidFill>
              </a:defRPr>
            </a:pPr>
            <a:r>
              <a:t>PD = 11.2%</a:t>
            </a:r>
            <a:br/>
            <a:br/>
            <a:r>
              <a:t>Top SHAP drivers:</a:t>
            </a:r>
            <a:br/>
            <a:r>
              <a:t>• High utilization</a:t>
            </a:r>
            <a:br/>
            <a:r>
              <a:t>• Recent delinquency</a:t>
            </a:r>
            <a:br/>
            <a:r>
              <a:t>• Short account tenure</a:t>
            </a:r>
            <a:br/>
            <a:br/>
            <a:r>
              <a:t>Analyst sees a coherent risk 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438912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636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WHAT SHAP CAN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01952"/>
            <a:ext cx="301752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02730"/>
                </a:solidFill>
              </a:defRPr>
            </a:pPr>
            <a:r>
              <a:t>These features contributed to the model's prediction for this applicant.</a:t>
            </a:r>
            <a:br/>
            <a:br/>
            <a:r>
              <a:t>It can help explain model behavior at the case level.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50292" cy="438912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5636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WHAT SHAP CANNOT 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901952"/>
            <a:ext cx="301752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02730"/>
                </a:solidFill>
              </a:defRPr>
            </a:pPr>
            <a:r>
              <a:t>It does not prove:</a:t>
            </a:r>
            <a:br/>
            <a:r>
              <a:t>• Causation</a:t>
            </a:r>
            <a:br/>
            <a:r>
              <a:t>• Absence of bias</a:t>
            </a:r>
            <a:br/>
            <a:r>
              <a:t>• Data quality</a:t>
            </a:r>
            <a:br/>
            <a:r>
              <a:t>• Policy compliance</a:t>
            </a:r>
            <a:br/>
            <a:r>
              <a:t>• Economic rationale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MODEL GOVERNANCE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Transparency Requires More Than SHAP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33272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45389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5B96"/>
                </a:solidFill>
              </a:defRPr>
            </a:pPr>
            <a:r>
              <a:t>1.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453895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Lineage • quality • representativeness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176272"/>
            <a:ext cx="100584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2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3042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07E87"/>
                </a:solidFill>
              </a:defRPr>
            </a:pPr>
            <a:r>
              <a:t>2.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04288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Method • features • assumptions • 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026664"/>
            <a:ext cx="97840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B58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5892E"/>
                </a:solidFill>
              </a:defRPr>
            </a:pPr>
            <a:r>
              <a:t>3.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3154680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Performance • stability • limitations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3877056"/>
            <a:ext cx="95097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B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0050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04040"/>
                </a:solidFill>
              </a:defRPr>
            </a:pPr>
            <a:r>
              <a:t>4.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4005072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SHAP • reason codes • counterfactuals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4727448"/>
            <a:ext cx="923544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37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855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77D54"/>
                </a:solidFill>
              </a:defRPr>
            </a:pPr>
            <a:r>
              <a:t>5.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855464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Policy • overrides • human review •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2337"/>
                </a:solidFill>
              </a:defRPr>
            </a:pPr>
            <a:r>
              <a:t>Executive point: transparency is a system property, not a visualization.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Red Flags: When Explainability Can Mislead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96596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89888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Data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1673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A feature can look highly explanatory because it contains future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316736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47180"/>
                </a:solidFill>
              </a:defRPr>
            </a:pPr>
            <a:r>
              <a:t>Check data timing and lineage.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58568"/>
            <a:ext cx="196596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22575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Proxy effects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4942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A feature may encode information correlated with a protected or sensitive attribute.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49424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47180"/>
                </a:solidFill>
              </a:defRPr>
            </a:pPr>
            <a:r>
              <a:t>Run sensitivity and governance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91256"/>
            <a:ext cx="196596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55264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Unstable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821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Top SHAP features can shift after portfolio or policy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8211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47180"/>
                </a:solidFill>
              </a:defRPr>
            </a:pPr>
            <a:r>
              <a:t>Monitor stability over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23944"/>
            <a:ext cx="196596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87952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Post-hoc storytelling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114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Analysts may select only explanations that support a decision.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148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47180"/>
                </a:solidFill>
              </a:defRPr>
            </a:pPr>
            <a:r>
              <a:t>Use standardized outputs and audit trails.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56632"/>
            <a:ext cx="1965960" cy="347472"/>
          </a:xfrm>
          <a:prstGeom prst="roundRect">
            <a:avLst/>
          </a:prstGeom>
          <a:solidFill>
            <a:srgbClr val="FC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20640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4040"/>
                </a:solidFill>
              </a:defRPr>
            </a:pPr>
            <a:r>
              <a:t>Explanation ≠ causality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504748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02730"/>
                </a:solidFill>
              </a:defRPr>
            </a:pPr>
            <a:r>
              <a:t>A strong contribution does not mean changing the feature will change default risk.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04748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47180"/>
                </a:solidFill>
              </a:defRPr>
            </a:pPr>
            <a:r>
              <a:t>Avoid causal language.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BUSINESS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How Different Stakeholders Use Explainability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600200"/>
          </a:xfrm>
          <a:prstGeom prst="rect">
            <a:avLst/>
          </a:prstGeom>
          <a:solidFill>
            <a:srgbClr val="27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636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CREDIT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Challenge data, understand drivers, document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0292" cy="1600200"/>
          </a:xfrm>
          <a:prstGeom prst="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636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MODEL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0195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Test behavior, stability, limitations and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74720"/>
            <a:ext cx="50292" cy="1600200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21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CFO / CRO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935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Understand portfolio drivers and risk appetite implications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747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474720"/>
            <a:ext cx="50292" cy="1600200"/>
          </a:xfrm>
          <a:prstGeom prst="rect">
            <a:avLst/>
          </a:prstGeom>
          <a:solidFill>
            <a:srgbClr val="B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621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INVESTOR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5935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Understand how risk models influence portfolio quality and provisioning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The same explanation serves different decisions — so the level of detail and control evidence should match the audience.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PRACTICAL OPERATING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Implementation Roadmap: From Prototype to Controlled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011680" cy="320040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7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5B9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Define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02730"/>
                </a:solidFill>
              </a:defRPr>
            </a:pPr>
            <a:r>
              <a:t>Adverse-action support</a:t>
            </a:r>
            <a:br/>
            <a:r>
              <a:t>Analyst review</a:t>
            </a:r>
            <a:br/>
            <a:r>
              <a:t>Model monitoring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3154680"/>
            <a:ext cx="256032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554480"/>
            <a:ext cx="2011680" cy="320040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7E87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Select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97180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02730"/>
                </a:solidFill>
              </a:defRPr>
            </a:pPr>
            <a:r>
              <a:t>SHAP + reason codes</a:t>
            </a:r>
            <a:br/>
            <a:r>
              <a:t>Global + local views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92040" y="3154680"/>
            <a:ext cx="256032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12079" y="1554480"/>
            <a:ext cx="2011680" cy="320040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B58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5892E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97180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02730"/>
                </a:solidFill>
              </a:defRPr>
            </a:pPr>
            <a:r>
              <a:t>Fidelity • stability</a:t>
            </a:r>
            <a:br/>
            <a:r>
              <a:t>Edge cases • leakage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59" y="3154680"/>
            <a:ext cx="256033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43800" y="1554480"/>
            <a:ext cx="2011680" cy="320040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B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04040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Operationalize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97180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02730"/>
                </a:solidFill>
              </a:defRPr>
            </a:pPr>
            <a:r>
              <a:t>Versioning • logging</a:t>
            </a:r>
            <a:br/>
            <a:r>
              <a:t>Access • audit trail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55480" y="3154680"/>
            <a:ext cx="256032" cy="0"/>
          </a:xfrm>
          <a:prstGeom prst="line">
            <a:avLst/>
          </a:prstGeom>
          <a:ln w="25400">
            <a:solidFill>
              <a:srgbClr val="64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75519" y="1554480"/>
            <a:ext cx="2011680" cy="320040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377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7D54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337"/>
                </a:solidFill>
              </a:defRPr>
            </a:pPr>
            <a:r>
              <a:t>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399" y="2971800"/>
            <a:ext cx="1645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02730"/>
                </a:solidFill>
              </a:defRPr>
            </a:pPr>
            <a:r>
              <a:t>Driver drift</a:t>
            </a:r>
            <a:br/>
            <a:r>
              <a:t>Explanation drift</a:t>
            </a:r>
            <a:br/>
            <a:r>
              <a:t>Human overrides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DECISION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Executive Checklist Before Trusting an AI Explanation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0817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6245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Is the explanation generated from the exact production model version?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93392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299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84248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Are the input data and feature definitions traceable?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15184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6517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0604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Are the largest drivers economically and operationally plausible?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36976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27355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2783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Has explanation stability been tested across time and segments?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58768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89534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49624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Are analysts prevented from cherry-picking favorable explanations?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80560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51713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7141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Are explanation outputs logged for audit and model-risk review?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102352"/>
            <a:ext cx="384048" cy="384048"/>
          </a:xfrm>
          <a:prstGeom prst="roundRect">
            <a:avLst/>
          </a:prstGeom>
          <a:solidFill>
            <a:srgbClr val="2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1389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93208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02730"/>
                </a:solidFill>
              </a:defRPr>
            </a:pPr>
            <a:r>
              <a:t>Have we separated correlation / model attribution from causal claims?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BE6E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5892E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258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Explainability makes model behavior reviewable — not automatically 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5892E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94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SHAP can connect a portfolio-level model to a borrower-level explanation.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5892E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63239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Local explanations answer “why this decision”; global explanations answer “how the model behaves.”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5892E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931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Transparency spans data, model, validation, explanation and decision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5892E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800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The strongest governance posture combines explainability with stability, validation, monitoring and human challenge.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978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E6F0"/>
                </a:solidFill>
              </a:defRPr>
            </a:pPr>
            <a:r>
              <a:t>Explain the prediction. Challenge the explanation. Govern the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B4BEC8"/>
                </a:solidFill>
              </a:defRPr>
            </a:pPr>
            <a:r>
              <a:t>EXPLAINABLE AI IN CREDIT RISK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5892E"/>
                </a:solidFill>
              </a:defRPr>
            </a:pPr>
            <a:r>
              <a:t>REFERENCE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7"/>
                </a:solidFill>
              </a:defRPr>
            </a:pPr>
            <a:r>
              <a:t>Method Notes &amp; Suggested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914400" cy="32004"/>
          </a:xfrm>
          <a:prstGeom prst="rect">
            <a:avLst/>
          </a:prstGeom>
          <a:solidFill>
            <a:srgbClr val="B58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02730"/>
                </a:solidFill>
              </a:defRPr>
            </a:pPr>
            <a:r>
              <a:t>Illustrative numerical examples are designed for teaching and do not represent any specific bank's production model.</a:t>
            </a:r>
          </a:p>
          <a:p>
            <a:pPr>
              <a:spcAft>
                <a:spcPts val="800"/>
              </a:spcAft>
              <a:defRPr sz="1300" b="0">
                <a:solidFill>
                  <a:srgbClr val="202730"/>
                </a:solidFill>
              </a:defRPr>
            </a:pPr>
            <a:r>
              <a:t>SHAP is based on Shapley-value ideas from cooperative game theory; practical implementations use approximations and model-specific explainers.</a:t>
            </a:r>
          </a:p>
          <a:p>
            <a:pPr>
              <a:spcAft>
                <a:spcPts val="800"/>
              </a:spcAft>
              <a:defRPr sz="1300" b="0">
                <a:solidFill>
                  <a:srgbClr val="202730"/>
                </a:solidFill>
              </a:defRPr>
            </a:pPr>
            <a:r>
              <a:t>Regulatory expectations vary by jurisdiction, product, use case and model type. Treat governance requirements as context-specific.</a:t>
            </a:r>
          </a:p>
          <a:p>
            <a:pPr>
              <a:spcAft>
                <a:spcPts val="800"/>
              </a:spcAft>
              <a:defRPr sz="1300" b="0">
                <a:solidFill>
                  <a:srgbClr val="202730"/>
                </a:solidFill>
              </a:defRPr>
            </a:pPr>
            <a:r>
              <a:t>Suggested technical references: SHAP documentation; Lundberg &amp; Lee (2017), “A Unified Approach to Interpreting Model Predictions”; relevant supervisory/model-risk guidance for your jurisdiction.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337"/>
                </a:solidFill>
              </a:defRPr>
            </a:pPr>
            <a:r>
              <a:t>Use this deck as a conceptual and practical training framework; adapt examples, controls and terminology to your institution's policies.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7180"/>
                </a:solidFill>
              </a:defRPr>
            </a:pPr>
            <a:r>
              <a:t>EXPLAINABLE AI IN CREDIT RISK  |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