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132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9999"/>
                </a:solidFill>
                <a:latin typeface="Aptos"/>
              </a:rPr>
              <a:t>MODEL RISK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78992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 Display"/>
              </a:rPr>
              <a:t>Model Life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93392"/>
            <a:ext cx="99669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CDDAE8"/>
                </a:solidFill>
                <a:latin typeface="Aptos"/>
              </a:rPr>
              <a:t>From model uncertainty and misuse to ownership, validation and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35224"/>
            <a:ext cx="141731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AFCCE0"/>
                </a:solidFill>
                <a:latin typeface="Aptos"/>
              </a:rPr>
              <a:t>DEFINE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03704" y="3035808"/>
            <a:ext cx="22860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288036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935224"/>
            <a:ext cx="141731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AFCCE0"/>
                </a:solidFill>
                <a:latin typeface="Aptos"/>
              </a:rPr>
              <a:t>DEVELOP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32504" y="3035808"/>
            <a:ext cx="22860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43400" y="288036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935224"/>
            <a:ext cx="141731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AFCCE0"/>
                </a:solidFill>
                <a:latin typeface="Aptos"/>
              </a:rPr>
              <a:t>VALIDATE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61304" y="3035808"/>
            <a:ext cx="22860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288036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35224"/>
            <a:ext cx="141731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AFCCE0"/>
                </a:solidFill>
                <a:latin typeface="Aptos"/>
              </a:rPr>
              <a:t>APPROVE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90104" y="3035808"/>
            <a:ext cx="22860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01000" y="288036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935224"/>
            <a:ext cx="141731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AFCCE0"/>
                </a:solidFill>
                <a:latin typeface="Aptos"/>
              </a:rPr>
              <a:t>IMPLEMENT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18904" y="3035808"/>
            <a:ext cx="228600" cy="0"/>
          </a:xfrm>
          <a:prstGeom prst="line">
            <a:avLst/>
          </a:prstGeom>
          <a:ln w="2540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288036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83452"/>
          </a:solidFill>
          <a:ln>
            <a:solidFill>
              <a:srgbClr val="1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935224"/>
            <a:ext cx="141731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AFCCE0"/>
                </a:solidFill>
                <a:latin typeface="Aptos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AABCCF"/>
                </a:solidFill>
                <a:latin typeface="Aptos"/>
              </a:rPr>
              <a:t>Oxford / MIT / Harvard-style conceptual depth • Banking &amp; corporate decision-making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36792"/>
            <a:ext cx="59436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7D96AD"/>
                </a:solidFill>
                <a:latin typeface="Aptos"/>
              </a:rPr>
              <a:t>Premium corporate learning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01 • EXECUTIVE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Why model risk matters to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A model can be statistically strong and still create bad decisions when context, assumptions or controls fail.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0789920" cy="841248"/>
          </a:xfrm>
          <a:prstGeom prst="roundRect">
            <a:avLst>
              <a:gd name="adj" fmla="val 8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0A182C"/>
                </a:solidFill>
                <a:latin typeface="Aptos"/>
              </a:rPr>
              <a:t>MODEL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212848"/>
            <a:ext cx="365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09999"/>
                </a:solidFill>
                <a:latin typeface="Aptos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176272"/>
            <a:ext cx="187451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367B2"/>
                </a:solidFill>
                <a:latin typeface="Aptos"/>
              </a:rPr>
              <a:t>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212848"/>
            <a:ext cx="365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09999"/>
                </a:solidFill>
                <a:latin typeface="Apto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176272"/>
            <a:ext cx="1554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BE4343"/>
                </a:solidFill>
                <a:latin typeface="Aptos"/>
              </a:rPr>
              <a:t>misuse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12848"/>
            <a:ext cx="365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09999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176272"/>
            <a:ext cx="2286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D29D37"/>
                </a:solidFill>
                <a:latin typeface="Aptos"/>
              </a:rPr>
              <a:t>weak 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54864" cy="196596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474720"/>
            <a:ext cx="21671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886200"/>
            <a:ext cx="2167128" cy="1307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E2733"/>
                </a:solidFill>
                <a:latin typeface="Aptos"/>
              </a:rPr>
              <a:t>Models translate data and assumptions into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33756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3337560"/>
            <a:ext cx="54864" cy="1965960"/>
          </a:xfrm>
          <a:prstGeom prst="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3474720"/>
            <a:ext cx="21671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Why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3886200"/>
            <a:ext cx="2167128" cy="1307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E2733"/>
                </a:solidFill>
                <a:latin typeface="Aptos"/>
              </a:rPr>
              <a:t>Model errors can alter pricing, credit, capital, reserves and strategy.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33756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337560"/>
            <a:ext cx="54864" cy="1965960"/>
          </a:xfrm>
          <a:prstGeom prst="rect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474720"/>
            <a:ext cx="21671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How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886200"/>
            <a:ext cx="2167128" cy="1307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E2733"/>
                </a:solidFill>
                <a:latin typeface="Aptos"/>
              </a:rPr>
              <a:t>Control the full life cycle—not just the model code.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337560"/>
            <a:ext cx="2487168" cy="1965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3337560"/>
            <a:ext cx="54864" cy="1965960"/>
          </a:xfrm>
          <a:prstGeom prst="rect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3474720"/>
            <a:ext cx="21671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So what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3886200"/>
            <a:ext cx="2167128" cy="1307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E2733"/>
                </a:solidFill>
                <a:latin typeface="Aptos"/>
              </a:rPr>
              <a:t>Accountability, validation and monitoring become business controls.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02 •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What is model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The risk that a model causes adverse outcomes because of error, uncertainty, inappropriate use or ineffective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121408"/>
            <a:ext cx="530352" cy="530352"/>
          </a:xfrm>
          <a:prstGeom prst="ellipse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59299"/>
            <a:ext cx="530352" cy="23865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66543"/>
            <a:ext cx="2743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MODEL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14600"/>
            <a:ext cx="27889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E2733"/>
                </a:solidFill>
                <a:latin typeface="Aptos"/>
              </a:rPr>
              <a:t>Specification, coding, data or implementation defects</a:t>
            </a:r>
          </a:p>
        </p:txBody>
      </p:sp>
      <p:sp>
        <p:nvSpPr>
          <p:cNvPr id="10" name="Oval 9"/>
          <p:cNvSpPr/>
          <p:nvPr/>
        </p:nvSpPr>
        <p:spPr>
          <a:xfrm>
            <a:off x="4617720" y="2121408"/>
            <a:ext cx="530352" cy="530352"/>
          </a:xfrm>
          <a:prstGeom prst="ellipse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59299"/>
            <a:ext cx="530352" cy="23865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066543"/>
            <a:ext cx="2743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MODEL 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14600"/>
            <a:ext cx="27889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E2733"/>
                </a:solidFill>
                <a:latin typeface="Aptos"/>
              </a:rPr>
              <a:t>Assumptions are incomplete, unstable or sensitive to the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0" y="2121408"/>
            <a:ext cx="530352" cy="530352"/>
          </a:xfrm>
          <a:prstGeom prst="ellipse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59299"/>
            <a:ext cx="530352" cy="23865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66543"/>
            <a:ext cx="2743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MODEL MISUSE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514600"/>
            <a:ext cx="27889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E2733"/>
                </a:solidFill>
                <a:latin typeface="Aptos"/>
              </a:rPr>
              <a:t>The model is used outside its intended purpose, population or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10789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A182C"/>
                </a:solidFill>
                <a:latin typeface="Aptos"/>
              </a:rPr>
              <a:t>MODEL → DECISION → FINANCIAL / REGULATORY / CUSTOMER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54880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37760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2367B2"/>
                </a:solidFill>
                <a:latin typeface="Aptos"/>
              </a:rPr>
              <a:t>Model output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34640" y="5111496"/>
            <a:ext cx="685800" cy="0"/>
          </a:xfrm>
          <a:prstGeom prst="line">
            <a:avLst/>
          </a:prstGeom>
          <a:ln w="2286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0" y="4754880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937760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009999"/>
                </a:solidFill>
                <a:latin typeface="Aptos"/>
              </a:rPr>
              <a:t>Decision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77840" y="5111496"/>
            <a:ext cx="685800" cy="0"/>
          </a:xfrm>
          <a:prstGeom prst="line">
            <a:avLst/>
          </a:prstGeom>
          <a:ln w="2286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4754880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937760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D29D37"/>
                </a:solidFill>
                <a:latin typeface="Aptos"/>
              </a:rPr>
              <a:t>Exposure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5111496"/>
            <a:ext cx="685800" cy="0"/>
          </a:xfrm>
          <a:prstGeom prst="line">
            <a:avLst/>
          </a:prstGeom>
          <a:ln w="22860">
            <a:solidFill>
              <a:srgbClr val="637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0" y="4754880"/>
            <a:ext cx="19202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937760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BE4343"/>
                </a:solidFill>
                <a:latin typeface="Aptos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03 • MODEL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Uncertainty is not the same as model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A well-built model can still be uncertain because the future, data-generating process and assumptions are imperfectly known.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492240" cy="621792"/>
          </a:xfrm>
          <a:prstGeom prst="roundRect">
            <a:avLst>
              <a:gd name="adj" fmla="val 8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9696"/>
            <a:ext cx="1965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367B2"/>
                </a:solidFill>
                <a:latin typeface="Aptos"/>
              </a:rPr>
              <a:t>Data 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130552"/>
            <a:ext cx="4160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E2733"/>
                </a:solidFill>
                <a:latin typeface="Aptos"/>
              </a:rPr>
              <a:t>Missingness, measurement error, representativeness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6492240" cy="621792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F8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62656"/>
            <a:ext cx="1965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D29D37"/>
                </a:solidFill>
                <a:latin typeface="Aptos"/>
              </a:rPr>
              <a:t>Parameter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953512"/>
            <a:ext cx="4160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E2733"/>
                </a:solidFill>
                <a:latin typeface="Aptos"/>
              </a:rPr>
              <a:t>Estimated coefficients vary with sample and methodology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6492240" cy="621792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E4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85615"/>
            <a:ext cx="1965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09999"/>
                </a:solidFill>
                <a:latin typeface="Aptos"/>
              </a:rPr>
              <a:t>Structural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776472"/>
            <a:ext cx="4160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E2733"/>
                </a:solidFill>
                <a:latin typeface="Aptos"/>
              </a:rPr>
              <a:t>Alternative model forms can fit the same historical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6492240" cy="6217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08576"/>
            <a:ext cx="19659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BE4343"/>
                </a:solidFill>
                <a:latin typeface="Aptos"/>
              </a:rPr>
              <a:t>Environment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599432"/>
            <a:ext cx="4160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E2733"/>
                </a:solidFill>
                <a:latin typeface="Aptos"/>
              </a:rPr>
              <a:t>Macro, customer behaviour and portfolio mix can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011680"/>
            <a:ext cx="3749039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2011680"/>
            <a:ext cx="54864" cy="329184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2148840"/>
            <a:ext cx="342899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Illustrative sensitivity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2560320"/>
            <a:ext cx="3428999" cy="2633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1E2733"/>
                </a:solidFill>
                <a:latin typeface="Aptos"/>
              </a:rPr>
              <a:t>Portfolio EAD = $100m
LGD = 45%
Base PD = 4%
Expected Loss = 4% × 45% × $100m = $1.8m
Stressed PD = 6%
Expected Loss = 6% × 45% × $100m = $2.7m
Impact = +$0.9m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5532120"/>
            <a:ext cx="3246120" cy="310896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E4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5586983"/>
            <a:ext cx="3154679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09999"/>
                </a:solidFill>
                <a:latin typeface="Aptos"/>
              </a:rPr>
              <a:t>KEY POINT: quantify 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04 • MODEL 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The model can be right—and the decision can still be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Misuse occurs when a model is applied outside its intended scope, data regime, decision purpose or governance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50876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066543"/>
            <a:ext cx="136245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39" y="1965960"/>
            <a:ext cx="233172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1991" y="2066543"/>
            <a:ext cx="2185415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Intended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965960"/>
            <a:ext cx="274320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066543"/>
            <a:ext cx="25968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Potential misuse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59" y="1965960"/>
            <a:ext cx="3200400" cy="438912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2066543"/>
            <a:ext cx="3054096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04872"/>
            <a:ext cx="1508760" cy="749808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2523744"/>
            <a:ext cx="136245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1E2733"/>
                </a:solidFill>
                <a:latin typeface="Aptos"/>
              </a:rPr>
              <a:t>Population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39" y="2404872"/>
            <a:ext cx="2331720" cy="749808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1991" y="2523744"/>
            <a:ext cx="2185415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Retail unsecured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2404872"/>
            <a:ext cx="2743200" cy="749808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523744"/>
            <a:ext cx="259689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SME / corporate lending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59" y="2404872"/>
            <a:ext cx="3200400" cy="749808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2523744"/>
            <a:ext cx="305409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Scope &amp; eligibility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" y="3300984"/>
            <a:ext cx="136245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1E2733"/>
                </a:solidFill>
                <a:latin typeface="Aptos"/>
              </a:rPr>
              <a:t>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39" y="3182112"/>
            <a:ext cx="2331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21991" y="3300984"/>
            <a:ext cx="2185415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Credit underwriting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3182112"/>
            <a:ext cx="2743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300984"/>
            <a:ext cx="259689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Pricing or collections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59" y="3182112"/>
            <a:ext cx="3200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3300984"/>
            <a:ext cx="305409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Decision-use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959352"/>
            <a:ext cx="1508760" cy="749808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4078224"/>
            <a:ext cx="136245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1E2733"/>
                </a:solidFill>
                <a:latin typeface="Aptos"/>
              </a:rPr>
              <a:t>Horizon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39" y="3959352"/>
            <a:ext cx="2331720" cy="749808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21991" y="4078224"/>
            <a:ext cx="2185415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12-month PD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3959352"/>
            <a:ext cx="2743200" cy="749808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4078224"/>
            <a:ext cx="259689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5-year strategic forecast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59" y="3959352"/>
            <a:ext cx="3200400" cy="749808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6912" y="4078224"/>
            <a:ext cx="305409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Horizon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736592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1" y="4855464"/>
            <a:ext cx="136245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1E2733"/>
                </a:solidFill>
                <a:latin typeface="Aptos"/>
              </a:rPr>
              <a:t>Data regime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39" y="4736592"/>
            <a:ext cx="233172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21991" y="4855464"/>
            <a:ext cx="2185415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Current bureau + income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59" y="4736592"/>
            <a:ext cx="27432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3712" y="4855464"/>
            <a:ext cx="259689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New channel / sparse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59" y="4736592"/>
            <a:ext cx="3200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6912" y="4855464"/>
            <a:ext cx="3054096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2733"/>
                </a:solidFill>
                <a:latin typeface="Aptos"/>
              </a:rPr>
              <a:t>Data drift monitoring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715000"/>
            <a:ext cx="10789920" cy="50292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solidFill>
              <a:srgbClr val="F1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852160"/>
            <a:ext cx="103327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BE4343"/>
                </a:solidFill>
                <a:latin typeface="Aptos"/>
              </a:rPr>
              <a:t>RED FLAG  |  “The model worked historically, so it must be appropriate here.”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05 • LIFE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Model life cycle: control points from idea to retirement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Governance is strongest when controls are embedded into each stage rather than added after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057400"/>
            <a:ext cx="566928" cy="56692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04801"/>
            <a:ext cx="566928" cy="255117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1389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Business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82112"/>
            <a:ext cx="14173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0" i="0">
                <a:solidFill>
                  <a:srgbClr val="1E2733"/>
                </a:solidFill>
                <a:latin typeface="Aptos"/>
              </a:rPr>
              <a:t>Define decision, scope &amp; success criteria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72768" y="2340864"/>
            <a:ext cx="61264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24328" y="2057400"/>
            <a:ext cx="566928" cy="566928"/>
          </a:xfrm>
          <a:prstGeom prst="ellipse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2204801"/>
            <a:ext cx="566928" cy="255117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743200"/>
            <a:ext cx="1389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3182112"/>
            <a:ext cx="14173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0" i="0">
                <a:solidFill>
                  <a:srgbClr val="1E2733"/>
                </a:solidFill>
                <a:latin typeface="Aptos"/>
              </a:rPr>
              <a:t>Data, methodology, code &amp; documentation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8688" y="2340864"/>
            <a:ext cx="612647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270248" y="2057400"/>
            <a:ext cx="566928" cy="566928"/>
          </a:xfrm>
          <a:prstGeom prst="ellipse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2204801"/>
            <a:ext cx="566928" cy="255117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2743200"/>
            <a:ext cx="1389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3182112"/>
            <a:ext cx="14173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0" i="0">
                <a:solidFill>
                  <a:srgbClr val="1E2733"/>
                </a:solidFill>
                <a:latin typeface="Aptos"/>
              </a:rPr>
              <a:t>Independent challenge &amp; testing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4608" y="2340864"/>
            <a:ext cx="61264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916168" y="2057400"/>
            <a:ext cx="566928" cy="566928"/>
          </a:xfrm>
          <a:prstGeom prst="ellipse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6168" y="2204801"/>
            <a:ext cx="566928" cy="255117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2743200"/>
            <a:ext cx="1389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3182112"/>
            <a:ext cx="14173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0" i="0">
                <a:solidFill>
                  <a:srgbClr val="1E2733"/>
                </a:solidFill>
                <a:latin typeface="Aptos"/>
              </a:rPr>
              <a:t>Risk acceptance &amp; usage authorization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0528" y="2340864"/>
            <a:ext cx="61264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562088" y="2057400"/>
            <a:ext cx="566928" cy="56692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2204801"/>
            <a:ext cx="566928" cy="255117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743200"/>
            <a:ext cx="1389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182112"/>
            <a:ext cx="14173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0" i="0">
                <a:solidFill>
                  <a:srgbClr val="1E2733"/>
                </a:solidFill>
                <a:latin typeface="Aptos"/>
              </a:rPr>
              <a:t>Production controls &amp; change management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56448" y="2340864"/>
            <a:ext cx="61264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208007" y="2057400"/>
            <a:ext cx="566928" cy="566928"/>
          </a:xfrm>
          <a:prstGeom prst="ellipse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7" y="2204801"/>
            <a:ext cx="566928" cy="255117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6528" y="2743200"/>
            <a:ext cx="1389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3182112"/>
            <a:ext cx="14173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0" i="0">
                <a:solidFill>
                  <a:srgbClr val="1E2733"/>
                </a:solidFill>
                <a:latin typeface="Aptos"/>
              </a:rPr>
              <a:t>Performance, drift, exceptions &amp; review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02367" y="2340864"/>
            <a:ext cx="61264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853928" y="2057400"/>
            <a:ext cx="566928" cy="566928"/>
          </a:xfrm>
          <a:prstGeom prst="ellipse">
            <a:avLst/>
          </a:prstGeom>
          <a:solidFill>
            <a:srgbClr val="637080"/>
          </a:solidFill>
          <a:ln>
            <a:solidFill>
              <a:srgbClr val="637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53928" y="2204801"/>
            <a:ext cx="566928" cy="255117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42448" y="2743200"/>
            <a:ext cx="1389888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Retirement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42448" y="3182112"/>
            <a:ext cx="141732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80" b="0" i="0">
                <a:solidFill>
                  <a:srgbClr val="1E2733"/>
                </a:solidFill>
                <a:latin typeface="Aptos"/>
              </a:rPr>
              <a:t>Decommission, archive &amp; lessons learned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75488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09999"/>
                </a:solidFill>
                <a:latin typeface="Aptos"/>
              </a:rPr>
              <a:t>CONTROL GATES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212080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E4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266944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09999"/>
                </a:solidFill>
                <a:latin typeface="Aptos"/>
              </a:rPr>
              <a:t>G1 • Scope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34640" y="5212080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5266944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2367B2"/>
                </a:solidFill>
                <a:latin typeface="Aptos"/>
              </a:rPr>
              <a:t>G2 • Validation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3480" y="5212080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E4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5266944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09999"/>
                </a:solidFill>
                <a:latin typeface="Aptos"/>
              </a:rPr>
              <a:t>G3 • Approval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0" y="5212080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5266944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2367B2"/>
                </a:solidFill>
                <a:latin typeface="Aptos"/>
              </a:rPr>
              <a:t>G4 • Production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81160" y="5212080"/>
            <a:ext cx="1828800" cy="310896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E4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5266944"/>
            <a:ext cx="1737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09999"/>
                </a:solidFill>
                <a:latin typeface="Aptos"/>
              </a:rPr>
              <a:t>G5 • Monitoring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06 •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Who owns what? Owner vs Developer vs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Clear separation of duties reduces self-approval, accountability gaps and control failures.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257860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57400"/>
            <a:ext cx="54864" cy="25146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22585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A182C"/>
                </a:solidFill>
                <a:latin typeface="Aptos"/>
              </a:rPr>
              <a:t>MODEL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2258568" cy="1856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1E2733"/>
                </a:solidFill>
                <a:latin typeface="Aptos"/>
              </a:rPr>
              <a:t>Business accountability
Defines intended use, accepts risk, funds remediation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57400"/>
            <a:ext cx="257860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57400"/>
            <a:ext cx="54864" cy="2514600"/>
          </a:xfrm>
          <a:prstGeom prst="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94560"/>
            <a:ext cx="22585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A182C"/>
                </a:solidFill>
                <a:latin typeface="Aptos"/>
              </a:rPr>
              <a:t>MODEL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06040"/>
            <a:ext cx="2258568" cy="1856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1E2733"/>
                </a:solidFill>
                <a:latin typeface="Aptos"/>
              </a:rPr>
              <a:t>Technical construction
Data, methodology, code, documentation, fixes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057400"/>
            <a:ext cx="257860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2057400"/>
            <a:ext cx="54864" cy="2514600"/>
          </a:xfrm>
          <a:prstGeom prst="rect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94560"/>
            <a:ext cx="22585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A182C"/>
                </a:solidFill>
                <a:latin typeface="Aptos"/>
              </a:rPr>
              <a:t>MODEL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606040"/>
            <a:ext cx="2258568" cy="1856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1E2733"/>
                </a:solidFill>
                <a:latin typeface="Aptos"/>
              </a:rPr>
              <a:t>Independent challenge
Tests conceptual soundness, performance &amp; limitations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2057400"/>
            <a:ext cx="257860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2057400"/>
            <a:ext cx="54864" cy="2514600"/>
          </a:xfrm>
          <a:prstGeom prst="rect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2194560"/>
            <a:ext cx="22585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A182C"/>
                </a:solidFill>
                <a:latin typeface="Aptos"/>
              </a:rPr>
              <a:t>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606040"/>
            <a:ext cx="2258568" cy="1856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1E2733"/>
                </a:solidFill>
                <a:latin typeface="Aptos"/>
              </a:rPr>
              <a:t>Portfolio oversight
Policy, inventory, standards, exceptions, 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92040"/>
            <a:ext cx="1828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E4343"/>
                </a:solidFill>
                <a:latin typeface="Aptos"/>
              </a:rPr>
              <a:t>INDEPENDENCE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28800" y="5010912"/>
            <a:ext cx="8869680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828800" y="4736592"/>
            <a:ext cx="530352" cy="530352"/>
          </a:xfrm>
          <a:prstGeom prst="ellipse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349240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A182C"/>
                </a:solidFill>
                <a:latin typeface="Aptos"/>
              </a:rPr>
              <a:t>Build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4736592"/>
            <a:ext cx="530352" cy="530352"/>
          </a:xfrm>
          <a:prstGeom prst="ellipse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5349240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A182C"/>
                </a:solidFill>
                <a:latin typeface="Aptos"/>
              </a:rPr>
              <a:t>Challenge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4736592"/>
            <a:ext cx="530352" cy="530352"/>
          </a:xfrm>
          <a:prstGeom prst="ellipse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5349240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A182C"/>
                </a:solidFill>
                <a:latin typeface="Aptos"/>
              </a:rPr>
              <a:t>Approve</a:t>
            </a:r>
          </a:p>
        </p:txBody>
      </p:sp>
      <p:sp>
        <p:nvSpPr>
          <p:cNvPr id="30" name="Oval 29"/>
          <p:cNvSpPr/>
          <p:nvPr/>
        </p:nvSpPr>
        <p:spPr>
          <a:xfrm>
            <a:off x="10058400" y="4736592"/>
            <a:ext cx="530352" cy="53035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5349240"/>
            <a:ext cx="1371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A182C"/>
                </a:solidFill>
                <a:latin typeface="Aptos"/>
              </a:rP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07 •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Model governance is the operating system around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A governance framework converts technical quality into controlled business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74920" y="3429000"/>
            <a:ext cx="1508760" cy="1508760"/>
          </a:xfrm>
          <a:prstGeom prst="ellipse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3821277"/>
            <a:ext cx="1508760" cy="67894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MODEL
GOVERNANCE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07792"/>
            <a:ext cx="12801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A182C"/>
                </a:solidFill>
                <a:latin typeface="Aptos"/>
              </a:rPr>
              <a:t>Policy &amp;
standards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325880" y="2423160"/>
            <a:ext cx="4498848" cy="1755648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291840" y="1737360"/>
            <a:ext cx="822960" cy="822960"/>
          </a:xfrm>
          <a:prstGeom prst="ellipse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633472"/>
            <a:ext cx="12801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A182C"/>
                </a:solidFill>
                <a:latin typeface="Aptos"/>
              </a:rPr>
              <a:t>Inventory &amp;
classification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703320" y="2148840"/>
            <a:ext cx="2121408" cy="2029968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863840" y="1737360"/>
            <a:ext cx="822960" cy="822960"/>
          </a:xfrm>
          <a:prstGeom prst="ellipse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633472"/>
            <a:ext cx="12801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A182C"/>
                </a:solidFill>
                <a:latin typeface="Aptos"/>
              </a:rPr>
              <a:t>Validation &amp;
approval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824728" y="2148840"/>
            <a:ext cx="2450591" cy="2029968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418320" y="3977639"/>
            <a:ext cx="822960" cy="822960"/>
          </a:xfrm>
          <a:prstGeom prst="ellipse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873752"/>
            <a:ext cx="12801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A182C"/>
                </a:solidFill>
                <a:latin typeface="Aptos"/>
              </a:rPr>
              <a:t>Monitoring &amp;
reporting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24728" y="4178808"/>
            <a:ext cx="4005072" cy="210312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583680" y="5074920"/>
            <a:ext cx="822960" cy="822960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971031"/>
            <a:ext cx="12801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A182C"/>
                </a:solidFill>
                <a:latin typeface="Aptos"/>
              </a:rPr>
              <a:t>Change &amp;
exceptions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24728" y="4178808"/>
            <a:ext cx="1170432" cy="1307592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011680" y="4983480"/>
            <a:ext cx="822960" cy="822960"/>
          </a:xfrm>
          <a:prstGeom prst="ellipse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879592"/>
            <a:ext cx="128016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0A182C"/>
                </a:solidFill>
                <a:latin typeface="Aptos"/>
              </a:rPr>
              <a:t>Documentation &amp;
audit trail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423160" y="4178808"/>
            <a:ext cx="3401568" cy="1216152"/>
          </a:xfrm>
          <a:prstGeom prst="line">
            <a:avLst/>
          </a:prstGeom>
          <a:ln w="1778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651760" y="5989320"/>
            <a:ext cx="6949440" cy="310896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F8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6044183"/>
            <a:ext cx="6858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D29D37"/>
                </a:solidFill>
                <a:latin typeface="Aptos"/>
              </a:rPr>
              <a:t>BUSINESS OUTCOME: controlled, explainable and accountable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08 • PRACTICAL BANKING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Credit decisioning: where model risk becomes financial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Illustrative banking example — numbers are constructed for teaching, not a representation of any specific bank.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16916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Applicant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1691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367B2"/>
                </a:solidFill>
                <a:latin typeface="Aptos"/>
              </a:rPr>
              <a:t>100k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670048"/>
            <a:ext cx="365761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214884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331720"/>
            <a:ext cx="16916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PD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697480"/>
            <a:ext cx="1691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09999"/>
                </a:solidFill>
                <a:latin typeface="Aptos"/>
              </a:rPr>
              <a:t>4.0%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81728" y="2670048"/>
            <a:ext cx="365760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1496" y="214884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2331720"/>
            <a:ext cx="16916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LGD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2697480"/>
            <a:ext cx="1691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D29D37"/>
                </a:solidFill>
                <a:latin typeface="Aptos"/>
              </a:rPr>
              <a:t>45%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86016" y="2670048"/>
            <a:ext cx="365759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15784" y="214884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2331720"/>
            <a:ext cx="16916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4" y="2697480"/>
            <a:ext cx="1691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2367B2"/>
                </a:solidFill>
                <a:latin typeface="Aptos"/>
              </a:rPr>
              <a:t>$100m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90304" y="2670048"/>
            <a:ext cx="365760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20072" y="214884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1512" y="2331720"/>
            <a:ext cx="16916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Expected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2" y="2697480"/>
            <a:ext cx="1691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BE4343"/>
                </a:solidFill>
                <a:latin typeface="Aptos"/>
              </a:rPr>
              <a:t>$1.8m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9476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794760"/>
            <a:ext cx="54864" cy="1645920"/>
          </a:xfrm>
          <a:prstGeom prst="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931920"/>
            <a:ext cx="4892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A182C"/>
                </a:solidFill>
                <a:latin typeface="Aptos"/>
              </a:rPr>
              <a:t>Step-by-step calculation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343400"/>
            <a:ext cx="4892040" cy="987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E2733"/>
                </a:solidFill>
                <a:latin typeface="Aptos"/>
              </a:rPr>
              <a:t>Expected Loss = PD × LGD × EAD
= 4.0% × 45% × $100m
= $1.8m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79476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F8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794760"/>
            <a:ext cx="54864" cy="1645920"/>
          </a:xfrm>
          <a:prstGeom prst="rect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3931920"/>
            <a:ext cx="48920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A182C"/>
                </a:solidFill>
                <a:latin typeface="Aptos"/>
              </a:rPr>
              <a:t>Model-risk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343400"/>
            <a:ext cx="4892040" cy="987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1E2733"/>
                </a:solidFill>
                <a:latin typeface="Aptos"/>
              </a:rPr>
              <a:t>What if the portfolio shifted toward riskier borrowers and actual PD became 6%?
New EL = 6% × 45% × $100m = $2.7m
Incremental exposure = $0.9m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09 •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Case study 1: model drift after a portfolio mix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Illustrative case — designed to show how a stable model can deteriorate when the population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182C"/>
                </a:solidFill>
                <a:latin typeface="Aptos"/>
              </a:rPr>
              <a:t>Observed default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1600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E2733"/>
                </a:solidFill>
                <a:latin typeface="Aptos"/>
              </a:rPr>
              <a:t>Training mix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514600"/>
            <a:ext cx="5486400" cy="34747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31720" y="2514600"/>
            <a:ext cx="3135085" cy="347472"/>
          </a:xfrm>
          <a:prstGeom prst="roundRect">
            <a:avLst>
              <a:gd name="adj" fmla="val 8000"/>
            </a:avLst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496312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9999"/>
                </a:solidFill>
                <a:latin typeface="Aptos"/>
              </a:rPr>
              <a:t>4.0%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72968"/>
            <a:ext cx="1600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E2733"/>
                </a:solidFill>
                <a:latin typeface="Aptos"/>
              </a:rPr>
              <a:t>Initial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3172968"/>
            <a:ext cx="5486400" cy="34747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3172968"/>
            <a:ext cx="3291839" cy="347472"/>
          </a:xfrm>
          <a:prstGeom prst="roundRect">
            <a:avLst>
              <a:gd name="adj" fmla="val 8000"/>
            </a:avLst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154679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367B2"/>
                </a:solidFill>
                <a:latin typeface="Aptos"/>
              </a:rPr>
              <a:t>4.2%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31335"/>
            <a:ext cx="1600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E2733"/>
                </a:solidFill>
                <a:latin typeface="Aptos"/>
              </a:rPr>
              <a:t>After mix shift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831335"/>
            <a:ext cx="5486400" cy="34747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31720" y="3831335"/>
            <a:ext cx="4937760" cy="347472"/>
          </a:xfrm>
          <a:prstGeom prst="roundRect">
            <a:avLst>
              <a:gd name="adj" fmla="val 8000"/>
            </a:avLst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813048"/>
            <a:ext cx="731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BE4343"/>
                </a:solidFill>
                <a:latin typeface="Aptos"/>
              </a:rPr>
              <a:t>6.3%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057400"/>
            <a:ext cx="256032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2057400"/>
            <a:ext cx="54864" cy="3429000"/>
          </a:xfrm>
          <a:prstGeom prst="rect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2194560"/>
            <a:ext cx="224027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A182C"/>
                </a:solidFill>
                <a:latin typeface="Aptos"/>
              </a:rPr>
              <a:t>Diagnosis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606040"/>
            <a:ext cx="2240279" cy="27706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E2733"/>
                </a:solidFill>
                <a:latin typeface="Aptos"/>
              </a:rPr>
              <a:t>1. Population changed
2. Feature distribution shifted
3. Calibration weakened
4. Monitoring threshold was breached
5. Business impact increased
Action: investigate drift, recalibrate/redevelop if needed, and tighten usage controls.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983480"/>
            <a:ext cx="7498079" cy="310896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solidFill>
              <a:srgbClr val="FB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38344"/>
            <a:ext cx="74066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BE4343"/>
                </a:solidFill>
                <a:latin typeface="Aptos"/>
              </a:rPr>
              <a:t>RED FLAG: performance without population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74066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A182C"/>
                </a:solidFill>
                <a:latin typeface="Aptos"/>
              </a:rPr>
              <a:t>Decision implication: do not treat historical validation as permanent evidence of future fitness.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10 •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Case study 2: model misuse in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Illustrative corporate lending example — demonstrates why purpose and scope controls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507492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54864" cy="3520440"/>
          </a:xfrm>
          <a:prstGeom prst="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48840"/>
            <a:ext cx="4754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A182C"/>
                </a:solidFill>
                <a:latin typeface="Aptos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0320"/>
            <a:ext cx="4754880" cy="2862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1E2733"/>
                </a:solidFill>
                <a:latin typeface="Aptos"/>
              </a:rPr>
              <a:t>A bank develops a model to estimate 12-month probability of default for underwriting.
A commercial team later uses the score to set long-term relationship pricing without a separate validation of pricing behaviour.
The model is technically unchanged—but the decision use has 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011680"/>
            <a:ext cx="4754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A182C"/>
                </a:solidFill>
                <a:latin typeface="Aptos"/>
              </a:rPr>
              <a:t>WHY THE NEW USE CREATES RISK</a:t>
            </a:r>
          </a:p>
        </p:txBody>
      </p:sp>
      <p:sp>
        <p:nvSpPr>
          <p:cNvPr id="11" name="Oval 10"/>
          <p:cNvSpPr/>
          <p:nvPr/>
        </p:nvSpPr>
        <p:spPr>
          <a:xfrm>
            <a:off x="6263640" y="2560320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660172"/>
            <a:ext cx="384048" cy="172821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542032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A182C"/>
                </a:solidFill>
                <a:latin typeface="Aptos"/>
              </a:rPr>
              <a:t>Different decision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542032"/>
            <a:ext cx="22402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1E2733"/>
                </a:solidFill>
                <a:latin typeface="Aptos"/>
              </a:rPr>
              <a:t>Underwriting ≠ long-term pricing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3273552"/>
            <a:ext cx="384048" cy="384048"/>
          </a:xfrm>
          <a:prstGeom prst="ellipse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73404"/>
            <a:ext cx="384048" cy="172821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255264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A182C"/>
                </a:solidFill>
                <a:latin typeface="Aptos"/>
              </a:rPr>
              <a:t>Different time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255264"/>
            <a:ext cx="22402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1E2733"/>
                </a:solidFill>
                <a:latin typeface="Aptos"/>
              </a:rPr>
              <a:t>12-month PD ≠ multi-year economics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3986783"/>
            <a:ext cx="384048" cy="384048"/>
          </a:xfrm>
          <a:prstGeom prst="ellipse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086636"/>
            <a:ext cx="384048" cy="172821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96849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A182C"/>
                </a:solidFill>
                <a:latin typeface="Aptos"/>
              </a:rPr>
              <a:t>Different incentives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968496"/>
            <a:ext cx="22402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1E2733"/>
                </a:solidFill>
                <a:latin typeface="Aptos"/>
              </a:rPr>
              <a:t>Pricing can amplify customer-selection effects</a:t>
            </a:r>
          </a:p>
        </p:txBody>
      </p:sp>
      <p:sp>
        <p:nvSpPr>
          <p:cNvPr id="23" name="Oval 22"/>
          <p:cNvSpPr/>
          <p:nvPr/>
        </p:nvSpPr>
        <p:spPr>
          <a:xfrm>
            <a:off x="6263640" y="4700016"/>
            <a:ext cx="384048" cy="384048"/>
          </a:xfrm>
          <a:prstGeom prst="ellipse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799868"/>
            <a:ext cx="384048" cy="172821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68172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A182C"/>
                </a:solidFill>
                <a:latin typeface="Aptos"/>
              </a:rPr>
              <a:t>Missing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681728"/>
            <a:ext cx="224028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0" i="0">
                <a:solidFill>
                  <a:srgbClr val="1E2733"/>
                </a:solidFill>
                <a:latin typeface="Aptos"/>
              </a:rPr>
              <a:t>New use should trigger assessment &amp;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11 • RISK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Model-risk red flags: what should trigger escalation?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A practical triage matrix for model owners, validators, risk committees and senior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874519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637080"/>
                </a:solidFill>
                <a:latin typeface="Aptos"/>
              </a:rPr>
              <a:t>IMPACT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989320"/>
            <a:ext cx="1828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637080"/>
                </a:solidFill>
                <a:latin typeface="Aptos"/>
              </a:rPr>
              <a:t>LIKELIHOOD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331720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57860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331720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257860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331720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57860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331720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578608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172968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41985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Monitor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172968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41985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172968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41985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172968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41985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Escalate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014215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261104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014215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4261104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014215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261104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Escalate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014215"/>
            <a:ext cx="2103120" cy="795528"/>
          </a:xfrm>
          <a:prstGeom prst="roundRect">
            <a:avLst>
              <a:gd name="adj" fmla="val 8000"/>
            </a:avLst>
          </a:prstGeom>
          <a:solidFill>
            <a:srgbClr val="F7E0E0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4261104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0A182C"/>
                </a:solidFill>
                <a:latin typeface="Aptos"/>
              </a:rPr>
              <a:t>Escalate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2560320"/>
            <a:ext cx="594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1" i="0">
                <a:solidFill>
                  <a:srgbClr val="1E2733"/>
                </a:solidFill>
                <a:latin typeface="Aptos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401568"/>
            <a:ext cx="594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1" i="0">
                <a:solidFill>
                  <a:srgbClr val="1E2733"/>
                </a:solidFill>
                <a:latin typeface="Aptos"/>
              </a:rP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242816"/>
            <a:ext cx="594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1" i="0">
                <a:solidFill>
                  <a:srgbClr val="1E2733"/>
                </a:solidFill>
                <a:latin typeface="Aptos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2861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E2733"/>
                </a:solidFill>
                <a:latin typeface="Aptos"/>
              </a:rP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92861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E2733"/>
                </a:solidFill>
                <a:latin typeface="Aptos"/>
              </a:rPr>
              <a:t>Moderate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92861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E2733"/>
                </a:solidFill>
                <a:latin typeface="Aptos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928616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1E2733"/>
                </a:solidFill>
                <a:latin typeface="Aptos"/>
              </a:rPr>
              <a:t>Severe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2331720"/>
            <a:ext cx="324612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2331720"/>
            <a:ext cx="54864" cy="2788920"/>
          </a:xfrm>
          <a:prstGeom prst="rect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71" y="2468879"/>
            <a:ext cx="292607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A182C"/>
                </a:solidFill>
                <a:latin typeface="Aptos"/>
              </a:rPr>
              <a:t>Common escalation triggers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1" y="2880360"/>
            <a:ext cx="2926079" cy="21305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1E2733"/>
                </a:solidFill>
                <a:latin typeface="Aptos"/>
              </a:rPr>
              <a:t>• Material performance deterioration
• Data drift beyond tolerance
• Scope / use-case change
• Failed validation test
• Missing documentation
• Override rate spikes
• Unapproved production change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12 • GOVERNANCE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A practical governance framework for a model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Think of governance as a repeatable control architecture, not a committee meeting.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203704"/>
            <a:ext cx="1325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09999"/>
                </a:solidFill>
                <a:latin typeface="Aptos"/>
              </a:rP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78608"/>
            <a:ext cx="3063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182C"/>
                </a:solidFill>
                <a:latin typeface="Aptos"/>
              </a:rPr>
              <a:t>Know what models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916936"/>
            <a:ext cx="30632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Owner, purpose, criticality,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05740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3" y="2203704"/>
            <a:ext cx="1325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367B2"/>
                </a:solidFill>
                <a:latin typeface="Aptos"/>
              </a:rPr>
              <a:t>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3" y="2578608"/>
            <a:ext cx="3063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182C"/>
                </a:solidFill>
                <a:latin typeface="Aptos"/>
              </a:rPr>
              <a:t>Know what matters 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3" y="2916936"/>
            <a:ext cx="30632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Risk tier, materiality, regulatory relevance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205740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203704"/>
            <a:ext cx="1325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D29D37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78608"/>
            <a:ext cx="3063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182C"/>
                </a:solidFill>
                <a:latin typeface="Aptos"/>
              </a:rPr>
              <a:t>Challenge before reliance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916936"/>
            <a:ext cx="30632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Conceptual soundness, outcomes, limitations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8620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032504"/>
            <a:ext cx="1325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BE4343"/>
                </a:solidFill>
                <a:latin typeface="Aptos"/>
              </a:rPr>
              <a:t>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407408"/>
            <a:ext cx="3063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182C"/>
                </a:solidFill>
                <a:latin typeface="Aptos"/>
              </a:rPr>
              <a:t>Authorize intended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745736"/>
            <a:ext cx="30632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Conditions, exceptions, risk acceptance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88620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3" y="4032504"/>
            <a:ext cx="1325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09999"/>
                </a:solidFill>
                <a:latin typeface="Aptos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3" y="4407408"/>
            <a:ext cx="3063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182C"/>
                </a:solidFill>
                <a:latin typeface="Aptos"/>
              </a:rPr>
              <a:t>Detect deterioration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3" y="4745736"/>
            <a:ext cx="30632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Performance, drift, overrides, incidents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886200"/>
            <a:ext cx="34564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4032504"/>
            <a:ext cx="13258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367B2"/>
                </a:solidFill>
                <a:latin typeface="Aptos"/>
              </a:rPr>
              <a:t>REMEDIATE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4407408"/>
            <a:ext cx="3063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A182C"/>
                </a:solidFill>
                <a:latin typeface="Aptos"/>
              </a:rPr>
              <a:t>Close the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4745736"/>
            <a:ext cx="306324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Action plan, change control, revalidation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11880" y="2743200"/>
            <a:ext cx="548640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24927" y="2743200"/>
            <a:ext cx="548641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73568" y="3794760"/>
            <a:ext cx="0" cy="64008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657600" y="4434840"/>
            <a:ext cx="4315968" cy="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657600" y="4434840"/>
            <a:ext cx="0" cy="365760"/>
          </a:xfrm>
          <a:prstGeom prst="line">
            <a:avLst/>
          </a:prstGeom>
          <a:ln w="25400">
            <a:solidFill>
              <a:srgbClr val="D7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160520" y="5715000"/>
            <a:ext cx="3886200" cy="310896"/>
          </a:xfrm>
          <a:prstGeom prst="roundRect">
            <a:avLst>
              <a:gd name="adj" fmla="val 8000"/>
            </a:avLst>
          </a:prstGeom>
          <a:solidFill>
            <a:srgbClr val="E4F4F3"/>
          </a:solidFill>
          <a:ln>
            <a:solidFill>
              <a:srgbClr val="E4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5769864"/>
            <a:ext cx="3794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09999"/>
                </a:solidFill>
                <a:latin typeface="Aptos"/>
              </a:rPr>
              <a:t>CLOSED-LOOP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13 •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Model governance RACI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A simple accountability map prevents the classic “everyone thought someone else owned it”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3794760" cy="45720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075688"/>
            <a:ext cx="368503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965960"/>
            <a:ext cx="1417320" cy="45720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2075688"/>
            <a:ext cx="130759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965960"/>
            <a:ext cx="1600200" cy="45720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1304" y="2075688"/>
            <a:ext cx="149047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Developer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965960"/>
            <a:ext cx="1600200" cy="45720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1504" y="2075688"/>
            <a:ext cx="149047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Validator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965960"/>
            <a:ext cx="1783080" cy="457200"/>
          </a:xfrm>
          <a:prstGeom prst="rect">
            <a:avLst/>
          </a:prstGeom>
          <a:solidFill>
            <a:srgbClr val="0A182C"/>
          </a:solidFill>
          <a:ln>
            <a:solidFill>
              <a:srgbClr val="0A1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075688"/>
            <a:ext cx="167335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423160"/>
            <a:ext cx="379476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551176"/>
            <a:ext cx="364845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Define intended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423160"/>
            <a:ext cx="141732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532888"/>
            <a:ext cx="14173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BE4343"/>
                </a:solidFill>
                <a:latin typeface="Aptos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423160"/>
            <a:ext cx="160020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2532888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423160"/>
            <a:ext cx="160020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532888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2423160"/>
            <a:ext cx="178308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532888"/>
            <a:ext cx="178308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637080"/>
                </a:solidFill>
                <a:latin typeface="Aptos"/>
              </a:rPr>
              <a:t>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962656"/>
            <a:ext cx="3794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090672"/>
            <a:ext cx="364845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Build / modify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962656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72384"/>
            <a:ext cx="14173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962656"/>
            <a:ext cx="1600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072384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09999"/>
                </a:solidFill>
                <a:latin typeface="Aptos"/>
              </a:rPr>
              <a:t>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962656"/>
            <a:ext cx="1600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072384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637080"/>
                </a:solidFill>
                <a:latin typeface="Aptos"/>
              </a:rPr>
              <a:t>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2962656"/>
            <a:ext cx="17830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072384"/>
            <a:ext cx="178308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637080"/>
                </a:solidFill>
                <a:latin typeface="Aptos"/>
              </a:rPr>
              <a:t>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502152"/>
            <a:ext cx="379476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3630168"/>
            <a:ext cx="364845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Independent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3502152"/>
            <a:ext cx="141732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611880"/>
            <a:ext cx="14173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637080"/>
                </a:solidFill>
                <a:latin typeface="Aptos"/>
              </a:rPr>
              <a:t>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3502152"/>
            <a:ext cx="160020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611880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3502152"/>
            <a:ext cx="160020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611880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09999"/>
                </a:solidFill>
                <a:latin typeface="Aptos"/>
              </a:rPr>
              <a:t>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3502152"/>
            <a:ext cx="178308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40" y="3611880"/>
            <a:ext cx="178308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637080"/>
                </a:solidFill>
                <a:latin typeface="Aptos"/>
              </a:rPr>
              <a:t>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041648"/>
            <a:ext cx="3794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4169663"/>
            <a:ext cx="364845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Approve use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4041648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151376"/>
            <a:ext cx="14173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BE4343"/>
                </a:solidFill>
                <a:latin typeface="Aptos"/>
              </a:rPr>
              <a:t>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4041648"/>
            <a:ext cx="1600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4151376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041648"/>
            <a:ext cx="1600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4151376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06840" y="4041648"/>
            <a:ext cx="17830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4151376"/>
            <a:ext cx="178308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09999"/>
                </a:solidFill>
                <a:latin typeface="Aptos"/>
              </a:rPr>
              <a:t>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581144"/>
            <a:ext cx="379476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" y="4709159"/>
            <a:ext cx="364845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Production implementation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4581144"/>
            <a:ext cx="141732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4690872"/>
            <a:ext cx="14173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BE4343"/>
                </a:solidFill>
                <a:latin typeface="Aptos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4581144"/>
            <a:ext cx="160020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06440" y="4690872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09999"/>
                </a:solidFill>
                <a:latin typeface="Aptos"/>
              </a:rPr>
              <a:t>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4581144"/>
            <a:ext cx="160020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4690872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6840" y="4581144"/>
            <a:ext cx="178308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06840" y="4690872"/>
            <a:ext cx="178308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637080"/>
                </a:solidFill>
                <a:latin typeface="Aptos"/>
              </a:rPr>
              <a:t>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5120640"/>
            <a:ext cx="37947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" y="5248655"/>
            <a:ext cx="364845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Ongoing monitoring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5120640"/>
            <a:ext cx="1417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89120" y="5230368"/>
            <a:ext cx="14173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BE4343"/>
                </a:solidFill>
                <a:latin typeface="Aptos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06440" y="5120640"/>
            <a:ext cx="1600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06440" y="5230368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09999"/>
                </a:solidFill>
                <a:latin typeface="Aptos"/>
              </a:rPr>
              <a:t>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5120640"/>
            <a:ext cx="1600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5230368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06840" y="5120640"/>
            <a:ext cx="17830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06840" y="5230368"/>
            <a:ext cx="178308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09999"/>
                </a:solidFill>
                <a:latin typeface="Aptos"/>
              </a:rPr>
              <a:t>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5660136"/>
            <a:ext cx="379476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" y="5788151"/>
            <a:ext cx="3648456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Material change / exception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89120" y="5660136"/>
            <a:ext cx="141732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0" y="5769864"/>
            <a:ext cx="141732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BE4343"/>
                </a:solidFill>
                <a:latin typeface="Aptos"/>
              </a:rPr>
              <a:t>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06440" y="5660136"/>
            <a:ext cx="160020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06440" y="5769864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09999"/>
                </a:solidFill>
                <a:latin typeface="Aptos"/>
              </a:rPr>
              <a:t>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5660136"/>
            <a:ext cx="160020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06640" y="5769864"/>
            <a:ext cx="160020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D29D37"/>
                </a:solidFill>
                <a:latin typeface="Aptos"/>
              </a:rPr>
              <a:t>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06840" y="5660136"/>
            <a:ext cx="1783080" cy="512064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06840" y="5769864"/>
            <a:ext cx="178308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09999"/>
                </a:solidFill>
                <a:latin typeface="Aptos"/>
              </a:rPr>
              <a:t>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" y="617220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227064"/>
            <a:ext cx="20574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BE4343"/>
                </a:solidFill>
                <a:latin typeface="Aptos"/>
              </a:rPr>
              <a:t>A = Accountable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154680" y="617220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0" y="6227064"/>
            <a:ext cx="20574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009999"/>
                </a:solidFill>
                <a:latin typeface="Aptos"/>
              </a:rPr>
              <a:t>R = Responsible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23560" y="617220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0" y="6227064"/>
            <a:ext cx="20574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D29D37"/>
                </a:solidFill>
                <a:latin typeface="Aptos"/>
              </a:rPr>
              <a:t>C = Consulted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092440" y="617220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38160" y="6227064"/>
            <a:ext cx="20574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637080"/>
                </a:solidFill>
                <a:latin typeface="Aptos"/>
              </a:rPr>
              <a:t>I = Informed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14 •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What should management see every month?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The best governance dashboards connect model metrics to business decisions and escalation thresholds.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24871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67128"/>
            <a:ext cx="22128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009999"/>
                </a:solidFill>
                <a:latin typeface="Aptos"/>
              </a:rPr>
              <a:t>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60320"/>
            <a:ext cx="221284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37080"/>
                </a:solidFill>
                <a:latin typeface="Aptos"/>
              </a:rPr>
              <a:t>Models with current 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57400"/>
            <a:ext cx="24871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2167128"/>
            <a:ext cx="22128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2367B2"/>
                </a:solidFill>
                <a:latin typeface="Aptos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560320"/>
            <a:ext cx="221284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37080"/>
                </a:solidFill>
                <a:latin typeface="Aptos"/>
              </a:rPr>
              <a:t>Validation actions closed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057400"/>
            <a:ext cx="24871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67128"/>
            <a:ext cx="22128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BE4343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60320"/>
            <a:ext cx="221284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37080"/>
                </a:solidFill>
                <a:latin typeface="Aptos"/>
              </a:rPr>
              <a:t>Models beyond drift threshold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2057400"/>
            <a:ext cx="2487168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2167128"/>
            <a:ext cx="22128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D29D37"/>
                </a:solidFill>
                <a:latin typeface="Apto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560320"/>
            <a:ext cx="221284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637080"/>
                </a:solidFill>
                <a:latin typeface="Aptos"/>
              </a:rPr>
              <a:t>Open material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29000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A182C"/>
                </a:solidFill>
                <a:latin typeface="Aptos"/>
              </a:rP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4290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A182C"/>
                </a:solidFill>
                <a:latin typeface="Aptos"/>
              </a:rPr>
              <a:t>Threshold /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429000"/>
            <a:ext cx="3200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A182C"/>
                </a:solidFill>
                <a:latin typeface="Aptos"/>
              </a:rPr>
              <a:t>Business implication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789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86200"/>
            <a:ext cx="2743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Performance /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886200"/>
            <a:ext cx="2468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1" i="0">
                <a:solidFill>
                  <a:srgbClr val="BE4343"/>
                </a:solidFill>
                <a:latin typeface="Aptos"/>
              </a:rPr>
              <a:t>Breach tolerance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86200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Decision quality may deteriorate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42816"/>
            <a:ext cx="10789920" cy="393192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34256"/>
            <a:ext cx="2743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Calibration / bias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334256"/>
            <a:ext cx="2468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1" i="0">
                <a:solidFill>
                  <a:srgbClr val="1E2733"/>
                </a:solidFill>
                <a:latin typeface="Aptos"/>
              </a:rPr>
              <a:t>Material deviation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334256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Risk estimates may be mispriced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90872"/>
            <a:ext cx="10789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782312"/>
            <a:ext cx="2743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Data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782312"/>
            <a:ext cx="2468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1" i="0">
                <a:solidFill>
                  <a:srgbClr val="1E2733"/>
                </a:solidFill>
                <a:latin typeface="Aptos"/>
              </a:rPr>
              <a:t>Population 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782312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Revalidation may be required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138928"/>
            <a:ext cx="10789920" cy="393192"/>
          </a:xfrm>
          <a:prstGeom prst="rect">
            <a:avLst/>
          </a:prstGeom>
          <a:solidFill>
            <a:srgbClr val="F3F6F9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230368"/>
            <a:ext cx="2743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Override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5230368"/>
            <a:ext cx="2468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1" i="0">
                <a:solidFill>
                  <a:srgbClr val="BE4343"/>
                </a:solidFill>
                <a:latin typeface="Aptos"/>
              </a:rPr>
              <a:t>Unexpected spike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230368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Human process may be bypassing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586984"/>
            <a:ext cx="1078992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678424"/>
            <a:ext cx="2743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40" b="1" i="0">
                <a:solidFill>
                  <a:srgbClr val="1E2733"/>
                </a:solidFill>
                <a:latin typeface="Aptos"/>
              </a:rPr>
              <a:t>Open findings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5678424"/>
            <a:ext cx="2468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1" i="0">
                <a:solidFill>
                  <a:srgbClr val="1E2733"/>
                </a:solidFill>
                <a:latin typeface="Aptos"/>
              </a:rPr>
              <a:t>Past due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678424"/>
            <a:ext cx="42062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1E2733"/>
                </a:solidFill>
                <a:latin typeface="Aptos"/>
              </a:rPr>
              <a:t>Governance exposure remains unresolved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009999"/>
                </a:solidFill>
                <a:latin typeface="Aptos"/>
              </a:rPr>
              <a:t>15 • DECISION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0A182C"/>
                </a:solidFill>
                <a:latin typeface="Aptos Display"/>
              </a:rPr>
              <a:t>Credit analyst, banker, CFO and investor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61872"/>
            <a:ext cx="107899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637080"/>
                </a:solidFill>
                <a:latin typeface="Aptos"/>
              </a:rPr>
              <a:t>The same model can create different questions depending on who is accountable for the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914400" cy="4114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64008" cy="1600200"/>
          </a:xfrm>
          <a:prstGeom prst="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76272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367B2"/>
                </a:solidFill>
                <a:latin typeface="Aptos"/>
              </a:rPr>
              <a:t>CREDIT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60320"/>
            <a:ext cx="4709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40" b="1" i="0">
                <a:solidFill>
                  <a:srgbClr val="0A182C"/>
                </a:solidFill>
                <a:latin typeface="Aptos"/>
              </a:rPr>
              <a:t>Is the risk estimate credible for this borrower / portfolio?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99232"/>
            <a:ext cx="4709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E2733"/>
                </a:solidFill>
                <a:latin typeface="Aptos"/>
              </a:rPr>
              <a:t>Validate data, assumptions, segmentation and overrides.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64008" cy="160020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176272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009999"/>
                </a:solidFill>
                <a:latin typeface="Aptos"/>
              </a:rPr>
              <a:t>BANKER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560320"/>
            <a:ext cx="4709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40" b="1" i="0">
                <a:solidFill>
                  <a:srgbClr val="0A182C"/>
                </a:solidFill>
                <a:latin typeface="Aptos"/>
              </a:rPr>
              <a:t>Can I use this output within the approved decision process?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999232"/>
            <a:ext cx="4709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E2733"/>
                </a:solidFill>
                <a:latin typeface="Aptos"/>
              </a:rPr>
              <a:t>Check scope, eligibility, pricing / underwriting purpose and exceptions.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2336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23360"/>
            <a:ext cx="64008" cy="1600200"/>
          </a:xfrm>
          <a:prstGeom prst="rect">
            <a:avLst/>
          </a:prstGeom>
          <a:solidFill>
            <a:srgbClr val="D29D37"/>
          </a:solidFill>
          <a:ln>
            <a:solidFill>
              <a:srgbClr val="D2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187952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D29D37"/>
                </a:solidFill>
                <a:latin typeface="Aptos"/>
              </a:rPr>
              <a:t>CFO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572000"/>
            <a:ext cx="4709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40" b="1" i="0">
                <a:solidFill>
                  <a:srgbClr val="0A182C"/>
                </a:solidFill>
                <a:latin typeface="Aptos"/>
              </a:rPr>
              <a:t>Could model changes move earnings, capital or provisions?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010912"/>
            <a:ext cx="4709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E2733"/>
                </a:solidFill>
                <a:latin typeface="Aptos"/>
              </a:rPr>
              <a:t>Translate model uncertainty into financial sensitivity and scenario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02336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023360"/>
            <a:ext cx="64008" cy="1600200"/>
          </a:xfrm>
          <a:prstGeom prst="rect">
            <a:avLst/>
          </a:prstGeom>
          <a:solidFill>
            <a:srgbClr val="BE4343"/>
          </a:solidFill>
          <a:ln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4187952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BE4343"/>
                </a:solidFill>
                <a:latin typeface="Aptos"/>
              </a:rPr>
              <a:t>INVESTOR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572000"/>
            <a:ext cx="4709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40" b="1" i="0">
                <a:solidFill>
                  <a:srgbClr val="0A182C"/>
                </a:solidFill>
                <a:latin typeface="Aptos"/>
              </a:rPr>
              <a:t>How dependent are reported outcomes on model assumptions?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5010912"/>
            <a:ext cx="47091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E2733"/>
                </a:solidFill>
                <a:latin typeface="Aptos"/>
              </a:rPr>
              <a:t>Look for transparency, consistency, controls and material model dependencies.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6172200"/>
            <a:ext cx="9326880" cy="310896"/>
          </a:xfrm>
          <a:prstGeom prst="roundRect">
            <a:avLst>
              <a:gd name="adj" fmla="val 8000"/>
            </a:avLst>
          </a:prstGeom>
          <a:solidFill>
            <a:srgbClr val="F8F1DE"/>
          </a:solidFill>
          <a:ln>
            <a:solidFill>
              <a:srgbClr val="F8F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227064"/>
            <a:ext cx="92354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D29D37"/>
                </a:solidFill>
                <a:latin typeface="Aptos"/>
              </a:rPr>
              <a:t>KEY PRINCIPLE: model output is an input to judgement—not a substitute for judgement.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28816"/>
            <a:ext cx="777240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37080"/>
                </a:solidFill>
                <a:latin typeface="Aptos"/>
              </a:rPr>
              <a:t>MODEL RISK • GOVERNANCE • PRACTICAL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1" i="0">
                <a:solidFill>
                  <a:srgbClr val="6370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45720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09999"/>
                </a:solidFill>
                <a:latin typeface="Aptos"/>
              </a:rPr>
              <a:t>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698480" cy="6400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 Display"/>
              </a:rPr>
              <a:t>Model risk is a life-cycle discipline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2148840"/>
            <a:ext cx="438912" cy="43891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262957"/>
            <a:ext cx="438912" cy="19751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212848"/>
            <a:ext cx="9875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ptos"/>
              </a:rPr>
              <a:t>A model can fail through error, uncertainty—or misuse.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862072"/>
            <a:ext cx="438912" cy="43891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976189"/>
            <a:ext cx="438912" cy="19751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926079"/>
            <a:ext cx="9875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ptos"/>
              </a:rPr>
              <a:t>Scope and intended use are governance controls, not documentation details.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3575304"/>
            <a:ext cx="438912" cy="43891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689421"/>
            <a:ext cx="438912" cy="19751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639312"/>
            <a:ext cx="9875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ptos"/>
              </a:rPr>
              <a:t>Independent validation challenges both the model and the assumptions around it.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288536"/>
            <a:ext cx="438912" cy="43891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402653"/>
            <a:ext cx="438912" cy="19751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352544"/>
            <a:ext cx="9875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ptos"/>
              </a:rPr>
              <a:t>Monitoring must connect technical drift to business impact.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5001768"/>
            <a:ext cx="438912" cy="438912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115885"/>
            <a:ext cx="438912" cy="19751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5065776"/>
            <a:ext cx="9875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Clear ownership turns model governance into accountable decision-making.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989320"/>
            <a:ext cx="10789920" cy="4572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236208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4CADD"/>
                </a:solidFill>
                <a:latin typeface="Aptos"/>
              </a:rPr>
              <a:t>WHAT → WHY → HOW → SO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236208"/>
            <a:ext cx="5029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1" i="0">
                <a:solidFill>
                  <a:srgbClr val="B4CADD"/>
                </a:solidFill>
                <a:latin typeface="Aptos"/>
              </a:rPr>
              <a:t>MODEL LIFE CYCLE • MODEL RISK • MODEL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