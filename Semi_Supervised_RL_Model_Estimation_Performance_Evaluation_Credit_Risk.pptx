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PD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1–2%</c:v>
                </c:pt>
                <c:pt idx="1">
                  <c:v>2–5%</c:v>
                </c:pt>
                <c:pt idx="2">
                  <c:v>5–10%</c:v>
                </c:pt>
                <c:pt idx="3">
                  <c:v>10–20%</c:v>
                </c:pt>
                <c:pt idx="4">
                  <c:v>&gt;20%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3.5</c:v>
                </c:pt>
                <c:pt idx="2">
                  <c:v>7.5</c:v>
                </c:pt>
                <c:pt idx="3">
                  <c:v>15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 rate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1–2%</c:v>
                </c:pt>
                <c:pt idx="1">
                  <c:v>2–5%</c:v>
                </c:pt>
                <c:pt idx="2">
                  <c:v>5–10%</c:v>
                </c:pt>
                <c:pt idx="3">
                  <c:v>10–20%</c:v>
                </c:pt>
                <c:pt idx="4">
                  <c:v>&gt;20%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7.5</c:v>
                </c:pt>
                <c:pt idx="3">
                  <c:v>15</c:v>
                </c:pt>
                <c:pt idx="4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  <a:latin typeface="Aptos"/>
              </a:rPr>
              <a:t>CREDIT RISK • ADVANCED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698480" cy="187451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Semi-Supervised Learning
Reinforcement Learning
Model Estimation &amp; Performance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246120"/>
            <a:ext cx="99669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From incomplete labels to decision optimisation — a practical banking and model-risk perspective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2331720" cy="960120"/>
          </a:xfrm>
          <a:prstGeom prst="roundRect">
            <a:avLst/>
          </a:prstGeom>
          <a:solidFill>
            <a:srgbClr val="16273D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38404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1" y="4754880"/>
            <a:ext cx="1627632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LEARN WITH
LIMITED LABELS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5138928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56432" y="4663440"/>
            <a:ext cx="2331720" cy="960120"/>
          </a:xfrm>
          <a:prstGeom prst="roundRect">
            <a:avLst/>
          </a:prstGeom>
          <a:solidFill>
            <a:srgbClr val="16273D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4800600"/>
            <a:ext cx="38404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4" y="4754880"/>
            <a:ext cx="1627632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LEARN THROUGH
FEEDBACK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88152" y="5138928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72784" y="4663440"/>
            <a:ext cx="2331720" cy="960120"/>
          </a:xfrm>
          <a:prstGeom prst="roundRect">
            <a:avLst/>
          </a:prstGeom>
          <a:solidFill>
            <a:srgbClr val="16273D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4800600"/>
            <a:ext cx="38404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A8A0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4754880"/>
            <a:ext cx="1627632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ESTIMATE
THE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04504" y="5138928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89136" y="4663440"/>
            <a:ext cx="2331720" cy="960120"/>
          </a:xfrm>
          <a:prstGeom prst="roundRect">
            <a:avLst/>
          </a:prstGeom>
          <a:solidFill>
            <a:srgbClr val="16273D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4800600"/>
            <a:ext cx="38404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4754880"/>
            <a:ext cx="1627632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TEST +
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99632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ILLUSTRATIVE / EDUCATIONAL CASE DATA UNLESS OTHERWISE STATED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01 • 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The four methods answer different decision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Do not treat them as interchangeable algorithms — their data requirements, learning objective and governance burden are different.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349240" cy="169164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874519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71116"/>
            <a:ext cx="1874519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SEMI-SUPERVISED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4754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F1D30"/>
                </a:solidFill>
                <a:latin typeface="Aptos"/>
              </a:rPr>
              <a:t>What can we learn when only part of the portfolio is labelled?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4754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Small labelled set + large unlabelled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74519"/>
            <a:ext cx="5349240" cy="16916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59" y="2057400"/>
            <a:ext cx="1874519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71116"/>
            <a:ext cx="1874519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REINFORCEMENT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496312"/>
            <a:ext cx="4754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F1D30"/>
                </a:solidFill>
                <a:latin typeface="Aptos"/>
              </a:rPr>
              <a:t>Which action should we take when outcomes arrive through feedback?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71800"/>
            <a:ext cx="4754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State → action → reward → next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5349240" cy="1691640"/>
          </a:xfrm>
          <a:prstGeom prst="roundRect">
            <a:avLst/>
          </a:prstGeom>
          <a:solidFill>
            <a:srgbClr val="FEFCE8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874519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28515"/>
            <a:ext cx="1874519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CA8A04"/>
                </a:solidFill>
                <a:latin typeface="Aptos"/>
              </a:rPr>
              <a:t>MODEL ESTIMATION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53712"/>
            <a:ext cx="4754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F1D30"/>
                </a:solidFill>
                <a:latin typeface="Aptos"/>
              </a:rPr>
              <a:t>How do we estimate parameters or a predictive function from data?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4754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Fit f(X) → ŷ / PD /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931920"/>
            <a:ext cx="5349240" cy="1691640"/>
          </a:xfrm>
          <a:prstGeom prst="roundRect">
            <a:avLst/>
          </a:prstGeom>
          <a:solidFill>
            <a:srgbClr val="FAF5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59" y="4114800"/>
            <a:ext cx="1874519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128515"/>
            <a:ext cx="1874519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7E22CE"/>
                </a:solidFill>
                <a:latin typeface="Aptos"/>
              </a:rPr>
              <a:t>PERFORMANCE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553712"/>
            <a:ext cx="4754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F1D30"/>
                </a:solidFill>
                <a:latin typeface="Aptos"/>
              </a:rPr>
              <a:t>Does the model discriminate, calibrate and remain fit for purpose?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5029200"/>
            <a:ext cx="4754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Evidence before approval /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02 • SEMI-SUPERVISED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When labels are scarce, use the structure in the unlabelled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Typical credit setting: a relatively small set of accounts has a confirmed default outcome, while many newer accounts have not yet matured.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DATA REALITY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1488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13432"/>
            <a:ext cx="1783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D9488"/>
                </a:solidFill>
                <a:latin typeface="Aptos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52344"/>
            <a:ext cx="17830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labelled / matured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08960"/>
            <a:ext cx="1783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confirmed 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148840"/>
            <a:ext cx="21488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2148840"/>
            <a:ext cx="64008" cy="12344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313432"/>
            <a:ext cx="1783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475569"/>
                </a:solidFill>
                <a:latin typeface="Aptos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752344"/>
            <a:ext cx="17830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unlabelled / immature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3108960"/>
            <a:ext cx="1783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outcome not yet known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783080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LEARNING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240280"/>
            <a:ext cx="1325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2423160"/>
            <a:ext cx="1179576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Labelled
accounts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12280" y="2697480"/>
            <a:ext cx="210312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59168" y="2240280"/>
            <a:ext cx="1325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423160"/>
            <a:ext cx="1179576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Initial
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5048" y="2697480"/>
            <a:ext cx="210312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31936" y="2240280"/>
            <a:ext cx="1325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8" y="2423160"/>
            <a:ext cx="1179576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CA8A04"/>
                </a:solidFill>
                <a:latin typeface="Aptos"/>
              </a:rPr>
              <a:t>Pseudo-label /
consistency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57815" y="2697480"/>
            <a:ext cx="210313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04704" y="2240280"/>
            <a:ext cx="1325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7856" y="2423160"/>
            <a:ext cx="1179576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7E22CE"/>
                </a:solidFill>
                <a:latin typeface="Aptos"/>
              </a:rPr>
              <a:t>Retrain +
validate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840480"/>
            <a:ext cx="10927080" cy="1600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69080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ILLUSTRATIVE CREDIT 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70832"/>
            <a:ext cx="9966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F1D30"/>
                </a:solidFill>
                <a:latin typeface="Aptos"/>
              </a:rPr>
              <a:t>1,000 applications → 200 matured with default/non-default labels → 800 still open.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782312"/>
            <a:ext cx="99669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semi-supervised approach can exploit feature structure in the 800 open cases, but pseudo-labels must never be treated as equivalent to observed outcomes.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69280"/>
            <a:ext cx="2788920" cy="310896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82996"/>
            <a:ext cx="278892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KEY CONTROL: OUT-OF-TIME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696712"/>
            <a:ext cx="7132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tos"/>
              </a:rPr>
              <a:t>Avoid self-reinforcing errors and leakage from future outcomes.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02 • SEMI-SUPERVISED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The value is label efficiency — not a free performance 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Governance question: did the model learn genuine portfolio structure, or did it amplify assumptions embedded in pseudo-labels?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492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4389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WHAT THE MODEL CAN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663440" cy="1828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• More information from the same labelled sample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• Better representation of portfolio clusters / segments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• Useful when labels are delayed, expensive or partially observed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• Potentially useful for anomaly / segmentation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BEST-FIT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46634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Early-warning segmentation • fraud triage • document classification • customer-risk grouping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349240" cy="425196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29968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tos"/>
              </a:rPr>
              <a:t>RED FLAGS FOR MRM /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542032"/>
            <a:ext cx="461772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615184"/>
            <a:ext cx="4251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Pseudo-label confirmation bias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108960"/>
            <a:ext cx="461772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182112"/>
            <a:ext cx="4251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Selection bias in the labelled 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675887"/>
            <a:ext cx="461772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49039"/>
            <a:ext cx="4251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Data leakage across time / customers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42816"/>
            <a:ext cx="461772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15968"/>
            <a:ext cx="4251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Unstable performance when label policy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983480"/>
            <a:ext cx="16002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997196"/>
            <a:ext cx="16002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VALIDATION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010912"/>
            <a:ext cx="28803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Aptos"/>
              </a:rPr>
              <a:t>Evaluate on genuinely observed outcomes — not pseudo-label accuracy.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 •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From prediction to sequential decision-making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Supervised learning asks “what will happen?” Reinforcement learning adds “what should I do next?”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331720" cy="13258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19659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Customer + account
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39" y="2633472"/>
            <a:ext cx="502921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10712" y="1965960"/>
            <a:ext cx="2331720" cy="132588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176272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542032"/>
            <a:ext cx="19659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Limit / price /
contact / offer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42432" y="2633472"/>
            <a:ext cx="502920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18504" y="1965960"/>
            <a:ext cx="2331720" cy="1325880"/>
          </a:xfrm>
          <a:prstGeom prst="roundRect">
            <a:avLst/>
          </a:prstGeom>
          <a:solidFill>
            <a:srgbClr val="FEFCE8"/>
          </a:solidFill>
          <a:ln w="101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76272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A8A04"/>
                </a:solidFill>
                <a:latin typeface="Aptos"/>
              </a:rP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542032"/>
            <a:ext cx="19659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Profit − loss −
risk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224" y="2633472"/>
            <a:ext cx="502920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26296" y="1965960"/>
            <a:ext cx="2331720" cy="1325880"/>
          </a:xfrm>
          <a:prstGeom prst="roundRect">
            <a:avLst/>
          </a:prstGeom>
          <a:solidFill>
            <a:srgbClr val="FAF5FF"/>
          </a:solidFill>
          <a:ln w="1016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2176272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7E22CE"/>
                </a:solidFill>
                <a:latin typeface="Aptos"/>
              </a:rPr>
              <a:t>NEXT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2542032"/>
            <a:ext cx="19659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Customer response
+ updated risk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828800" y="3429000"/>
            <a:ext cx="7543800" cy="0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03120" y="3703320"/>
            <a:ext cx="8046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policy π(state) chooses the action; the environment returns the reward and a new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150876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57116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BANKING 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754880"/>
            <a:ext cx="10607040" cy="10515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Collections: choose next-best contact strategy</a:t>
            </a:r>
          </a:p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Credit line management: adjust exposure over time</a:t>
            </a:r>
          </a:p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Pricing / offers: balance response, margin and risk</a:t>
            </a:r>
          </a:p>
          <a:p>
            <a:pPr>
              <a:spcAft>
                <a:spcPts val="600"/>
              </a:spcAft>
              <a:defRPr sz="1200" b="0">
                <a:solidFill>
                  <a:srgbClr val="0F172A"/>
                </a:solidFill>
                <a:latin typeface="Aptos"/>
              </a:defRPr>
            </a:pPr>
            <a:r>
              <a:t>Treasury / liquidity: sequential allocation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 •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Numerical example: why the highest immediate reward may not be optimal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Illustrative two-step collections problem. Reward values are simplified for teaching.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96596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47672"/>
            <a:ext cx="1819656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874519"/>
            <a:ext cx="182880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1947672"/>
            <a:ext cx="1682496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Immediate reward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74519"/>
            <a:ext cx="192024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947672"/>
            <a:ext cx="1773936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Probability of recovery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274320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947672"/>
            <a:ext cx="2596896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Expected downstream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74519"/>
            <a:ext cx="214884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947672"/>
            <a:ext cx="2002536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Total expected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377439"/>
            <a:ext cx="1965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505456"/>
            <a:ext cx="181965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 • SMS reminder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377439"/>
            <a:ext cx="1828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505456"/>
            <a:ext cx="168249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₹20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377439"/>
            <a:ext cx="19202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505456"/>
            <a:ext cx="177393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77439"/>
            <a:ext cx="2743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505456"/>
            <a:ext cx="259689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0.40 × ₹80 = ₹32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377439"/>
            <a:ext cx="2148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2505456"/>
            <a:ext cx="200253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₹52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44368"/>
            <a:ext cx="196596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072384"/>
            <a:ext cx="181965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B • Agent 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944368"/>
            <a:ext cx="182880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42032" y="3072384"/>
            <a:ext cx="168249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₹10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944368"/>
            <a:ext cx="192024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3072384"/>
            <a:ext cx="177393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65%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944368"/>
            <a:ext cx="274320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3072384"/>
            <a:ext cx="259689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0.65 × ₹80 = ₹52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944368"/>
            <a:ext cx="214884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3072384"/>
            <a:ext cx="200253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  <a:latin typeface="Aptos"/>
              </a:rPr>
              <a:t>₹62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11296"/>
            <a:ext cx="1965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3639311"/>
            <a:ext cx="181965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C • Hard escalation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3511296"/>
            <a:ext cx="1828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2032" y="3639311"/>
            <a:ext cx="168249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₹0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511296"/>
            <a:ext cx="19202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3639311"/>
            <a:ext cx="177393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75%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511296"/>
            <a:ext cx="2743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3639311"/>
            <a:ext cx="259689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0.75 × ₹80 = ₹60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511296"/>
            <a:ext cx="2148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34272" y="3639311"/>
            <a:ext cx="200253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₹60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3886200"/>
            <a:ext cx="10652760" cy="1234440"/>
          </a:xfrm>
          <a:prstGeom prst="roundRect">
            <a:avLst/>
          </a:prstGeom>
          <a:solidFill>
            <a:srgbClr val="FEFCE8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160520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A8A04"/>
                </a:solidFill>
                <a:latin typeface="Aptos"/>
              </a:rPr>
              <a:t>SO WHAT?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4096512"/>
            <a:ext cx="87782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F1D30"/>
                </a:solidFill>
                <a:latin typeface="Aptos"/>
              </a:rPr>
              <a:t>RL evaluates the long-run consequence of an action, not only its immediate payoff.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4507992"/>
            <a:ext cx="8778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In production, reward design becomes a governance issue: the objective function determines what the system optimises.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440680"/>
            <a:ext cx="105156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454396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MRM CHECK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5458968"/>
            <a:ext cx="8961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tos"/>
              </a:rPr>
              <a:t>Document reward definition, constraints, exploration policy, and human override.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04 • MODEL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Estimation converts data into a model that can be used for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At the core: choose a model form, estimate its parameters, test assumptions, and translate the output into a business measure.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4572000" cy="4069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023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LOGISTIC REGRESSION — CREDIT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840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600" b="1">
                <a:solidFill>
                  <a:srgbClr val="0F1D30"/>
                </a:solidFill>
                <a:latin typeface="Aptos"/>
              </a:rPr>
              <a:t>PD = 1 / (1 + e⁻ᶻ)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3840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z = β₀ + β₁·Score + β₂·DTI + β₃·Delinquencies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Illustrative coefficients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3840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β₀ = −3.20   β₁ = −0.03   β₂ = 1.8   β₃ = 0.55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3840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Estimation asks: what parameter values best fit the observed outcomes under the chosen objective?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1783080"/>
            <a:ext cx="61264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05740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STEP-BY-STEP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560320"/>
            <a:ext cx="347472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574036"/>
            <a:ext cx="347472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78608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Customer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578608"/>
            <a:ext cx="3520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Score = 650 • DTI = 0.35 • Delinq.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246120"/>
            <a:ext cx="347472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259836"/>
            <a:ext cx="347472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264408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Linear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264408"/>
            <a:ext cx="3520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z = −3.20 − 0.03(650) + 1.8(0.35) + 0.55(1)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3931920"/>
            <a:ext cx="347472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945635"/>
            <a:ext cx="347472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50207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Transform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950207"/>
            <a:ext cx="3520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PD = 1 / (1 + e⁻ᶻ)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4617720"/>
            <a:ext cx="347472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4631436"/>
            <a:ext cx="347472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36007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Decision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636007"/>
            <a:ext cx="3520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Compare PD with policy threshold / pricing band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413248"/>
            <a:ext cx="914400" cy="310896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426964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IMPORTANT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440680"/>
            <a:ext cx="4343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Aptos"/>
              </a:rPr>
              <a:t>Coefficients are illustrative; real models require data lineage, sampling controls, stability testing and validation.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04 • MODEL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Estimation is more than fitting — it is a chain of modelling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Every choice changes the meaning, stability and governance of the resulting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93392"/>
            <a:ext cx="10058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07108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D30"/>
                </a:solidFill>
                <a:latin typeface="Aptos"/>
              </a:rPr>
              <a:t>What is the outcome?
Default in 12 months?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07791"/>
            <a:ext cx="3108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Business definition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993392"/>
            <a:ext cx="10058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07108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95728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D30"/>
                </a:solidFill>
                <a:latin typeface="Aptos"/>
              </a:rPr>
              <a:t>Who enters the dataset?
Which period / product?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07791"/>
            <a:ext cx="3108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Representativeness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1993392"/>
            <a:ext cx="10058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07108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95728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D30"/>
                </a:solidFill>
                <a:latin typeface="Aptos"/>
              </a:rPr>
              <a:t>What information is allowed?
Any leakage?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907791"/>
            <a:ext cx="3108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Predictive integrity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0332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867911"/>
            <a:ext cx="10058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1627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D30"/>
                </a:solidFill>
                <a:latin typeface="Aptos"/>
              </a:rPr>
              <a:t>Logit, tree, boosting, etc.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82312"/>
            <a:ext cx="3108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Complexity vs utility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70332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3867911"/>
            <a:ext cx="10058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881627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PARAMETERS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70248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D30"/>
                </a:solidFill>
                <a:latin typeface="Aptos"/>
              </a:rPr>
              <a:t>How are they estimated?
What constraints apply?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82312"/>
            <a:ext cx="3108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Reproducibility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70332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58200" y="3867911"/>
            <a:ext cx="10058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881627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TRANSLATION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270248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D30"/>
                </a:solidFill>
                <a:latin typeface="Aptos"/>
              </a:rPr>
              <a:t>PD → grade →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782312"/>
            <a:ext cx="3108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Policy alignment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669280"/>
            <a:ext cx="11064240" cy="530352"/>
          </a:xfrm>
          <a:prstGeom prst="round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797296"/>
            <a:ext cx="10607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CRO / CFO lens: estimation quality matters because model output eventually changes capital, pricing, provisioning or customer treatment.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05 •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A model can be accurate and still be wrong for 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Performance evaluation should cover discrimination, calibration, stability, business impact and operational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057400" cy="19659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17627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DISCRIMINATION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743200"/>
            <a:ext cx="1737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Can it rank risk?
AUC / 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920240"/>
            <a:ext cx="2057400" cy="196596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217627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1737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Do predicted PDs
match observed rates?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1920240"/>
            <a:ext cx="2057400" cy="1965960"/>
          </a:xfrm>
          <a:prstGeom prst="roundRect">
            <a:avLst/>
          </a:prstGeom>
          <a:solidFill>
            <a:srgbClr val="FEFCE8"/>
          </a:solidFill>
          <a:ln w="101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17627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CA8A04"/>
                </a:solidFill>
                <a:latin typeface="Aptos"/>
              </a:rPr>
              <a:t>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743200"/>
            <a:ext cx="1737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Does performance
hold over time / segments?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1920240"/>
            <a:ext cx="2057400" cy="1965960"/>
          </a:xfrm>
          <a:prstGeom prst="roundRect">
            <a:avLst/>
          </a:prstGeom>
          <a:solidFill>
            <a:srgbClr val="FAF5FF"/>
          </a:solidFill>
          <a:ln w="1016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217627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7E22CE"/>
                </a:solidFill>
                <a:latin typeface="Aptos"/>
              </a:rPr>
              <a:t>BUSINESS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6" y="2743200"/>
            <a:ext cx="1737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Does it improve
loss / margin / decisions?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20072" y="1920240"/>
            <a:ext cx="2057400" cy="196596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17627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4664" y="2743200"/>
            <a:ext cx="1737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D30"/>
                </a:solidFill>
                <a:latin typeface="Aptos"/>
              </a:rPr>
              <a:t>Can we explain,
monitor and control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10881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ILLUSTRATIVE SCORECARD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526280"/>
            <a:ext cx="2011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8920" y="452628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0088" y="4690872"/>
            <a:ext cx="1645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563EB"/>
                </a:solidFill>
                <a:latin typeface="Aptos"/>
              </a:rPr>
              <a:t>0.78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5129784"/>
            <a:ext cx="1645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5486400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ranking power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526280"/>
            <a:ext cx="2011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83480" y="4526280"/>
            <a:ext cx="64008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84648" y="4690872"/>
            <a:ext cx="1645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D9488"/>
                </a:solidFill>
                <a:latin typeface="Aptos"/>
              </a:rPr>
              <a:t>0.82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5129784"/>
            <a:ext cx="1645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5486400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separation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4526280"/>
            <a:ext cx="2011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8040" y="4526280"/>
            <a:ext cx="64008" cy="9601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208" y="4690872"/>
            <a:ext cx="1645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CA8A04"/>
                </a:solidFill>
                <a:latin typeface="Aptos"/>
              </a:rPr>
              <a:t>+2.1pp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5129784"/>
            <a:ext cx="1645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Brier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8" y="5486400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calibration / error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72600" y="4526280"/>
            <a:ext cx="1828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4526280"/>
            <a:ext cx="64008" cy="9601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3768" y="4690872"/>
            <a:ext cx="14630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6534"/>
                </a:solidFill>
                <a:latin typeface="Aptos"/>
              </a:rP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3768" y="5129784"/>
            <a:ext cx="1463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Stability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5486400"/>
            <a:ext cx="1463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illustrative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879592"/>
            <a:ext cx="9966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tos"/>
              </a:rPr>
              <a:t>Metrics must be interpreted together; no single number proves model fitness.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05 •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Numerical calibration example: predicted PD vs observed default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Illustrative validation cohort of 10,000 accounts. The purpose is to show the calculation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164592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PD band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828800"/>
            <a:ext cx="164592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39" y="1901952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828800"/>
            <a:ext cx="205740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901952"/>
            <a:ext cx="1965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Observed defaults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182880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1901952"/>
            <a:ext cx="1737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Observed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28800"/>
            <a:ext cx="2148840" cy="502920"/>
          </a:xfrm>
          <a:prstGeom prst="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901952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Calibration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331720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41448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1–2%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331720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39" y="2441448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1,500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2331720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9" y="2441448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331720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2441448"/>
            <a:ext cx="17373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2.0%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331720"/>
            <a:ext cx="21488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441448"/>
            <a:ext cx="2057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+0.5pp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862072"/>
            <a:ext cx="164592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971800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2–5%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2862072"/>
            <a:ext cx="164592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39" y="2971800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2,500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2862072"/>
            <a:ext cx="205740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59" y="2971800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862072"/>
            <a:ext cx="182880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59" y="2971800"/>
            <a:ext cx="17373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4.0%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862072"/>
            <a:ext cx="214884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2971800"/>
            <a:ext cx="2057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+0.5pp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392424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502152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5–10%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3392424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39" y="3502152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3,000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7639" y="3392424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59" y="3502152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225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39242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59" y="3502152"/>
            <a:ext cx="17373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7.5%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392424"/>
            <a:ext cx="21488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3502152"/>
            <a:ext cx="2057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+0.0pp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3922775"/>
            <a:ext cx="164592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032504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10–20%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31720" y="3922775"/>
            <a:ext cx="164592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39" y="4032504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2,000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3922775"/>
            <a:ext cx="205740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59" y="4032504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300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922775"/>
            <a:ext cx="182880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59" y="4032504"/>
            <a:ext cx="17373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15.0%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3922775"/>
            <a:ext cx="2148840" cy="53035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09560" y="4032504"/>
            <a:ext cx="2057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+0.0pp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4453127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562856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&gt;20%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31720" y="4453127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77439" y="4562856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1,000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77639" y="4453127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59" y="4562856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300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4453127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0759" y="4562856"/>
            <a:ext cx="17373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Aptos"/>
              </a:rPr>
              <a:t>30.0%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4453127"/>
            <a:ext cx="21488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09560" y="4562856"/>
            <a:ext cx="2057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tos"/>
              </a:rPr>
              <a:t>+5.0pp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83879" y="1828800"/>
            <a:ext cx="3291840" cy="315468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58200" y="2084831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Aptos"/>
              </a:rPr>
              <a:t>INTERPRETATION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2560320"/>
            <a:ext cx="26974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F1D30"/>
                </a:solidFill>
                <a:latin typeface="Aptos"/>
              </a:rPr>
              <a:t>High-PD bands are materially under-predicted in this illustration.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58200" y="3429000"/>
            <a:ext cx="2697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That can affect pricing, provisioning, capital and credit strategy.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58200" y="4251960"/>
            <a:ext cx="73152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58200" y="426567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ACTION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4251960"/>
            <a:ext cx="1828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Aptos"/>
              </a:rPr>
              <a:t>Investigate calibration drift, sample mix and model specification before changing policy.</a:t>
            </a:r>
          </a:p>
        </p:txBody>
      </p:sp>
      <p:graphicFrame>
        <p:nvGraphicFramePr>
          <p:cNvPr id="73" name="Chart 72"/>
          <p:cNvGraphicFramePr>
            <a:graphicFrameLocks noGrp="1"/>
          </p:cNvGraphicFramePr>
          <p:nvPr/>
        </p:nvGraphicFramePr>
        <p:xfrm>
          <a:off x="685800" y="5074920"/>
          <a:ext cx="6949440" cy="1143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06 • CASE STUDY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Retail credit: semi-supervised learning with delayed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Illustrative case — numbers are constructed to demonstrate the modelling and governance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ORIGINATION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D30"/>
                </a:solidFill>
                <a:latin typeface="Aptos"/>
              </a:rPr>
              <a:t>10,000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features known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395728"/>
            <a:ext cx="429768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1568" y="182880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0116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MATURITY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59152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D30"/>
                </a:solidFill>
                <a:latin typeface="Aptos"/>
              </a:rPr>
              <a:t>2,000 labelled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6974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observed outcomes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33288" y="2395728"/>
            <a:ext cx="429768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54496" y="182880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116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UNLABELLED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359152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D30"/>
                </a:solidFill>
                <a:latin typeface="Aptos"/>
              </a:rPr>
              <a:t>8,000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6974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no final outcome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86216" y="2395728"/>
            <a:ext cx="429768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07424" y="182880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20116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359152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D30"/>
                </a:solidFill>
                <a:latin typeface="Aptos"/>
              </a:rPr>
              <a:t>future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6974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true labels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2240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474720"/>
            <a:ext cx="64008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639312"/>
            <a:ext cx="1874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D9488"/>
                </a:solidFill>
                <a:latin typeface="Aptos"/>
              </a:rPr>
              <a:t>0.74 → 0.79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078224"/>
            <a:ext cx="18745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434840"/>
            <a:ext cx="1874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illustrative uplift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63240" y="3474720"/>
            <a:ext cx="2240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34747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3639312"/>
            <a:ext cx="1874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2563EB"/>
                </a:solidFill>
                <a:latin typeface="Aptos"/>
              </a:rPr>
              <a:t>−8%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4078224"/>
            <a:ext cx="18745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manual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4408" y="4434840"/>
            <a:ext cx="1874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after triage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32120" y="3474720"/>
            <a:ext cx="2240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32120" y="3474720"/>
            <a:ext cx="64008" cy="1143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33288" y="3639312"/>
            <a:ext cx="1874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CA8A04"/>
                </a:solidFill>
                <a:latin typeface="Aptos"/>
              </a:rPr>
              <a:t>+3.2pp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3288" y="4078224"/>
            <a:ext cx="18745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high-risk capture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3288" y="4434840"/>
            <a:ext cx="1874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illustrative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3474720"/>
            <a:ext cx="2240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0" y="3474720"/>
            <a:ext cx="64008" cy="1143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3639312"/>
            <a:ext cx="1874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6534"/>
                </a:solidFill>
                <a:latin typeface="Aptos"/>
              </a:rP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4078224"/>
            <a:ext cx="18745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D30"/>
                </a:solidFill>
                <a:latin typeface="Aptos"/>
              </a:rPr>
              <a:t>future cohort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4434840"/>
            <a:ext cx="1874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true labels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983480"/>
            <a:ext cx="10789920" cy="960120"/>
          </a:xfrm>
          <a:prstGeom prst="roundRect">
            <a:avLst/>
          </a:prstGeom>
          <a:solidFill>
            <a:srgbClr val="FEFCE8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212080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A8A04"/>
                </a:solidFill>
                <a:latin typeface="Aptos"/>
              </a:rPr>
              <a:t>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5960" y="5138928"/>
            <a:ext cx="89611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D30"/>
                </a:solidFill>
                <a:latin typeface="Aptos"/>
              </a:rPr>
              <a:t>Use semi-supervised learning as a challenger / triage layer until performance is proven on matured, out-of-time outcomes.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07 • CASE STUDY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Collections: reinforcement learning under business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Illustrative case. The goal is not “maximum collections”; it is a constrained optimisation of recovery, cost, customer treatment and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429000" cy="21488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029968"/>
            <a:ext cx="34747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43684"/>
            <a:ext cx="347472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29968"/>
            <a:ext cx="2468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DIGITAL REMINDER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D30"/>
                </a:solidFill>
                <a:latin typeface="Aptos"/>
              </a:rPr>
              <a:t>₹20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F1D30"/>
                </a:solidFill>
                <a:latin typeface="Aptos"/>
              </a:rPr>
              <a:t>40%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2"/>
            <a:ext cx="2926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Simple / low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828800"/>
            <a:ext cx="3429000" cy="214884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2029968"/>
            <a:ext cx="34747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043684"/>
            <a:ext cx="347472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2029968"/>
            <a:ext cx="2468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AGENT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560320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D30"/>
                </a:solidFill>
                <a:latin typeface="Aptos"/>
              </a:rPr>
              <a:t>₹70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999232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F1D30"/>
                </a:solidFill>
                <a:latin typeface="Aptos"/>
              </a:rPr>
              <a:t>65%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456432"/>
            <a:ext cx="2926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Higher effort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1828800"/>
            <a:ext cx="3429000" cy="214884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48472" y="2029968"/>
            <a:ext cx="34747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2043684"/>
            <a:ext cx="347472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029968"/>
            <a:ext cx="2468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tos"/>
              </a:rPr>
              <a:t>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560320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D30"/>
                </a:solidFill>
                <a:latin typeface="Aptos"/>
              </a:rPr>
              <a:t>₹150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999232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F1D30"/>
                </a:solidFill>
                <a:latin typeface="Aptos"/>
              </a:rPr>
              <a:t>75%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456432"/>
            <a:ext cx="2926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High intervention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43400"/>
            <a:ext cx="108356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9028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REWARD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56048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D30"/>
                </a:solidFill>
                <a:latin typeface="Aptos"/>
              </a:rPr>
              <a:t>Reward = recovery value − intervention cost − risk / customer-treatment penalty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94960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Constraints can include affordability, contact-frequency limits, compliance rules, vulnerable-customer treatment and human escalation.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6016752"/>
            <a:ext cx="1143000" cy="310896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030468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6035040"/>
            <a:ext cx="8961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Aptos"/>
              </a:rPr>
              <a:t>A poorly designed reward can optimise the wrong business objective even if the RL algorithm is technically correct.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08 • MODEL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What the analyst, data scientist, MRM professional and CRO should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Use the same model through four different lenses — they are complementary, not competing.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349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1168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46634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D30"/>
                </a:solidFill>
                <a:latin typeface="Aptos"/>
              </a:rPr>
              <a:t>Does output make economic sense?
Are risk grades actionable?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35808"/>
            <a:ext cx="4480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Business interpretation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5349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01168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DATA SCIENTIST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423160"/>
            <a:ext cx="46634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D30"/>
                </a:solidFill>
                <a:latin typeface="Aptos"/>
              </a:rPr>
              <a:t>Is the learning setup statistically sound?
Any leakage / bias / drift?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035808"/>
            <a:ext cx="4480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Technical integrity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5349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73152" cy="16002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97764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A8A04"/>
                </a:solidFill>
                <a:latin typeface="Aptos"/>
              </a:rPr>
              <a:t>MRM PROFESSIONAL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389120"/>
            <a:ext cx="46634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D30"/>
                </a:solidFill>
                <a:latin typeface="Aptos"/>
              </a:rPr>
              <a:t>Can it be independently validated?
Are assumptions, limitations and monitoring defined?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001768"/>
            <a:ext cx="4480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Control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794760"/>
            <a:ext cx="5349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794760"/>
            <a:ext cx="73152" cy="1600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97764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Aptos"/>
              </a:rPr>
              <a:t>CRO / CFO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389120"/>
            <a:ext cx="46634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D30"/>
                </a:solidFill>
                <a:latin typeface="Aptos"/>
              </a:rPr>
              <a:t>What changes in loss, capital, pricing or growth?
What is the risk appetite impact?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001768"/>
            <a:ext cx="4480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Decision impact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06440"/>
            <a:ext cx="11018520" cy="438912"/>
          </a:xfrm>
          <a:prstGeom prst="roundRect">
            <a:avLst/>
          </a:prstGeom>
          <a:solidFill>
            <a:srgbClr val="0F1D30"/>
          </a:solidFill>
          <a:ln w="10160"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907024"/>
            <a:ext cx="106527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RED FLAGS → label leakage • unstable segments • unexplained performance jumps • reward hacking • weak monitoring • undocumented overrides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Aptos"/>
              </a:rPr>
              <a:t>CREDIT RISK • MACHINE LEARNING METHODS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09 •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D30"/>
                </a:solidFill>
                <a:latin typeface="Aptos"/>
              </a:rPr>
              <a:t>The practical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16152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Choose the learning paradigm based on the business problem, the available feedback and the governance standard — not because the method is fashionable.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84048" cy="310896"/>
          </a:xfrm>
          <a:prstGeom prst="roundRect">
            <a:avLst/>
          </a:prstGeom>
          <a:solidFill>
            <a:srgbClr val="1E3049"/>
          </a:solidFill>
          <a:ln w="10160">
            <a:solidFill>
              <a:srgbClr val="1E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96795"/>
            <a:ext cx="38404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93C5F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92224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LABEL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773936"/>
            <a:ext cx="7863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Few labels + lots of structure → consider semi-supervised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87752"/>
            <a:ext cx="384048" cy="310896"/>
          </a:xfrm>
          <a:prstGeom prst="roundRect">
            <a:avLst/>
          </a:prstGeom>
          <a:solidFill>
            <a:srgbClr val="1E3049"/>
          </a:solidFill>
          <a:ln w="10160">
            <a:solidFill>
              <a:srgbClr val="1E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01468"/>
            <a:ext cx="38404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93C5FD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9689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DECISION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78608"/>
            <a:ext cx="7863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Actions change future states → consider reinforcement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92424"/>
            <a:ext cx="384048" cy="310896"/>
          </a:xfrm>
          <a:prstGeom prst="roundRect">
            <a:avLst/>
          </a:prstGeom>
          <a:solidFill>
            <a:srgbClr val="1E3049"/>
          </a:solidFill>
          <a:ln w="10160">
            <a:solidFill>
              <a:srgbClr val="1E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06140"/>
            <a:ext cx="38404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93C5FD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0156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MODEL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83280"/>
            <a:ext cx="7863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Define target, sample, features and objective before fitting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97096"/>
            <a:ext cx="384048" cy="310896"/>
          </a:xfrm>
          <a:prstGeom prst="roundRect">
            <a:avLst/>
          </a:prstGeom>
          <a:solidFill>
            <a:srgbClr val="1E3049"/>
          </a:solidFill>
          <a:ln w="10160">
            <a:solidFill>
              <a:srgbClr val="1E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10812"/>
            <a:ext cx="38404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93C5F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MODEL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87952"/>
            <a:ext cx="7863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Test discrimination + calibration + stability + business 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01768"/>
            <a:ext cx="384048" cy="310896"/>
          </a:xfrm>
          <a:prstGeom prst="roundRect">
            <a:avLst/>
          </a:prstGeom>
          <a:solidFill>
            <a:srgbClr val="1E3049"/>
          </a:solidFill>
          <a:ln w="10160">
            <a:solidFill>
              <a:srgbClr val="1E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015483"/>
            <a:ext cx="38404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93C5F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10912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992624"/>
            <a:ext cx="7863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Prove performance on real outcomes and monitor after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989320"/>
            <a:ext cx="10835640" cy="438912"/>
          </a:xfrm>
          <a:prstGeom prst="roundRect">
            <a:avLst/>
          </a:prstGeom>
          <a:solidFill>
            <a:srgbClr val="1E3049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089904"/>
            <a:ext cx="103784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BOTTOM LINE: better algorithms do not replace better problem definition, better validation and better governance.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