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CCC (days)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BEBC"/>
                </a:solidFill>
                <a:latin typeface="Aptos"/>
              </a:rPr>
              <a:t>CORPORATE CREDIT • CFO •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128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D6E0E9"/>
                </a:solidFill>
                <a:latin typeface="Aptos"/>
              </a:rPr>
              <a:t>From operating cycle to working-capital lending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4B4C3"/>
                </a:solidFill>
                <a:latin typeface="Aptos"/>
              </a:rPr>
              <a:t>A practical framework for understanding liquidity, cash conversion and credit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08652" y="3813048"/>
            <a:ext cx="1371600" cy="512064"/>
          </a:xfrm>
          <a:prstGeom prst="roundRect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4372" y="39044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76227" y="3813047"/>
            <a:ext cx="1371600" cy="512064"/>
          </a:xfrm>
          <a:prstGeom prst="roundRect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1947" y="390448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RECEIVABLES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5321807"/>
            <a:ext cx="1371600" cy="512064"/>
          </a:xfrm>
          <a:prstGeom prst="round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4132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CASH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6227" y="4818888"/>
            <a:ext cx="1371600" cy="512064"/>
          </a:xfrm>
          <a:prstGeom prst="roundRect">
            <a:avLst/>
          </a:prstGeom>
          <a:solidFill>
            <a:srgbClr val="41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1947" y="49103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PAYABLES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CASH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What is Working Capital?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The liquidity engine behind day-to-day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74519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NET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1284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NWC = Current Assets − Current Liabilities
Positive NWC generally means more operating liquidity; negative NWC can be efficient—or risky.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74519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OPERATING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1284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Working capital is the capital tied up between paying suppliers and collecting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74519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CREDIT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12848"/>
            <a:ext cx="31455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 lender asks: does the business generate enough predictable cash to fund its operating gap and repay debt?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Illustrative balance sheet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069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5985"/>
                </a:solidFill>
                <a:latin typeface="Aptos"/>
              </a:rPr>
              <a:t>₹18m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Receivables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622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5985"/>
                </a:solidFill>
                <a:latin typeface="Aptos"/>
              </a:rPr>
              <a:t>₹24m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5546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554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5985"/>
                </a:solidFill>
                <a:latin typeface="Aptos"/>
              </a:rPr>
              <a:t>₹8m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Payables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24865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5985"/>
                </a:solidFill>
                <a:latin typeface="Aptos"/>
              </a:rPr>
              <a:t>₹20m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4184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Short-term debt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641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2B5985"/>
                </a:solidFill>
                <a:latin typeface="Aptos"/>
              </a:rPr>
              <a:t>₹6m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16052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31"/>
                </a:solidFill>
                <a:latin typeface="Aptos"/>
              </a:rPr>
              <a:t>Operating NWC = Inventory + Receivables − Payables = ₹22m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800600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87787"/>
                </a:solidFill>
                <a:latin typeface="Aptos"/>
              </a:rPr>
              <a:t>Cash is excluded from operating NWC in many analytical frameworks; debt is financing, not an operating asset/liability.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02 • 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Working Capital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Map the movement: cash → inputs → inventory → sale → receivable → cash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03120"/>
            <a:ext cx="914400" cy="914400"/>
          </a:xfrm>
          <a:prstGeom prst="ellipse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82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F31"/>
                </a:solidFill>
                <a:latin typeface="Aptos"/>
              </a:rPr>
              <a:t>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493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87787"/>
                </a:solidFill>
                <a:latin typeface="Aptos"/>
              </a:rPr>
              <a:t>Payables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27048" y="2560320"/>
            <a:ext cx="1335024" cy="0"/>
          </a:xfrm>
          <a:prstGeom prst="line">
            <a:avLst/>
          </a:prstGeom>
          <a:ln w="25400">
            <a:solidFill>
              <a:srgbClr val="BEC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80360" y="2103120"/>
            <a:ext cx="914400" cy="914400"/>
          </a:xfrm>
          <a:prstGeom prst="ellipse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3182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F31"/>
                </a:solidFill>
                <a:latin typeface="Aptos"/>
              </a:rPr>
              <a:t>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93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87787"/>
                </a:solidFill>
                <a:latin typeface="Aptos"/>
              </a:rPr>
              <a:t>Inventory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3048" y="2560320"/>
            <a:ext cx="1335024" cy="0"/>
          </a:xfrm>
          <a:prstGeom prst="line">
            <a:avLst/>
          </a:prstGeom>
          <a:ln w="25400">
            <a:solidFill>
              <a:srgbClr val="BEC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166360" y="2103120"/>
            <a:ext cx="914400" cy="914400"/>
          </a:xfrm>
          <a:prstGeom prst="ellipse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182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F31"/>
                </a:solidFill>
                <a:latin typeface="Aptos"/>
              </a:rPr>
              <a:t>SALE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493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87787"/>
                </a:solidFill>
                <a:latin typeface="Aptos"/>
              </a:rPr>
              <a:t>Revenue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2560320"/>
            <a:ext cx="1335024" cy="0"/>
          </a:xfrm>
          <a:prstGeom prst="line">
            <a:avLst/>
          </a:prstGeom>
          <a:ln w="25400">
            <a:solidFill>
              <a:srgbClr val="BEC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52360" y="2103120"/>
            <a:ext cx="914400" cy="914400"/>
          </a:xfrm>
          <a:prstGeom prst="ellipse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182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F31"/>
                </a:solidFill>
                <a:latin typeface="Aptos"/>
              </a:rPr>
              <a:t>CUSTOMER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493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87787"/>
                </a:solidFill>
                <a:latin typeface="Aptos"/>
              </a:rPr>
              <a:t>Receivable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85048" y="2560320"/>
            <a:ext cx="1335024" cy="0"/>
          </a:xfrm>
          <a:prstGeom prst="line">
            <a:avLst/>
          </a:prstGeom>
          <a:ln w="25400">
            <a:solidFill>
              <a:srgbClr val="BEC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738360" y="2103120"/>
            <a:ext cx="914400" cy="914400"/>
          </a:xfrm>
          <a:prstGeom prst="ellipse">
            <a:avLst/>
          </a:prstGeom>
          <a:solidFill>
            <a:srgbClr val="41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23134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18211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21F31"/>
                </a:solidFill>
                <a:latin typeface="Aptos"/>
              </a:rPr>
              <a:t>COLLECTION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49300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87787"/>
                </a:solidFill>
                <a:latin typeface="Aptos"/>
              </a:rPr>
              <a:t>Cash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0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7A7D"/>
                </a:solidFill>
                <a:latin typeface="Aptos"/>
              </a:rPr>
              <a:t>Cash Conversion Cycle (CCC)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720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1F31"/>
                </a:solidFill>
                <a:latin typeface="Aptos"/>
              </a:rPr>
              <a:t>CCC = Inventory Days + Receivable Days − Payable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4069080"/>
            <a:ext cx="4480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8312" y="420624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SO WHAT?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4544568"/>
            <a:ext cx="4151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Every extra day in the cycle consumes cash. A 10-day improvement can release meaningful liquidity without increasing sales.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03 •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Inventory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Inventory converts cash into physical goods—and carries demand, obsolescence and execution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DAYS INVENTORY OUTSTANDING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DIO = Average Inventory ÷ COGS × 365
Lower is not always better: service levels and safety stock matter.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KEY DRIVERS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Procurement lead time • production batch size • seasonality • forecast accuracy • SKU complexity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CREDIT RED FLAGS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Inventory growing faster than sales • ageing stock • write-downs • obsolete SKUs • weak stock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Illustrative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Aptos"/>
              </a:rPr>
              <a:t>Average inventory = ₹30m
Annual COGS = ₹180m
DIO = 30 / 180 × 365 = 61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Cash tied in inventory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297680"/>
            <a:ext cx="1051560" cy="594360"/>
          </a:xfrm>
          <a:prstGeom prst="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F31"/>
                </a:solidFill>
                <a:latin typeface="Aptos"/>
              </a:rPr>
              <a:t>45d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297680"/>
            <a:ext cx="1051560" cy="594360"/>
          </a:xfrm>
          <a:prstGeom prst="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F31"/>
                </a:solidFill>
                <a:latin typeface="Aptos"/>
              </a:rPr>
              <a:t>55d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4297680"/>
            <a:ext cx="1051560" cy="594360"/>
          </a:xfrm>
          <a:prstGeom prst="rect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F31"/>
                </a:solidFill>
                <a:latin typeface="Aptos"/>
              </a:rPr>
              <a:t>61d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4297680"/>
            <a:ext cx="1051560" cy="594360"/>
          </a:xfrm>
          <a:prstGeom prst="rect">
            <a:avLst/>
          </a:prstGeom>
          <a:solidFill>
            <a:srgbClr val="E6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462272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21F31"/>
                </a:solidFill>
                <a:latin typeface="Aptos"/>
              </a:rPr>
              <a:t>70d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16636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87787"/>
                </a:solidFill>
                <a:latin typeface="Aptos"/>
              </a:rPr>
              <a:t>Benchmarking must be sector-specific: a grocery retailer and an engineering project business should not share the same DIO target.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04 • RECEIVABLES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Receivables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Revenue is not cash. Credit terms turn customers into a funding requirement.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DAYS SALES OUTSTANDING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DSO = Average Receivables ÷ Revenue × 365
Track contractual terms versus actual collection behaviour.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QUALITY OF RECEIVABLES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Ageing • customer concentration • disputes • credit notes • overdue buckets • expected credit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BANKER'S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Are receivables genuinely collectible, or is reported working capital masking weak cash conversion?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21F31"/>
                </a:solidFill>
                <a:latin typeface="Aptos"/>
              </a:rPr>
              <a:t>Example: ₹36m average receivables / ₹240m revenue × 365 = 55 days DSO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51960"/>
            <a:ext cx="3072384" cy="640080"/>
          </a:xfrm>
          <a:prstGeom prst="rect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07408"/>
            <a:ext cx="3072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0–30d
48%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9624" y="4251960"/>
            <a:ext cx="1600200" cy="640080"/>
          </a:xfrm>
          <a:prstGeom prst="rect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9624" y="440740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31–60d
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9824" y="4251960"/>
            <a:ext cx="960120" cy="64008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9824" y="440740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61–90d
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4251960"/>
            <a:ext cx="768096" cy="640080"/>
          </a:xfrm>
          <a:prstGeom prst="rect">
            <a:avLst/>
          </a:prstGeom>
          <a:solidFill>
            <a:srgbClr val="B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407408"/>
            <a:ext cx="768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&gt;90d
12%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886200"/>
            <a:ext cx="3840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4023360"/>
            <a:ext cx="3511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RED-FLAG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4361688"/>
            <a:ext cx="351129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DSO rises while revenue also rises: investigate whether growth is being financed through increasingly loose customer credit.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05 • PAYABLES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Payables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Supplier credit is an implicit source of short-term funding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8057"/>
                </a:solidFill>
                <a:latin typeface="Aptos"/>
              </a:rPr>
              <a:t>DAYS PAYABLE OUTSTANDING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DPO = Average Payables ÷ COGS × 365
Higher DPO can preserve cash—but may damage supplier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ECONOMIC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Stretching suppliers can improve liquidity today but create price increases, supply disruption or loss of discounts.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BANKER'S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Is payable growth supported by normal procurement cycles—or is the company delaying suppliers because cash is tight?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77639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32C36"/>
                </a:solidFill>
                <a:latin typeface="Aptos"/>
              </a:rPr>
              <a:t>Average payables = ₹24m
COGS = ₹180m
DPO = 24 / 180 × 365 = 49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97763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1F31"/>
                </a:solidFill>
                <a:latin typeface="Aptos"/>
              </a:rPr>
              <a:t>CCC = 61 + 55 − 49 = 67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87787"/>
                </a:solidFill>
                <a:latin typeface="Aptos"/>
              </a:rPr>
              <a:t>Interpretation: the business funds roughly 67 days of operating activity before cash returns from customers.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06 • NUMERICAL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Cash Impact of the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Small operating improvements can create large financing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Illustrative company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488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₹240m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0116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1488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COGS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48716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₹180m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201168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14884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48716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61d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474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DSO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81304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55d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3375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3474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DPO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381304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49d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337560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3474720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F31"/>
                </a:solidFill>
                <a:latin typeface="Aptos"/>
              </a:rPr>
              <a:t>CCC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3813048"/>
            <a:ext cx="30540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67d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7A7D"/>
                </a:solidFill>
                <a:latin typeface="Aptos"/>
              </a:rPr>
              <a:t>Scenario: reduce DIO by 10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1663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F31"/>
                </a:solidFill>
                <a:latin typeface="Aptos"/>
              </a:rPr>
              <a:t>Daily COGS = ₹180m / 365 = ₹0.493m
Cash released ≈ 10 × ₹0.493m = ₹4.93m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800600"/>
            <a:ext cx="5394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4937760"/>
            <a:ext cx="5065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FINANCING IMPLICATION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5276088"/>
            <a:ext cx="50657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₹4.93m less permanent funding need can reduce WCL utilisation, interest cost and liquidity stress—if the improvement is sustainable.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07 • 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Working Capital Loan (WCL)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Short-term funding bridges the timing gap between operating cash outflows and customer collections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75688"/>
            <a:ext cx="314553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Fund inventory and receivables generated in the normal operating cycle—not structural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COMMON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75688"/>
            <a:ext cx="314553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Cash credit / overdraft • working-capital demand loan • borrowing-base facilities • invoice financing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75688"/>
            <a:ext cx="314553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Often linked to eligible inventory and receivables, with margins, drawing power and monitoring covenants.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Operating cycle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600200" cy="685800"/>
          </a:xfrm>
          <a:prstGeom prst="roundRect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33087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Purchase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59152" y="4270248"/>
            <a:ext cx="475487" cy="0"/>
          </a:xfrm>
          <a:prstGeom prst="line">
            <a:avLst/>
          </a:prstGeom>
          <a:ln w="25400">
            <a:solidFill>
              <a:srgbClr val="B4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3931920"/>
            <a:ext cx="1600200" cy="685800"/>
          </a:xfrm>
          <a:prstGeom prst="roundRect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4133087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Stock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07992" y="4270248"/>
            <a:ext cx="475488" cy="0"/>
          </a:xfrm>
          <a:prstGeom prst="line">
            <a:avLst/>
          </a:prstGeom>
          <a:ln w="25400">
            <a:solidFill>
              <a:srgbClr val="B4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0" y="3931920"/>
            <a:ext cx="1600200" cy="685800"/>
          </a:xfrm>
          <a:prstGeom prst="round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133087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Sale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56832" y="4270248"/>
            <a:ext cx="475488" cy="0"/>
          </a:xfrm>
          <a:prstGeom prst="line">
            <a:avLst/>
          </a:prstGeom>
          <a:ln w="25400">
            <a:solidFill>
              <a:srgbClr val="B4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78040" y="3931920"/>
            <a:ext cx="1600200" cy="685800"/>
          </a:xfrm>
          <a:prstGeom prst="roundRect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133087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Receivable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05672" y="4270248"/>
            <a:ext cx="475488" cy="0"/>
          </a:xfrm>
          <a:prstGeom prst="line">
            <a:avLst/>
          </a:prstGeom>
          <a:ln w="25400">
            <a:solidFill>
              <a:srgbClr val="B4BE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26880" y="3931920"/>
            <a:ext cx="1600200" cy="685800"/>
          </a:xfrm>
          <a:prstGeom prst="roundRect">
            <a:avLst/>
          </a:prstGeom>
          <a:solidFill>
            <a:srgbClr val="4180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133087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Collection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21F31"/>
                </a:solidFill>
                <a:latin typeface="Aptos"/>
              </a:rPr>
              <a:t>WCL funds the shaded gap—not the business model itself.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520440"/>
            <a:ext cx="37033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91271" y="3657600"/>
            <a:ext cx="3374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CORE CREDIT PRINCIPLE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3995928"/>
            <a:ext cx="33741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Borrowing capacity should be anchored to eligible current assets and realistic cash conversion—not simply management's requested limit.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08 • CREDIT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How a Banker Assesses WCL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Translate operating data into a defensible borrowing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Illustrative borrowing-base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32C36"/>
                </a:solidFill>
                <a:latin typeface="Aptos"/>
              </a:rPr>
              <a:t>Eligible inventory: ₹30m × 70% = ₹21m
Eligible receivables: ₹40m × 85% = ₹34m
Indicative drawing power ≈ ₹55m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010890"/>
            <a:ext cx="1965960" cy="1246909"/>
          </a:xfrm>
          <a:prstGeom prst="rect">
            <a:avLst/>
          </a:prstGeom>
          <a:solidFill>
            <a:srgbClr val="267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₹30m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3595254"/>
            <a:ext cx="1965960" cy="1662545"/>
          </a:xfrm>
          <a:prstGeom prst="rect">
            <a:avLst/>
          </a:prstGeom>
          <a:solidFill>
            <a:srgbClr val="2B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36576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₹40m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5486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Receivables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4634345"/>
            <a:ext cx="1965960" cy="623454"/>
          </a:xfrm>
          <a:prstGeom prst="rect">
            <a:avLst/>
          </a:prstGeom>
          <a:solidFill>
            <a:srgbClr val="B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36576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₹15m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5486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Margin / reserves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9" y="2971800"/>
            <a:ext cx="1965960" cy="2286000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36576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₹55m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54864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Eligible 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691640"/>
            <a:ext cx="4480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182880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1" y="2167128"/>
            <a:ext cx="4151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Stock statements • receivables ageing • stock audit • covenant compliance • account conduct • GST/bank statements where relevant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246120"/>
            <a:ext cx="4480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1" y="3383279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RED FLAGS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1" y="3721608"/>
            <a:ext cx="41513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Limit always fully utilised • creditors ageing • frequent ad-hoc requests • declining turnover • evergreening indicators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800600"/>
            <a:ext cx="4480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493776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1" y="5276088"/>
            <a:ext cx="4151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Approve only when facility size, tenor and collateral eligibility match the underlying cycle.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09 • CFO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Working Capital as a Value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Cash conversion is not just treasury hygiene—it affects ROIC, financing cost and resilience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Shorter CCC → less capital tied up → lower external funding requirement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ROIC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Same operating profit on a smaller invested-capital base can improve returns.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167128"/>
            <a:ext cx="31455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 stronger liquidity buffer reduces dependence on emergency borrowing during shocks.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822960" y="3474720"/>
          <a:ext cx="521208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" y="587044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1F31"/>
                </a:solidFill>
                <a:latin typeface="Aptos"/>
              </a:rPr>
              <a:t>Illustrative target: 17-day CCC reduction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3474720"/>
            <a:ext cx="4754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3611879"/>
            <a:ext cx="4425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EXECUTIVE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950208"/>
            <a:ext cx="442569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Where is cash trapped?
Inventory → process / forecast
Receivables → terms / collections
Payables → negotiation / supply chain
Treat each day as a balance-sheet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10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Case Study: Fast-Growing Distributor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Illustrative data — designed to show how growth can create a funding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14884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87168"/>
            <a:ext cx="24140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₹150m revenue
DIO 45d • DSO 42d • DPO 38d
CCC = 49d
WCL utilisation = ₹22m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01168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2148840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2487168"/>
            <a:ext cx="241401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₹240m revenue
DIO 61d • DSO 55d • DPO 49d
CCC = 67d
WCL utilisation = ₹45m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011680"/>
            <a:ext cx="4251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1192" y="2148840"/>
            <a:ext cx="3922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WHAT CHANGED?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487168"/>
            <a:ext cx="392277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Revenue +60%, but CCC widened by 18 days.
Incremental growth consumed cash faster than profit converted to cash.
Decision: do not size WCL only off revenue growth; test the quality and duration of the operating cycle.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Management action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212080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Tighten customer terms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5074920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5031" y="5212080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5985"/>
                </a:solidFill>
                <a:latin typeface="Aptos"/>
              </a:rPr>
              <a:t>SKU-level inventory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5074920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5212080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Supplier-term renegotiation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5074920"/>
            <a:ext cx="25146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872" y="5212080"/>
            <a:ext cx="2185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18057"/>
                </a:solidFill>
                <a:latin typeface="Aptos"/>
              </a:rPr>
              <a:t>Weekly cash conversion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11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Case Study: Manufacturing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Illustrative data — a liquidity problem can appear before an earnings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67A7D"/>
                </a:solidFill>
                <a:latin typeface="Aptos"/>
              </a:rPr>
              <a:t>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075688"/>
            <a:ext cx="314553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EBITDA ₹30m • Inventory ₹35m • Receivables ₹28m • Payables ₹22m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9137"/>
                </a:solidFill>
                <a:latin typeface="Aptos"/>
              </a:rPr>
              <a:t>SHOCK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075688"/>
            <a:ext cx="314553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Customer collections slow by 20 days; inventory rises 15% due to weaker demand.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73736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75688"/>
            <a:ext cx="314553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Receivables cash gap ≈ ₹240m revenue / 365 × 20 = ₹13.2m
Inventory adds ₹5.25m.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F31"/>
                </a:solidFill>
                <a:latin typeface="Aptos"/>
              </a:rPr>
              <a:t>Liquidity 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Collection delay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886200"/>
            <a:ext cx="3532706" cy="384048"/>
          </a:xfrm>
          <a:prstGeom prst="rect">
            <a:avLst/>
          </a:prstGeom>
          <a:solidFill>
            <a:srgbClr val="B4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7386" y="3950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₹13.20m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Inventory build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4526280"/>
            <a:ext cx="1405053" cy="384048"/>
          </a:xfrm>
          <a:prstGeom prst="rect">
            <a:avLst/>
          </a:prstGeom>
          <a:solidFill>
            <a:srgbClr val="B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9733" y="45902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₹5.25m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Total incremental funding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3240" y="5166360"/>
            <a:ext cx="4937760" cy="384048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230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21F31"/>
                </a:solidFill>
                <a:latin typeface="Aptos"/>
              </a:rPr>
              <a:t>₹18.45m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74720"/>
            <a:ext cx="3108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611879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4848"/>
                </a:solidFill>
                <a:latin typeface="Aptos"/>
              </a:rPr>
              <a:t>CREDIT IMPLICATION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950208"/>
            <a:ext cx="277977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C36"/>
                </a:solidFill>
                <a:latin typeface="Aptos"/>
              </a:rPr>
              <a:t>A profitable borrower may still need additional liquidity. The lender should distinguish a temporary timing shock from structural deterioration.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571500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21F31"/>
                </a:solidFill>
                <a:latin typeface="Aptos"/>
              </a:rPr>
              <a:t>Stress-test question: if the cycle worsens by 15–20 days, where does repayment capacity come from?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12 •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Red Flags &amp;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Working capital metrics become powerful when analysed together—not in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27632"/>
            <a:ext cx="10927080" cy="566928"/>
          </a:xfrm>
          <a:prstGeom prst="roundRect">
            <a:avLst/>
          </a:prstGeom>
          <a:solidFill>
            <a:srgbClr val="F1F5F8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4650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Revenue ↑, DSO ↑↑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7465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Growth financed by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4650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Tighten terms; test ageing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40864"/>
            <a:ext cx="10927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Inventory ↑, sales flat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5973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Demand / obsolescence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4597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Age stock; test write-downs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54096"/>
            <a:ext cx="10927080" cy="566928"/>
          </a:xfrm>
          <a:prstGeom prst="roundRect">
            <a:avLst/>
          </a:prstGeom>
          <a:solidFill>
            <a:srgbClr val="F1F5F8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1729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Payables ↑ faster than COGS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17296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Supplier stress / liquidity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172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Review ageing &amp; supplier concentration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0927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WCL always fully drawn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Structural funding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886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Re-size tenor / capital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10927080" cy="566928"/>
          </a:xfrm>
          <a:prstGeom prst="roundRect">
            <a:avLst/>
          </a:prstGeom>
          <a:solidFill>
            <a:srgbClr val="F1F5F8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Frequent ad-hoc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5994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Forecasting or liquidity weakness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994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Demand cash-flow visibility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93792"/>
            <a:ext cx="109270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3126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4848"/>
                </a:solidFill>
                <a:latin typeface="Aptos"/>
              </a:rPr>
              <a:t>Profit ↑, operating cash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3126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32C36"/>
                </a:solidFill>
                <a:latin typeface="Aptos"/>
              </a:rPr>
              <a:t>Accrual quality / working-capital drag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126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21F31"/>
                </a:solidFill>
                <a:latin typeface="Aptos"/>
              </a:rPr>
              <a:t>Reconcile EBITDA to cash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7A7D"/>
                </a:solidFill>
                <a:latin typeface="Aptos"/>
              </a:rPr>
              <a:t>13 •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21F31"/>
                </a:solidFill>
                <a:latin typeface="Aptos"/>
              </a:rPr>
              <a:t>The Working Capital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7"/>
                </a:solidFill>
                <a:latin typeface="Aptos"/>
              </a:rPr>
              <a:t>A four-lens framework for CFOs, credit analysts and investors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688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57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7A7D"/>
                </a:solidFill>
                <a:latin typeface="Aptos"/>
              </a:rPr>
              <a:t>ECONOMICS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What is the true operating cycle?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87787"/>
                </a:solidFill>
                <a:latin typeface="Aptos"/>
              </a:rPr>
              <a:t>DIO • DSO • DPO • CCC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59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057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B5985"/>
                </a:solidFill>
                <a:latin typeface="Aptos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Are current assets monetisable?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87787"/>
                </a:solidFill>
                <a:latin typeface="Aptos"/>
              </a:rPr>
              <a:t>Ageing • concentration • obsolescence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4688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E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057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E9137"/>
                </a:solidFill>
                <a:latin typeface="Aptos"/>
              </a:rPr>
              <a:t>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Who finances the gap?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87787"/>
                </a:solidFill>
                <a:latin typeface="Aptos"/>
              </a:rPr>
              <a:t>Suppliers • WCL • equity • cash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828800"/>
            <a:ext cx="246888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1" y="205740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44848"/>
                </a:solidFill>
                <a:latin typeface="Aptos"/>
              </a:rPr>
              <a:t>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9748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21F31"/>
                </a:solidFill>
                <a:latin typeface="Aptos"/>
              </a:rPr>
              <a:t>What happens under stress?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703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87787"/>
                </a:solidFill>
                <a:latin typeface="Aptos"/>
              </a:rPr>
              <a:t>Sensitivity • liquidity headroom • covenants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321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1F31"/>
                </a:solidFill>
                <a:latin typeface="Aptos"/>
              </a:rPr>
              <a:t>Decision principle: optimise the cycle first; finance the residual gap second.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BEBC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Working capital is a cash-flow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BEBC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Measure the 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9659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7E1"/>
                </a:solidFill>
                <a:latin typeface="Aptos"/>
              </a:rPr>
              <a:t>DIO + DSO − DPO reveals how long cash is trapped.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157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BEBC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Interrogate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157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7E1"/>
                </a:solidFill>
                <a:latin typeface="Aptos"/>
              </a:rPr>
              <a:t>Ageing, concentration and inventory obsolescence matter as much as balances.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6557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BEBC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4655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Size WCL to reality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46557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7E1"/>
                </a:solidFill>
                <a:latin typeface="Aptos"/>
              </a:rPr>
              <a:t>Borrowing capacity should reflect eligible assets and sustainable cash conversion.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3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BEB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21538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Stress the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15383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7E1"/>
                </a:solidFill>
                <a:latin typeface="Aptos"/>
              </a:rPr>
              <a:t>A 15–20 day deterioration can create a major funding requirement even when EBITDA is healthy.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651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BEBC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651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Manage for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96519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D7E1"/>
                </a:solidFill>
                <a:latin typeface="Aptos"/>
              </a:rPr>
              <a:t>Every sustainable day removed from the cycle can release cash and improve resilience.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E9137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996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B4C3"/>
                </a:solidFill>
                <a:latin typeface="Aptos"/>
              </a:rPr>
              <a:t>A banker funds the cycle. A CFO optimises it. An investor evaluates what it says about cash quality.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943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87787"/>
                </a:solidFill>
                <a:latin typeface="Aptos"/>
              </a:rPr>
              <a:t>WORKING CAPITAL • CORPORATE CREDIT &amp; FINANCE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7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