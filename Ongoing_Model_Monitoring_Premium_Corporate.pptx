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Illustrative AUC deterioration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0.78</c:v>
                </c:pt>
                <c:pt idx="1">
                  <c:v>0.79</c:v>
                </c:pt>
                <c:pt idx="2">
                  <c:v>0.78</c:v>
                </c:pt>
                <c:pt idx="3">
                  <c:v>0.77</c:v>
                </c:pt>
                <c:pt idx="4">
                  <c:v>0.76</c:v>
                </c:pt>
                <c:pt idx="5">
                  <c:v>0.75</c:v>
                </c:pt>
                <c:pt idx="6">
                  <c:v>0.74</c:v>
                </c:pt>
                <c:pt idx="7">
                  <c:v>0.72</c:v>
                </c:pt>
                <c:pt idx="8">
                  <c:v>0.71</c:v>
                </c:pt>
                <c:pt idx="9">
                  <c:v>0.7</c:v>
                </c:pt>
                <c:pt idx="10">
                  <c:v>0.69</c:v>
                </c:pt>
                <c:pt idx="11">
                  <c:v>0.68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Threshold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0.7</c:v>
                </c:pt>
                <c:pt idx="1">
                  <c:v>0.7</c:v>
                </c:pt>
                <c:pt idx="2">
                  <c:v>0.7</c:v>
                </c:pt>
                <c:pt idx="3">
                  <c:v>0.7</c:v>
                </c:pt>
                <c:pt idx="4">
                  <c:v>0.7</c:v>
                </c:pt>
                <c:pt idx="5">
                  <c:v>0.7</c:v>
                </c:pt>
                <c:pt idx="6">
                  <c:v>0.7</c:v>
                </c:pt>
                <c:pt idx="7">
                  <c:v>0.7</c:v>
                </c:pt>
                <c:pt idx="8">
                  <c:v>0.7</c:v>
                </c:pt>
                <c:pt idx="9">
                  <c:v>0.7</c:v>
                </c:pt>
                <c:pt idx="10">
                  <c:v>0.7</c:v>
                </c:pt>
                <c:pt idx="11">
                  <c:v>0.7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Monitoring month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85"/>
          <c:min val="0.6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  <c:majorUnit val="0.05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6748272"/>
          </a:xfrm>
          <a:prstGeom prst="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1051560"/>
            <a:ext cx="1143000" cy="73152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ONGOING MODEL</a:t>
            </a:r>
            <a:br/>
            <a:r>
              <a:t>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606040"/>
            <a:ext cx="98755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0">
                <a:solidFill>
                  <a:srgbClr val="CEDAE7"/>
                </a:solidFill>
                <a:latin typeface="Aptos"/>
              </a:defRPr>
            </a:pPr>
            <a:r>
              <a:t>From static validation to continuous control of model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703320"/>
            <a:ext cx="3291840" cy="1325880"/>
          </a:xfrm>
          <a:prstGeom prst="roundRect">
            <a:avLst/>
          </a:prstGeom>
          <a:solidFill>
            <a:srgbClr val="1B2C44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3703320"/>
            <a:ext cx="73152" cy="1325880"/>
          </a:xfrm>
          <a:prstGeom prst="rect">
            <a:avLst/>
          </a:prstGeom>
          <a:solidFill>
            <a:srgbClr val="20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831335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111E31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206240"/>
            <a:ext cx="2926080" cy="7315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202A36"/>
                </a:solidFill>
                <a:latin typeface="Aptos"/>
              </a:defRPr>
            </a:pPr>
            <a:r>
              <a:t>Performance triggers • Monitoring thresholds • Model deterioration • Complete monitoring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703320"/>
            <a:ext cx="3291840" cy="1325880"/>
          </a:xfrm>
          <a:prstGeom prst="roundRect">
            <a:avLst/>
          </a:prstGeom>
          <a:solidFill>
            <a:srgbClr val="1B2C44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3703320"/>
            <a:ext cx="73152" cy="132588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3831335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111E31"/>
                </a:solidFill>
                <a:latin typeface="Aptos"/>
              </a:defRPr>
            </a:pPr>
            <a:r>
              <a:t>BUSINESS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4206240"/>
            <a:ext cx="2926080" cy="7315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202A36"/>
                </a:solidFill>
                <a:latin typeface="Aptos"/>
              </a:defRPr>
            </a:pPr>
            <a:r>
              <a:t>Banking • Credit risk • Finance • Corporate decisioning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3703320"/>
            <a:ext cx="3291840" cy="1325880"/>
          </a:xfrm>
          <a:prstGeom prst="roundRect">
            <a:avLst/>
          </a:prstGeom>
          <a:solidFill>
            <a:srgbClr val="1B2C44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82127" y="3703320"/>
            <a:ext cx="73152" cy="1325880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3296" y="3831335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111E31"/>
                </a:solidFill>
                <a:latin typeface="Aptos"/>
              </a:defRPr>
            </a:pPr>
            <a:r>
              <a:t>DECISION LENS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4206240"/>
            <a:ext cx="2926080" cy="7315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202A36"/>
                </a:solidFill>
                <a:latin typeface="Aptos"/>
              </a:defRPr>
            </a:pPr>
            <a:r>
              <a:t>Detect → Diagnose → Escalate → Remediate → 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989320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0">
                <a:solidFill>
                  <a:srgbClr val="AAB9C9"/>
                </a:solidFill>
                <a:latin typeface="Aptos"/>
              </a:defRPr>
            </a:pPr>
            <a:r>
              <a:t>Premium corporate training deck | Illustrative data clearly labelled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>
                <a:solidFill>
                  <a:srgbClr val="677482"/>
                </a:solidFill>
                <a:latin typeface="Aptos"/>
              </a:defRPr>
            </a:pPr>
            <a:r>
              <a:t>MODEL RISK MANAGEMENT  |  ONGOING MODEL MONITORING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700" b="1">
                <a:solidFill>
                  <a:srgbClr val="111E31"/>
                </a:solidFill>
                <a:latin typeface="Aptos Display"/>
              </a:defRPr>
            </a:pPr>
            <a:r>
              <a:t>1. What Is Ongoing Model Monitoring?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100">
                <a:solidFill>
                  <a:srgbClr val="677482"/>
                </a:solidFill>
                <a:latin typeface="Aptos"/>
              </a:defRPr>
            </a:pPr>
            <a:r>
              <a:t>A model is not “validated once”; its risk profile evolves as data, customers, economics and operations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3474720"/>
          </a:xfrm>
          <a:prstGeom prst="roundRect">
            <a:avLst/>
          </a:prstGeom>
          <a:solidFill>
            <a:srgbClr val="E5EE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3474720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45336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2148840" cy="2880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Ongoing surveillance of a model after deployment.</a:t>
            </a:r>
            <a:br/>
            <a:br/>
            <a:r>
              <a:t>Track whether:</a:t>
            </a:r>
            <a:br/>
            <a:r>
              <a:t>• Inputs remain representative</a:t>
            </a:r>
            <a:br/>
            <a:r>
              <a:t>• Predictions remain discriminative</a:t>
            </a:r>
            <a:br/>
            <a:r>
              <a:t>• Calibration remains reliable</a:t>
            </a:r>
            <a:br/>
            <a:r>
              <a:t>• Outcomes remain within expected ranges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514600" cy="3474720"/>
          </a:xfrm>
          <a:prstGeom prst="roundRect">
            <a:avLst/>
          </a:prstGeom>
          <a:solidFill>
            <a:srgbClr val="F7F0DE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73152" cy="347472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545336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1920240"/>
            <a:ext cx="2148840" cy="2880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Models can deteriorate because of:</a:t>
            </a:r>
            <a:br/>
            <a:r>
              <a:t>• Population drift</a:t>
            </a:r>
            <a:br/>
            <a:r>
              <a:t>• Economic regime change</a:t>
            </a:r>
            <a:br/>
            <a:r>
              <a:t>• Policy / underwriting change</a:t>
            </a:r>
            <a:br/>
            <a:r>
              <a:t>• Data pipeline changes</a:t>
            </a:r>
            <a:br/>
            <a:r>
              <a:t>• Competitor or customer behaviour</a:t>
            </a:r>
            <a:br/>
            <a:r>
              <a:t>• Concept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2514600" cy="3474720"/>
          </a:xfrm>
          <a:prstGeom prst="roundRect">
            <a:avLst/>
          </a:prstGeom>
          <a:solidFill>
            <a:srgbClr val="E6F3E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73152" cy="3474720"/>
          </a:xfrm>
          <a:prstGeom prst="rect">
            <a:avLst/>
          </a:prstGeom>
          <a:solidFill>
            <a:srgbClr val="2D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45336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2148840" cy="2880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Build a monitoring loop:</a:t>
            </a:r>
            <a:br/>
            <a:r>
              <a:t>1. Define metrics</a:t>
            </a:r>
            <a:br/>
            <a:r>
              <a:t>2. Set thresholds</a:t>
            </a:r>
            <a:br/>
            <a:r>
              <a:t>3. Observe signals</a:t>
            </a:r>
            <a:br/>
            <a:r>
              <a:t>4. Investigate root cause</a:t>
            </a:r>
            <a:br/>
            <a:r>
              <a:t>5. Escalate / remediate</a:t>
            </a:r>
            <a:br/>
            <a:r>
              <a:t>6. Revalidate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417320"/>
            <a:ext cx="2514600" cy="3474720"/>
          </a:xfrm>
          <a:prstGeom prst="roundRect">
            <a:avLst/>
          </a:prstGeom>
          <a:solidFill>
            <a:srgbClr val="FAE8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417320"/>
            <a:ext cx="73152" cy="3474720"/>
          </a:xfrm>
          <a:prstGeom prst="rect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545336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SO WHAT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1920240"/>
            <a:ext cx="2148840" cy="2880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Monitoring converts model risk into management action.</a:t>
            </a:r>
            <a:br/>
            <a:br/>
            <a:r>
              <a:t>The objective is not “zero movement”; it is timely detection of material deterioration before decisions become unsafe.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82112" y="3154680"/>
            <a:ext cx="219456" cy="0"/>
          </a:xfrm>
          <a:prstGeom prst="line">
            <a:avLst/>
          </a:prstGeom>
          <a:ln w="25400">
            <a:solidFill>
              <a:srgbClr val="2A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71032" y="3154680"/>
            <a:ext cx="219456" cy="0"/>
          </a:xfrm>
          <a:prstGeom prst="line">
            <a:avLst/>
          </a:prstGeom>
          <a:ln w="25400">
            <a:solidFill>
              <a:srgbClr val="2A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59952" y="3154680"/>
            <a:ext cx="219456" cy="0"/>
          </a:xfrm>
          <a:prstGeom prst="line">
            <a:avLst/>
          </a:prstGeom>
          <a:ln w="25400">
            <a:solidFill>
              <a:srgbClr val="2A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5257800"/>
            <a:ext cx="10789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111E31"/>
                </a:solidFill>
                <a:latin typeface="Aptos"/>
              </a:defRPr>
            </a:pPr>
            <a:r>
              <a:t>Core principle:  a monitoring metric is useful only when its breach has a defined owner, investigation path and action.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>
                <a:solidFill>
                  <a:srgbClr val="677482"/>
                </a:solidFill>
                <a:latin typeface="Aptos"/>
              </a:defRPr>
            </a:pPr>
            <a:r>
              <a:t>MODEL RISK MANAGEMENT  |  ONGOING MODEL MONITORING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700" b="1">
                <a:solidFill>
                  <a:srgbClr val="111E31"/>
                </a:solidFill>
                <a:latin typeface="Aptos Display"/>
              </a:defRPr>
            </a:pPr>
            <a:r>
              <a:t>2. What Exactly Should Be Monitored?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100">
                <a:solidFill>
                  <a:srgbClr val="677482"/>
                </a:solidFill>
                <a:latin typeface="Aptos"/>
              </a:defRPr>
            </a:pPr>
            <a:r>
              <a:t>Four layers provide a balanced view: data → performance → stability →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73152" cy="960120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453895"/>
            <a:ext cx="10195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111E31"/>
                </a:solidFill>
                <a:latin typeface="Aptos"/>
              </a:defRPr>
            </a:pPr>
            <a:r>
              <a:t>DATA QUALITY &amp;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828800"/>
            <a:ext cx="10195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Missingness • Outliers • Range checks • Population stability • Feature drift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45919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2A5B9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60320"/>
            <a:ext cx="1056132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60320"/>
            <a:ext cx="73152" cy="960120"/>
          </a:xfrm>
          <a:prstGeom prst="rect">
            <a:avLst/>
          </a:prstGeom>
          <a:solidFill>
            <a:srgbClr val="20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88336"/>
            <a:ext cx="10195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111E31"/>
                </a:solidFill>
                <a:latin typeface="Aptos"/>
              </a:defRPr>
            </a:pPr>
            <a:r>
              <a:t>MODEL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063239"/>
            <a:ext cx="10195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KS • Gini • AUC • Lift • Calibration • Bad rate / default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880360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2080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94760"/>
            <a:ext cx="1056132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794760"/>
            <a:ext cx="73152" cy="96012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922776"/>
            <a:ext cx="10195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111E31"/>
                </a:solidFill>
                <a:latin typeface="Aptos"/>
              </a:defRPr>
            </a:pPr>
            <a:r>
              <a:t>OUTCOME &amp; 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297680"/>
            <a:ext cx="10195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Approval rate • Loss rate • Override rate • Vintage curves • Profit / risk economics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14800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BE91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29200"/>
            <a:ext cx="1056132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5029200"/>
            <a:ext cx="73152" cy="960120"/>
          </a:xfrm>
          <a:prstGeom prst="rect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157216"/>
            <a:ext cx="10195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111E31"/>
                </a:solidFill>
                <a:latin typeface="Aptos"/>
              </a:defRPr>
            </a:pPr>
            <a:r>
              <a:t>GOVERNANCE &amp;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5532120"/>
            <a:ext cx="10195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Model version • Data lineage • Access • Overrides • Incidents • Review 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349240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B0373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355080"/>
            <a:ext cx="103327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>
                <a:solidFill>
                  <a:srgbClr val="677482"/>
                </a:solidFill>
                <a:latin typeface="Aptos"/>
              </a:defRPr>
            </a:pPr>
            <a:r>
              <a:t>No single metric is sufficient: a stable AUC can coexist with poor calibration, data drift or adverse business outcomes.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>
                <a:solidFill>
                  <a:srgbClr val="677482"/>
                </a:solidFill>
                <a:latin typeface="Aptos"/>
              </a:defRPr>
            </a:pPr>
            <a:r>
              <a:t>MODEL RISK MANAGEMENT  |  ONGOING MODEL MONITORING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700" b="1">
                <a:solidFill>
                  <a:srgbClr val="111E31"/>
                </a:solidFill>
                <a:latin typeface="Aptos Display"/>
              </a:defRPr>
            </a:pPr>
            <a:r>
              <a:t>3. Performance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100">
                <a:solidFill>
                  <a:srgbClr val="677482"/>
                </a:solidFill>
                <a:latin typeface="Aptos"/>
              </a:defRPr>
            </a:pPr>
            <a:r>
              <a:t>Triggers turn monitoring metrics into predefined management signals.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828800" cy="502920"/>
          </a:xfrm>
          <a:prstGeom prst="rect">
            <a:avLst/>
          </a:prstGeom>
          <a:solidFill>
            <a:srgbClr val="111E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99031"/>
            <a:ext cx="168249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280160"/>
            <a:ext cx="2057400" cy="502920"/>
          </a:xfrm>
          <a:prstGeom prst="rect">
            <a:avLst/>
          </a:prstGeom>
          <a:solidFill>
            <a:srgbClr val="111E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1399031"/>
            <a:ext cx="1911095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Illustrative threshold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2880360" cy="502920"/>
          </a:xfrm>
          <a:prstGeom prst="rect">
            <a:avLst/>
          </a:prstGeom>
          <a:solidFill>
            <a:srgbClr val="111E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399031"/>
            <a:ext cx="273405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280160"/>
            <a:ext cx="4434840" cy="502920"/>
          </a:xfrm>
          <a:prstGeom prst="rect">
            <a:avLst/>
          </a:prstGeom>
          <a:solidFill>
            <a:srgbClr val="111E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8352" y="1399031"/>
            <a:ext cx="428853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Typical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892807"/>
            <a:ext cx="168249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1">
                <a:solidFill>
                  <a:srgbClr val="202A36"/>
                </a:solidFill>
                <a:latin typeface="Aptos"/>
              </a:defRPr>
            </a:pPr>
            <a:r>
              <a:t>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1783080"/>
            <a:ext cx="2057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1892807"/>
            <a:ext cx="1911095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&lt; 0.70 or −0.05 vs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1783080"/>
            <a:ext cx="28803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1892807"/>
            <a:ext cx="273405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Ranking power weakening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1783080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1892807"/>
            <a:ext cx="428853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Investigate population / data /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496312"/>
            <a:ext cx="1828800" cy="71323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606040"/>
            <a:ext cx="168249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1">
                <a:solidFill>
                  <a:srgbClr val="202A36"/>
                </a:solidFill>
                <a:latin typeface="Aptos"/>
              </a:defRPr>
            </a:pPr>
            <a:r>
              <a:t>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2496312"/>
            <a:ext cx="2057400" cy="71323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0592" y="2606040"/>
            <a:ext cx="1911095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&lt; 25% or −8 pp vs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496312"/>
            <a:ext cx="2880360" cy="71323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2606040"/>
            <a:ext cx="273405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Separation deteriorating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496312"/>
            <a:ext cx="4434840" cy="71323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2" y="2606040"/>
            <a:ext cx="428853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Review score distribution &amp; bad capture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09544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319272"/>
            <a:ext cx="168249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1">
                <a:solidFill>
                  <a:srgbClr val="202A36"/>
                </a:solidFill>
                <a:latin typeface="Aptos"/>
              </a:defRPr>
            </a:pPr>
            <a:r>
              <a:t>Bad 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3209544"/>
            <a:ext cx="2057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2" y="3319272"/>
            <a:ext cx="1911095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&gt; +20% vs expected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3209544"/>
            <a:ext cx="28803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7992" y="3319272"/>
            <a:ext cx="273405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Portfolio outcome worsening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209544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88352" y="3319272"/>
            <a:ext cx="428853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Segment, vintage &amp; policy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922776"/>
            <a:ext cx="1828800" cy="71323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032504"/>
            <a:ext cx="168249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1">
                <a:solidFill>
                  <a:srgbClr val="202A36"/>
                </a:solidFill>
                <a:latin typeface="Aptos"/>
              </a:defRPr>
            </a:pPr>
            <a:r>
              <a:t>PSI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922776"/>
            <a:ext cx="2057400" cy="71323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50592" y="4032504"/>
            <a:ext cx="1911095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&gt; 0.25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3922776"/>
            <a:ext cx="2880360" cy="71323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07992" y="4032504"/>
            <a:ext cx="273405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Material population shift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3922776"/>
            <a:ext cx="4434840" cy="71323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88352" y="4032504"/>
            <a:ext cx="428853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Check drift / new customer mix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636008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4745736"/>
            <a:ext cx="168249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1">
                <a:solidFill>
                  <a:srgbClr val="202A36"/>
                </a:solidFill>
                <a:latin typeface="Aptos"/>
              </a:defRPr>
            </a:pPr>
            <a:r>
              <a:t>Missingness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4636008"/>
            <a:ext cx="2057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50592" y="4745736"/>
            <a:ext cx="1911095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&gt; 5 pp increase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34840" y="4636008"/>
            <a:ext cx="28803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07992" y="4745736"/>
            <a:ext cx="273405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Input pipeline / behaviour change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4636008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88352" y="4745736"/>
            <a:ext cx="428853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Data quality incident review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349240"/>
            <a:ext cx="1828800" cy="71323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5458968"/>
            <a:ext cx="168249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1">
                <a:solidFill>
                  <a:srgbClr val="202A36"/>
                </a:solidFill>
                <a:latin typeface="Aptos"/>
              </a:defRPr>
            </a:pPr>
            <a:r>
              <a:t>Calibration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7440" y="5349240"/>
            <a:ext cx="2057400" cy="71323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50592" y="5458968"/>
            <a:ext cx="1911095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Observed / predicted &gt; 1.25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34840" y="5349240"/>
            <a:ext cx="2880360" cy="71323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07992" y="5458968"/>
            <a:ext cx="273405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Systematic underprediction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0" y="5349240"/>
            <a:ext cx="4434840" cy="71323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88352" y="5458968"/>
            <a:ext cx="428853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19" b="0">
                <a:solidFill>
                  <a:srgbClr val="202A36"/>
                </a:solidFill>
                <a:latin typeface="Aptos"/>
              </a:defRPr>
            </a:pPr>
            <a:r>
              <a:t>Recalibrate / redevelop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5806440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11E31"/>
                </a:solidFill>
                <a:latin typeface="Aptos"/>
              </a:defRPr>
            </a:pPr>
            <a:r>
              <a:t>Important: thresholds must be calibrated to the model’s purpose, portfolio materiality, sample size and risk appetite—not copied mechanically from another model.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>
                <a:solidFill>
                  <a:srgbClr val="677482"/>
                </a:solidFill>
                <a:latin typeface="Aptos"/>
              </a:defRPr>
            </a:pPr>
            <a:r>
              <a:t>MODEL RISK MANAGEMENT  |  ONGOING MODEL MONITORING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700" b="1">
                <a:solidFill>
                  <a:srgbClr val="111E31"/>
                </a:solidFill>
                <a:latin typeface="Aptos Display"/>
              </a:defRPr>
            </a:pPr>
            <a:r>
              <a:t>4. Monitoring Thresholds: Green → Amber →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100">
                <a:solidFill>
                  <a:srgbClr val="677482"/>
                </a:solidFill>
                <a:latin typeface="Aptos"/>
              </a:defRPr>
            </a:pPr>
            <a:r>
              <a:t>A threshold is a control boundary, not merely a statistic.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2057400"/>
          </a:xfrm>
          <a:prstGeom prst="roundRect">
            <a:avLst/>
          </a:prstGeom>
          <a:solidFill>
            <a:srgbClr val="E6F3E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2057400"/>
          </a:xfrm>
          <a:prstGeom prst="rect">
            <a:avLst/>
          </a:prstGeom>
          <a:solidFill>
            <a:srgbClr val="2D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45336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 b="1">
                <a:solidFill>
                  <a:srgbClr val="111E31"/>
                </a:solidFill>
                <a:latin typeface="Aptos"/>
              </a:defRPr>
            </a:pPr>
            <a:r>
              <a:t>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297180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Within tolerance</a:t>
            </a:r>
            <a:br/>
            <a:br/>
            <a:r>
              <a:t>Continue normal monitoring</a:t>
            </a:r>
            <a:br/>
            <a:br/>
            <a:r>
              <a:t>Monthly / quarterly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337560" cy="2057400"/>
          </a:xfrm>
          <a:prstGeom prst="roundRect">
            <a:avLst/>
          </a:prstGeom>
          <a:solidFill>
            <a:srgbClr val="F7F0DE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2" cy="205740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545336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 b="1">
                <a:solidFill>
                  <a:srgbClr val="111E31"/>
                </a:solidFill>
                <a:latin typeface="Aptos"/>
              </a:defRPr>
            </a:pPr>
            <a:r>
              <a:t>AMBER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920240"/>
            <a:ext cx="297180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Early warning</a:t>
            </a:r>
            <a:br/>
            <a:br/>
            <a:r>
              <a:t>Investigate + document cause</a:t>
            </a:r>
            <a:br/>
            <a:br/>
            <a:r>
              <a:t>Increase frequency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337560" cy="2057400"/>
          </a:xfrm>
          <a:prstGeom prst="roundRect">
            <a:avLst/>
          </a:prstGeom>
          <a:solidFill>
            <a:srgbClr val="FAE8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73152" cy="2057400"/>
          </a:xfrm>
          <a:prstGeom prst="rect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545336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 b="1">
                <a:solidFill>
                  <a:srgbClr val="111E31"/>
                </a:solidFill>
                <a:latin typeface="Aptos"/>
              </a:defRPr>
            </a:pPr>
            <a:r>
              <a:t>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920240"/>
            <a:ext cx="297180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Material breach</a:t>
            </a:r>
            <a:br/>
            <a:br/>
            <a:r>
              <a:t>Escalate + remediation plan</a:t>
            </a:r>
            <a:br/>
            <a:br/>
            <a:r>
              <a:t>Governance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111E31"/>
                </a:solidFill>
                <a:latin typeface="Aptos"/>
              </a:defRPr>
            </a:pPr>
            <a:r>
              <a:t>Example: PSI monitoring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17720"/>
            <a:ext cx="4526280" cy="502920"/>
          </a:xfrm>
          <a:prstGeom prst="rect">
            <a:avLst/>
          </a:prstGeom>
          <a:solidFill>
            <a:srgbClr val="2D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4526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PSI &lt; 0.10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4617720"/>
            <a:ext cx="2514599" cy="50292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754880"/>
            <a:ext cx="2514599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0.10–0.25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4617720"/>
            <a:ext cx="3017520" cy="502920"/>
          </a:xfrm>
          <a:prstGeom prst="rect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4754880"/>
            <a:ext cx="3017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&gt; 0.25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677482"/>
                </a:solidFill>
                <a:latin typeface="Aptos"/>
              </a:defRPr>
            </a:pPr>
            <a:r>
              <a:t>Illustrative only. The model owner should define limits using historical stability, validation evidence, portfolio materiality and risk appetite.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>
                <a:solidFill>
                  <a:srgbClr val="677482"/>
                </a:solidFill>
                <a:latin typeface="Aptos"/>
              </a:defRPr>
            </a:pPr>
            <a:r>
              <a:t>MODEL RISK MANAGEMENT  |  ONGOING MODEL MONITORING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700" b="1">
                <a:solidFill>
                  <a:srgbClr val="111E31"/>
                </a:solidFill>
                <a:latin typeface="Aptos Display"/>
              </a:defRPr>
            </a:pPr>
            <a:r>
              <a:t>5. Detecting Model Deterioration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100">
                <a:solidFill>
                  <a:srgbClr val="677482"/>
                </a:solidFill>
                <a:latin typeface="Aptos"/>
              </a:defRPr>
            </a:pPr>
            <a:r>
              <a:t>Deterioration is usually a pattern across time—not one bad month.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25880"/>
          <a:ext cx="667512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417320"/>
            <a:ext cx="3840480" cy="1143000"/>
          </a:xfrm>
          <a:prstGeom prst="roundRect">
            <a:avLst/>
          </a:prstGeom>
          <a:solidFill>
            <a:srgbClr val="FAE8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417320"/>
            <a:ext cx="73152" cy="1143000"/>
          </a:xfrm>
          <a:prstGeom prst="rect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1545336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1">
                <a:solidFill>
                  <a:srgbClr val="111E31"/>
                </a:solidFill>
                <a:latin typeface="Aptos"/>
              </a:defRPr>
            </a:pPr>
            <a:r>
              <a:t>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1920240"/>
            <a:ext cx="34747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50" b="0">
                <a:solidFill>
                  <a:srgbClr val="202A36"/>
                </a:solidFill>
                <a:latin typeface="Aptos"/>
              </a:defRPr>
            </a:pPr>
            <a:r>
              <a:t>AUC falls below the control limit.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743200"/>
            <a:ext cx="3840480" cy="1143000"/>
          </a:xfrm>
          <a:prstGeom prst="roundRect">
            <a:avLst/>
          </a:prstGeom>
          <a:solidFill>
            <a:srgbClr val="F7F0DE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2743200"/>
            <a:ext cx="73152" cy="114300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871216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1">
                <a:solidFill>
                  <a:srgbClr val="111E31"/>
                </a:solidFill>
                <a:latin typeface="Aptos"/>
              </a:defRPr>
            </a:pPr>
            <a:r>
              <a:t>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3246120"/>
            <a:ext cx="34747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50" b="0">
                <a:solidFill>
                  <a:srgbClr val="202A36"/>
                </a:solidFill>
                <a:latin typeface="Aptos"/>
              </a:defRPr>
            </a:pPr>
            <a:r>
              <a:t>Six consecutive declines suggest persistent deterioration.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069080"/>
            <a:ext cx="3840480" cy="1143000"/>
          </a:xfrm>
          <a:prstGeom prst="roundRect">
            <a:avLst/>
          </a:prstGeom>
          <a:solidFill>
            <a:srgbClr val="E5EE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4069080"/>
            <a:ext cx="73152" cy="1143000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4197096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1">
                <a:solidFill>
                  <a:srgbClr val="111E31"/>
                </a:solidFill>
                <a:latin typeface="Aptos"/>
              </a:defRPr>
            </a:pPr>
            <a:r>
              <a:t>ROOT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4572000"/>
            <a:ext cx="34747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50" b="0">
                <a:solidFill>
                  <a:srgbClr val="202A36"/>
                </a:solidFill>
                <a:latin typeface="Aptos"/>
              </a:defRPr>
            </a:pPr>
            <a:r>
              <a:t>Check drift, underwriting changes, data defects, macro regime and outcome lag.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6766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677482"/>
                </a:solidFill>
                <a:latin typeface="Aptos"/>
              </a:defRPr>
            </a:pPr>
            <a:r>
              <a:t>A single threshold breach can be noisy; sustained directional movement is often more informative.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>
                <a:solidFill>
                  <a:srgbClr val="677482"/>
                </a:solidFill>
                <a:latin typeface="Aptos"/>
              </a:defRPr>
            </a:pPr>
            <a:r>
              <a:t>MODEL RISK MANAGEMENT  |  ONGOING MODEL MONITORING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700" b="1">
                <a:solidFill>
                  <a:srgbClr val="111E31"/>
                </a:solidFill>
                <a:latin typeface="Aptos Display"/>
              </a:defRPr>
            </a:pPr>
            <a:r>
              <a:t>6. Numerical Example: Triggering a Credit Model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100">
                <a:solidFill>
                  <a:srgbClr val="677482"/>
                </a:solidFill>
                <a:latin typeface="Aptos"/>
              </a:defRPr>
            </a:pPr>
            <a:r>
              <a:t>Illustrative portfolio: 10,000 loans; 12-month default prediction.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1051560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08176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BASELINE 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73351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2A5B97"/>
                </a:solidFill>
                <a:latin typeface="Aptos"/>
              </a:defRPr>
            </a:pPr>
            <a:r>
              <a:t>0.78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48255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50" b="0">
                <a:solidFill>
                  <a:srgbClr val="677482"/>
                </a:solidFill>
                <a:latin typeface="Aptos"/>
              </a:defRPr>
            </a:pPr>
            <a:r>
              <a:t>Development / validation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73152" cy="1051560"/>
          </a:xfrm>
          <a:prstGeom prst="rect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408176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CURRENT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673351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B03737"/>
                </a:solidFill>
                <a:latin typeface="Aptos"/>
              </a:defRPr>
            </a:pPr>
            <a:r>
              <a:t>0.69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48255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50" b="0">
                <a:solidFill>
                  <a:srgbClr val="677482"/>
                </a:solidFill>
                <a:latin typeface="Aptos"/>
              </a:defRPr>
            </a:pPr>
            <a:r>
              <a:t>−0.09 vs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2801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280160"/>
            <a:ext cx="73152" cy="1051560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7" y="1408176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BASELINE BAD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673351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2A5B97"/>
                </a:solidFill>
                <a:latin typeface="Aptos"/>
              </a:defRPr>
            </a:pPr>
            <a:r>
              <a:t>4.0%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048255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50" b="0">
                <a:solidFill>
                  <a:srgbClr val="677482"/>
                </a:solidFill>
                <a:latin typeface="Aptos"/>
              </a:defRPr>
            </a:pPr>
            <a:r>
              <a:t>Expected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12801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1280160"/>
            <a:ext cx="73152" cy="1051560"/>
          </a:xfrm>
          <a:prstGeom prst="rect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1408176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CURRENT BAD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1673351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B03737"/>
                </a:solidFill>
                <a:latin typeface="Aptos"/>
              </a:defRPr>
            </a:pPr>
            <a:r>
              <a:t>5.1%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048255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50" b="0">
                <a:solidFill>
                  <a:srgbClr val="677482"/>
                </a:solidFill>
                <a:latin typeface="Aptos"/>
              </a:defRPr>
            </a:pPr>
            <a:r>
              <a:t>+27.5% vs expected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2743200"/>
            <a:ext cx="5303520" cy="2240280"/>
          </a:xfrm>
          <a:prstGeom prst="roundRect">
            <a:avLst/>
          </a:prstGeom>
          <a:solidFill>
            <a:srgbClr val="FAE8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2743200"/>
            <a:ext cx="73152" cy="2240280"/>
          </a:xfrm>
          <a:prstGeom prst="rect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2871216"/>
            <a:ext cx="493775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111E31"/>
                </a:solidFill>
                <a:latin typeface="Aptos"/>
              </a:defRPr>
            </a:pPr>
            <a:r>
              <a:t>STEP 1 — AUC DETERIORATION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246120"/>
            <a:ext cx="4937759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202A36"/>
                </a:solidFill>
                <a:latin typeface="Aptos"/>
              </a:defRPr>
            </a:pPr>
            <a:r>
              <a:t>Absolute decline = 0.78 − 0.69 = 0.09</a:t>
            </a:r>
            <a:br/>
            <a:br/>
            <a:r>
              <a:t>Relative decline = 0.09 / 0.78 = 11.5%</a:t>
            </a:r>
            <a:br/>
            <a:br/>
            <a:r>
              <a:t>If the governance trigger is −0.05 AUC, the trigger is breached.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743200"/>
            <a:ext cx="5303520" cy="2240280"/>
          </a:xfrm>
          <a:prstGeom prst="roundRect">
            <a:avLst/>
          </a:prstGeom>
          <a:solidFill>
            <a:srgbClr val="F7F0DE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743200"/>
            <a:ext cx="73152" cy="224028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871216"/>
            <a:ext cx="493775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111E31"/>
                </a:solidFill>
                <a:latin typeface="Aptos"/>
              </a:defRPr>
            </a:pPr>
            <a:r>
              <a:t>STEP 2 — OUTCOME DETERIORATION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246120"/>
            <a:ext cx="4937759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202A36"/>
                </a:solidFill>
                <a:latin typeface="Aptos"/>
              </a:defRPr>
            </a:pPr>
            <a:r>
              <a:t>Expected defaults = 10,000 × 4.0% = 400</a:t>
            </a:r>
            <a:br/>
            <a:r>
              <a:t>Observed defaults = 10,000 × 5.1% = 510</a:t>
            </a:r>
            <a:br/>
            <a:br/>
            <a:r>
              <a:t>Excess defaults = 510 − 400 = 110</a:t>
            </a:r>
            <a:br/>
            <a:br/>
            <a:r>
              <a:t>Observed / expected = 1.275×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94960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111E31"/>
                </a:solidFill>
                <a:latin typeface="Aptos"/>
              </a:defRPr>
            </a:pPr>
            <a:r>
              <a:t>So what?  The model should move from routine monitoring to structured investigation. Do not jump directly from a trigger to redevelopment.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>
                <a:solidFill>
                  <a:srgbClr val="677482"/>
                </a:solidFill>
                <a:latin typeface="Aptos"/>
              </a:defRPr>
            </a:pPr>
            <a:r>
              <a:t>MODEL RISK MANAGEMENT  |  ONGOING MODEL MONITORING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700" b="1">
                <a:solidFill>
                  <a:srgbClr val="111E31"/>
                </a:solidFill>
                <a:latin typeface="Aptos Display"/>
              </a:defRPr>
            </a:pPr>
            <a:r>
              <a:t>7. Complete Model Monitoring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100">
                <a:solidFill>
                  <a:srgbClr val="677482"/>
                </a:solidFill>
                <a:latin typeface="Aptos"/>
              </a:defRPr>
            </a:pPr>
            <a:r>
              <a:t>A closed-loop framework links metrics to ownership, escalation and remediation.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16002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029968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400" b="1">
                <a:solidFill>
                  <a:srgbClr val="2A5B9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514600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11E31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944368"/>
            <a:ext cx="1344168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50" b="0">
                <a:solidFill>
                  <a:srgbClr val="202A36"/>
                </a:solidFill>
                <a:latin typeface="Aptos"/>
              </a:defRPr>
            </a:pPr>
            <a:r>
              <a:t>Collect model, data and business metrics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12264" y="2834640"/>
            <a:ext cx="292608" cy="0"/>
          </a:xfrm>
          <a:prstGeom prst="line">
            <a:avLst/>
          </a:prstGeom>
          <a:ln w="21590">
            <a:solidFill>
              <a:srgbClr val="2A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41448" y="1874519"/>
            <a:ext cx="16002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1176" y="2029968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400" b="1">
                <a:solidFill>
                  <a:srgbClr val="2080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2514600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11E31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9464" y="2944368"/>
            <a:ext cx="1344168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50" b="0">
                <a:solidFill>
                  <a:srgbClr val="202A36"/>
                </a:solidFill>
                <a:latin typeface="Aptos"/>
              </a:defRPr>
            </a:pPr>
            <a:r>
              <a:t>Benchmark vs baseline, limits and prior periods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50791" y="2834640"/>
            <a:ext cx="292609" cy="0"/>
          </a:xfrm>
          <a:prstGeom prst="line">
            <a:avLst/>
          </a:prstGeom>
          <a:ln w="21590">
            <a:solidFill>
              <a:srgbClr val="208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79976" y="1874519"/>
            <a:ext cx="16002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2029968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400" b="1">
                <a:solidFill>
                  <a:srgbClr val="BE91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514600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11E31"/>
                </a:solidFill>
                <a:latin typeface="Aptos"/>
              </a:defRPr>
            </a:pPr>
            <a:r>
              <a:t>DIAGNOSE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944368"/>
            <a:ext cx="1344168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50" b="0">
                <a:solidFill>
                  <a:srgbClr val="202A36"/>
                </a:solidFill>
                <a:latin typeface="Aptos"/>
              </a:defRPr>
            </a:pPr>
            <a:r>
              <a:t>Segment by product, vintage, geography, score band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9320" y="2834640"/>
            <a:ext cx="292608" cy="0"/>
          </a:xfrm>
          <a:prstGeom prst="line">
            <a:avLst/>
          </a:prstGeom>
          <a:ln w="21590">
            <a:solidFill>
              <a:srgbClr val="BE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18504" y="1874519"/>
            <a:ext cx="16002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029968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400" b="1">
                <a:solidFill>
                  <a:srgbClr val="B0373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514600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11E31"/>
                </a:solidFill>
                <a:latin typeface="Aptos"/>
              </a:defRPr>
            </a:pPr>
            <a:r>
              <a:t>ESCALATE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944368"/>
            <a:ext cx="1344168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50" b="0">
                <a:solidFill>
                  <a:srgbClr val="202A36"/>
                </a:solidFill>
                <a:latin typeface="Aptos"/>
              </a:defRPr>
            </a:pPr>
            <a:r>
              <a:t>Route breach to model owner / risk governance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27848" y="2834640"/>
            <a:ext cx="292608" cy="0"/>
          </a:xfrm>
          <a:prstGeom prst="line">
            <a:avLst/>
          </a:prstGeom>
          <a:ln w="21590">
            <a:solidFill>
              <a:srgbClr val="B0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57032" y="1874519"/>
            <a:ext cx="16002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029968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400" b="1">
                <a:solidFill>
                  <a:srgbClr val="2D7D4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514600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11E3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2944368"/>
            <a:ext cx="1344168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50" b="0">
                <a:solidFill>
                  <a:srgbClr val="202A36"/>
                </a:solidFill>
                <a:latin typeface="Aptos"/>
              </a:defRPr>
            </a:pPr>
            <a:r>
              <a:t>Data fix, recalibration, policy action or redevelopment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66376" y="2834640"/>
            <a:ext cx="292608" cy="0"/>
          </a:xfrm>
          <a:prstGeom prst="line">
            <a:avLst/>
          </a:prstGeom>
          <a:ln w="21590">
            <a:solidFill>
              <a:srgbClr val="2D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195560" y="1874519"/>
            <a:ext cx="16002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5288" y="2029968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400" b="1">
                <a:solidFill>
                  <a:srgbClr val="2A5B9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05288" y="2514600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11E31"/>
                </a:solidFill>
                <a:latin typeface="Aptos"/>
              </a:defRPr>
            </a:pPr>
            <a:r>
              <a:t>REVALIDATE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23576" y="2944368"/>
            <a:ext cx="1344168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50" b="0">
                <a:solidFill>
                  <a:srgbClr val="202A36"/>
                </a:solidFill>
                <a:latin typeface="Aptos"/>
              </a:defRPr>
            </a:pPr>
            <a:r>
              <a:t>Independent validation + approval before material change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343400"/>
            <a:ext cx="10287000" cy="1143000"/>
          </a:xfrm>
          <a:prstGeom prst="roundRect">
            <a:avLst/>
          </a:prstGeom>
          <a:solidFill>
            <a:srgbClr val="E5EE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4343400"/>
            <a:ext cx="73152" cy="1143000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" y="4471416"/>
            <a:ext cx="9921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111E31"/>
                </a:solidFill>
                <a:latin typeface="Aptos"/>
              </a:defRPr>
            </a:pPr>
            <a:r>
              <a:t>GOVERNANCE OVERLAY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4846320"/>
            <a:ext cx="99212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Model owner • Independent validation • Data owner • Business owner • Risk committee • Audit trail • Issue log • Closure 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715000"/>
            <a:ext cx="10287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11E31"/>
                </a:solidFill>
                <a:latin typeface="Aptos"/>
              </a:defRPr>
            </a:pPr>
            <a:r>
              <a:t>The control objective: every material signal ends in a documented decision.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>
                <a:solidFill>
                  <a:srgbClr val="677482"/>
                </a:solidFill>
                <a:latin typeface="Aptos"/>
              </a:defRPr>
            </a:pPr>
            <a:r>
              <a:t>MODEL RISK MANAGEMENT  |  ONGOING MODEL MONITORING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700" b="1">
                <a:solidFill>
                  <a:srgbClr val="111E31"/>
                </a:solidFill>
                <a:latin typeface="Aptos Display"/>
              </a:defRPr>
            </a:pPr>
            <a:r>
              <a:t>8. Case Study: Retail Credit Scorecard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100">
                <a:solidFill>
                  <a:srgbClr val="677482"/>
                </a:solidFill>
                <a:latin typeface="Aptos"/>
              </a:defRPr>
            </a:pPr>
            <a:r>
              <a:t>Illustrative case study — designed to show how multiple signals should be triangulated.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2240280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3246120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453895"/>
            <a:ext cx="1874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>
                <a:solidFill>
                  <a:srgbClr val="111E31"/>
                </a:solidFill>
                <a:latin typeface="Aptos"/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28800"/>
            <a:ext cx="1874520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202A36"/>
                </a:solidFill>
                <a:latin typeface="Aptos"/>
              </a:defRPr>
            </a:pPr>
            <a:r>
              <a:t>AUC: 0.79</a:t>
            </a:r>
            <a:br/>
            <a:r>
              <a:t>PSI: 0.06</a:t>
            </a:r>
            <a:br/>
            <a:r>
              <a:t>Bad rate: 3.8%</a:t>
            </a:r>
            <a:br/>
            <a:br/>
            <a:r>
              <a:t>Signal: Normal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325880"/>
            <a:ext cx="2240280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325880"/>
            <a:ext cx="73152" cy="3246120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453895"/>
            <a:ext cx="1874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>
                <a:solidFill>
                  <a:srgbClr val="111E31"/>
                </a:solidFill>
                <a:latin typeface="Aptos"/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1828800"/>
            <a:ext cx="1874520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202A36"/>
                </a:solidFill>
                <a:latin typeface="Aptos"/>
              </a:defRPr>
            </a:pPr>
            <a:r>
              <a:t>AUC: 0.77</a:t>
            </a:r>
            <a:br/>
            <a:r>
              <a:t>PSI: 0.09</a:t>
            </a:r>
            <a:br/>
            <a:r>
              <a:t>Bad rate: 4.1%</a:t>
            </a:r>
            <a:br/>
            <a:br/>
            <a:r>
              <a:t>Signal: Early warning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2240280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73152" cy="324612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453895"/>
            <a:ext cx="1874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>
                <a:solidFill>
                  <a:srgbClr val="111E31"/>
                </a:solidFill>
                <a:latin typeface="Aptos"/>
              </a:defRPr>
            </a:pPr>
            <a: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1828800"/>
            <a:ext cx="1874520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202A36"/>
                </a:solidFill>
                <a:latin typeface="Aptos"/>
              </a:defRPr>
            </a:pPr>
            <a:r>
              <a:t>AUC: 0.73</a:t>
            </a:r>
            <a:br/>
            <a:r>
              <a:t>PSI: 0.16</a:t>
            </a:r>
            <a:br/>
            <a:r>
              <a:t>Bad rate: 4.6%</a:t>
            </a:r>
            <a:br/>
            <a:br/>
            <a:r>
              <a:t>Signal: Escalate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325880"/>
            <a:ext cx="2240280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325880"/>
            <a:ext cx="73152" cy="3246120"/>
          </a:xfrm>
          <a:prstGeom prst="rect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453895"/>
            <a:ext cx="1874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>
                <a:solidFill>
                  <a:srgbClr val="111E31"/>
                </a:solidFill>
                <a:latin typeface="Aptos"/>
              </a:defRPr>
            </a:pPr>
            <a: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1828800"/>
            <a:ext cx="1874520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202A36"/>
                </a:solidFill>
                <a:latin typeface="Aptos"/>
              </a:defRPr>
            </a:pPr>
            <a:r>
              <a:t>AUC: 0.69</a:t>
            </a:r>
            <a:br/>
            <a:r>
              <a:t>PSI: 0.28</a:t>
            </a:r>
            <a:br/>
            <a:r>
              <a:t>Bad rate: 5.2%</a:t>
            </a:r>
            <a:br/>
            <a:br/>
            <a:r>
              <a:t>Signal: Escalate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1920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1">
                <a:solidFill>
                  <a:srgbClr val="111E31"/>
                </a:solidFill>
                <a:latin typeface="Aptos"/>
              </a:defRPr>
            </a:pPr>
            <a:r>
              <a:t>Observed pattern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800600"/>
            <a:ext cx="78638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0">
                <a:solidFill>
                  <a:srgbClr val="202A36"/>
                </a:solidFill>
                <a:latin typeface="Aptos"/>
              </a:defRPr>
            </a:pPr>
            <a:r>
              <a:t>New customer acquisition channel → applicant mix shifts → score distribution moves → ranking power weakens → defaults rise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97480" y="5074920"/>
            <a:ext cx="274320" cy="0"/>
          </a:xfrm>
          <a:prstGeom prst="line">
            <a:avLst/>
          </a:prstGeom>
          <a:ln w="25400">
            <a:solidFill>
              <a:srgbClr val="2A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07040" y="5074920"/>
            <a:ext cx="274320" cy="0"/>
          </a:xfrm>
          <a:prstGeom prst="line">
            <a:avLst/>
          </a:prstGeom>
          <a:ln w="25400">
            <a:solidFill>
              <a:srgbClr val="2A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5669280"/>
            <a:ext cx="103327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50" b="0">
                <a:solidFill>
                  <a:srgbClr val="677482"/>
                </a:solidFill>
                <a:latin typeface="Aptos"/>
              </a:defRPr>
            </a:pPr>
            <a:r>
              <a:t>Management response: segment the deterioration before changing the model. Compare channel, vintage, score band, policy rules and data lineage.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>
                <a:solidFill>
                  <a:srgbClr val="677482"/>
                </a:solidFill>
                <a:latin typeface="Aptos"/>
              </a:defRPr>
            </a:pPr>
            <a:r>
              <a:t>MODEL RISK MANAGEMENT  |  ONGOING MODEL MONITORING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700" b="1">
                <a:solidFill>
                  <a:srgbClr val="111E31"/>
                </a:solidFill>
                <a:latin typeface="Aptos Display"/>
              </a:defRPr>
            </a:pPr>
            <a:r>
              <a:t>9. Case Study: Corporate PD Model Under Macro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100">
                <a:solidFill>
                  <a:srgbClr val="677482"/>
                </a:solidFill>
                <a:latin typeface="Aptos"/>
              </a:defRPr>
            </a:pPr>
            <a:r>
              <a:t>Illustrative data — demonstrates why model monitoring should distinguish model failure from environment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83280" cy="3566160"/>
          </a:xfrm>
          <a:prstGeom prst="roundRect">
            <a:avLst/>
          </a:prstGeom>
          <a:solidFill>
            <a:srgbClr val="E6F3E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3566160"/>
          </a:xfrm>
          <a:prstGeom prst="rect">
            <a:avLst/>
          </a:prstGeom>
          <a:solidFill>
            <a:srgbClr val="2D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53895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111E31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28800"/>
            <a:ext cx="3017520" cy="2971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202A36"/>
                </a:solidFill>
                <a:latin typeface="Aptos"/>
              </a:defRPr>
            </a:pPr>
            <a:r>
              <a:t>PD = 2.5%</a:t>
            </a:r>
            <a:br/>
            <a:r>
              <a:t>Observed default = 2.7%</a:t>
            </a:r>
            <a:br/>
            <a:r>
              <a:t>AUC = 0.81</a:t>
            </a:r>
            <a:br/>
            <a:br/>
            <a:r>
              <a:t>Economic backdrop: stable</a:t>
            </a:r>
            <a:br/>
            <a:br/>
            <a:r>
              <a:t>Interpretation: performance broadly aligned with expectation.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325880"/>
            <a:ext cx="3383280" cy="3566160"/>
          </a:xfrm>
          <a:prstGeom prst="roundRect">
            <a:avLst/>
          </a:prstGeom>
          <a:solidFill>
            <a:srgbClr val="F7F0DE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325880"/>
            <a:ext cx="73152" cy="356616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453895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111E31"/>
                </a:solidFill>
                <a:latin typeface="Aptos"/>
              </a:defRPr>
            </a:pPr>
            <a:r>
              <a:t>STRESS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828800"/>
            <a:ext cx="3017520" cy="2971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202A36"/>
                </a:solidFill>
                <a:latin typeface="Aptos"/>
              </a:defRPr>
            </a:pPr>
            <a:r>
              <a:t>PD = 3.8%</a:t>
            </a:r>
            <a:br/>
            <a:r>
              <a:t>Observed default = 5.0%</a:t>
            </a:r>
            <a:br/>
            <a:r>
              <a:t>AUC = 0.80</a:t>
            </a:r>
            <a:br/>
            <a:br/>
            <a:r>
              <a:t>Economic backdrop: recessionary</a:t>
            </a:r>
            <a:br/>
            <a:br/>
            <a:r>
              <a:t>Interpretation: ranking remains stable, but absolute risk level has shifted.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325880"/>
            <a:ext cx="3383280" cy="3566160"/>
          </a:xfrm>
          <a:prstGeom prst="roundRect">
            <a:avLst/>
          </a:prstGeom>
          <a:solidFill>
            <a:srgbClr val="E5EE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325880"/>
            <a:ext cx="73152" cy="3566160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453895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111E31"/>
                </a:solidFill>
                <a:latin typeface="Aptos"/>
              </a:defRPr>
            </a:pPr>
            <a:r>
              <a:t>MANAGEMENT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1828800"/>
            <a:ext cx="3017520" cy="2971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202A36"/>
                </a:solidFill>
                <a:latin typeface="Aptos"/>
              </a:defRPr>
            </a:pPr>
            <a:r>
              <a:t>Is the model broken—or is the portfolio risk genuinely higher?</a:t>
            </a:r>
            <a:br/>
            <a:br/>
            <a:r>
              <a:t>Check calibration, macro drivers, segment mix and model assumptions before redevelopment.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111E31"/>
                </a:solidFill>
                <a:latin typeface="Aptos"/>
              </a:defRPr>
            </a:pPr>
            <a:r>
              <a:t>Key insight: discrimination and calibration answer different questions. A model can still rank obligors well while systematically underpredicting absolute default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>
                <a:solidFill>
                  <a:srgbClr val="677482"/>
                </a:solidFill>
                <a:latin typeface="Aptos"/>
              </a:defRPr>
            </a:pPr>
            <a:r>
              <a:t>MODEL RISK MANAGEMENT  |  ONGOING MODEL MONITORING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700" b="1">
                <a:solidFill>
                  <a:srgbClr val="111E31"/>
                </a:solidFill>
                <a:latin typeface="Aptos Display"/>
              </a:defRPr>
            </a:pPr>
            <a:r>
              <a:t>10. Monitoring Dashboard: Executive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100">
                <a:solidFill>
                  <a:srgbClr val="677482"/>
                </a:solidFill>
                <a:latin typeface="Aptos"/>
              </a:defRPr>
            </a:pPr>
            <a:r>
              <a:t>A senior dashboard should compress many technical metrics into a small set of actionable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150876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53895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111E31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28800"/>
            <a:ext cx="3063240" cy="9143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202A36"/>
                </a:solidFill>
                <a:latin typeface="Aptos"/>
              </a:defRPr>
            </a:pPr>
            <a:r>
              <a:t>PSI 0.18</a:t>
            </a:r>
            <a:br/>
            <a:r>
              <a:t>AMBER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50876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53895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111E31"/>
                </a:solidFill>
                <a:latin typeface="Aptos"/>
              </a:defRPr>
            </a:pPr>
            <a:r>
              <a:t>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28800"/>
            <a:ext cx="3063240" cy="9143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202A36"/>
                </a:solidFill>
                <a:latin typeface="Aptos"/>
              </a:defRPr>
            </a:pPr>
            <a:r>
              <a:t>AUC 0.73</a:t>
            </a:r>
            <a:br/>
            <a:r>
              <a:t>AMBER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325880"/>
            <a:ext cx="73152" cy="1508760"/>
          </a:xfrm>
          <a:prstGeom prst="rect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453895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111E31"/>
                </a:solidFill>
                <a:latin typeface="Aptos"/>
              </a:defRPr>
            </a:pPr>
            <a:r>
              <a:t>CALIBRATION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828800"/>
            <a:ext cx="3063240" cy="9143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202A36"/>
                </a:solidFill>
                <a:latin typeface="Aptos"/>
              </a:defRPr>
            </a:pPr>
            <a:r>
              <a:t>O/E 1.31</a:t>
            </a:r>
            <a:br/>
            <a:r>
              <a:t>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004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200400"/>
            <a:ext cx="73152" cy="150876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328416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111E31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703320"/>
            <a:ext cx="3063240" cy="9143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202A36"/>
                </a:solidFill>
                <a:latin typeface="Aptos"/>
              </a:defRPr>
            </a:pPr>
            <a:r>
              <a:t>Bad rate 4.8%</a:t>
            </a:r>
            <a:br/>
            <a:r>
              <a:t>AMBER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2004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200400"/>
            <a:ext cx="73152" cy="1508760"/>
          </a:xfrm>
          <a:prstGeom prst="rect">
            <a:avLst/>
          </a:prstGeom>
          <a:solidFill>
            <a:srgbClr val="2D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328416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111E31"/>
                </a:solidFill>
                <a:latin typeface="Aptos"/>
              </a:defRPr>
            </a:pPr>
            <a:r>
              <a:t>OVERRIDES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703320"/>
            <a:ext cx="3063240" cy="9143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202A36"/>
                </a:solidFill>
                <a:latin typeface="Aptos"/>
              </a:defRPr>
            </a:pPr>
            <a:r>
              <a:t>6.2%</a:t>
            </a:r>
            <a:br/>
            <a:r>
              <a:t>GREEN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2004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200400"/>
            <a:ext cx="73152" cy="1508760"/>
          </a:xfrm>
          <a:prstGeom prst="rect">
            <a:avLst/>
          </a:prstGeom>
          <a:solidFill>
            <a:srgbClr val="2D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3328416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111E31"/>
                </a:solidFill>
                <a:latin typeface="Aptos"/>
              </a:defRPr>
            </a:pPr>
            <a:r>
              <a:t>INCIDENTS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3703320"/>
            <a:ext cx="3063240" cy="9143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202A36"/>
                </a:solidFill>
                <a:latin typeface="Aptos"/>
              </a:defRPr>
            </a:pPr>
            <a:r>
              <a:t>0 open</a:t>
            </a:r>
            <a:br/>
            <a:r>
              <a:t>GREEN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257800"/>
            <a:ext cx="10698480" cy="822960"/>
          </a:xfrm>
          <a:prstGeom prst="roundRect">
            <a:avLst/>
          </a:prstGeom>
          <a:solidFill>
            <a:srgbClr val="111E31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5257800"/>
            <a:ext cx="73152" cy="82296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5385816"/>
            <a:ext cx="1033271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111E31"/>
                </a:solidFill>
                <a:latin typeface="Aptos"/>
              </a:defRPr>
            </a:pPr>
            <a:r>
              <a:t>EXECUTIVE MESSAGE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760720"/>
            <a:ext cx="10332719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>
                <a:solidFill>
                  <a:srgbClr val="202A3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dashboard does not decide the remedy; it tells management where attention and evidence are required.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>
                <a:solidFill>
                  <a:srgbClr val="677482"/>
                </a:solidFill>
                <a:latin typeface="Aptos"/>
              </a:defRPr>
            </a:pPr>
            <a:r>
              <a:t>MODEL RISK MANAGEMENT  |  ONGOING MODEL MONITORING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700" b="1">
                <a:solidFill>
                  <a:srgbClr val="111E31"/>
                </a:solidFill>
                <a:latin typeface="Aptos Display"/>
              </a:defRPr>
            </a:pPr>
            <a:r>
              <a:t>11. Red Flags, Mistakes &amp; Control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100">
                <a:solidFill>
                  <a:srgbClr val="677482"/>
                </a:solidFill>
                <a:latin typeface="Aptos"/>
              </a:defRPr>
            </a:pPr>
            <a:r>
              <a:t>Monitoring fails when organizations measure activity rather than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474720" cy="4434840"/>
          </a:xfrm>
          <a:prstGeom prst="roundRect">
            <a:avLst/>
          </a:prstGeom>
          <a:solidFill>
            <a:srgbClr val="FAE8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73152" cy="4434840"/>
          </a:xfrm>
          <a:prstGeom prst="rect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53895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RED FLAGS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3108960" cy="38404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19" b="0">
                <a:solidFill>
                  <a:srgbClr val="202A36"/>
                </a:solidFill>
                <a:latin typeface="Aptos"/>
              </a:defRPr>
            </a:pPr>
            <a:r>
              <a:t>• Repeated amber breaches with no root-cause analysis</a:t>
            </a:r>
            <a:br/>
            <a:r>
              <a:t>• Thresholds changed to avoid escalation</a:t>
            </a:r>
            <a:br/>
            <a:r>
              <a:t>• Monitoring excludes recent outcomes / defaults</a:t>
            </a:r>
            <a:br/>
            <a:r>
              <a:t>• Data pipeline changes not reflected in monitoring</a:t>
            </a:r>
            <a:br/>
            <a:r>
              <a:t>• Model version is unclear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74720" cy="4434840"/>
          </a:xfrm>
          <a:prstGeom prst="roundRect">
            <a:avLst/>
          </a:prstGeom>
          <a:solidFill>
            <a:srgbClr val="F7F0DE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443484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53895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COMMON MISTAKES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28800"/>
            <a:ext cx="3108960" cy="38404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19" b="0">
                <a:solidFill>
                  <a:srgbClr val="202A36"/>
                </a:solidFill>
                <a:latin typeface="Aptos"/>
              </a:defRPr>
            </a:pPr>
            <a:r>
              <a:t>• Single-metric monitoring</a:t>
            </a:r>
            <a:br/>
            <a:r>
              <a:t>• Confusing drift with performance deterioration</a:t>
            </a:r>
            <a:br/>
            <a:r>
              <a:t>• Overreacting to random noise</a:t>
            </a:r>
            <a:br/>
            <a:r>
              <a:t>• Redeveloping before diagnosing the cause</a:t>
            </a:r>
            <a:br/>
            <a:r>
              <a:t>• No segment-level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25880"/>
            <a:ext cx="3474720" cy="4434840"/>
          </a:xfrm>
          <a:prstGeom prst="roundRect">
            <a:avLst/>
          </a:prstGeom>
          <a:solidFill>
            <a:srgbClr val="E5EE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25880"/>
            <a:ext cx="73152" cy="4434840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453895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CONTROL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1828800"/>
            <a:ext cx="3108960" cy="38404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19" b="0">
                <a:solidFill>
                  <a:srgbClr val="202A36"/>
                </a:solidFill>
                <a:latin typeface="Aptos"/>
              </a:defRPr>
            </a:pPr>
            <a:r>
              <a:t>• What changed?</a:t>
            </a:r>
            <a:br/>
            <a:r>
              <a:t>• Is the signal statistically and economically material?</a:t>
            </a:r>
            <a:br/>
            <a:r>
              <a:t>• Which segments are driving it?</a:t>
            </a:r>
            <a:br/>
            <a:r>
              <a:t>• Who owns the response?</a:t>
            </a:r>
            <a:br/>
            <a:r>
              <a:t>• When does remediation require revalidation?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8932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11E31"/>
                </a:solidFill>
                <a:latin typeface="Aptos"/>
              </a:defRPr>
            </a:pPr>
            <a:r>
              <a:t>Good monitoring is deliberately uncomfortable: it surfaces evidence early enough to 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>
                <a:solidFill>
                  <a:srgbClr val="677482"/>
                </a:solidFill>
                <a:latin typeface="Aptos"/>
              </a:defRPr>
            </a:pPr>
            <a:r>
              <a:t>MODEL RISK MANAGEMENT  |  ONGOING MODEL MONITORING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700" b="1">
                <a:solidFill>
                  <a:srgbClr val="111E31"/>
                </a:solidFill>
                <a:latin typeface="Aptos Display"/>
              </a:defRPr>
            </a:pPr>
            <a:r>
              <a:t>12. Decision Matrix: What To Do When a Trigger Fires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100">
                <a:solidFill>
                  <a:srgbClr val="677482"/>
                </a:solidFill>
                <a:latin typeface="Aptos"/>
              </a:defRPr>
            </a:pPr>
            <a:r>
              <a:t>Use evidence to choose the response; do not treat every breach as a redevelopment event.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2743200" cy="502920"/>
          </a:xfrm>
          <a:prstGeom prst="rect">
            <a:avLst/>
          </a:prstGeom>
          <a:solidFill>
            <a:srgbClr val="111E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44752"/>
            <a:ext cx="259689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Observed signal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325880"/>
            <a:ext cx="3931920" cy="502920"/>
          </a:xfrm>
          <a:prstGeom prst="rect">
            <a:avLst/>
          </a:prstGeom>
          <a:solidFill>
            <a:srgbClr val="111E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1444752"/>
            <a:ext cx="3785615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Likely diagnostic 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325880"/>
            <a:ext cx="4572000" cy="502920"/>
          </a:xfrm>
          <a:prstGeom prst="rect">
            <a:avLst/>
          </a:prstGeom>
          <a:solidFill>
            <a:srgbClr val="111E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1192" y="1444752"/>
            <a:ext cx="442569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Possible management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274320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920240"/>
            <a:ext cx="259689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1">
                <a:solidFill>
                  <a:srgbClr val="202A36"/>
                </a:solidFill>
                <a:latin typeface="Aptos"/>
              </a:defRPr>
            </a:pPr>
            <a:r>
              <a:t>Data drift + stable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828800"/>
            <a:ext cx="393192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920240"/>
            <a:ext cx="3785615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0">
                <a:solidFill>
                  <a:srgbClr val="202A36"/>
                </a:solidFill>
                <a:latin typeface="Aptos"/>
              </a:defRPr>
            </a:pPr>
            <a:r>
              <a:t>Check population mix, feature distributions, policy changes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1828800"/>
            <a:ext cx="457200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51192" y="1920240"/>
            <a:ext cx="442569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0">
                <a:solidFill>
                  <a:srgbClr val="202A36"/>
                </a:solidFill>
                <a:latin typeface="Aptos"/>
              </a:defRPr>
            </a:pPr>
            <a:r>
              <a:t>Continue with enhanced monitoring if risk remains controlled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79192"/>
            <a:ext cx="2743200" cy="85039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770632"/>
            <a:ext cx="259689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1">
                <a:solidFill>
                  <a:srgbClr val="202A36"/>
                </a:solidFill>
                <a:latin typeface="Aptos"/>
              </a:defRPr>
            </a:pPr>
            <a:r>
              <a:t>Data drift + weaker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2679192"/>
            <a:ext cx="3931920" cy="85039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9272" y="2770632"/>
            <a:ext cx="3785615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0">
                <a:solidFill>
                  <a:srgbClr val="202A36"/>
                </a:solidFill>
                <a:latin typeface="Aptos"/>
              </a:defRPr>
            </a:pPr>
            <a:r>
              <a:t>Check data lineage and affected segments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2679192"/>
            <a:ext cx="4572000" cy="85039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51192" y="2770632"/>
            <a:ext cx="442569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0">
                <a:solidFill>
                  <a:srgbClr val="202A36"/>
                </a:solidFill>
                <a:latin typeface="Aptos"/>
              </a:defRPr>
            </a:pPr>
            <a:r>
              <a:t>Fix data issue; assess need for revalidation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29584"/>
            <a:ext cx="274320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621024"/>
            <a:ext cx="259689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1">
                <a:solidFill>
                  <a:srgbClr val="202A36"/>
                </a:solidFill>
                <a:latin typeface="Aptos"/>
              </a:defRPr>
            </a:pPr>
            <a:r>
              <a:t>Stable inputs + weaker AUC/KS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529584"/>
            <a:ext cx="393192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9272" y="3621024"/>
            <a:ext cx="3785615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0">
                <a:solidFill>
                  <a:srgbClr val="202A36"/>
                </a:solidFill>
                <a:latin typeface="Aptos"/>
              </a:defRPr>
            </a:pPr>
            <a:r>
              <a:t>Check concept drift, outcome definition, model relationship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3529584"/>
            <a:ext cx="457200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51192" y="3621024"/>
            <a:ext cx="442569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0">
                <a:solidFill>
                  <a:srgbClr val="202A36"/>
                </a:solidFill>
                <a:latin typeface="Aptos"/>
              </a:defRPr>
            </a:pPr>
            <a:r>
              <a:t>Recalibration, challenger or redevelopment assessment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379976"/>
            <a:ext cx="2743200" cy="85039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4471416"/>
            <a:ext cx="259689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1">
                <a:solidFill>
                  <a:srgbClr val="202A36"/>
                </a:solidFill>
                <a:latin typeface="Aptos"/>
              </a:defRPr>
            </a:pPr>
            <a:r>
              <a:t>Stable ranking + poor calibration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379976"/>
            <a:ext cx="3931920" cy="85039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9272" y="4471416"/>
            <a:ext cx="3785615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0">
                <a:solidFill>
                  <a:srgbClr val="202A36"/>
                </a:solidFill>
                <a:latin typeface="Aptos"/>
              </a:defRPr>
            </a:pPr>
            <a:r>
              <a:t>Check intercept, macro regime, base 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4379976"/>
            <a:ext cx="4572000" cy="85039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51192" y="4471416"/>
            <a:ext cx="442569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0">
                <a:solidFill>
                  <a:srgbClr val="202A36"/>
                </a:solidFill>
                <a:latin typeface="Aptos"/>
              </a:defRPr>
            </a:pPr>
            <a:r>
              <a:t>Recalibrate / adjust calibration layer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230368"/>
            <a:ext cx="274320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5321808"/>
            <a:ext cx="259689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1">
                <a:solidFill>
                  <a:srgbClr val="202A36"/>
                </a:solidFill>
                <a:latin typeface="Aptos"/>
              </a:defRPr>
            </a:pPr>
            <a:r>
              <a:t>Business loss rises + model metrics stable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5230368"/>
            <a:ext cx="393192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9272" y="5321808"/>
            <a:ext cx="3785615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0">
                <a:solidFill>
                  <a:srgbClr val="202A36"/>
                </a:solidFill>
                <a:latin typeface="Aptos"/>
              </a:defRPr>
            </a:pPr>
            <a:r>
              <a:t>Check underwriting, pricing, collections, overrides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5230368"/>
            <a:ext cx="457200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51192" y="5321808"/>
            <a:ext cx="442569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69" b="0">
                <a:solidFill>
                  <a:srgbClr val="202A36"/>
                </a:solidFill>
                <a:latin typeface="Aptos"/>
              </a:defRPr>
            </a:pPr>
            <a:r>
              <a:t>Business/process remediation; model may not be root cause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172200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>
                <a:solidFill>
                  <a:srgbClr val="677482"/>
                </a:solidFill>
                <a:latin typeface="Aptos"/>
              </a:defRPr>
            </a:pPr>
            <a:r>
              <a:t>Diagnostic discipline prevents unnecessary model changes and focuses remediation on the true source of risk.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>
                <a:solidFill>
                  <a:srgbClr val="677482"/>
                </a:solidFill>
                <a:latin typeface="Aptos"/>
              </a:defRPr>
            </a:pPr>
            <a:r>
              <a:t>MODEL RISK MANAGEMENT  |  ONGOING MODEL MONITORING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700" b="1">
                <a:solidFill>
                  <a:srgbClr val="111E31"/>
                </a:solidFill>
                <a:latin typeface="Aptos Display"/>
              </a:defRPr>
            </a:pPr>
            <a:r>
              <a:t>13. 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100">
                <a:solidFill>
                  <a:srgbClr val="677482"/>
                </a:solidFill>
                <a:latin typeface="Aptos"/>
              </a:defRPr>
            </a:pPr>
            <a:r>
              <a:t>Five principles for a durable model monitoring regime.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94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600" b="1">
                <a:solidFill>
                  <a:srgbClr val="BE913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34440"/>
            <a:ext cx="23317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Monitor continuously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234440"/>
            <a:ext cx="74066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Post-deployment risk evolves with data, customers, economics and operations.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892808"/>
            <a:ext cx="9646920" cy="9144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94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600" b="1">
                <a:solidFill>
                  <a:srgbClr val="BE913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94560"/>
            <a:ext cx="23317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Use multiple lenses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194560"/>
            <a:ext cx="74066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Data stability, discrimination, calibration and business outcomes tell different stories.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2852928"/>
            <a:ext cx="9646920" cy="9144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594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600" b="1">
                <a:solidFill>
                  <a:srgbClr val="BE913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54680"/>
            <a:ext cx="23317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Predefine triggers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154680"/>
            <a:ext cx="74066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Thresholds convert statistics into governance actions and accountability.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3813048"/>
            <a:ext cx="9646920" cy="9144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594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600" b="1">
                <a:solidFill>
                  <a:srgbClr val="BE913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114800"/>
            <a:ext cx="23317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Diagnose before changing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114800"/>
            <a:ext cx="74066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A trigger is evidence to investigate—not automatic proof that the model must be replaced.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4773168"/>
            <a:ext cx="9646920" cy="9144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594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600" b="1">
                <a:solidFill>
                  <a:srgbClr val="BE913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074920"/>
            <a:ext cx="23317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11E31"/>
                </a:solidFill>
                <a:latin typeface="Aptos"/>
              </a:defRPr>
            </a:pPr>
            <a:r>
              <a:t>Close the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5074920"/>
            <a:ext cx="74066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202A36"/>
                </a:solidFill>
                <a:latin typeface="Aptos"/>
              </a:defRPr>
            </a:pPr>
            <a:r>
              <a:t>Every material breach should end in documented action, revalidation where required, and closure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897880"/>
            <a:ext cx="10241280" cy="411480"/>
          </a:xfrm>
          <a:prstGeom prst="roundRect">
            <a:avLst/>
          </a:prstGeom>
          <a:solidFill>
            <a:srgbClr val="111E31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5897880"/>
            <a:ext cx="73152" cy="41148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6025896"/>
            <a:ext cx="987551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111E31"/>
                </a:solidFill>
                <a:latin typeface="Aptos"/>
              </a:defRPr>
            </a:pPr>
            <a:r>
              <a:t>BOTTOM 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6400800"/>
            <a:ext cx="9875519" cy="-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0">
                <a:solidFill>
                  <a:srgbClr val="202A3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purpose of monitoring is timely, evidence-based management of model risk.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>
                <a:solidFill>
                  <a:srgbClr val="677482"/>
                </a:solidFill>
                <a:latin typeface="Aptos"/>
              </a:defRPr>
            </a:pPr>
            <a:r>
              <a:t>MODEL RISK MANAGEMENT  |  ONGOING MODEL MONITORING  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