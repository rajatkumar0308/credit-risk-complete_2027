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COMPLETE MODEL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7627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BE913E"/>
                </a:solidFill>
                <a:latin typeface="Aptos"/>
              </a:rPr>
              <a:t>From business need to development, validation, approval, monitoring and retirement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718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A practical banking &amp; corporate framework for managing model value, risk and accountability end-to-end.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800600"/>
            <a:ext cx="1783080" cy="658368"/>
          </a:xfrm>
          <a:prstGeom prst="roundRect">
            <a:avLst/>
          </a:prstGeom>
          <a:solidFill>
            <a:srgbClr val="265C91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01768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4800600"/>
            <a:ext cx="1783080" cy="658368"/>
          </a:xfrm>
          <a:prstGeom prst="roundRect">
            <a:avLst/>
          </a:prstGeom>
          <a:solidFill>
            <a:srgbClr val="265C91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79" y="5001768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4800600"/>
            <a:ext cx="1783080" cy="658368"/>
          </a:xfrm>
          <a:prstGeom prst="roundRect">
            <a:avLst/>
          </a:prstGeom>
          <a:solidFill>
            <a:srgbClr val="265C91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5001768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Approval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4800600"/>
            <a:ext cx="1783080" cy="658368"/>
          </a:xfrm>
          <a:prstGeom prst="roundRect">
            <a:avLst/>
          </a:prstGeom>
          <a:solidFill>
            <a:srgbClr val="265C91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5001768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Monitoring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4800600"/>
            <a:ext cx="1783080" cy="658368"/>
          </a:xfrm>
          <a:prstGeom prst="roundRect">
            <a:avLst/>
          </a:prstGeom>
          <a:solidFill>
            <a:srgbClr val="265C91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5001768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Retirement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4"/>
                </a:solidFill>
                <a:latin typeface="Aptos"/>
              </a:rPr>
              <a:t>MODEL RISK MANAGEMENT  |  COMPLETE MODEL LIFECYCLE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E192D"/>
                </a:solidFill>
                <a:latin typeface="Aptos"/>
              </a:rPr>
              <a:t>1. End-to-End Model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One controlled system — not five disconnected activities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37560" cy="1600200"/>
          </a:xfrm>
          <a:prstGeom prst="roundRect">
            <a:avLst/>
          </a:prstGeom>
          <a:solidFill>
            <a:srgbClr val="F4F6F9"/>
          </a:solidFill>
          <a:ln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4533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01  Business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47672"/>
            <a:ext cx="3008376" cy="978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Define decision, materiality &amp; success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1600200"/>
          </a:xfrm>
          <a:prstGeom prst="roundRect">
            <a:avLst/>
          </a:prstGeom>
          <a:solidFill>
            <a:srgbClr val="F4F6F9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54533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02 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3008376" cy="978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Data → methodology → model → documentation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3337560" cy="1600200"/>
          </a:xfrm>
          <a:prstGeom prst="roundRect">
            <a:avLst/>
          </a:prstGeom>
          <a:solidFill>
            <a:srgbClr val="F4F6F9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54533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03 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1947672"/>
            <a:ext cx="3008376" cy="978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Independent challenge, testing &amp; limitations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3337560" cy="1600200"/>
          </a:xfrm>
          <a:prstGeom prst="roundRect">
            <a:avLst/>
          </a:prstGeom>
          <a:solidFill>
            <a:srgbClr val="F4F6F9"/>
          </a:solidFill>
          <a:ln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60273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04 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005072"/>
            <a:ext cx="3008376" cy="978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Governance decision, conditions &amp; ownership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474720"/>
            <a:ext cx="3337560" cy="1600200"/>
          </a:xfrm>
          <a:prstGeom prst="roundRect">
            <a:avLst/>
          </a:prstGeom>
          <a:solidFill>
            <a:srgbClr val="F4F6F9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360273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05 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4005072"/>
            <a:ext cx="3008376" cy="978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Performance, stability, outcomes &amp; controls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474720"/>
            <a:ext cx="3337560" cy="1600200"/>
          </a:xfrm>
          <a:prstGeom prst="roundRect">
            <a:avLst/>
          </a:prstGeom>
          <a:solidFill>
            <a:srgbClr val="F4F6F9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360273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06  Retirement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4005072"/>
            <a:ext cx="3008376" cy="978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Decommission, archive &amp; replace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806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Core principle: preserve traceability from business purpose → model output → decision →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4"/>
                </a:solidFill>
                <a:latin typeface="Aptos"/>
              </a:rPr>
              <a:t>MODEL RISK MANAGEMENT  |  COMPLETE MODEL LIFECYCLE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E192D"/>
                </a:solidFill>
                <a:latin typeface="Aptos"/>
              </a:rPr>
              <a:t>2. What → Why → How → So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A management lens for every lifecycle stage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2834640"/>
          </a:xfrm>
          <a:prstGeom prst="roundRect">
            <a:avLst/>
          </a:prstGeom>
          <a:solidFill>
            <a:srgbClr val="F4F6F9"/>
          </a:solidFill>
          <a:ln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56816"/>
            <a:ext cx="22311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59152"/>
            <a:ext cx="2231136" cy="2212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What is the model, what decision does it support, and who uses the output?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828800"/>
            <a:ext cx="2560320" cy="2834640"/>
          </a:xfrm>
          <a:prstGeom prst="roundRect">
            <a:avLst/>
          </a:prstGeom>
          <a:solidFill>
            <a:srgbClr val="F4F6F9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0752" y="1956816"/>
            <a:ext cx="22311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0752" y="2359152"/>
            <a:ext cx="2231136" cy="2212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Why is the model needed? What value, risk reduction or decision improvement is expected?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2560320" cy="2834640"/>
          </a:xfrm>
          <a:prstGeom prst="roundRect">
            <a:avLst/>
          </a:prstGeom>
          <a:solidFill>
            <a:srgbClr val="F4F6F9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56816"/>
            <a:ext cx="22311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59152"/>
            <a:ext cx="2231136" cy="2212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How is it developed, challenged, approved, monitored and controlled?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828800"/>
            <a:ext cx="2560320" cy="2834640"/>
          </a:xfrm>
          <a:prstGeom prst="roundRect">
            <a:avLst/>
          </a:prstGeom>
          <a:solidFill>
            <a:srgbClr val="F4F6F9"/>
          </a:solidFill>
          <a:ln>
            <a:solidFill>
              <a:srgbClr val="A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1956816"/>
            <a:ext cx="22311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SO 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2359152"/>
            <a:ext cx="2231136" cy="2212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What happens if assumptions fail, performance deteriorates, or the model reaches end-of-life?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E192D"/>
                </a:solidFill>
                <a:latin typeface="Aptos"/>
              </a:rPr>
              <a:t>Executive test: If you cannot explain purpose, ownership, evidence and exit criteria, the lifecycle is incomplete.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4"/>
                </a:solidFill>
                <a:latin typeface="Aptos"/>
              </a:rPr>
              <a:t>MODEL RISK MANAGEMENT  |  COMPLETE MODEL LIFECYCLE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E192D"/>
                </a:solidFill>
                <a:latin typeface="Aptos"/>
              </a:rPr>
              <a:t>3. Model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Translate a business decision into a controlled quantitative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337560" cy="1737360"/>
          </a:xfrm>
          <a:prstGeom prst="roundRect">
            <a:avLst/>
          </a:prstGeom>
          <a:solidFill>
            <a:srgbClr val="F4F6F9"/>
          </a:solidFill>
          <a:ln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9961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Business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01952"/>
            <a:ext cx="3008376" cy="1115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Define decision, population, target &amp; success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37560" cy="1737360"/>
          </a:xfrm>
          <a:prstGeom prst="roundRect">
            <a:avLst/>
          </a:prstGeom>
          <a:solidFill>
            <a:srgbClr val="F4F6F9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9961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01952"/>
            <a:ext cx="3008376" cy="1115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Source, quality, lineage, representativeness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371600"/>
            <a:ext cx="3337560" cy="1737360"/>
          </a:xfrm>
          <a:prstGeom prst="roundRect">
            <a:avLst/>
          </a:prstGeom>
          <a:solidFill>
            <a:srgbClr val="F4F6F9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49961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1901952"/>
            <a:ext cx="3008376" cy="1115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Select approach, assumptions &amp; constraints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3337560" cy="1737360"/>
          </a:xfrm>
          <a:prstGeom prst="roundRect">
            <a:avLst/>
          </a:prstGeom>
          <a:solidFill>
            <a:srgbClr val="F4F6F9"/>
          </a:solidFill>
          <a:ln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73989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142232"/>
            <a:ext cx="3008376" cy="1115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Estimate, tune, benchmark &amp; challenge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611880"/>
            <a:ext cx="3337560" cy="1737360"/>
          </a:xfrm>
          <a:prstGeom prst="roundRect">
            <a:avLst/>
          </a:prstGeom>
          <a:solidFill>
            <a:srgbClr val="F4F6F9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73989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142232"/>
            <a:ext cx="3008376" cy="1115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Performance, robustness, sensitivity &amp; limitations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611880"/>
            <a:ext cx="3337560" cy="1737360"/>
          </a:xfrm>
          <a:prstGeom prst="roundRect">
            <a:avLst/>
          </a:prstGeom>
          <a:solidFill>
            <a:srgbClr val="F4F6F9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373989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Document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4142232"/>
            <a:ext cx="3008376" cy="1115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Methods, code, data, assumptions &amp; reproducibility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8978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E192D"/>
                </a:solidFill>
                <a:latin typeface="Aptos"/>
              </a:rPr>
              <a:t>Practical question: Does the model solve the intended decision problem — not merely produce a high statistical score?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4"/>
                </a:solidFill>
                <a:latin typeface="Aptos"/>
              </a:rPr>
              <a:t>MODEL RISK MANAGEMENT  |  COMPLETE MODEL LIFECYCLE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E192D"/>
                </a:solidFill>
                <a:latin typeface="Aptos"/>
              </a:rPr>
              <a:t>4. Development Example — Credit 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Illustrative data | 10,000 loans | 12-month default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00400" cy="3200400"/>
          </a:xfrm>
          <a:prstGeom prst="roundRect">
            <a:avLst/>
          </a:prstGeom>
          <a:solidFill>
            <a:srgbClr val="F4F6F9"/>
          </a:solidFill>
          <a:ln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99616"/>
            <a:ext cx="28712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Starting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01952"/>
            <a:ext cx="2871216" cy="2578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Loans = 10,000
Observed defaults = 400
Default rate = 4.0%
Target: default within 12 months.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71600"/>
            <a:ext cx="3383280" cy="3200400"/>
          </a:xfrm>
          <a:prstGeom prst="roundRect">
            <a:avLst/>
          </a:prstGeom>
          <a:solidFill>
            <a:srgbClr val="F4F6F9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1499616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Step 1 — Define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1901952"/>
            <a:ext cx="3054096" cy="2578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PD = P(Default in 12 months | customer &amp; account information)
The output must map to a decision: approval, pricing, limit or monitoring.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371600"/>
            <a:ext cx="3383280" cy="3200400"/>
          </a:xfrm>
          <a:prstGeom prst="roundRect">
            <a:avLst/>
          </a:prstGeom>
          <a:solidFill>
            <a:srgbClr val="F4F6F9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1499616"/>
            <a:ext cx="3054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Step 2 — Evaluate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1901952"/>
            <a:ext cx="3054096" cy="2578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Suppose validation AUC = 0.78.
AUC measures ranking ability.
But AUC alone does not prove calibration or business usefulness.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663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E192D"/>
                </a:solidFill>
                <a:latin typeface="Aptos"/>
              </a:rPr>
              <a:t>Development success = predictive performance + business relevance + explainability + controls + reproducibility.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4"/>
                </a:solidFill>
                <a:latin typeface="Aptos"/>
              </a:rPr>
              <a:t>MODEL RISK MANAGEMENT  |  COMPLETE MODEL LIFECYCLE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E192D"/>
                </a:solidFill>
                <a:latin typeface="Aptos"/>
              </a:rPr>
              <a:t>5. Model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Independent challenge before the model is trusted for material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514600" cy="3246120"/>
          </a:xfrm>
          <a:prstGeom prst="roundRect">
            <a:avLst/>
          </a:prstGeom>
          <a:solidFill>
            <a:srgbClr val="F4F6F9"/>
          </a:solidFill>
          <a:ln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36776"/>
            <a:ext cx="21854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Conceptual soundness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039112"/>
            <a:ext cx="2185416" cy="26243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Does the methodology make sense? Are assumptions defensible?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1508760"/>
            <a:ext cx="2514600" cy="3246120"/>
          </a:xfrm>
          <a:prstGeom prst="roundRect">
            <a:avLst/>
          </a:prstGeom>
          <a:solidFill>
            <a:srgbClr val="F4F6F9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66744" y="1636776"/>
            <a:ext cx="21854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Data &amp;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6744" y="2039112"/>
            <a:ext cx="2185416" cy="26243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Is the data representative? Does production code implement the approved methodology?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18504" y="1508760"/>
            <a:ext cx="2514600" cy="3246120"/>
          </a:xfrm>
          <a:prstGeom prst="roundRect">
            <a:avLst/>
          </a:prstGeom>
          <a:solidFill>
            <a:srgbClr val="F4F6F9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636776"/>
            <a:ext cx="21854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039112"/>
            <a:ext cx="2185416" cy="26243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Discrimination, calibration, stability, benchmarking and sensitivity.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34856" y="1508760"/>
            <a:ext cx="2514600" cy="3246120"/>
          </a:xfrm>
          <a:prstGeom prst="roundRect">
            <a:avLst/>
          </a:prstGeom>
          <a:solidFill>
            <a:srgbClr val="F4F6F9"/>
          </a:solidFill>
          <a:ln>
            <a:solidFill>
              <a:srgbClr val="A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9448" y="1636776"/>
            <a:ext cx="21854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9448" y="2039112"/>
            <a:ext cx="2185416" cy="26243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Where can the model fail? Are limitations visible to decision makers?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E192D"/>
                </a:solidFill>
                <a:latin typeface="Aptos"/>
              </a:rPr>
              <a:t>Validation is not a second development exercise. Its value comes from independent challenge and evidence-based conclusions.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4"/>
                </a:solidFill>
                <a:latin typeface="Aptos"/>
              </a:rPr>
              <a:t>MODEL RISK MANAGEMENT  |  COMPLETE MODEL LIFECYCLE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E192D"/>
                </a:solidFill>
                <a:latin typeface="Aptos"/>
              </a:rPr>
              <a:t>6. Validation Example — Discrimination vs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Illustrative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074920" cy="3383280"/>
          </a:xfrm>
          <a:prstGeom prst="roundRect">
            <a:avLst/>
          </a:prstGeom>
          <a:solidFill>
            <a:srgbClr val="F4F6F9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99616"/>
            <a:ext cx="47457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Model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01952"/>
            <a:ext cx="4745736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AUC = 0.80
Observed default = 5.0%
Average predicted PD = 5.1%
Ranking is strong and aggregate calibration is close to observed outcomes.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371600"/>
            <a:ext cx="5074920" cy="3383280"/>
          </a:xfrm>
          <a:prstGeom prst="roundRect">
            <a:avLst/>
          </a:prstGeom>
          <a:solidFill>
            <a:srgbClr val="F4F6F9"/>
          </a:solidFill>
          <a:ln>
            <a:solidFill>
              <a:srgbClr val="A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352" y="1499616"/>
            <a:ext cx="47457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Model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352" y="1901952"/>
            <a:ext cx="4745736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AUC = 0.80
Observed default = 5.0%
Average predicted PD = 3.8%
Ranking may be strong, but absolute risk is underpredicted.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E192D"/>
                </a:solidFill>
                <a:latin typeface="Aptos"/>
              </a:rPr>
              <a:t>Validation asks two different questions: “Can it rank?” and “Are the probabilities reliable enough for the decision?”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4"/>
                </a:solidFill>
                <a:latin typeface="Aptos"/>
              </a:rPr>
              <a:t>MODEL RISK MANAGEMENT  |  COMPLETE MODEL LIFECYCLE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E192D"/>
                </a:solidFill>
                <a:latin typeface="Aptos"/>
              </a:rPr>
              <a:t>7. Model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Approval converts technical evidence into a formal business and risk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4983480" cy="1783080"/>
          </a:xfrm>
          <a:prstGeom prst="roundRect">
            <a:avLst/>
          </a:prstGeom>
          <a:solidFill>
            <a:srgbClr val="F4F6F9"/>
          </a:solidFill>
          <a:ln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45336"/>
            <a:ext cx="46542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Evidence 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47672"/>
            <a:ext cx="4654296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Development report • Validation report • Limitations • Monitoring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4983480" cy="1783080"/>
          </a:xfrm>
          <a:prstGeom prst="roundRect">
            <a:avLst/>
          </a:prstGeom>
          <a:solidFill>
            <a:srgbClr val="F4F6F9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45336"/>
            <a:ext cx="46542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Decision rights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947672"/>
            <a:ext cx="4654296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Model owner • Business owner • Independent validation • Risk governance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4983480" cy="1783080"/>
          </a:xfrm>
          <a:prstGeom prst="roundRect">
            <a:avLst/>
          </a:prstGeom>
          <a:solidFill>
            <a:srgbClr val="F4F6F9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785615"/>
            <a:ext cx="46542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87952"/>
            <a:ext cx="4654296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Approval may include usage limits, compensating controls or monitoring conditions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57600"/>
            <a:ext cx="4983480" cy="1783080"/>
          </a:xfrm>
          <a:prstGeom prst="roundRect">
            <a:avLst/>
          </a:prstGeom>
          <a:solidFill>
            <a:srgbClr val="F4F6F9"/>
          </a:solidFill>
          <a:ln>
            <a:solidFill>
              <a:srgbClr val="A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785615"/>
            <a:ext cx="46542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Accountability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187952"/>
            <a:ext cx="4654296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Approved version, effective date, owner, users and review 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“Approved” should mean approved for a defined use, population, version and control environment.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4"/>
                </a:solidFill>
                <a:latin typeface="Aptos"/>
              </a:rPr>
              <a:t>MODEL RISK MANAGEMENT  |  COMPLETE MODEL LIFECYCLE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E192D"/>
                </a:solidFill>
                <a:latin typeface="Aptos"/>
              </a:rPr>
              <a:t>8. Model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After deployment, model risk becomes a moving target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2011680" cy="3383280"/>
          </a:xfrm>
          <a:prstGeom prst="roundRect">
            <a:avLst/>
          </a:prstGeom>
          <a:solidFill>
            <a:srgbClr val="F4F6F9"/>
          </a:solidFill>
          <a:ln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682495"/>
            <a:ext cx="16824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084831"/>
            <a:ext cx="1682496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Missingness • drift • PSI • range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554480"/>
            <a:ext cx="2011680" cy="3383280"/>
          </a:xfrm>
          <a:prstGeom prst="roundRect">
            <a:avLst/>
          </a:prstGeom>
          <a:solidFill>
            <a:srgbClr val="F4F6F9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1682495"/>
            <a:ext cx="16824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2084831"/>
            <a:ext cx="1682496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AUC • KS • Gini • lift • calibration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554480"/>
            <a:ext cx="2011680" cy="3383280"/>
          </a:xfrm>
          <a:prstGeom prst="roundRect">
            <a:avLst/>
          </a:prstGeom>
          <a:solidFill>
            <a:srgbClr val="F4F6F9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9512" y="1682495"/>
            <a:ext cx="16824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2084831"/>
            <a:ext cx="1682496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Bad rate • losses • overrides • vintage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554480"/>
            <a:ext cx="2011680" cy="3383280"/>
          </a:xfrm>
          <a:prstGeom prst="roundRect">
            <a:avLst/>
          </a:prstGeom>
          <a:solidFill>
            <a:srgbClr val="F4F6F9"/>
          </a:solidFill>
          <a:ln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1682495"/>
            <a:ext cx="16824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084831"/>
            <a:ext cx="1682496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Version • lineage • incidents •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1554480"/>
            <a:ext cx="2011680" cy="3383280"/>
          </a:xfrm>
          <a:prstGeom prst="roundRect">
            <a:avLst/>
          </a:prstGeom>
          <a:solidFill>
            <a:srgbClr val="F4F6F9"/>
          </a:solidFill>
          <a:ln>
            <a:solidFill>
              <a:srgbClr val="A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11512" y="1682495"/>
            <a:ext cx="16824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1512" y="2084831"/>
            <a:ext cx="1682496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Thresholds • escalation • issue log • review cadence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492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>
                <a:solidFill>
                  <a:srgbClr val="0E192D"/>
                </a:solidFill>
                <a:latin typeface="Aptos"/>
              </a:rPr>
              <a:t>Example: baseline AUC = 0.78, current AUC = 0.69, bad rate 4.0% → 5.1%. First response: structured investigation, not automatic redevelopment.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4"/>
                </a:solidFill>
                <a:latin typeface="Aptos"/>
              </a:rPr>
              <a:t>MODEL RISK MANAGEMENT  |  COMPLETE MODEL LIFECYCLE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E192D"/>
                </a:solidFill>
                <a:latin typeface="Aptos"/>
              </a:rPr>
              <a:t>9. Monitoring Triggers &amp;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Illustrative thresholds — calibrate to purpose, materiality, sample size and risk appetite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417320" cy="457200"/>
          </a:xfrm>
          <a:prstGeom prst="rect">
            <a:avLst/>
          </a:prstGeom>
          <a:solidFill>
            <a:srgbClr val="0E1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Signal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325880"/>
            <a:ext cx="1965960" cy="457200"/>
          </a:xfrm>
          <a:prstGeom prst="rect">
            <a:avLst/>
          </a:prstGeom>
          <a:solidFill>
            <a:srgbClr val="0E1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417320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Trigger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325880"/>
            <a:ext cx="2743200" cy="457200"/>
          </a:xfrm>
          <a:prstGeom prst="rect">
            <a:avLst/>
          </a:prstGeom>
          <a:solidFill>
            <a:srgbClr val="0E1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1417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325880"/>
            <a:ext cx="5486400" cy="457200"/>
          </a:xfrm>
          <a:prstGeom prst="rect">
            <a:avLst/>
          </a:prstGeom>
          <a:solidFill>
            <a:srgbClr val="0E1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4173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Typical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801368"/>
            <a:ext cx="1417320" cy="713232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11095"/>
            <a:ext cx="1325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19" b="1">
                <a:solidFill>
                  <a:srgbClr val="202834"/>
                </a:solidFill>
                <a:latin typeface="Aptos"/>
              </a:rPr>
              <a:t>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1801368"/>
            <a:ext cx="1965960" cy="713232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0" y="1911095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19" b="0">
                <a:solidFill>
                  <a:srgbClr val="202834"/>
                </a:solidFill>
                <a:latin typeface="Aptos"/>
              </a:rPr>
              <a:t>&lt; 0.70 or −0.05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1801368"/>
            <a:ext cx="2743200" cy="713232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1911095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0">
                <a:solidFill>
                  <a:srgbClr val="202834"/>
                </a:solidFill>
                <a:latin typeface="Aptos"/>
              </a:rPr>
              <a:t>Ranking weakens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1801368"/>
            <a:ext cx="5486400" cy="713232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911095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0">
                <a:solidFill>
                  <a:srgbClr val="202834"/>
                </a:solidFill>
                <a:latin typeface="Aptos"/>
              </a:rPr>
              <a:t>Investigate drift / data /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551176"/>
            <a:ext cx="1417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660904"/>
            <a:ext cx="1325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19" b="1">
                <a:solidFill>
                  <a:srgbClr val="202834"/>
                </a:solidFill>
                <a:latin typeface="Aptos"/>
              </a:rPr>
              <a:t>PSI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2551176"/>
            <a:ext cx="19659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2660904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19" b="0">
                <a:solidFill>
                  <a:srgbClr val="202834"/>
                </a:solidFill>
                <a:latin typeface="Aptos"/>
              </a:rPr>
              <a:t>&gt; 0.25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2551176"/>
            <a:ext cx="27432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2660904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0">
                <a:solidFill>
                  <a:srgbClr val="202834"/>
                </a:solidFill>
                <a:latin typeface="Aptos"/>
              </a:rPr>
              <a:t>Population shift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2551176"/>
            <a:ext cx="5486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660904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0">
                <a:solidFill>
                  <a:srgbClr val="202834"/>
                </a:solidFill>
                <a:latin typeface="Aptos"/>
              </a:rPr>
              <a:t>Check customer mix &amp; drift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300984"/>
            <a:ext cx="1417320" cy="713232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410712"/>
            <a:ext cx="1325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19" b="1">
                <a:solidFill>
                  <a:srgbClr val="202834"/>
                </a:solidFill>
                <a:latin typeface="Aptos"/>
              </a:rPr>
              <a:t>Bad 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3300984"/>
            <a:ext cx="1965960" cy="713232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65960" y="3410712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19" b="0">
                <a:solidFill>
                  <a:srgbClr val="202834"/>
                </a:solidFill>
                <a:latin typeface="Aptos"/>
              </a:rPr>
              <a:t>&gt; +20%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86200" y="3300984"/>
            <a:ext cx="2743200" cy="713232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341071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0">
                <a:solidFill>
                  <a:srgbClr val="202834"/>
                </a:solidFill>
                <a:latin typeface="Aptos"/>
              </a:rPr>
              <a:t>Outcome worsening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3300984"/>
            <a:ext cx="5486400" cy="713232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410712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0">
                <a:solidFill>
                  <a:srgbClr val="202834"/>
                </a:solidFill>
                <a:latin typeface="Aptos"/>
              </a:rPr>
              <a:t>Segment &amp; investigate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050791"/>
            <a:ext cx="1417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160520"/>
            <a:ext cx="1325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19" b="1">
                <a:solidFill>
                  <a:srgbClr val="202834"/>
                </a:solidFill>
                <a:latin typeface="Aptos"/>
              </a:rPr>
              <a:t>Missingness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4050791"/>
            <a:ext cx="19659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65960" y="4160520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19" b="0">
                <a:solidFill>
                  <a:srgbClr val="202834"/>
                </a:solidFill>
                <a:latin typeface="Aptos"/>
              </a:rPr>
              <a:t>+5 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86200" y="4050791"/>
            <a:ext cx="27432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0" y="4160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0">
                <a:solidFill>
                  <a:srgbClr val="202834"/>
                </a:solidFill>
                <a:latin typeface="Aptos"/>
              </a:rPr>
              <a:t>Data quality change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4050791"/>
            <a:ext cx="5486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1605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0">
                <a:solidFill>
                  <a:srgbClr val="202834"/>
                </a:solidFill>
                <a:latin typeface="Aptos"/>
              </a:rPr>
              <a:t>Pipeline review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800600"/>
            <a:ext cx="1417320" cy="713232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910328"/>
            <a:ext cx="1325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19" b="1">
                <a:solidFill>
                  <a:srgbClr val="202834"/>
                </a:solidFill>
                <a:latin typeface="Aptos"/>
              </a:rPr>
              <a:t>O/E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20240" y="4800600"/>
            <a:ext cx="1965960" cy="713232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65960" y="4910328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19" b="0">
                <a:solidFill>
                  <a:srgbClr val="202834"/>
                </a:solidFill>
                <a:latin typeface="Aptos"/>
              </a:rPr>
              <a:t>&gt; 1.25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86200" y="4800600"/>
            <a:ext cx="2743200" cy="713232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0" y="491032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0">
                <a:solidFill>
                  <a:srgbClr val="202834"/>
                </a:solidFill>
                <a:latin typeface="Aptos"/>
              </a:rPr>
              <a:t>Underprediction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29400" y="4800600"/>
            <a:ext cx="5486400" cy="713232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4910328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19" b="0">
                <a:solidFill>
                  <a:srgbClr val="202834"/>
                </a:solidFill>
                <a:latin typeface="Aptos"/>
              </a:rPr>
              <a:t>Calibration review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4"/>
                </a:solidFill>
                <a:latin typeface="Aptos"/>
              </a:rPr>
              <a:t>MODEL RISK MANAGEMENT  |  COMPLETE MODEL LIFECYCLE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E192D"/>
                </a:solidFill>
                <a:latin typeface="Aptos"/>
              </a:rPr>
              <a:t>10. Case Study — Retail Scorecard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Illustrative data | Multiple signals triangulated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743200" cy="3566160"/>
          </a:xfrm>
          <a:prstGeom prst="roundRect">
            <a:avLst/>
          </a:prstGeom>
          <a:solidFill>
            <a:srgbClr val="F4F6F9"/>
          </a:solidFill>
          <a:ln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99616"/>
            <a:ext cx="24140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Q1 → 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01952"/>
            <a:ext cx="2414016" cy="2944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AUC: 0.79 → 0.69
PSI: 0.06 → 0.28
Bad rate: 3.8% → 5.2%
Multiple signals deteriorate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371600"/>
            <a:ext cx="3474720" cy="3566160"/>
          </a:xfrm>
          <a:prstGeom prst="roundRect">
            <a:avLst/>
          </a:prstGeom>
          <a:solidFill>
            <a:srgbClr val="F4F6F9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499616"/>
            <a:ext cx="314553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Observed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1901952"/>
            <a:ext cx="3145536" cy="2944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New acquisition channel
→ applicant mix shifts
→ score distribution moves
→ ranking power weakens
→ defaults rise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371600"/>
            <a:ext cx="4160520" cy="3566160"/>
          </a:xfrm>
          <a:prstGeom prst="roundRect">
            <a:avLst/>
          </a:prstGeom>
          <a:solidFill>
            <a:srgbClr val="F4F6F9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34072" y="1499616"/>
            <a:ext cx="38313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Management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4072" y="1901952"/>
            <a:ext cx="3831335" cy="2944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Do not change the model immediately.
Segment by channel, vintage, score band, policy and data lineage.
The metrics tell us WHAT changed; diagnosis explains WHY.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4"/>
                </a:solidFill>
                <a:latin typeface="Aptos"/>
              </a:rPr>
              <a:t>MODEL RISK MANAGEMENT  |  COMPLETE MODEL LIFECYCLE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E192D"/>
                </a:solidFill>
                <a:latin typeface="Aptos"/>
              </a:rPr>
              <a:t>11. Case Study — Corporate PD Under Macro Stress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Illustrative data | Separate model failure from genuine portfolio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29200" cy="3291840"/>
          </a:xfrm>
          <a:prstGeom prst="roundRect">
            <a:avLst/>
          </a:prstGeom>
          <a:solidFill>
            <a:srgbClr val="F4F6F9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45336"/>
            <a:ext cx="47000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Stable period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47672"/>
            <a:ext cx="4700016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PD = 2.5%
Observed default = 2.7%
AUC = 0.81
Economic backdrop = stable
Performance broadly aligned with expectation.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029200" cy="3291840"/>
          </a:xfrm>
          <a:prstGeom prst="roundRect">
            <a:avLst/>
          </a:prstGeom>
          <a:solidFill>
            <a:srgbClr val="F4F6F9"/>
          </a:solidFill>
          <a:ln>
            <a:solidFill>
              <a:srgbClr val="A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1545336"/>
            <a:ext cx="47000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Stress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1947672"/>
            <a:ext cx="4700016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PD = 3.8%
Observed default = 5.0%
AUC = 0.80
Economic backdrop = recessionary
Ranking remains stable, but absolute risk rises.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E192D"/>
                </a:solidFill>
                <a:latin typeface="Aptos"/>
              </a:rPr>
              <a:t>Management question: Is the model broken — or is the portfolio genuinely riskier? Check calibration, macro drivers, segment mix and assumptions.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4"/>
                </a:solidFill>
                <a:latin typeface="Aptos"/>
              </a:rPr>
              <a:t>MODEL RISK MANAGEMENT  |  COMPLETE MODEL LIFECYCLE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E192D"/>
                </a:solidFill>
                <a:latin typeface="Aptos"/>
              </a:rPr>
              <a:t>12. Model Retirement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End-of-life is a controlled lifecycle stage — not simply switching the model 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337560" cy="1737360"/>
          </a:xfrm>
          <a:prstGeom prst="roundRect">
            <a:avLst/>
          </a:prstGeom>
          <a:solidFill>
            <a:srgbClr val="F4F6F9"/>
          </a:solidFill>
          <a:ln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53895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Retirement 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56231"/>
            <a:ext cx="3008376" cy="1115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Replacement • Business change • Obsolescence • Risk / control concerns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37560" cy="1737360"/>
          </a:xfrm>
          <a:prstGeom prst="roundRect">
            <a:avLst/>
          </a:prstGeom>
          <a:solidFill>
            <a:srgbClr val="F4F6F9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53895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Impact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56231"/>
            <a:ext cx="3008376" cy="1115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Identify decisions, systems, reports, users and downstream dependencies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325880"/>
            <a:ext cx="3337560" cy="1737360"/>
          </a:xfrm>
          <a:prstGeom prst="roundRect">
            <a:avLst/>
          </a:prstGeom>
          <a:solidFill>
            <a:srgbClr val="F4F6F9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453895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Controlled sunset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1856231"/>
            <a:ext cx="3008376" cy="1115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Stop new use, manage transition and communicate effective 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66160"/>
            <a:ext cx="3337560" cy="1737360"/>
          </a:xfrm>
          <a:prstGeom prst="roundRect">
            <a:avLst/>
          </a:prstGeom>
          <a:solidFill>
            <a:srgbClr val="F4F6F9"/>
          </a:solidFill>
          <a:ln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69417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Archive &amp;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096512"/>
            <a:ext cx="3008376" cy="1115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Retain approved version, documentation, lineage, validation and decisions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566160"/>
            <a:ext cx="3337560" cy="1737360"/>
          </a:xfrm>
          <a:prstGeom prst="roundRect">
            <a:avLst/>
          </a:prstGeom>
          <a:solidFill>
            <a:srgbClr val="F4F6F9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69417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Lessons learned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096512"/>
            <a:ext cx="3008376" cy="1115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Capture limitations and incidents for the replacement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064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1">
                <a:solidFill>
                  <a:srgbClr val="0E192D"/>
                </a:solidFill>
                <a:latin typeface="Aptos"/>
              </a:rPr>
              <a:t>Retirement prevents “zombie models” from remaining in reports, code or decisions after intended use ends.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4"/>
                </a:solidFill>
                <a:latin typeface="Aptos"/>
              </a:rPr>
              <a:t>MODEL RISK MANAGEMENT  |  COMPLETE MODEL LIFECYCLE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E192D"/>
                </a:solidFill>
                <a:latin typeface="Aptos"/>
              </a:rPr>
              <a:t>13. Lifecycle Control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Who owns what — and what evidence should survive?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25880"/>
            <a:ext cx="1325880" cy="502920"/>
          </a:xfrm>
          <a:prstGeom prst="rect">
            <a:avLst/>
          </a:prstGeom>
          <a:solidFill>
            <a:srgbClr val="0E1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35607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Stage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325880"/>
            <a:ext cx="1920240" cy="502920"/>
          </a:xfrm>
          <a:prstGeom prst="rect">
            <a:avLst/>
          </a:prstGeom>
          <a:solidFill>
            <a:srgbClr val="0E1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435607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Primary owner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325880"/>
            <a:ext cx="1737360" cy="502920"/>
          </a:xfrm>
          <a:prstGeom prst="rect">
            <a:avLst/>
          </a:prstGeom>
          <a:solidFill>
            <a:srgbClr val="0E1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435607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Challenge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325880"/>
            <a:ext cx="3657600" cy="502920"/>
          </a:xfrm>
          <a:prstGeom prst="rect">
            <a:avLst/>
          </a:prstGeom>
          <a:solidFill>
            <a:srgbClr val="0E1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435607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Core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59" y="1325880"/>
            <a:ext cx="2971800" cy="502920"/>
          </a:xfrm>
          <a:prstGeom prst="rect">
            <a:avLst/>
          </a:prstGeom>
          <a:solidFill>
            <a:srgbClr val="0E1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59" y="1435607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Exit condition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847088"/>
            <a:ext cx="1325880" cy="768096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56816"/>
            <a:ext cx="123443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202834"/>
                </a:solidFill>
                <a:latin typeface="Aptos"/>
              </a:rPr>
              <a:t>Development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7360" y="1847088"/>
            <a:ext cx="1920240" cy="768096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1956816"/>
            <a:ext cx="1828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Model owner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1847088"/>
            <a:ext cx="1737360" cy="768096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1956816"/>
            <a:ext cx="164591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Peer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1847088"/>
            <a:ext cx="3657600" cy="768096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1956816"/>
            <a:ext cx="35661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Code, data, methodology, limitations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59" y="1847088"/>
            <a:ext cx="2971800" cy="768096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1956816"/>
            <a:ext cx="2880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Build complete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670048"/>
            <a:ext cx="1325880" cy="768096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779776"/>
            <a:ext cx="123443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202834"/>
                </a:solidFill>
                <a:latin typeface="Aptos"/>
              </a:rPr>
              <a:t>Validation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7360" y="2670048"/>
            <a:ext cx="1920240" cy="768096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83080" y="2779776"/>
            <a:ext cx="1828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Independent validation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2670048"/>
            <a:ext cx="1737360" cy="768096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2779776"/>
            <a:ext cx="164591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Validation lead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94960" y="2670048"/>
            <a:ext cx="3657600" cy="768096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2779776"/>
            <a:ext cx="35661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Tests, findings, conclusion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59" y="2670048"/>
            <a:ext cx="2971800" cy="768096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2779776"/>
            <a:ext cx="2880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Conclusion issued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493008"/>
            <a:ext cx="1325880" cy="768096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602736"/>
            <a:ext cx="123443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202834"/>
                </a:solidFill>
                <a:latin typeface="Aptos"/>
              </a:rPr>
              <a:t>Approval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37360" y="3493008"/>
            <a:ext cx="1920240" cy="768096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83080" y="3602736"/>
            <a:ext cx="1828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Risk / governance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3493008"/>
            <a:ext cx="1737360" cy="768096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03320" y="3602736"/>
            <a:ext cx="164591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Committee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94960" y="3493008"/>
            <a:ext cx="3657600" cy="768096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40680" y="3602736"/>
            <a:ext cx="35661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Decision, conditions, version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59" y="3493008"/>
            <a:ext cx="2971800" cy="768096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8280" y="3602736"/>
            <a:ext cx="2880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Formal approval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315968"/>
            <a:ext cx="1325880" cy="768096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425696"/>
            <a:ext cx="123443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202834"/>
                </a:solidFill>
                <a:latin typeface="Aptos"/>
              </a:rPr>
              <a:t>Monitoring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37360" y="4315968"/>
            <a:ext cx="1920240" cy="768096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83080" y="4425696"/>
            <a:ext cx="1828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Owner + business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0" y="4315968"/>
            <a:ext cx="1737360" cy="768096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03320" y="4425696"/>
            <a:ext cx="164591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Risk oversight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94960" y="4315968"/>
            <a:ext cx="3657600" cy="768096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40680" y="4425696"/>
            <a:ext cx="35661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Metrics, breaches, actions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52559" y="4315968"/>
            <a:ext cx="2971800" cy="768096"/>
          </a:xfrm>
          <a:prstGeom prst="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98280" y="4425696"/>
            <a:ext cx="2880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Stable / escalated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5138928"/>
            <a:ext cx="1325880" cy="768096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248656"/>
            <a:ext cx="123443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1">
                <a:solidFill>
                  <a:srgbClr val="202834"/>
                </a:solidFill>
                <a:latin typeface="Aptos"/>
              </a:rPr>
              <a:t>Retirement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37360" y="5138928"/>
            <a:ext cx="1920240" cy="768096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783080" y="5248656"/>
            <a:ext cx="1828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Owner + technology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0" y="5138928"/>
            <a:ext cx="1737360" cy="768096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03320" y="5248656"/>
            <a:ext cx="1645919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Risk / governance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94960" y="5138928"/>
            <a:ext cx="3657600" cy="768096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40680" y="5248656"/>
            <a:ext cx="35661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Sunset plan, archive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52559" y="5138928"/>
            <a:ext cx="2971800" cy="768096"/>
          </a:xfrm>
          <a:prstGeom prst="rect">
            <a:avLst/>
          </a:prstGeom>
          <a:solidFill>
            <a:srgbClr val="F4F6F9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98280" y="5248656"/>
            <a:ext cx="2880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80" b="0">
                <a:solidFill>
                  <a:srgbClr val="202834"/>
                </a:solidFill>
                <a:latin typeface="Aptos"/>
              </a:rPr>
              <a:t>Decommissioned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4"/>
                </a:solidFill>
                <a:latin typeface="Aptos"/>
              </a:rPr>
              <a:t>MODEL RISK MANAGEMENT  |  COMPLETE MODEL LIFECYCLE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E192D"/>
                </a:solidFill>
                <a:latin typeface="Aptos"/>
              </a:rPr>
              <a:t>14. Red Flags &amp; Failure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Lifecycle weakness often appears as a control problem before it becomes a model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337560" cy="1737360"/>
          </a:xfrm>
          <a:prstGeom prst="roundRect">
            <a:avLst/>
          </a:prstGeom>
          <a:solidFill>
            <a:srgbClr val="F4F6F9"/>
          </a:solidFill>
          <a:ln>
            <a:solidFill>
              <a:srgbClr val="A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53895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Wrong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56231"/>
            <a:ext cx="3008376" cy="1115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Model optimises a statistical target that does not match the business decision.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37560" cy="1737360"/>
          </a:xfrm>
          <a:prstGeom prst="roundRect">
            <a:avLst/>
          </a:prstGeom>
          <a:solidFill>
            <a:srgbClr val="F4F6F9"/>
          </a:solidFill>
          <a:ln>
            <a:solidFill>
              <a:srgbClr val="A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53895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Data leakage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56231"/>
            <a:ext cx="3008376" cy="1115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Development uses information unavailable at decision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325880"/>
            <a:ext cx="3337560" cy="1737360"/>
          </a:xfrm>
          <a:prstGeom prst="roundRect">
            <a:avLst/>
          </a:prstGeom>
          <a:solidFill>
            <a:srgbClr val="F4F6F9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453895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Validation independence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1856231"/>
            <a:ext cx="3008376" cy="1115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Validator is too close to development incentives.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66160"/>
            <a:ext cx="3337560" cy="1737360"/>
          </a:xfrm>
          <a:prstGeom prst="roundRect">
            <a:avLst/>
          </a:prstGeom>
          <a:solidFill>
            <a:srgbClr val="F4F6F9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69417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Approval ambiguity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096512"/>
            <a:ext cx="3008376" cy="1115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No clear decision rights, conditions or accountable owner.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566160"/>
            <a:ext cx="3337560" cy="1737360"/>
          </a:xfrm>
          <a:prstGeom prst="roundRect">
            <a:avLst/>
          </a:prstGeom>
          <a:solidFill>
            <a:srgbClr val="F4F6F9"/>
          </a:solidFill>
          <a:ln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69417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Monitoring theatre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096512"/>
            <a:ext cx="3008376" cy="1115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Dashboards exist, but breaches have no investigation or 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566160"/>
            <a:ext cx="3337560" cy="1737360"/>
          </a:xfrm>
          <a:prstGeom prst="roundRect">
            <a:avLst/>
          </a:prstGeom>
          <a:solidFill>
            <a:srgbClr val="F4F6F9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3694176"/>
            <a:ext cx="30083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Zombie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4096512"/>
            <a:ext cx="3008376" cy="11155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Retired or superseded models continue to influence decisions.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4"/>
                </a:solidFill>
                <a:latin typeface="Aptos"/>
              </a:rPr>
              <a:t>MODEL RISK MANAGEMENT  |  COMPLETE MODEL LIFECYCLE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E192D"/>
                </a:solidFill>
                <a:latin typeface="Aptos"/>
              </a:rPr>
              <a:t>15. Four Perspectives on the Same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Technical and business stakeholders need one evidence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542032" cy="3337560"/>
          </a:xfrm>
          <a:prstGeom prst="roundRect">
            <a:avLst/>
          </a:prstGeom>
          <a:solidFill>
            <a:srgbClr val="F4F6F9"/>
          </a:solidFill>
          <a:ln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636776"/>
            <a:ext cx="22128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Credit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039112"/>
            <a:ext cx="2212848" cy="2715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Can I trust the score, risk grade and reason codes for the customer decision?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08760"/>
            <a:ext cx="2542032" cy="3337560"/>
          </a:xfrm>
          <a:prstGeom prst="roundRect">
            <a:avLst/>
          </a:prstGeom>
          <a:solidFill>
            <a:srgbClr val="F4F6F9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636776"/>
            <a:ext cx="22128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Banker /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2039112"/>
            <a:ext cx="2212848" cy="2715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Does the model support sound growth, pricing and customer strategy?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508760"/>
            <a:ext cx="2542032" cy="3337560"/>
          </a:xfrm>
          <a:prstGeom prst="roundRect">
            <a:avLst/>
          </a:prstGeom>
          <a:solidFill>
            <a:srgbClr val="F4F6F9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636776"/>
            <a:ext cx="22128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CFO / 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039112"/>
            <a:ext cx="2212848" cy="2715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How does model behaviour affect provisions, capital, earnings and forecasting?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89136" y="1508760"/>
            <a:ext cx="2542032" cy="3337560"/>
          </a:xfrm>
          <a:prstGeom prst="roundRect">
            <a:avLst/>
          </a:prstGeom>
          <a:solidFill>
            <a:srgbClr val="F4F6F9"/>
          </a:solidFill>
          <a:ln>
            <a:solidFill>
              <a:srgbClr val="A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1636776"/>
            <a:ext cx="22128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Investor / 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039112"/>
            <a:ext cx="2212848" cy="2715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202834"/>
                </a:solidFill>
                <a:latin typeface="Aptos"/>
              </a:rPr>
              <a:t>Is model risk understood, governed and capable of creating unexpected losses?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5780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E192D"/>
                </a:solidFill>
                <a:latin typeface="Aptos"/>
              </a:rPr>
              <a:t>Same model. Different decision lens. A mature lifecycle creates one evidence base that supports all four.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4"/>
                </a:solidFill>
                <a:latin typeface="Aptos"/>
              </a:rPr>
              <a:t>MODEL RISK MANAGEMENT  |  COMPLETE MODEL LIFECYCLE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16. Executive Dashboard — Model Lifecycle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E913E"/>
                </a:solidFill>
                <a:latin typeface="Aptos"/>
              </a:rPr>
              <a:t>A compact view for senior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011680" cy="3063240"/>
          </a:xfrm>
          <a:prstGeom prst="roundRect">
            <a:avLst/>
          </a:prstGeom>
          <a:solidFill>
            <a:srgbClr val="0E192D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728216"/>
            <a:ext cx="16824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130552"/>
            <a:ext cx="1682496" cy="2441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GREEN
Scope &amp; evidence 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600200"/>
            <a:ext cx="2011680" cy="3063240"/>
          </a:xfrm>
          <a:prstGeom prst="roundRect">
            <a:avLst/>
          </a:prstGeom>
          <a:solidFill>
            <a:srgbClr val="0E192D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1728216"/>
            <a:ext cx="16824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2130552"/>
            <a:ext cx="1682496" cy="2441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GREEN
No critical unresolved findings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600200"/>
            <a:ext cx="2011680" cy="3063240"/>
          </a:xfrm>
          <a:prstGeom prst="roundRect">
            <a:avLst/>
          </a:prstGeom>
          <a:solidFill>
            <a:srgbClr val="0E192D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9512" y="1728216"/>
            <a:ext cx="16824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2130552"/>
            <a:ext cx="1682496" cy="2441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GREEN
Conditions documented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600200"/>
            <a:ext cx="2011680" cy="3063240"/>
          </a:xfrm>
          <a:prstGeom prst="roundRect">
            <a:avLst/>
          </a:prstGeom>
          <a:solidFill>
            <a:srgbClr val="0E192D"/>
          </a:solidFill>
          <a:ln>
            <a:solidFill>
              <a:srgbClr val="BE9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1728216"/>
            <a:ext cx="16824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130552"/>
            <a:ext cx="1682496" cy="2441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AMBER
Performance trend requires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1600200"/>
            <a:ext cx="2011680" cy="3063240"/>
          </a:xfrm>
          <a:prstGeom prst="roundRect">
            <a:avLst/>
          </a:prstGeom>
          <a:solidFill>
            <a:srgbClr val="0E192D"/>
          </a:solidFill>
          <a:ln>
            <a:solidFill>
              <a:srgbClr val="23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11512" y="1728216"/>
            <a:ext cx="16824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Retirement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1512" y="2130552"/>
            <a:ext cx="1682496" cy="2441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GREEN
No overdue sunset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663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Executive message: model risk is managed when lifecycle evidence, ownership, thresholds and decisions remain connected.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4"/>
                </a:solidFill>
                <a:latin typeface="Aptos"/>
              </a:rPr>
              <a:t>MODEL RISK MANAGEMENT  |  COMPLETE MODEL LIFECYCLE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E9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E192D"/>
                </a:solidFill>
                <a:latin typeface="Aptos"/>
              </a:rPr>
              <a:t>17. 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7484"/>
                </a:solidFill>
                <a:latin typeface="Aptos"/>
              </a:rPr>
              <a:t>Five principles for a durable model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BE913E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801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Start with the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8016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02834"/>
                </a:solidFill>
                <a:latin typeface="Aptos"/>
              </a:rPr>
              <a:t>A model is valuable only when it improves a defined business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BE913E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402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Separate build from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4028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02834"/>
                </a:solidFill>
                <a:latin typeface="Aptos"/>
              </a:rPr>
              <a:t>Independent validation protects objectivity and surfaces blind spots.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BE913E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004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Approve with 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0040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02834"/>
                </a:solidFill>
                <a:latin typeface="Aptos"/>
              </a:rPr>
              <a:t>Approval should specify scope, version, ownership and controls.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BE913E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16052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Monitor the living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16052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02834"/>
                </a:solidFill>
                <a:latin typeface="Aptos"/>
              </a:rPr>
              <a:t>Data, customers, economics and operations evolve after deployment.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BE913E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1206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E192D"/>
                </a:solidFill>
                <a:latin typeface="Aptos"/>
              </a:rPr>
              <a:t>Retire deliberately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1206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02834"/>
                </a:solidFill>
                <a:latin typeface="Aptos"/>
              </a:rPr>
              <a:t>End-of-life is a governance event; archive evidence and control the transition.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7220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E192D"/>
                </a:solidFill>
                <a:latin typeface="Aptos"/>
              </a:rPr>
              <a:t>BOTTOM LINE: The model lifecycle is a continuous control system — from business intent to accountable retirement.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697484"/>
                </a:solidFill>
                <a:latin typeface="Aptos"/>
              </a:rPr>
              <a:t>MODEL RISK MANAGEMENT  |  COMPLETE MODEL LIFECYCLE   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