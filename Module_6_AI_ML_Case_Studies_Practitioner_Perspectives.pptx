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C9D43"/>
                </a:solidFill>
                <a:latin typeface="Aptos"/>
              </a:rPr>
              <a:t>MODULE 6  /  CASE STUDIES &amp; PRACTITIONER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FAFBFD"/>
                </a:solidFill>
                <a:latin typeface="Aptos"/>
              </a:rPr>
              <a:t>AI / ML IN BANKING &amp;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9966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0D9E5"/>
                </a:solidFill>
                <a:latin typeface="Aptos"/>
              </a:rPr>
              <a:t>From prediction to decisions — returns, defaults, lending, macro, markets and mortgages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816352"/>
            <a:ext cx="10561320" cy="18288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Predicting 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5144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Loan Defaults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7056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Credit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8968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Macro Forecasting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Market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2792" y="3154680"/>
            <a:ext cx="1490472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95944" y="3255264"/>
            <a:ext cx="134416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Mortgage Prepayment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04704" y="315468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6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77856" y="3255264"/>
            <a:ext cx="1426464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AFBFD"/>
                </a:solidFill>
                <a:latin typeface="Aptos"/>
              </a:rPr>
              <a:t>Practitioner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663440"/>
            <a:ext cx="102412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2BFD0"/>
                </a:solidFill>
                <a:latin typeface="Aptos"/>
              </a:rPr>
              <a:t>Business-school depth  •  Consulting-style structure  •  Banking practitioner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806440"/>
            <a:ext cx="9966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8C9AAD"/>
                </a:solidFill>
                <a:latin typeface="Aptos"/>
              </a:rPr>
              <a:t>Illustrative calculations are explicitly labelled; real-world regulatory context is sourced from BIS / FSB materials.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AEB8C5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AEB8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The module is one decision system — not seven disconnected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EXECUTIVE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A3440"/>
                </a:solidFill>
                <a:latin typeface="Aptos"/>
              </a:rPr>
              <a:t>The common thread is simple: convert messy information into a decision, then control the downside.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4864" cy="1417320"/>
          </a:xfrm>
          <a:prstGeom prst="rect">
            <a:avLst/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1554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554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Customer • market • macro • loan • behavioural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587752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07792" y="1874519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874519"/>
            <a:ext cx="54864" cy="1417320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984248"/>
            <a:ext cx="1554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331720"/>
            <a:ext cx="1554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Prediction • classification • ranking • hazard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90872" y="2587752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21224" y="1874519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21224" y="1874519"/>
            <a:ext cx="54864" cy="1417320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1984248"/>
            <a:ext cx="1554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331720"/>
            <a:ext cx="1554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Approve • price • hedge • provision • allocate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04304" y="2587752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34656" y="1874519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34656" y="1874519"/>
            <a:ext cx="54864" cy="1417320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6" y="1984248"/>
            <a:ext cx="1554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2331720"/>
            <a:ext cx="1554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Limits • overrides • monitoring • governance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17736" y="2587752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48088" y="1874519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48088" y="1874519"/>
            <a:ext cx="54864" cy="1417320"/>
          </a:xfrm>
          <a:prstGeom prst="rect">
            <a:avLst/>
          </a:prstGeom>
          <a:solidFill>
            <a:srgbClr val="31855D"/>
          </a:solidFill>
          <a:ln>
            <a:solidFill>
              <a:srgbClr val="31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1984248"/>
            <a:ext cx="1554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331720"/>
            <a:ext cx="15544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RAROC • loss avoidance • liquidity • growth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886200"/>
            <a:ext cx="23317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922776"/>
            <a:ext cx="2185415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315968"/>
            <a:ext cx="2331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What is being predicted?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63440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Return / default / prepayment / volatility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432" y="3886200"/>
            <a:ext cx="23317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922776"/>
            <a:ext cx="2185415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WHY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315968"/>
            <a:ext cx="2331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Why does it matter?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663440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Revenue, loss, capital, liquidity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18504" y="3886200"/>
            <a:ext cx="23317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3922776"/>
            <a:ext cx="2185415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HOW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4315968"/>
            <a:ext cx="2331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How do we operationalise it?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663440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Features → model → threshold → 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0576" y="3886200"/>
            <a:ext cx="23317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3728" y="3922776"/>
            <a:ext cx="2185415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SO WHAT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4315968"/>
            <a:ext cx="2331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What changes tomorrow?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4663440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Pricing, approval, hedging, provisioning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6235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5733288"/>
            <a:ext cx="18562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" y="6153912"/>
            <a:ext cx="1856232" cy="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use cases → one operating 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5623560"/>
            <a:ext cx="54864" cy="658368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926080" y="56235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2384" y="5733288"/>
            <a:ext cx="18562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72384" y="6153912"/>
            <a:ext cx="1856232" cy="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decision lenses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5623560"/>
            <a:ext cx="54864" cy="658368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257800" y="56235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04104" y="5733288"/>
            <a:ext cx="18562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4104" y="6153912"/>
            <a:ext cx="1856232" cy="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deep case studies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5623560"/>
            <a:ext cx="54864" cy="658368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89520" y="56235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35824" y="5733288"/>
            <a:ext cx="185623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35824" y="6153912"/>
            <a:ext cx="1856232" cy="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governance spine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5623560"/>
            <a:ext cx="54864" cy="658368"/>
          </a:xfrm>
          <a:prstGeom prst="rect">
            <a:avLst/>
          </a:prstGeom>
          <a:solidFill>
            <a:srgbClr val="31855D"/>
          </a:solidFill>
          <a:ln>
            <a:solidFill>
              <a:srgbClr val="31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AFBFD"/>
                </a:solidFill>
                <a:latin typeface="Aptos"/>
              </a:rPr>
              <a:t>A practical AI/ML architecture for financial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C9D43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34440"/>
            <a:ext cx="6995160" cy="484632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6309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CC9D43"/>
                </a:solidFill>
                <a:latin typeface="Aptos"/>
              </a:rPr>
              <a:t>FROM SIGNAL → SCORE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657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C9D4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74519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AFBFD"/>
                </a:solidFill>
                <a:latin typeface="Aptos"/>
              </a:rPr>
              <a:t>Signal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65376"/>
            <a:ext cx="39319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C4CFDD"/>
                </a:solidFill>
                <a:latin typeface="Aptos"/>
              </a:rPr>
              <a:t>Define target, horizon, unit of observation and economic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79191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657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C9D4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79191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AFBFD"/>
                </a:solidFill>
                <a:latin typeface="Aptos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70048"/>
            <a:ext cx="39319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C4CFDD"/>
                </a:solidFill>
                <a:latin typeface="Aptos"/>
              </a:rPr>
              <a:t>Turn raw events into stable, leakage-safe predictors.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3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1"/>
            <a:ext cx="3657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C9D4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483863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AFBFD"/>
                </a:solidFill>
                <a:latin typeface="Aptos"/>
              </a:rPr>
              <a:t>Model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474720"/>
            <a:ext cx="39319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C4CFDD"/>
                </a:solidFill>
                <a:latin typeface="Aptos"/>
              </a:rPr>
              <a:t>Choose model complexity that earns its keep.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8853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98264"/>
            <a:ext cx="3657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288536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AFBFD"/>
                </a:solidFill>
                <a:latin typeface="Aptos"/>
              </a:rPr>
              <a:t>Decision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79392"/>
            <a:ext cx="39319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C4CFDD"/>
                </a:solidFill>
                <a:latin typeface="Aptos"/>
              </a:rPr>
              <a:t>Translate probability/forecast into a threshold, price or limit.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93207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02936"/>
            <a:ext cx="3657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C9D43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093207"/>
            <a:ext cx="1874519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FAFBFD"/>
                </a:solidFill>
                <a:latin typeface="Aptos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084064"/>
            <a:ext cx="39319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C4CFDD"/>
                </a:solidFill>
                <a:latin typeface="Aptos"/>
              </a:rPr>
              <a:t>Watch drift, stability, overrides, outcomes and unintended effects.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1481328"/>
            <a:ext cx="3566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CC9D43"/>
                </a:solidFill>
                <a:latin typeface="Aptos"/>
              </a:rPr>
              <a:t>MODEL CHOICE IS A BUSINESS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92024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1920240"/>
            <a:ext cx="54864" cy="960120"/>
          </a:xfrm>
          <a:prstGeom prst="rect">
            <a:avLst/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029968"/>
            <a:ext cx="3246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Linear / logistic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377440"/>
            <a:ext cx="3246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Best when transparency, stability and policy interpretation dominate.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06324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3063240"/>
            <a:ext cx="54864" cy="960120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3172968"/>
            <a:ext cx="3246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Tree ensembles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520440"/>
            <a:ext cx="3246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Useful for non-linearity, interactions and heterogeneous risk.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20624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79" y="4206240"/>
            <a:ext cx="54864" cy="960120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4315968"/>
            <a:ext cx="3246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Deep / advanced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663440"/>
            <a:ext cx="3246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Use when signal complexity justifies validation and governance burden.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5440680"/>
            <a:ext cx="333756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AFBFD"/>
                </a:solidFill>
                <a:latin typeface="Aptos"/>
              </a:rPr>
              <a:t>Rule of thumb: the best model is not the model with the highest AUC — it is the model with the highest sustainable decision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AEB8C5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492240"/>
            <a:ext cx="44805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 i="0">
                <a:solidFill>
                  <a:srgbClr val="AEB8C5"/>
                </a:solidFill>
                <a:latin typeface="Aptos"/>
              </a:rPr>
              <a:t>BIS / FSB: AI benefits and model-risk / governance considerations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AEB8C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Predicting returns: forecast the distribution, not just the point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Business question: where should capital be allocated when expected return and uncertainty move together?</a:t>
            </a:r>
          </a:p>
        </p:txBody>
      </p:sp>
      <p:pic>
        <p:nvPicPr>
          <p:cNvPr id="5" name="Picture 4" descr="returns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715000" cy="24952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00200"/>
            <a:ext cx="9601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636776"/>
            <a:ext cx="81381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HOW</a:t>
            </a:r>
          </a:p>
        </p:txBody>
      </p:sp>
      <p:sp>
        <p:nvSpPr>
          <p:cNvPr id="8" name="Oval 7"/>
          <p:cNvSpPr/>
          <p:nvPr/>
        </p:nvSpPr>
        <p:spPr>
          <a:xfrm>
            <a:off x="6675120" y="2084832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2011680"/>
            <a:ext cx="459943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A3440"/>
                </a:solidFill>
                <a:latin typeface="Aptos"/>
              </a:rPr>
              <a:t>Target: next-month return or excess return.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0" y="2560320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2487168"/>
            <a:ext cx="459943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A3440"/>
                </a:solidFill>
                <a:latin typeface="Aptos"/>
              </a:rPr>
              <a:t>Features: price momentum, volatility, liquidity, macro regime, sector factors.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3209544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3136392"/>
            <a:ext cx="4599432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A3440"/>
                </a:solidFill>
                <a:latin typeface="Aptos"/>
              </a:rPr>
              <a:t>Models: linear factors → gradient boosting → sequence models.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3749039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3675887"/>
            <a:ext cx="4599432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A3440"/>
                </a:solidFill>
                <a:latin typeface="Aptos"/>
              </a:rPr>
              <a:t>Evaluate: MAE/RMSE + directional accuracy + economic back-test.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37083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4407408"/>
            <a:ext cx="154533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NUMERICAL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73168"/>
            <a:ext cx="46634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192D"/>
                </a:solidFill>
                <a:latin typeface="Aptos"/>
              </a:rPr>
              <a:t>Forecast = 1.8%  |  volatility = 4.0%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48072"/>
            <a:ext cx="47091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2A3440"/>
                </a:solidFill>
                <a:latin typeface="Aptos"/>
              </a:rPr>
              <a:t>If a mandate requires return &gt; 1.0% and volatility &lt; 5.0%, the signal passes. If risk-adjusted return is the objective, compare Sharpe-like signal: 1.8 / 4.0 = 0.45.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87568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2767AD"/>
                </a:solidFill>
                <a:latin typeface="Aptos"/>
              </a:rPr>
              <a:t>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5650992"/>
            <a:ext cx="94183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Prediction becomes useful only after portfolio constraints, transaction costs and downside scenarios are applied.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Classifying loan defaults: the model is only half the credit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A PD classifier converts borrower information into a probability — the bank still has to decide what to do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2148840" cy="11704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4864" cy="1170432"/>
          </a:xfrm>
          <a:prstGeom prst="rect">
            <a:avLst/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920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Applicant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192024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Income • DPD • utilisation • bureau • vintage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212848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627632"/>
            <a:ext cx="2148840" cy="11704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27632"/>
            <a:ext cx="54864" cy="1170432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1920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PD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84832"/>
            <a:ext cx="192024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Logistic / tree / boosting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2212848"/>
            <a:ext cx="457200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1627632"/>
            <a:ext cx="2148840" cy="11704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627632"/>
            <a:ext cx="54864" cy="1170432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737360"/>
            <a:ext cx="1920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84832"/>
            <a:ext cx="192024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Approve / refer / decline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79" y="2212848"/>
            <a:ext cx="457201" cy="0"/>
          </a:xfrm>
          <a:prstGeom prst="line">
            <a:avLst/>
          </a:prstGeom>
          <a:ln w="3175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20" y="1627632"/>
            <a:ext cx="2148840" cy="11704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627632"/>
            <a:ext cx="54864" cy="1170432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737360"/>
            <a:ext cx="1920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Economic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084832"/>
            <a:ext cx="192024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LGD × EAD × 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27248"/>
            <a:ext cx="3840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Illustrative validation set: 10,000 loans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0440"/>
            <a:ext cx="3794760" cy="2057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39312"/>
            <a:ext cx="731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A3440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621024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99A4B1"/>
                </a:solidFill>
                <a:latin typeface="Aptos"/>
              </a:rPr>
              <a:t>Actual GOOD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3621024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99A4B1"/>
                </a:solidFill>
                <a:latin typeface="Aptos"/>
              </a:rPr>
              <a:t>Actual BAD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160520"/>
            <a:ext cx="822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9A4B1"/>
                </a:solidFill>
                <a:latin typeface="Aptos"/>
              </a:rPr>
              <a:t>Pred 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92040"/>
            <a:ext cx="822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9A4B1"/>
                </a:solidFill>
                <a:latin typeface="Aptos"/>
              </a:rPr>
              <a:t>Pred BAD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47088" y="4023360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47088" y="4169664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C192D"/>
                </a:solidFill>
                <a:latin typeface="Aptos"/>
              </a:rPr>
              <a:t>8,300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54096" y="4023360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54096" y="4169664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C192D"/>
                </a:solidFill>
                <a:latin typeface="Aptos"/>
              </a:rPr>
              <a:t>300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088" y="4736592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47088" y="4882896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C192D"/>
                </a:solidFill>
                <a:latin typeface="Aptos"/>
              </a:rPr>
              <a:t>400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54096" y="4736592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7E2E2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54096" y="4882896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C192D"/>
                </a:solidFill>
                <a:latin typeface="Aptos"/>
              </a:rPr>
              <a:t>1,000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456432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92624" y="3566160"/>
            <a:ext cx="13075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71.4%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92624" y="3986783"/>
            <a:ext cx="1307592" cy="292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precision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456432"/>
            <a:ext cx="54864" cy="914400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29400" y="3456432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5704" y="3566160"/>
            <a:ext cx="13075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76.9%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3986783"/>
            <a:ext cx="1307592" cy="292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recall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3456432"/>
            <a:ext cx="54864" cy="914400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12480" y="3456432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58784" y="3566160"/>
            <a:ext cx="13075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3.7%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3986783"/>
            <a:ext cx="1307592" cy="292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bad 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456432"/>
            <a:ext cx="54864" cy="914400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95560" y="3456432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41864" y="3566160"/>
            <a:ext cx="850392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92D"/>
                </a:solidFill>
                <a:latin typeface="Aptos"/>
              </a:rPr>
              <a:t>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41864" y="3986783"/>
            <a:ext cx="850392" cy="292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99A4B1"/>
                </a:solidFill>
                <a:latin typeface="Aptos"/>
              </a:rPr>
              <a:t>capture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3456432"/>
            <a:ext cx="54864" cy="914400"/>
          </a:xfrm>
          <a:prstGeom prst="rect">
            <a:avLst/>
          </a:prstGeom>
          <a:solidFill>
            <a:srgbClr val="31855D"/>
          </a:solidFill>
          <a:ln>
            <a:solidFill>
              <a:srgbClr val="31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846320" y="4645152"/>
            <a:ext cx="9601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4681728"/>
            <a:ext cx="81381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RED FLAGS</a:t>
            </a:r>
          </a:p>
        </p:txBody>
      </p:sp>
      <p:sp>
        <p:nvSpPr>
          <p:cNvPr id="57" name="Oval 56"/>
          <p:cNvSpPr/>
          <p:nvPr/>
        </p:nvSpPr>
        <p:spPr>
          <a:xfrm>
            <a:off x="4846320" y="5074920"/>
            <a:ext cx="82296" cy="82296"/>
          </a:xfrm>
          <a:prstGeom prst="ellipse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01768" y="5001768"/>
            <a:ext cx="2862072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Target leakage: using information created after the decision date.</a:t>
            </a:r>
          </a:p>
        </p:txBody>
      </p:sp>
      <p:sp>
        <p:nvSpPr>
          <p:cNvPr id="59" name="Oval 58"/>
          <p:cNvSpPr/>
          <p:nvPr/>
        </p:nvSpPr>
        <p:spPr>
          <a:xfrm>
            <a:off x="7863840" y="5074920"/>
            <a:ext cx="82296" cy="82296"/>
          </a:xfrm>
          <a:prstGeom prst="ellipse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9288" y="5001768"/>
            <a:ext cx="3182112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Imbalanced classes: accuracy can look impressive while missing bads.</a:t>
            </a:r>
          </a:p>
        </p:txBody>
      </p:sp>
      <p:sp>
        <p:nvSpPr>
          <p:cNvPr id="61" name="Oval 60"/>
          <p:cNvSpPr/>
          <p:nvPr/>
        </p:nvSpPr>
        <p:spPr>
          <a:xfrm>
            <a:off x="4846320" y="5559552"/>
            <a:ext cx="82296" cy="82296"/>
          </a:xfrm>
          <a:prstGeom prst="ellipse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01768" y="5486400"/>
            <a:ext cx="6199632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Probability ≠ action: threshold must reflect loss, capital and appetite.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Credit scoring &amp; lending decisions: move from score to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The CRO does not approve an application because AUC is high. The CRO approves when risk-adjusted economics are acceptable.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81912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Illustrative scorecard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31855D"/>
          </a:solidFill>
          <a:ln>
            <a:solidFill>
              <a:srgbClr val="31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66544"/>
            <a:ext cx="12344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AFBFD"/>
                </a:solidFill>
                <a:latin typeface="Aptos"/>
              </a:rPr>
              <a:t>750+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938528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2066544"/>
            <a:ext cx="25603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192D"/>
                </a:solidFill>
                <a:latin typeface="Aptos"/>
              </a:rPr>
              <a:t>Approve / best pricing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88336"/>
            <a:ext cx="12344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AFBFD"/>
                </a:solidFill>
                <a:latin typeface="Aptos"/>
              </a:rPr>
              <a:t>700–749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560320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688336"/>
            <a:ext cx="25603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192D"/>
                </a:solidFill>
                <a:latin typeface="Aptos"/>
              </a:rPr>
              <a:t>Approve /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82112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10128"/>
            <a:ext cx="12344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AFBFD"/>
                </a:solidFill>
                <a:latin typeface="Aptos"/>
              </a:rPr>
              <a:t>650–699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182112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310128"/>
            <a:ext cx="25603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192D"/>
                </a:solidFill>
                <a:latin typeface="Aptos"/>
              </a:rPr>
              <a:t>Refer / tighter terms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03904"/>
            <a:ext cx="1234440" cy="502920"/>
          </a:xfrm>
          <a:prstGeom prst="roundRect">
            <a:avLst>
              <a:gd name="adj" fmla="val 8000"/>
            </a:avLst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12344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AFBFD"/>
                </a:solidFill>
                <a:latin typeface="Aptos"/>
              </a:rPr>
              <a:t>&lt;650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803904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931920"/>
            <a:ext cx="25603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192D"/>
                </a:solidFill>
                <a:latin typeface="Aptos"/>
              </a:rPr>
              <a:t>Decline / manual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58191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9552" y="1618488"/>
            <a:ext cx="154533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STEP-BY-STEP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993392"/>
            <a:ext cx="3200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Illustrative loan: EAD = ₹10M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404872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2404872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0C192D"/>
                </a:solidFill>
                <a:latin typeface="Aptos"/>
              </a:rPr>
              <a:t>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852928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LGD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852928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0C192D"/>
                </a:solidFill>
                <a:latin typeface="Aptos"/>
              </a:rPr>
              <a:t>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300984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Expected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300984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0C192D"/>
                </a:solidFill>
                <a:latin typeface="Aptos"/>
              </a:rPr>
              <a:t>₹10M × 2.5% × 40% = ₹0.10M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749040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Interest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749040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0C192D"/>
                </a:solidFill>
                <a:latin typeface="Aptos"/>
              </a:rPr>
              <a:t>₹0.65M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197096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Operating + funding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197096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0C192D"/>
                </a:solidFill>
                <a:latin typeface="Aptos"/>
              </a:rPr>
              <a:t>₹0.22M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645152"/>
            <a:ext cx="1691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99A4B1"/>
                </a:solidFill>
                <a:latin typeface="Aptos"/>
              </a:rPr>
              <a:t>Risk-adjusted contribution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645152"/>
            <a:ext cx="4343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192D"/>
                </a:solidFill>
                <a:latin typeface="Aptos"/>
              </a:rPr>
              <a:t>₹0.65M − ₹0.22M − ₹0.10M = ₹0.33M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5184648"/>
            <a:ext cx="5897880" cy="621792"/>
          </a:xfrm>
          <a:prstGeom prst="roundRect">
            <a:avLst>
              <a:gd name="adj" fmla="val 8000"/>
            </a:avLst>
          </a:prstGeom>
          <a:solidFill>
            <a:srgbClr val="E8F1EC"/>
          </a:solidFill>
          <a:ln>
            <a:solidFill>
              <a:srgbClr val="D2E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5376672"/>
            <a:ext cx="5532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31855D"/>
                </a:solidFill>
                <a:latin typeface="Aptos"/>
              </a:rPr>
              <a:t>SO WHAT  →  The score is a gate; the economics determine the appetite.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852160"/>
            <a:ext cx="10607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1">
                <a:solidFill>
                  <a:srgbClr val="2A3440"/>
                </a:solidFill>
                <a:latin typeface="Aptos"/>
              </a:rPr>
              <a:t>MRM / Model Risk question: is the PD calibrated and stable enough to support pricing, provisioning and capital decisions?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Macroeconomic forecasting: connect scenarios to portfolio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Macro forecasting is valuable when it changes the timing or severity of a credit, liquidity or capital decision.</a:t>
            </a:r>
          </a:p>
        </p:txBody>
      </p:sp>
      <p:pic>
        <p:nvPicPr>
          <p:cNvPr id="5" name="Picture 4" descr="macro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5623560" cy="2526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645920"/>
            <a:ext cx="4480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767AD"/>
                </a:solidFill>
                <a:latin typeface="Aptos"/>
              </a:rPr>
              <a:t>MACRO → PORTFOLIO TRANSMISSION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084831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9128" y="2212848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0C192D"/>
                </a:solidFill>
                <a:latin typeface="Aptos"/>
              </a:rPr>
              <a:t>GDP / unemployment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12848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084831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2212848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2A3440"/>
                </a:solidFill>
                <a:latin typeface="Aptos"/>
              </a:rPr>
              <a:t>PD migration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706624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2834640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0C192D"/>
                </a:solidFill>
                <a:latin typeface="Aptos"/>
              </a:rPr>
              <a:t>Rates / inflation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834640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706624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2834640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2A3440"/>
                </a:solidFill>
                <a:latin typeface="Aptos"/>
              </a:rPr>
              <a:t>DSCR &amp; affordability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328416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3456432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0C192D"/>
                </a:solidFill>
                <a:latin typeface="Aptos"/>
              </a:rPr>
              <a:t>FX / commodity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456432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328416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3456432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2A3440"/>
                </a:solidFill>
                <a:latin typeface="Aptos"/>
              </a:rPr>
              <a:t>Corporate cash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950208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407822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0C192D"/>
                </a:solidFill>
                <a:latin typeface="Aptos"/>
              </a:rPr>
              <a:t>Property prices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078224"/>
            <a:ext cx="320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3950208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4078224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30" b="1" i="0">
                <a:solidFill>
                  <a:srgbClr val="2A3440"/>
                </a:solidFill>
                <a:latin typeface="Aptos"/>
              </a:rPr>
              <a:t>LGD / collateral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663440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4700016"/>
            <a:ext cx="117957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DECISION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65776"/>
            <a:ext cx="4572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Downturn scenario: unemployment +2pp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13248"/>
            <a:ext cx="46177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If portfolio PD rises from 2.5% → 4.0% on ₹1B EAD at 40% LGD, expected loss increases from ₹10M → ₹16M: +₹6M.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492240"/>
            <a:ext cx="44805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 i="0">
                <a:solidFill>
                  <a:srgbClr val="99A4B1"/>
                </a:solidFill>
                <a:latin typeface="Aptos"/>
              </a:rPr>
              <a:t>Illustrative scenario; BIS notes AI can support economic forecasting and policy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Market risk management: forecast volatility, then stress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The failure mode is not 'the model was wrong' — it is relying on a single number when the regime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73152" cy="713232"/>
          </a:xfrm>
          <a:prstGeom prst="rect">
            <a:avLst/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Daily risk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46504"/>
            <a:ext cx="3337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A3440"/>
                </a:solidFill>
                <a:latin typeface="Aptos"/>
              </a:rPr>
              <a:t>Volatility / correlation / liquidity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340864"/>
            <a:ext cx="0" cy="128016"/>
          </a:xfrm>
          <a:prstGeom prst="line">
            <a:avLst/>
          </a:prstGeom>
          <a:ln w="2159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56032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73152" cy="713232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1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VaR /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79191"/>
            <a:ext cx="3337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A3440"/>
                </a:solidFill>
                <a:latin typeface="Aptos"/>
              </a:rPr>
              <a:t>Normal-period loss estimate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3273552"/>
            <a:ext cx="0" cy="128016"/>
          </a:xfrm>
          <a:prstGeom prst="line">
            <a:avLst/>
          </a:prstGeom>
          <a:ln w="2159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3493008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93008"/>
            <a:ext cx="73152" cy="713232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Stress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611879"/>
            <a:ext cx="3337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A3440"/>
                </a:solidFill>
                <a:latin typeface="Aptos"/>
              </a:rPr>
              <a:t>Rates, spreads, FX, equity shocks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206240"/>
            <a:ext cx="0" cy="128016"/>
          </a:xfrm>
          <a:prstGeom prst="line">
            <a:avLst/>
          </a:prstGeom>
          <a:ln w="21590">
            <a:solidFill>
              <a:srgbClr val="17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4425696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425696"/>
            <a:ext cx="73152" cy="713232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192D"/>
                </a:solidFill>
                <a:latin typeface="Aptos"/>
              </a:rPr>
              <a:t>Limits &amp;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544568"/>
            <a:ext cx="3337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A3440"/>
                </a:solidFill>
                <a:latin typeface="Aptos"/>
              </a:rPr>
              <a:t>Reduce risk / hedge / raise liquidity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645920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682496"/>
            <a:ext cx="127101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NUMERICAL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84831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C192D"/>
                </a:solidFill>
                <a:latin typeface="Aptos"/>
              </a:rPr>
              <a:t>1-day 99% VaR (illustrative)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496312"/>
            <a:ext cx="23774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A3440"/>
                </a:solidFill>
                <a:latin typeface="Aptos"/>
              </a:rPr>
              <a:t>Portfolio = ₹500M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816352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A3440"/>
                </a:solidFill>
                <a:latin typeface="Aptos"/>
              </a:rPr>
              <a:t>Daily volatility = 1.6%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36392"/>
            <a:ext cx="2286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A3440"/>
                </a:solidFill>
                <a:latin typeface="Aptos"/>
              </a:rPr>
              <a:t>99% z ≈ 2.33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566160"/>
            <a:ext cx="4526280" cy="566928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730752"/>
            <a:ext cx="4206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767AD"/>
                </a:solidFill>
                <a:latin typeface="Aptos"/>
              </a:rPr>
              <a:t>VaR ≈ ₹500M × 1.6% × 2.33 = ₹18.64M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40233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A3440"/>
                </a:solidFill>
                <a:latin typeface="Aptos"/>
              </a:rPr>
              <a:t>Stress: volatility doubles to 3.2%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773168"/>
            <a:ext cx="4480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A3440"/>
                </a:solidFill>
                <a:latin typeface="Aptos"/>
              </a:rPr>
              <a:t>A simplistic normal VaR would rise to ≈ ₹37.28M — but correlation/liquidity shocks can make realised losses larger.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596128"/>
            <a:ext cx="4526280" cy="502920"/>
          </a:xfrm>
          <a:prstGeom prst="roundRect">
            <a:avLst>
              <a:gd name="adj" fmla="val 8000"/>
            </a:avLst>
          </a:prstGeom>
          <a:solidFill>
            <a:srgbClr val="F7E2E2"/>
          </a:solidFill>
          <a:ln>
            <a:solidFill>
              <a:srgbClr val="F0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574243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B84343"/>
                </a:solidFill>
                <a:latin typeface="Aptos"/>
              </a:rPr>
              <a:t>MRM RED FLAG  →  regime change + model concentration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Mortgage prepayment modeling: a borrower can default less — and still hurt the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USE CASE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A3440"/>
                </a:solidFill>
                <a:latin typeface="Aptos"/>
              </a:rPr>
              <a:t>Prepayment is an option embedded in the loan. Modeling it is an ALM, duration and profitability problem — not just a forecasting exercise.</a:t>
            </a:r>
          </a:p>
        </p:txBody>
      </p:sp>
      <p:pic>
        <p:nvPicPr>
          <p:cNvPr id="5" name="Picture 4" descr="prepay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5623560" cy="25481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1645920"/>
            <a:ext cx="68580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682496"/>
            <a:ext cx="53949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HOW</a:t>
            </a:r>
          </a:p>
        </p:txBody>
      </p:sp>
      <p:sp>
        <p:nvSpPr>
          <p:cNvPr id="8" name="Oval 7"/>
          <p:cNvSpPr/>
          <p:nvPr/>
        </p:nvSpPr>
        <p:spPr>
          <a:xfrm>
            <a:off x="6629400" y="2103120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2029968"/>
            <a:ext cx="4507992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A3440"/>
                </a:solidFill>
                <a:latin typeface="Aptos"/>
              </a:rPr>
              <a:t>Model the probability of prepayment in each period, conditional on survival.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2706624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633472"/>
            <a:ext cx="4507992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A3440"/>
                </a:solidFill>
                <a:latin typeface="Aptos"/>
              </a:rPr>
              <a:t>Key drivers: rate incentive, seasoning, borrower type, balance, geography, macro regime.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3410712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3337560"/>
            <a:ext cx="4507992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A3440"/>
                </a:solidFill>
                <a:latin typeface="Aptos"/>
              </a:rPr>
              <a:t>Use survival / hazard methods rather than treating prepayment as a one-off binary event.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160520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4197096"/>
            <a:ext cx="127101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NUMERICAL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572000"/>
            <a:ext cx="46177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C192D"/>
                </a:solidFill>
                <a:latin typeface="Aptos"/>
              </a:rPr>
              <a:t>₹100M pool × 8% expected annual prepayment = ₹8M principal returned earlier than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166360"/>
            <a:ext cx="4617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2A3440"/>
                </a:solidFill>
                <a:latin typeface="Aptos"/>
              </a:rPr>
              <a:t>If reinvestment yield falls by 150 bps, the economics of early principal return can deteriorate materially. This is the bridge from model output → NII / duration / hedge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Case study 1 — Retail lender: reducing bad approvals without strangling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DETAILED CASE STUDY • ILLUSTRATIVE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A3440"/>
                </a:solidFill>
                <a:latin typeface="Aptos"/>
              </a:rPr>
              <a:t>Illustrative bank portfolio: 100,000 applications • 3.0% observed default rate • decision horizon = 12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196596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746504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1" i="0">
                <a:solidFill>
                  <a:srgbClr val="FAFBFD"/>
                </a:solidFill>
                <a:latin typeface="Apto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627632"/>
            <a:ext cx="160020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0904" y="1746504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1" i="0">
                <a:solidFill>
                  <a:srgbClr val="FAFBFD"/>
                </a:solidFill>
                <a:latin typeface="Aptos"/>
              </a:rPr>
              <a:t>Legacy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627632"/>
            <a:ext cx="178308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746504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1" i="0">
                <a:solidFill>
                  <a:srgbClr val="FAFBFD"/>
                </a:solidFill>
                <a:latin typeface="Aptos"/>
              </a:rPr>
              <a:t>ML-assisted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1031" y="1627632"/>
            <a:ext cx="205740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3" y="1746504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1" i="0">
                <a:solidFill>
                  <a:srgbClr val="FAFBFD"/>
                </a:solidFill>
                <a:latin typeface="Aptos"/>
              </a:rPr>
              <a:t>Decision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084832"/>
            <a:ext cx="196596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212848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Approval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7752" y="2084832"/>
            <a:ext cx="16002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212848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2084832"/>
            <a:ext cx="178308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2212848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65%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1031" y="2084832"/>
            <a:ext cx="20574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3" y="2212848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0C192D"/>
                </a:solidFill>
                <a:latin typeface="Aptos"/>
              </a:rPr>
              <a:t>+3pp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587752"/>
            <a:ext cx="196596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715768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Bad rate of approvals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87752" y="2587752"/>
            <a:ext cx="160020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0904" y="2715768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4.1%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2587752"/>
            <a:ext cx="178308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2715768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3.4%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71031" y="2587752"/>
            <a:ext cx="205740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44183" y="2715768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0C192D"/>
                </a:solidFill>
                <a:latin typeface="Aptos"/>
              </a:rPr>
              <a:t>−70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3090672"/>
            <a:ext cx="196596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218688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Bad loans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87752" y="3090672"/>
            <a:ext cx="16002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60904" y="3218688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2,542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7952" y="3090672"/>
            <a:ext cx="178308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3218688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2,210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3090672"/>
            <a:ext cx="20574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3218688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0C192D"/>
                </a:solidFill>
                <a:latin typeface="Aptos"/>
              </a:rPr>
              <a:t>−332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593592"/>
            <a:ext cx="196596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3721608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Expected loss / bad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87752" y="3593592"/>
            <a:ext cx="160020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60904" y="3721608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₹0.40M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7952" y="3593592"/>
            <a:ext cx="178308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3721608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₹0.40M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71031" y="3593592"/>
            <a:ext cx="2057400" cy="502920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44183" y="3721608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0C192D"/>
                </a:solidFill>
                <a:latin typeface="Aptos"/>
              </a:rPr>
              <a:t>same assumption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4096512"/>
            <a:ext cx="196596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4224528"/>
            <a:ext cx="18196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Annual EL avoided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87752" y="4096512"/>
            <a:ext cx="16002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0904" y="4224528"/>
            <a:ext cx="1453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87952" y="4096512"/>
            <a:ext cx="178308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1104" y="4224528"/>
            <a:ext cx="163677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C192D"/>
                </a:solidFill>
                <a:latin typeface="Aptos"/>
              </a:rPr>
              <a:t>₹132.8M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71031" y="4096512"/>
            <a:ext cx="2057400" cy="502920"/>
          </a:xfrm>
          <a:prstGeom prst="rect">
            <a:avLst/>
          </a:prstGeom>
          <a:solidFill>
            <a:srgbClr val="EDF1F6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44183" y="4224528"/>
            <a:ext cx="191109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0C192D"/>
                </a:solidFill>
                <a:latin typeface="Aptos"/>
              </a:rPr>
              <a:t>economic upside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1627632"/>
            <a:ext cx="114300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22792" y="1664208"/>
            <a:ext cx="99669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WHAT CHANGED?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057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2057400"/>
            <a:ext cx="54864" cy="868680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2167128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C192D"/>
                </a:solidFill>
                <a:latin typeface="Aptos"/>
              </a:rPr>
              <a:t>Better segmentation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2514600"/>
            <a:ext cx="2560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High-risk applicants moved to manual review.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49640" y="3090672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49640" y="3090672"/>
            <a:ext cx="54864" cy="868680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3200400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C192D"/>
                </a:solidFill>
                <a:latin typeface="Aptos"/>
              </a:rPr>
              <a:t>Better calibration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3547872"/>
            <a:ext cx="2560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PD bands aligned to realised default rates.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49640" y="4123944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49640" y="4123944"/>
            <a:ext cx="54864" cy="868680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423367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C192D"/>
                </a:solidFill>
                <a:latin typeface="Aptos"/>
              </a:rPr>
              <a:t>Policy optimisation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4581144"/>
            <a:ext cx="2560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A3440"/>
                </a:solidFill>
                <a:latin typeface="Aptos"/>
              </a:rPr>
              <a:t>Threshold chosen using loss + growth economics.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5230368"/>
            <a:ext cx="2788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Calculation: 332 fewer bad loans × ₹0.40M = ₹132.8M annual expected-loss avoidance.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989320"/>
            <a:ext cx="105613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99A4B1"/>
                </a:solidFill>
                <a:latin typeface="Aptos"/>
              </a:rPr>
              <a:t>Key caution: illustrative economics assume constant LGD and no adverse selection; a production study would include pricing, utilisation and vintage effects.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Case study 2 — Mortgage portfolio: prepayment + 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DETAILED CASE STUDY • ILLUSTRATIVE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A3440"/>
                </a:solidFill>
                <a:latin typeface="Aptos"/>
              </a:rPr>
              <a:t>Objective: quantify how a prepayment model can change hedge sizing, NII expectations and liquidity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50876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1417319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FAFBFD"/>
                </a:solidFill>
                <a:latin typeface="Aptos"/>
              </a:rPr>
              <a:t>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39" y="1645920"/>
            <a:ext cx="114300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59" y="1755648"/>
            <a:ext cx="10515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FAFBFD"/>
                </a:solidFill>
                <a:latin typeface="Aptos"/>
              </a:rPr>
              <a:t>Prepay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645920"/>
            <a:ext cx="205740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59" y="1755648"/>
            <a:ext cx="19659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FAFBFD"/>
                </a:solidFill>
                <a:latin typeface="Aptos"/>
              </a:rPr>
              <a:t>Principal returned 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645920"/>
            <a:ext cx="178308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755648"/>
            <a:ext cx="1691639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FAFBFD"/>
                </a:solidFill>
                <a:latin typeface="Aptos"/>
              </a:rPr>
              <a:t>Reinvestment yield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1965960" cy="457200"/>
          </a:xfrm>
          <a:prstGeom prst="rect">
            <a:avLst/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55648"/>
            <a:ext cx="1874519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FAFBFD"/>
                </a:solidFill>
                <a:latin typeface="Aptos"/>
              </a:rPr>
              <a:t>Illustrative NII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150876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58568"/>
            <a:ext cx="14173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C192D"/>
                </a:solidFill>
                <a:latin typeface="Aptos"/>
              </a:rPr>
              <a:t>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39" y="2103120"/>
            <a:ext cx="114300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59" y="2258568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2103120"/>
            <a:ext cx="205740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59" y="2258568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₹80M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103120"/>
            <a:ext cx="178308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258568"/>
            <a:ext cx="1691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6.0%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103120"/>
            <a:ext cx="196596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258568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C192D"/>
                </a:solidFill>
                <a:latin typeface="Aptos"/>
              </a:rPr>
              <a:t>Neutral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70048"/>
            <a:ext cx="1508760" cy="566928"/>
          </a:xfrm>
          <a:prstGeom prst="rect">
            <a:avLst/>
          </a:prstGeom>
          <a:solidFill>
            <a:srgbClr val="FAEFEF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825496"/>
            <a:ext cx="14173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C192D"/>
                </a:solidFill>
                <a:latin typeface="Aptos"/>
              </a:rPr>
              <a:t>Fast prepay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39" y="2670048"/>
            <a:ext cx="1143000" cy="566928"/>
          </a:xfrm>
          <a:prstGeom prst="rect">
            <a:avLst/>
          </a:prstGeom>
          <a:solidFill>
            <a:srgbClr val="FAEFEF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59" y="2825496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12%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39" y="2670048"/>
            <a:ext cx="2057400" cy="566928"/>
          </a:xfrm>
          <a:prstGeom prst="rect">
            <a:avLst/>
          </a:prstGeom>
          <a:solidFill>
            <a:srgbClr val="FAEFEF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59" y="2825496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₹120M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2670048"/>
            <a:ext cx="1783080" cy="566928"/>
          </a:xfrm>
          <a:prstGeom prst="rect">
            <a:avLst/>
          </a:prstGeom>
          <a:solidFill>
            <a:srgbClr val="FAEFEF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825496"/>
            <a:ext cx="1691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4.5%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670048"/>
            <a:ext cx="1965960" cy="566928"/>
          </a:xfrm>
          <a:prstGeom prst="rect">
            <a:avLst/>
          </a:prstGeom>
          <a:solidFill>
            <a:srgbClr val="FAEFEF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825496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B84343"/>
                </a:solidFill>
                <a:latin typeface="Aptos"/>
              </a:rPr>
              <a:t>Negative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236976"/>
            <a:ext cx="150876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92424"/>
            <a:ext cx="14173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C192D"/>
                </a:solidFill>
                <a:latin typeface="Aptos"/>
              </a:rPr>
              <a:t>Slow prepay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39" y="3236976"/>
            <a:ext cx="114300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59" y="3392424"/>
            <a:ext cx="1051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39" y="3236976"/>
            <a:ext cx="205740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59" y="3392424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₹50M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3236976"/>
            <a:ext cx="178308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3392424"/>
            <a:ext cx="1691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0" i="0">
                <a:solidFill>
                  <a:srgbClr val="0C192D"/>
                </a:solidFill>
                <a:latin typeface="Aptos"/>
              </a:rPr>
              <a:t>6.5%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236976"/>
            <a:ext cx="1965960" cy="566928"/>
          </a:xfrm>
          <a:prstGeom prst="rect">
            <a:avLst/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392424"/>
            <a:ext cx="187451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C192D"/>
                </a:solidFill>
                <a:latin typeface="Aptos"/>
              </a:rPr>
              <a:t>Positive / duration longer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1645920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5672" y="1682496"/>
            <a:ext cx="1271016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80" b="1" i="0">
                <a:solidFill>
                  <a:srgbClr val="FAFBFD"/>
                </a:solidFill>
                <a:latin typeface="Aptos"/>
              </a:rPr>
              <a:t>ALM TRANSMISSION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2240280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32520" y="2240280"/>
            <a:ext cx="54864" cy="493776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2350008"/>
            <a:ext cx="960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Prepayment speed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2359152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7000" y="2240280"/>
            <a:ext cx="123444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87000" y="2240280"/>
            <a:ext cx="54864" cy="493776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0" y="2350008"/>
            <a:ext cx="1005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Asset duration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935224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32520" y="2935224"/>
            <a:ext cx="54864" cy="493776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3044952"/>
            <a:ext cx="960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Asset duration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054096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87000" y="2935224"/>
            <a:ext cx="123444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87000" y="2935224"/>
            <a:ext cx="54864" cy="493776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24160" y="3044952"/>
            <a:ext cx="1005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Rate sensitivity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32520" y="3630168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32520" y="3630168"/>
            <a:ext cx="54864" cy="493776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0" y="3739896"/>
            <a:ext cx="960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Rate sensitivity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3749039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87000" y="3630168"/>
            <a:ext cx="123444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87000" y="3630168"/>
            <a:ext cx="54864" cy="493776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24160" y="3739896"/>
            <a:ext cx="1005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Hedge ratio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32520" y="4325112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32520" y="4325112"/>
            <a:ext cx="54864" cy="493776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4434840"/>
            <a:ext cx="960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Hedge ratio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4443983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CC9D43"/>
                </a:solidFill>
                <a:latin typeface="Aptos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87000" y="4325112"/>
            <a:ext cx="1234440" cy="493776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287000" y="4325112"/>
            <a:ext cx="54864" cy="493776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24160" y="4434840"/>
            <a:ext cx="1005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1" i="0">
                <a:solidFill>
                  <a:srgbClr val="0C192D"/>
                </a:solidFill>
                <a:latin typeface="Aptos"/>
              </a:rPr>
              <a:t>NII / EVE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4160520"/>
            <a:ext cx="7543800" cy="13716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" y="4370832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PRACTITIONER INSIGHT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" y="4709160"/>
            <a:ext cx="704088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A prepayment model is valuable because it changes a balance-sheet decision. The model is not the end product; hedge and funding actions are.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989320"/>
            <a:ext cx="10561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99A4B1"/>
                </a:solidFill>
                <a:latin typeface="Aptos"/>
              </a:rPr>
              <a:t>Illustrative data only; production models require loan-level history, rate curves, servicing behaviour and validation.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Four practitioners — one model, four definitions of 'good'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PRACTITIONER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2A3440"/>
                </a:solidFill>
                <a:latin typeface="Aptos"/>
              </a:rPr>
              <a:t>A technically excellent model can still fail if it is unusable for the person who owns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2395728" cy="3383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2395728" cy="91440"/>
          </a:xfrm>
          <a:prstGeom prst="rect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65960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C192D"/>
                </a:solidFill>
                <a:latin typeface="Aptos"/>
              </a:rPr>
              <a:t>CREDIT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87752"/>
            <a:ext cx="21031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C192D"/>
                </a:solidFill>
                <a:latin typeface="Aptos"/>
              </a:rPr>
              <a:t>Can I explain the risk?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83280"/>
            <a:ext cx="199339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2A3440"/>
                </a:solidFill>
                <a:latin typeface="Aptos"/>
              </a:rPr>
              <a:t>Segment • borrower story • overrides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4434840"/>
            <a:ext cx="2066543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 i="0">
                <a:solidFill>
                  <a:srgbClr val="99A4B1"/>
                </a:solidFill>
                <a:latin typeface="Aptos"/>
              </a:rPr>
              <a:t>SUCCESS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4663440"/>
            <a:ext cx="206654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767AD"/>
                </a:solidFill>
                <a:latin typeface="Aptos"/>
              </a:rPr>
              <a:t>Clear rationale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664208"/>
            <a:ext cx="2395728" cy="3383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664208"/>
            <a:ext cx="2395728" cy="91440"/>
          </a:xfrm>
          <a:prstGeom prst="rect">
            <a:avLst/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965960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C192D"/>
                </a:solidFill>
                <a:latin typeface="Aptos"/>
              </a:rPr>
              <a:t>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87752"/>
            <a:ext cx="21031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C192D"/>
                </a:solidFill>
                <a:latin typeface="Aptos"/>
              </a:rPr>
              <a:t>Does it predict?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383280"/>
            <a:ext cx="199339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2A3440"/>
                </a:solidFill>
                <a:latin typeface="Aptos"/>
              </a:rPr>
              <a:t>Feature quality • lift •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434840"/>
            <a:ext cx="2066543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 i="0">
                <a:solidFill>
                  <a:srgbClr val="99A4B1"/>
                </a:solidFill>
                <a:latin typeface="Aptos"/>
              </a:rPr>
              <a:t>SUCCESS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63440"/>
            <a:ext cx="206654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43AACC"/>
                </a:solidFill>
                <a:latin typeface="Aptos"/>
              </a:rPr>
              <a:t>Stable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664208"/>
            <a:ext cx="2395728" cy="3383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664208"/>
            <a:ext cx="2395728" cy="91440"/>
          </a:xfrm>
          <a:prstGeom prst="rect">
            <a:avLst/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C192D"/>
                </a:solidFill>
                <a:latin typeface="Aptos"/>
              </a:rPr>
              <a:t>MRM 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87752"/>
            <a:ext cx="21031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C192D"/>
                </a:solidFill>
                <a:latin typeface="Aptos"/>
              </a:rPr>
              <a:t>Can I challenge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383280"/>
            <a:ext cx="199339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2A3440"/>
                </a:solidFill>
                <a:latin typeface="Aptos"/>
              </a:rPr>
              <a:t>Validation • stability •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434840"/>
            <a:ext cx="2066543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 i="0">
                <a:solidFill>
                  <a:srgbClr val="99A4B1"/>
                </a:solidFill>
                <a:latin typeface="Aptos"/>
              </a:rPr>
              <a:t>SUCCESS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663440"/>
            <a:ext cx="206654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84343"/>
                </a:solidFill>
                <a:latin typeface="Aptos"/>
              </a:rPr>
              <a:t>Defensible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98864" y="1664208"/>
            <a:ext cx="2395728" cy="3383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8864" y="1664208"/>
            <a:ext cx="2395728" cy="91440"/>
          </a:xfrm>
          <a:prstGeom prst="rect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1965960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C192D"/>
                </a:solidFill>
                <a:latin typeface="Aptos"/>
              </a:rPr>
              <a:t>CFO / CRO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2587752"/>
            <a:ext cx="21031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C192D"/>
                </a:solidFill>
                <a:latin typeface="Aptos"/>
              </a:rPr>
              <a:t>Does it create value safely?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3383280"/>
            <a:ext cx="199339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2A3440"/>
                </a:solidFill>
                <a:latin typeface="Aptos"/>
              </a:rPr>
              <a:t>P&amp;L • capital • liquidity • appetite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4434840"/>
            <a:ext cx="2066543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 i="0">
                <a:solidFill>
                  <a:srgbClr val="99A4B1"/>
                </a:solidFill>
                <a:latin typeface="Aptos"/>
              </a:rPr>
              <a:t>SUCCESS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4663440"/>
            <a:ext cx="206654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CC9D43"/>
                </a:solidFill>
                <a:latin typeface="Aptos"/>
              </a:rPr>
              <a:t>Economic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13248"/>
            <a:ext cx="10954512" cy="603504"/>
          </a:xfrm>
          <a:prstGeom prst="roundRect">
            <a:avLst>
              <a:gd name="adj" fmla="val 8000"/>
            </a:avLst>
          </a:prstGeom>
          <a:solidFill>
            <a:srgbClr val="0C192D"/>
          </a:solidFill>
          <a:ln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96128"/>
            <a:ext cx="10515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AFBFD"/>
                </a:solidFill>
                <a:latin typeface="Aptos"/>
              </a:rPr>
              <a:t>Executive principle: optimise for decision quality, not model complexity.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Risk, governance &amp; red flags: where sophisticated models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MODEL RISK /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A3440"/>
                </a:solidFill>
                <a:latin typeface="Aptos"/>
              </a:rPr>
              <a:t>The most dangerous failure is a model that looks strong in development, survives validation, and fails silently in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B84343"/>
          </a:solidFill>
          <a:ln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37944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AFBFD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746504"/>
            <a:ext cx="3886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Leakage • stale data • bias • weak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46504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A3440"/>
                </a:solidFill>
                <a:latin typeface="Aptos"/>
              </a:rPr>
              <a:t>Prevent with point-in-time datasets + data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96312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AFBFD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615184"/>
            <a:ext cx="3886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Drift • overfit • poor calibration • instability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15184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A3440"/>
                </a:solidFill>
                <a:latin typeface="Aptos"/>
              </a:rPr>
              <a:t>Monitor performance by segment / vintage / regime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64991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64991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75303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AFBFD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483863"/>
            <a:ext cx="3886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Bad threshold • no override discipline • incentive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483863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A3440"/>
                </a:solidFill>
                <a:latin typeface="Aptos"/>
              </a:rPr>
              <a:t>Tie thresholds to loss, capital and appetite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33672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33672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43AACC"/>
          </a:solidFill>
          <a:ln>
            <a:solidFill>
              <a:srgbClr val="43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43984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AFBFD"/>
                </a:solidFill>
                <a:latin typeface="Aptos"/>
              </a:rPr>
              <a:t>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4352544"/>
            <a:ext cx="3886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Cloud / vendor dependency • cyber • outage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352544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A3440"/>
                </a:solidFill>
                <a:latin typeface="Aptos"/>
              </a:rPr>
              <a:t>Fallbacks, access controls, resilience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02352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>
            <a:solidFill>
              <a:srgbClr val="ED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102352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31855D"/>
          </a:solidFill>
          <a:ln>
            <a:solidFill>
              <a:srgbClr val="31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12664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AFBFD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5221224"/>
            <a:ext cx="3886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192D"/>
                </a:solidFill>
                <a:latin typeface="Aptos"/>
              </a:rPr>
              <a:t>Opaque rationale • weak documentation • no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221224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A3440"/>
                </a:solidFill>
                <a:latin typeface="Aptos"/>
              </a:rPr>
              <a:t>Model inventory, validation, change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053328"/>
            <a:ext cx="10927080" cy="310896"/>
          </a:xfrm>
          <a:prstGeom prst="roundRect">
            <a:avLst>
              <a:gd name="adj" fmla="val 8000"/>
            </a:avLst>
          </a:prstGeom>
          <a:solidFill>
            <a:srgbClr val="F7E2E2"/>
          </a:solidFill>
          <a:ln>
            <a:solidFill>
              <a:srgbClr val="F0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6117336"/>
            <a:ext cx="105613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80" b="1" i="0">
                <a:solidFill>
                  <a:srgbClr val="B84343"/>
                </a:solidFill>
                <a:latin typeface="Aptos"/>
              </a:rPr>
              <a:t>BIS / FSB emphasis: explainability, data quality, model risk, third-party concentration and operational resilience matter alongside model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492240"/>
            <a:ext cx="44805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 i="0">
                <a:solidFill>
                  <a:srgbClr val="99A4B1"/>
                </a:solidFill>
                <a:latin typeface="Aptos"/>
              </a:rPr>
              <a:t>BIS / FSB AI &amp; financial stability materials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AFBFD"/>
                </a:solidFill>
                <a:latin typeface="Aptos"/>
              </a:rPr>
              <a:t>Executive playbook — six questions before putting AI into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C9D43"/>
                </a:solidFill>
                <a:latin typeface="Aptos"/>
              </a:rPr>
              <a:t>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60020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7393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57276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What decision changes?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8366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If no decision changes, do not industrialise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926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9981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9864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What is the economic objective?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20954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Growth, loss, capital, liquidity or a combination.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6908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2519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42569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22452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What can break?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3542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Data, drift, regime change, bias, vendor and cyber risks.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1732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160020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77393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157276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Who challenges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88366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Independent validation + accountable business owner.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74320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4" y="2926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09981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89864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How is it monitored?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20954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Performance, calibration, stability, overrides and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06908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172A46"/>
          </a:solidFill>
          <a:ln>
            <a:solidFill>
              <a:srgbClr val="37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64224" y="42519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425696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C192D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224528"/>
            <a:ext cx="3977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AFBFD"/>
                </a:solidFill>
                <a:latin typeface="Aptos"/>
              </a:rPr>
              <a:t>What is the fallback?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4535424"/>
            <a:ext cx="397763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C3CFDD"/>
                </a:solidFill>
                <a:latin typeface="Aptos"/>
              </a:rPr>
              <a:t>Human review / challenger model / policy stop / limit trigger.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650992"/>
            <a:ext cx="10716768" cy="548640"/>
          </a:xfrm>
          <a:prstGeom prst="roundRect">
            <a:avLst>
              <a:gd name="adj" fmla="val 8000"/>
            </a:avLst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24728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80" b="1" i="0">
                <a:solidFill>
                  <a:srgbClr val="0C192D"/>
                </a:solidFill>
                <a:latin typeface="Aptos"/>
              </a:rPr>
              <a:t>FINAL TAKEAWAY  →  AI creates value in banking when prediction is tightly coupled to economics, controls and accountable decisions.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AEB8C5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492240"/>
            <a:ext cx="44805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20" b="0" i="0">
                <a:solidFill>
                  <a:srgbClr val="AEB8C5"/>
                </a:solidFill>
                <a:latin typeface="Aptos"/>
              </a:rPr>
              <a:t>Sources: BIS / FSB materials on AI in financial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AEB8C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92D"/>
                </a:solidFill>
                <a:latin typeface="Aptos"/>
              </a:rPr>
              <a:t>Selected source base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"/>
            <a:ext cx="10789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767AD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Regulatory / industry context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764792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10235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BIS / FSI — Financial stability implications of artificial intelligence (Executive Summary, 2025).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404872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10235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BIS — Artificial intelligence and financial stability / banking supervision materials (2024–2026).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044952"/>
            <a:ext cx="82296" cy="82296"/>
          </a:xfrm>
          <a:prstGeom prst="ellipse">
            <a:avLst/>
          </a:prstGeom>
          <a:solidFill>
            <a:srgbClr val="2767AD"/>
          </a:solidFill>
          <a:ln>
            <a:solidFill>
              <a:srgbClr val="27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510235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BCBS — Newsletter on artificial intelligence and machine learning (2022): explainability, governance and resilience.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C192D"/>
                </a:solidFill>
                <a:latin typeface="Aptos"/>
              </a:rPr>
              <a:t>Deck assumptions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327648" y="1764792"/>
            <a:ext cx="82296" cy="82296"/>
          </a:xfrm>
          <a:prstGeom prst="ellipse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91640"/>
            <a:ext cx="482803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All numeric examples and case-study data are illustrative unless explicitly identified as industry/regulatory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6327648" y="2532888"/>
            <a:ext cx="82296" cy="82296"/>
          </a:xfrm>
          <a:prstGeom prst="ellipse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459736"/>
            <a:ext cx="482803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Production deployment would require point-in-time data, independent validation, calibration, stress testing and governance.</a:t>
            </a:r>
          </a:p>
        </p:txBody>
      </p:sp>
      <p:sp>
        <p:nvSpPr>
          <p:cNvPr id="16" name="Oval 15"/>
          <p:cNvSpPr/>
          <p:nvPr/>
        </p:nvSpPr>
        <p:spPr>
          <a:xfrm>
            <a:off x="6327648" y="3300984"/>
            <a:ext cx="82296" cy="82296"/>
          </a:xfrm>
          <a:prstGeom prst="ellipse">
            <a:avLst/>
          </a:prstGeom>
          <a:solidFill>
            <a:srgbClr val="CC9D43"/>
          </a:solidFill>
          <a:ln>
            <a:solidFill>
              <a:srgbClr val="CC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3227832"/>
            <a:ext cx="482803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A3440"/>
                </a:solidFill>
                <a:latin typeface="Aptos"/>
              </a:rPr>
              <a:t>Model performance should be evaluated jointly with economic value, stability and decision outcomes.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03520"/>
            <a:ext cx="10716768" cy="749808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1828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2767AD"/>
                </a:solidFill>
                <a:latin typeface="Aptos"/>
              </a:rPr>
              <a:t>Recommended teaching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468112"/>
            <a:ext cx="8732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92D"/>
                </a:solidFill>
                <a:latin typeface="Aptos"/>
              </a:rPr>
              <a:t>Concept → worked example → case study → practitioner challenge → executive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1" i="0">
                <a:solidFill>
                  <a:srgbClr val="99A4B1"/>
                </a:solidFill>
                <a:latin typeface="Aptos"/>
              </a:rPr>
              <a:t>MODULE 6  •  CASE STUDIES &amp; PRACTITIONER PERSPECTIVES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9A4B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