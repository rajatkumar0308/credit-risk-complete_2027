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LGD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6%</c:v>
                </c:pt>
                <c:pt idx="1">
                  <c:v>8%</c:v>
                </c:pt>
                <c:pt idx="2">
                  <c:v>10%</c:v>
                </c:pt>
                <c:pt idx="3">
                  <c:v>12%</c:v>
                </c:pt>
                <c:pt idx="4">
                  <c:v>15%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0.49666399419430307</c:v>
                </c:pt>
                <c:pt idx="1">
                  <c:v>0.5105727673580441</c:v>
                </c:pt>
                <c:pt idx="2">
                  <c:v>0.5237587087508591</c:v>
                </c:pt>
                <c:pt idx="3">
                  <c:v>0.5362736702305336</c:v>
                </c:pt>
                <c:pt idx="4">
                  <c:v>0.55389013545163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0%" sourceLinked="0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Recovery Cash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874519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CDD8E6"/>
                </a:solidFill>
                <a:latin typeface="Aptos"/>
              </a:rPr>
              <a:t>Workout Period • Discounting • Economic Recovery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71800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How a bank converts post-default collections into an economically meaningful recovery value — and ultimately LGD.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80760"/>
            <a:ext cx="6400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AB9CD"/>
                </a:solidFill>
                <a:latin typeface="Aptos"/>
              </a:rPr>
              <a:t>Corporate Credit Risk Training | Premium Conceptual Module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1F34"/>
                </a:solidFill>
                <a:latin typeface="Aptos"/>
              </a:rPr>
              <a:t>The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97482"/>
                </a:solidFill>
                <a:latin typeface="Aptos"/>
              </a:rPr>
              <a:t>Recovery is not just “how much”; it is also “when” and “at what cost”.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606040" cy="356616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618488"/>
            <a:ext cx="227685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75B91"/>
                </a:solidFill>
                <a:latin typeface="Aptos"/>
              </a:rPr>
              <a:t>1  GROSS 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993391"/>
            <a:ext cx="2276856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Cash collected, collateral sale, guarantee, insurance, restructure or sale of debt.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93008" y="1508760"/>
            <a:ext cx="2606040" cy="356616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618488"/>
            <a:ext cx="227685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B44141"/>
                </a:solidFill>
                <a:latin typeface="Aptos"/>
              </a:rPr>
              <a:t>2  WORKOUT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993391"/>
            <a:ext cx="2276856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Legal, collection, valuation, enforcement and other attributable costs.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5936" y="1508760"/>
            <a:ext cx="2606040" cy="356616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618488"/>
            <a:ext cx="227685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BE9137"/>
                </a:solidFill>
                <a:latin typeface="Aptos"/>
              </a:rPr>
              <a:t>3  TIMING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993391"/>
            <a:ext cx="2276856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The longer recovery takes, the lower its value at the default date.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98863" y="1508760"/>
            <a:ext cx="2606040" cy="356616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3455" y="1618488"/>
            <a:ext cx="227685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7882"/>
                </a:solidFill>
                <a:latin typeface="Aptos"/>
              </a:rPr>
              <a:t>4  DISCOUNTING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63455" y="1993391"/>
            <a:ext cx="2276856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Bring future net cash flows back to the default date using an appropriate rate.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40680"/>
            <a:ext cx="10241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41F34"/>
                </a:solidFill>
                <a:latin typeface="Aptos"/>
              </a:rPr>
              <a:t>Economic recovery value = PV(Net Recovery Cash Flows)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10789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97482"/>
                </a:solidFill>
                <a:latin typeface="Aptos"/>
              </a:rPr>
              <a:t>RECOVERY CASH FLOWS  |  CREDIT RISK / LGD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1F34"/>
                </a:solidFill>
                <a:latin typeface="Aptos"/>
              </a:rPr>
              <a:t>What counts as a recovery cash flow?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97482"/>
                </a:solidFill>
                <a:latin typeface="Aptos"/>
              </a:rPr>
              <a:t>Workout LGD can capture multiple recovery channels.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07492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27048"/>
            <a:ext cx="474573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75B91"/>
                </a:solidFill>
                <a:latin typeface="Aptos"/>
              </a:rPr>
              <a:t>Asset sale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01952"/>
            <a:ext cx="4745736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Property • plant &amp; machinery • inventory • receivables • securities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17320"/>
            <a:ext cx="507492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27048"/>
            <a:ext cx="474573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7882"/>
                </a:solidFill>
                <a:latin typeface="Aptos"/>
              </a:rPr>
              <a:t>Contractual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901952"/>
            <a:ext cx="4745736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Guarantee • insurance • external refinance • settlement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507492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584448"/>
            <a:ext cx="474573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BE9137"/>
                </a:solidFill>
                <a:latin typeface="Aptos"/>
              </a:rPr>
              <a:t>Facility transformation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959352"/>
            <a:ext cx="4745736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Debt-for-equity • sale of debt • restructuring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474720"/>
            <a:ext cx="507492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584448"/>
            <a:ext cx="474573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D8255"/>
                </a:solidFill>
                <a:latin typeface="Aptos"/>
              </a:rPr>
              <a:t>Cash collections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3959352"/>
            <a:ext cx="4745736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Post-default principal / interest actually retained by the bank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3246120"/>
            <a:ext cx="0" cy="1188720"/>
          </a:xfrm>
          <a:prstGeom prst="line">
            <a:avLst/>
          </a:prstGeom>
          <a:ln w="25400">
            <a:solidFill>
              <a:srgbClr val="27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977639" y="4251960"/>
            <a:ext cx="4206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41F34"/>
                </a:solidFill>
                <a:latin typeface="Aptos"/>
              </a:rPr>
              <a:t>All channels → dated cash-flow ledger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92240"/>
            <a:ext cx="10789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97482"/>
                </a:solidFill>
                <a:latin typeface="Aptos"/>
              </a:rPr>
              <a:t>RECOVERY CASH FLOWS  |  CREDIT RISK / LGD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1F34"/>
                </a:solidFill>
                <a:latin typeface="Aptos"/>
              </a:rPr>
              <a:t>Workout period: the hidden driver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97482"/>
                </a:solidFill>
                <a:latin typeface="Aptos"/>
              </a:rPr>
              <a:t>The workout period is the elapsed time between default and final resolution.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2331720" cy="105156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76272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B44141"/>
                </a:solidFill>
                <a:latin typeface="Aptos"/>
              </a:rPr>
              <a:t>Default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697482"/>
                </a:solidFill>
                <a:latin typeface="Aptos"/>
              </a:rPr>
              <a:t>Exposure enters default / workout.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44952" y="2542032"/>
            <a:ext cx="429768" cy="0"/>
          </a:xfrm>
          <a:prstGeom prst="line">
            <a:avLst/>
          </a:prstGeom>
          <a:ln w="25400">
            <a:solidFill>
              <a:srgbClr val="27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520440" y="2011680"/>
            <a:ext cx="2331720" cy="105156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176272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75B91"/>
                </a:solidFill>
                <a:latin typeface="Aptos"/>
              </a:rPr>
              <a:t>Stabilise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51460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697482"/>
                </a:solidFill>
                <a:latin typeface="Aptos"/>
              </a:rPr>
              <a:t>Collections, restructuring, legal strategy.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79592" y="2542032"/>
            <a:ext cx="429768" cy="0"/>
          </a:xfrm>
          <a:prstGeom prst="line">
            <a:avLst/>
          </a:prstGeom>
          <a:ln w="25400">
            <a:solidFill>
              <a:srgbClr val="27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55080" y="2011680"/>
            <a:ext cx="2331720" cy="105156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176272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7882"/>
                </a:solidFill>
                <a:latin typeface="Aptos"/>
              </a:rPr>
              <a:t>Realise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1460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697482"/>
                </a:solidFill>
                <a:latin typeface="Aptos"/>
              </a:rPr>
              <a:t>Collateral / guarantee / settlement proceeds.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14232" y="2542032"/>
            <a:ext cx="429768" cy="0"/>
          </a:xfrm>
          <a:prstGeom prst="line">
            <a:avLst/>
          </a:prstGeom>
          <a:ln w="25400">
            <a:solidFill>
              <a:srgbClr val="27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89720" y="2011680"/>
            <a:ext cx="2331720" cy="105156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2176272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D8255"/>
                </a:solidFill>
                <a:latin typeface="Aptos"/>
              </a:rPr>
              <a:t>Close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51460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697482"/>
                </a:solidFill>
                <a:latin typeface="Aptos"/>
              </a:rPr>
              <a:t>Final recovery; remaining exposure written off.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794760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41F34"/>
                </a:solidFill>
                <a:latin typeface="Aptos"/>
              </a:rPr>
              <a:t>Longer workout → more uncertainty + more carrying cost + stronger discounting effect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20240" y="4754880"/>
            <a:ext cx="832104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84832" y="4864608"/>
            <a:ext cx="799185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7882"/>
                </a:solidFill>
                <a:latin typeface="Aptos"/>
              </a:rPr>
              <a:t>Management implication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84832" y="5239512"/>
            <a:ext cx="799185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Speed of resolution can create value even when nominal recovery is unchanged.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92240"/>
            <a:ext cx="10789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97482"/>
                </a:solidFill>
                <a:latin typeface="Aptos"/>
              </a:rPr>
              <a:t>RECOVERY CASH FLOWS  |  CREDIT RISK / LGD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1F34"/>
                </a:solidFill>
                <a:latin typeface="Aptos"/>
              </a:rPr>
              <a:t>Why discounting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97482"/>
                </a:solidFill>
                <a:latin typeface="Aptos"/>
              </a:rPr>
              <a:t>Two recoveries with the same nominal amount can have very different economic value.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463040"/>
            <a:ext cx="4480560" cy="196596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1572768"/>
            <a:ext cx="415137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75B91"/>
                </a:solidFill>
                <a:latin typeface="Aptos"/>
              </a:rPr>
              <a:t>Case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947672"/>
            <a:ext cx="4151376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Nominal recovery: ₹6.0m
Timing: 0.5 years
At 10% discount rate:
PV = Recovery / (1+r)^t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4480560" cy="196596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572768"/>
            <a:ext cx="415137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B44141"/>
                </a:solidFill>
                <a:latin typeface="Aptos"/>
              </a:rPr>
              <a:t>Case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1947672"/>
            <a:ext cx="4151376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Nominal recovery: ₹6.0m
Timing: 3.0 years
At 10% discount rate:
PV = Recovery / (1+r)^t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77639"/>
            <a:ext cx="4297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275B91"/>
                </a:solidFill>
                <a:latin typeface="Aptos"/>
              </a:rPr>
              <a:t>PV ≈ ₹5.72m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977639"/>
            <a:ext cx="4297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B44141"/>
                </a:solidFill>
                <a:latin typeface="Aptos"/>
              </a:rPr>
              <a:t>PV ≈ ₹4.51m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00600"/>
            <a:ext cx="9875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41F34"/>
                </a:solidFill>
                <a:latin typeface="Aptos"/>
              </a:rPr>
              <a:t>Same ₹6.0m cash recovery → ~₹1.13m less economic value when delayed from 6 months to 3 years.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10789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97482"/>
                </a:solidFill>
                <a:latin typeface="Aptos"/>
              </a:rPr>
              <a:t>RECOVERY CASH FLOWS  |  CREDIT RISK / LGD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1F34"/>
                </a:solidFill>
                <a:latin typeface="Aptos"/>
              </a:rPr>
              <a:t>Discounting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97482"/>
                </a:solidFill>
                <a:latin typeface="Aptos"/>
              </a:rPr>
              <a:t>Translate every dated recovery and cost into value at the default date.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141F34"/>
                </a:solidFill>
                <a:latin typeface="Aptos"/>
              </a:rPr>
              <a:t>PV(Net Recovery) = Σ [ (Recoveryₜ − Costₜ) / (1 + r)ᵗ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743200" cy="192024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52928"/>
            <a:ext cx="24140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75B91"/>
                </a:solidFill>
                <a:latin typeface="Aptos"/>
              </a:rPr>
              <a:t>Recoveryₜ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227832"/>
            <a:ext cx="2414016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Cash or economic value received at time 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2743200"/>
            <a:ext cx="2743200" cy="192024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59352" y="2852928"/>
            <a:ext cx="24140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B44141"/>
                </a:solidFill>
                <a:latin typeface="Aptos"/>
              </a:rPr>
              <a:t>Costₜ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9352" y="3227832"/>
            <a:ext cx="2414016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Direct / attributable workout costs at time 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743200"/>
            <a:ext cx="2743200" cy="192024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2852928"/>
            <a:ext cx="24140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7882"/>
                </a:solidFill>
                <a:latin typeface="Aptos"/>
              </a:rPr>
              <a:t>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1152" y="3227832"/>
            <a:ext cx="2414016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Discount rate reflecting time value + appropriate risk / opportunity cost.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57800"/>
            <a:ext cx="10241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41F34"/>
                </a:solidFill>
                <a:latin typeface="Aptos"/>
              </a:rPr>
              <a:t>LGD = (EAD − PV(Net Recoveries)) / 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92240"/>
            <a:ext cx="10789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97482"/>
                </a:solidFill>
                <a:latin typeface="Aptos"/>
              </a:rPr>
              <a:t>RECOVERY CASH FLOWS  |  CREDIT RISK / LGD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1F34"/>
                </a:solidFill>
                <a:latin typeface="Aptos"/>
              </a:rPr>
              <a:t>Step-by-step numerical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97482"/>
                </a:solidFill>
                <a:latin typeface="Aptos"/>
              </a:rPr>
              <a:t>Illustrative corporate loan workout — all figures are hypothetical.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17320"/>
          <a:ext cx="955548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2103120"/>
                <a:gridCol w="2103120"/>
                <a:gridCol w="2103120"/>
                <a:gridCol w="2103120"/>
              </a:tblGrid>
              <a:tr h="5943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>
                    <a:solidFill>
                      <a:srgbClr val="14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Gross recovery</a:t>
                      </a:r>
                    </a:p>
                  </a:txBody>
                  <a:tcPr>
                    <a:solidFill>
                      <a:srgbClr val="14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Workout cost</a:t>
                      </a:r>
                    </a:p>
                  </a:txBody>
                  <a:tcPr>
                    <a:solidFill>
                      <a:srgbClr val="14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Net cash flow</a:t>
                      </a:r>
                    </a:p>
                  </a:txBody>
                  <a:tcPr>
                    <a:solidFill>
                      <a:srgbClr val="14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PV @ 10%</a:t>
                      </a:r>
                    </a:p>
                  </a:txBody>
                  <a:tcPr>
                    <a:solidFill>
                      <a:srgbClr val="141F3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A32"/>
                          </a:solidFill>
                        </a:rPr>
                        <a:t>0.50 yr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A32"/>
                          </a:solidFill>
                        </a:rPr>
                        <a:t>₹1.50m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A32"/>
                          </a:solidFill>
                        </a:rPr>
                        <a:t>₹0.35m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A32"/>
                          </a:solidFill>
                        </a:rPr>
                        <a:t>₹1.15m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A32"/>
                          </a:solidFill>
                        </a:rPr>
                        <a:t>₹1.10m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A32"/>
                          </a:solidFill>
                        </a:rPr>
                        <a:t>1.25 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A32"/>
                          </a:solidFill>
                        </a:rPr>
                        <a:t>₹2.00m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A32"/>
                          </a:solidFill>
                        </a:rPr>
                        <a:t>₹0.20m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A32"/>
                          </a:solidFill>
                        </a:rPr>
                        <a:t>₹1.80m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A32"/>
                          </a:solidFill>
                        </a:rPr>
                        <a:t>₹1.60m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A32"/>
                          </a:solidFill>
                        </a:rPr>
                        <a:t>2.00 yr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A32"/>
                          </a:solidFill>
                        </a:rPr>
                        <a:t>₹1.50m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A32"/>
                          </a:solidFill>
                        </a:rPr>
                        <a:t>₹0.15m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A32"/>
                          </a:solidFill>
                        </a:rPr>
                        <a:t>₹1.35m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A32"/>
                          </a:solidFill>
                        </a:rPr>
                        <a:t>₹1.12m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A32"/>
                          </a:solidFill>
                        </a:rPr>
                        <a:t>2.75 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A32"/>
                          </a:solidFill>
                        </a:rPr>
                        <a:t>₹1.00m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A32"/>
                          </a:solidFill>
                        </a:rPr>
                        <a:t>₹0.00m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A32"/>
                          </a:solidFill>
                        </a:rPr>
                        <a:t>₹1.00m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A32"/>
                          </a:solidFill>
                        </a:rPr>
                        <a:t>₹0.77m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70916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41F34"/>
                </a:solidFill>
                <a:latin typeface="Aptos"/>
              </a:rPr>
              <a:t>PV gross recoveries ≈ ₹5.21m | PV costs ≈ ₹0.45m | PV net recovery ≈ ₹4.76m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21808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B44141"/>
                </a:solidFill>
                <a:latin typeface="Aptos"/>
              </a:rPr>
              <a:t>Illustrative economic LGD ≈ 52.4%  vs nominal LGD ≈ 45.0%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789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97482"/>
                </a:solidFill>
                <a:latin typeface="Aptos"/>
              </a:rPr>
              <a:t>RECOVERY CASH FLOWS  |  CREDIT RISK / LGD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1F34"/>
                </a:solidFill>
                <a:latin typeface="Aptos"/>
              </a:rPr>
              <a:t>Discount-rate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97482"/>
                </a:solidFill>
                <a:latin typeface="Aptos"/>
              </a:rPr>
              <a:t>The rate should reflect the economics and risk of holding the defaulted asset.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29000" cy="182880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435607"/>
            <a:ext cx="30998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75B91"/>
                </a:solidFill>
                <a:latin typeface="Aptos"/>
              </a:rPr>
              <a:t>Conceptual anchor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10512"/>
            <a:ext cx="3099816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Risk-appropriate discount rate: time value of money + compensation for relevant recovery risk.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29000" cy="182880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435607"/>
            <a:ext cx="30998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7882"/>
                </a:solidFill>
                <a:latin typeface="Aptos"/>
              </a:rPr>
              <a:t>Practical approaches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810512"/>
            <a:ext cx="3099816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Risk-free / benchmark + risk spread; asset-similar rate; or a policy rate consistent with the institution's framework.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325880"/>
            <a:ext cx="3429000" cy="182880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1435607"/>
            <a:ext cx="30998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B44141"/>
                </a:solidFill>
                <a:latin typeface="Aptos"/>
              </a:rPr>
              <a:t>Do not blindly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1810512"/>
            <a:ext cx="3099816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A mechanically chosen rate can materially bias LGD when workout periods are long.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94760"/>
            <a:ext cx="10149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41F34"/>
                </a:solidFill>
                <a:latin typeface="Aptos"/>
              </a:rPr>
              <a:t>Sensitivity: higher r  → lower PV recoveries  → higher LGD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1828800" y="4343400"/>
          <a:ext cx="8412480" cy="1645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40080" y="6492240"/>
            <a:ext cx="10789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97482"/>
                </a:solidFill>
                <a:latin typeface="Aptos"/>
              </a:rPr>
              <a:t>RECOVERY CASH FLOWS  |  CREDIT RISK / LGD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1F34"/>
                </a:solidFill>
                <a:latin typeface="Aptos"/>
              </a:rPr>
              <a:t>Case study: secured corporate loan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97482"/>
                </a:solidFill>
                <a:latin typeface="Aptos"/>
              </a:rPr>
              <a:t>Illustrative data — demonstrates why recovery strategy and timing matter.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2743200" cy="196596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344168"/>
            <a:ext cx="24140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75B91"/>
                </a:solidFill>
                <a:latin typeface="Aptos"/>
              </a:rPr>
              <a:t>Exposure at default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719072"/>
            <a:ext cx="2414016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₹100m
Secured by industrial property
Default at Year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234440"/>
            <a:ext cx="2743200" cy="196596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1344168"/>
            <a:ext cx="24140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7882"/>
                </a:solidFill>
                <a:latin typeface="Aptos"/>
              </a:rPr>
              <a:t>Workout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6472" y="1719072"/>
            <a:ext cx="2414016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Year 0.5: settlement
Year 1.5: asset sale
Year 2.5: final claim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234440"/>
            <a:ext cx="4572000" cy="196596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2" y="1344168"/>
            <a:ext cx="42428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BE9137"/>
                </a:solidFill>
                <a:latin typeface="Aptos"/>
              </a:rPr>
              <a:t>Recovery 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1719072"/>
            <a:ext cx="4242816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₹20m + ₹35m + ₹25m gross recovery
₹8m total workout costs
10% illustrative discount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9476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41F34"/>
                </a:solidFill>
                <a:latin typeface="Aptos"/>
              </a:rPr>
              <a:t>Decision question: accept a slower strategy for potentially higher gross recovery, or accelerate resolution?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572000"/>
            <a:ext cx="475488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681728"/>
            <a:ext cx="442569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75B91"/>
                </a:solidFill>
                <a:latin typeface="Aptos"/>
              </a:rPr>
              <a:t>Banker lens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056632"/>
            <a:ext cx="442569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Compare incremental recovery against incremental delay, legal risk and carrying cost.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4572000"/>
            <a:ext cx="475488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4681728"/>
            <a:ext cx="442569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7882"/>
                </a:solidFill>
                <a:latin typeface="Aptos"/>
              </a:rPr>
              <a:t>CFO / investor lens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3912" y="5056632"/>
            <a:ext cx="442569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Focus on cash conversion, liquidity timing and downside uncertainty.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92240"/>
            <a:ext cx="10789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97482"/>
                </a:solidFill>
                <a:latin typeface="Aptos"/>
              </a:rPr>
              <a:t>RECOVERY CASH FLOWS  |  CREDIT RISK / LGD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1F34"/>
                </a:solidFill>
                <a:latin typeface="Aptos"/>
              </a:rPr>
              <a:t>Case study: same recovery, different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97482"/>
                </a:solidFill>
                <a:latin typeface="Aptos"/>
              </a:rPr>
              <a:t>Illustrative comparison of workout speed.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66360" cy="283464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435607"/>
            <a:ext cx="483717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D8255"/>
                </a:solidFill>
                <a:latin typeface="Aptos"/>
              </a:rPr>
              <a:t>Strategy A — Accelerate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483717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Gross recovery: ₹55m
PV net recovery ≈ ₹46.0m
Shorter legal / enforcement path
Lower timing risk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66360" cy="283464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1" y="1435607"/>
            <a:ext cx="483717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B44141"/>
                </a:solidFill>
                <a:latin typeface="Aptos"/>
              </a:rPr>
              <a:t>Strategy B — Wait for 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1" y="1810512"/>
            <a:ext cx="483717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Gross recovery: ₹55m
PV net recovery ≈ ₹41.5m
Higher delay + uncertainty
Same nominal cash, lower economic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09160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41F34"/>
                </a:solidFill>
                <a:latin typeface="Aptos"/>
              </a:rPr>
              <a:t>Key lesson: workout optimisation is an NPV problem — not simply a recovery-percentage problem.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10789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97482"/>
                </a:solidFill>
                <a:latin typeface="Aptos"/>
              </a:rPr>
              <a:t>RECOVERY CASH FLOWS  |  CREDIT RISK / LGD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1F34"/>
                </a:solidFill>
                <a:latin typeface="Aptos"/>
              </a:rPr>
              <a:t>Credit analyst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97482"/>
                </a:solidFill>
                <a:latin typeface="Aptos"/>
              </a:rPr>
              <a:t>Turn the workout ledger into decision-useful risk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606040" cy="233172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527048"/>
            <a:ext cx="227685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7882"/>
                </a:solidFill>
                <a:latin typeface="Aptos"/>
              </a:rPr>
              <a:t>Recovery velocity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901952"/>
            <a:ext cx="2276856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PV recovered / months elapsed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93008" y="1417320"/>
            <a:ext cx="2606040" cy="233172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527048"/>
            <a:ext cx="227685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75B91"/>
                </a:solidFill>
                <a:latin typeface="Aptos"/>
              </a:rPr>
              <a:t>Collateral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901952"/>
            <a:ext cx="2276856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Expected net collateral proceeds / 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5936" y="1417320"/>
            <a:ext cx="2606040" cy="233172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527048"/>
            <a:ext cx="227685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B44141"/>
                </a:solidFill>
                <a:latin typeface="Aptos"/>
              </a:rPr>
              <a:t>Workout cost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901952"/>
            <a:ext cx="2276856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PV workout costs / PV gross recoveries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98863" y="1417320"/>
            <a:ext cx="2606040" cy="233172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3455" y="1527048"/>
            <a:ext cx="227685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BE9137"/>
                </a:solidFill>
                <a:latin typeface="Aptos"/>
              </a:rPr>
              <a:t>Tail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63455" y="1901952"/>
            <a:ext cx="2276856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Share of recovery expected after the target horizon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10241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41F34"/>
                </a:solidFill>
                <a:latin typeface="Aptos"/>
              </a:rPr>
              <a:t>A good recovery strategy maximises risk-adjusted present value — while controlling uncertainty and execution risk.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4892040"/>
            <a:ext cx="850392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93392" y="5001768"/>
            <a:ext cx="817473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B44141"/>
                </a:solidFill>
                <a:latin typeface="Aptos"/>
              </a:rPr>
              <a:t>Monitoring triggers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93392" y="5376672"/>
            <a:ext cx="817473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Recovery slippage • collateral value erosion • legal delay • rising workout costs • revised cash-flow timing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92240"/>
            <a:ext cx="10789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97482"/>
                </a:solidFill>
                <a:latin typeface="Aptos"/>
              </a:rPr>
              <a:t>RECOVERY CASH FLOWS  |  CREDIT RISK / LGD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1F34"/>
                </a:solidFill>
                <a:latin typeface="Aptos"/>
              </a:rPr>
              <a:t>Red flags &amp; common modelling mistakes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3429000" cy="173736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389888"/>
            <a:ext cx="30998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B44141"/>
                </a:solidFill>
                <a:latin typeface="Aptos"/>
              </a:rPr>
              <a:t>Ignoring timing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764792"/>
            <a:ext cx="309981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Treating ₹50m today and ₹50m in three years as economically identical.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280160"/>
            <a:ext cx="3429000" cy="173736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1389888"/>
            <a:ext cx="30998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B44141"/>
                </a:solidFill>
                <a:latin typeface="Aptos"/>
              </a:rPr>
              <a:t>Gross instead of 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2" y="1764792"/>
            <a:ext cx="309981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Leaving legal, collection, valuation or enforcement costs outside LGD.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280160"/>
            <a:ext cx="3429000" cy="173736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1389888"/>
            <a:ext cx="30998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B44141"/>
                </a:solidFill>
                <a:latin typeface="Aptos"/>
              </a:rPr>
              <a:t>Wrong reference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764792"/>
            <a:ext cx="309981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Discounting to reporting date instead of consistently anchoring at default.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83279"/>
            <a:ext cx="3429000" cy="173736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3493008"/>
            <a:ext cx="30998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B44141"/>
                </a:solidFill>
                <a:latin typeface="Aptos"/>
              </a:rPr>
              <a:t>Optimistic tail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867911"/>
            <a:ext cx="309981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Assuming collateral realisation without modelling delay, haircut and uncertainty.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383279"/>
            <a:ext cx="3429000" cy="173736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3493008"/>
            <a:ext cx="30998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B44141"/>
                </a:solidFill>
                <a:latin typeface="Aptos"/>
              </a:rPr>
              <a:t>Double counting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3867911"/>
            <a:ext cx="309981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Including the same collateral / guarantee recovery in multiple channels.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383279"/>
            <a:ext cx="3429000" cy="173736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2" y="3493008"/>
            <a:ext cx="30998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B44141"/>
                </a:solidFill>
                <a:latin typeface="Aptos"/>
              </a:rPr>
              <a:t>Ignoring incomplete workouts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3867911"/>
            <a:ext cx="309981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Using only closed cases and creating survivorship / censoring bias.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92240"/>
            <a:ext cx="10789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97482"/>
                </a:solidFill>
                <a:latin typeface="Aptos"/>
              </a:rPr>
              <a:t>RECOVERY CASH FLOWS  |  CREDIT RISK / LGD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Executive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97482"/>
                </a:solidFill>
                <a:latin typeface="Aptos"/>
              </a:rPr>
              <a:t>Five principles for senior credit decision-makers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96BEDC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25880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Recovery is a cash-flow stream, not a single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96BEDC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148840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Workout duration changes economic value even when nominal recovery is unchanged.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96BEDC"/>
                </a:solidFill>
                <a:latin typeface="Apto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971800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Discounting converts future recoveries and costs into a default-date economic value.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96BEDC"/>
                </a:solidFill>
                <a:latin typeface="Aptos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794760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Recovery strategy should be judged on risk-adjusted NPV, not gross collections alone.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96BEDC"/>
                </a:solidFill>
                <a:latin typeface="Aptos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617720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High-quality LGD data needs dates, costs, incomplete-workout treatment and disciplined assumptions.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06440"/>
            <a:ext cx="10332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FBED2"/>
                </a:solidFill>
                <a:latin typeface="Aptos"/>
              </a:rPr>
              <a:t>Sources / framework: Basel Committee, APRA, FDIC and KPMG guidance on workout recoveries and discounting.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92240"/>
            <a:ext cx="10789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97482"/>
                </a:solidFill>
                <a:latin typeface="Aptos"/>
              </a:rPr>
              <a:t>RECOVERY CASH FLOWS  |  CREDIT RISK / LGD   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1F34"/>
                </a:solidFill>
                <a:latin typeface="Aptos"/>
              </a:rPr>
              <a:t>Reference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97482"/>
                </a:solidFill>
                <a:latin typeface="Aptos"/>
              </a:rPr>
              <a:t>Selected authoritative / professional 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80160"/>
            <a:ext cx="105156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389888"/>
            <a:ext cx="101864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75B91"/>
                </a:solidFill>
                <a:latin typeface="Aptos"/>
              </a:rPr>
              <a:t>Source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764792"/>
            <a:ext cx="1018641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Basel Committee on Banking Supervision — Credit Risk / IRB guidance on recovery measures and discounting.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23160"/>
            <a:ext cx="105156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532888"/>
            <a:ext cx="101864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7882"/>
                </a:solidFill>
                <a:latin typeface="Aptos"/>
              </a:rPr>
              <a:t>Source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07791"/>
            <a:ext cx="1018641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APRA — APG 113, Capital Adequacy: Internal Ratings-based Approach; realised LGD and incomplete workouts.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566160"/>
            <a:ext cx="105156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3675887"/>
            <a:ext cx="101864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75B91"/>
                </a:solidFill>
                <a:latin typeface="Aptos"/>
              </a:rPr>
              <a:t>Source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050791"/>
            <a:ext cx="1018641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FDIC — Guidance on economic loss, recovery costs and discount rate for workout recoveries.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09160"/>
            <a:ext cx="105156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4818888"/>
            <a:ext cx="101864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7882"/>
                </a:solidFill>
                <a:latin typeface="Aptos"/>
              </a:rPr>
              <a:t>Source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5193792"/>
            <a:ext cx="1018641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32A32"/>
                </a:solidFill>
                <a:latin typeface="Aptos"/>
              </a:rPr>
              <a:t>KPMG — Demystifying Expected Credit Loss; workout LGD recovery cash-flow categories.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92240"/>
            <a:ext cx="10789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97482"/>
                </a:solidFill>
                <a:latin typeface="Aptos"/>
              </a:rPr>
              <a:t>RECOVERY CASH FLOWS  |  CREDIT RISK / LGD   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