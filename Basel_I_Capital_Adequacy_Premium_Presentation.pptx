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risk weight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20%</c:v>
                </c:pt>
                <c:pt idx="2">
                  <c:v>50%</c:v>
                </c:pt>
                <c:pt idx="3">
                  <c:v>100%</c:v>
                </c:pt>
                <c:pt idx="4">
                  <c:v>Deduction*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  <c:pt idx="4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BASEL I</a:t>
            </a:r>
          </a:p>
          <a:p>
            <a:pPr>
              <a:defRPr sz="2900">
                <a:solidFill>
                  <a:srgbClr val="DCE4EC"/>
                </a:solidFill>
                <a:latin typeface="Aptos Display"/>
              </a:defRPr>
            </a:pPr>
            <a:r>
              <a:t>Capital Adequacy &amp; Credit Risk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BECDDC"/>
                </a:solidFill>
                <a:latin typeface="Aptos"/>
              </a:defRPr>
            </a:pPr>
            <a:r>
              <a:t>How the 1988 Basel Accord turned bank capital into a common risk-weighted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5074920"/>
            <a:ext cx="1920240" cy="109728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360" y="5074920"/>
            <a:ext cx="1920240" cy="109728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83480" y="5074920"/>
            <a:ext cx="1920240" cy="10972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4C6"/>
                </a:solidFill>
              </a:defRPr>
            </a:pPr>
            <a:r>
              <a:t>Corporate Banking Training  |  Practical + Numerical + Decision-Oriented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Executive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Four questions that make Basel I intuitive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42032" cy="3337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4008" cy="333756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83664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WHAT?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An international minimum capital standard, agreed in 1988, focused primarily on credit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42032" cy="3337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737360"/>
            <a:ext cx="64008" cy="333756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83664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WHY?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To strengthen bank resilience and reduce competitive differences in capital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37360"/>
            <a:ext cx="2542032" cy="3337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737360"/>
            <a:ext cx="64008" cy="333756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83664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HOW?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Convert exposures into Risk-Weighted Assets (RWA), then require capital equal to at least 8% of RWA.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737360"/>
            <a:ext cx="2542032" cy="3337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1737360"/>
            <a:ext cx="64008" cy="3337560"/>
          </a:xfrm>
          <a:prstGeom prst="rect">
            <a:avLst/>
          </a:prstGeom>
          <a:solidFill>
            <a:srgbClr val="A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883664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SO WHAT?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The same $100 exposure can consume very different amounts of regulatory capital depending on its risk weight.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What is Basel 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The 1988 Basel Capital Accord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Released by the Basel Committee in July 1988; implementation was targeted by end-1992.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Designed primarily around credit risk and a common definition of regulatory capital.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Core mechanism: Capital ÷ Risk-Weighted Assets ≥ 8%.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Risk weights created a simple bridge between balance-sheet exposure and regulatory capital.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The framework later evolved: a 1996 amendment incorporated market risk; Basel II subsequently made credit-risk measurement more risk-sensitive.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566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28800"/>
            <a:ext cx="64008" cy="123444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975104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1988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Basel I / original Accord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291840"/>
            <a:ext cx="3566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3291840"/>
            <a:ext cx="64008" cy="123444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3438144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1996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Market Risk Amendment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754880"/>
            <a:ext cx="35661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4754880"/>
            <a:ext cx="64008" cy="91440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490118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Basel II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Greater risk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Capital adequacy: the core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Basel I converts accounting exposures into regulatory capital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1C2D"/>
                </a:solidFill>
                <a:latin typeface="Aptos Display"/>
              </a:defRPr>
            </a:pPr>
            <a:r>
              <a:t>Capital Adequacy Ratio (CAR)  =  Regulatory Capital  ÷  Risk-Weighted Assets (RWA)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324612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64008" cy="196596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300984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REGULATORY CAPITAL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Eligible Tier 1 + Tier 2 capital under the applicable Basel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154680"/>
            <a:ext cx="324612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3154680"/>
            <a:ext cx="64008" cy="196596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3300984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RWA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Exposure amount × applicable risk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154680"/>
            <a:ext cx="324612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3154680"/>
            <a:ext cx="64008" cy="196596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3300984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MINIMUM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8% total capital ratio under Basel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Interpretation: capital is not required at 8% of every asset — it is required at 8% of the risk-weighted amount.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The 8% concept: a simple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Illustrative bank balance sheet — Basel I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466344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4008" cy="77724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83664"/>
            <a:ext cx="4297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Cash / eligible sovereign claim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Exposure = $100m   |   Risk weight = 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47088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C2D"/>
                </a:solidFill>
              </a:defRPr>
            </a:pPr>
            <a:r>
              <a:t>RWA = $100m × 0% = $0m  →  8% capital = $0.0m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24912"/>
            <a:ext cx="466344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64008" cy="77724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871216"/>
            <a:ext cx="4297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Bank exposure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Exposure = $100m   |   Risk weight =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3464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C2D"/>
                </a:solidFill>
              </a:defRPr>
            </a:pPr>
            <a:r>
              <a:t>RWA = $100m × 20% = $20m  →  8% capital = $1.6m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12464"/>
            <a:ext cx="466344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12464"/>
            <a:ext cx="64008" cy="77724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58768"/>
            <a:ext cx="4297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Residential mortgage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Exposure = $100m   |   Risk weight =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22192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C2D"/>
                </a:solidFill>
              </a:defRPr>
            </a:pPr>
            <a:r>
              <a:t>RWA = $100m × 50% = $50m  →  8% capital = $4.0m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0016"/>
            <a:ext cx="466344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00016"/>
            <a:ext cx="64008" cy="77724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846320"/>
            <a:ext cx="4297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Corporate loan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Exposure = $100m   |   Risk weight =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809744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1C2D"/>
                </a:solidFill>
              </a:defRPr>
            </a:pPr>
            <a:r>
              <a:t>RWA = $100m × 100% = $100m  →  8% capital = $8.0m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D4141"/>
                </a:solidFill>
              </a:defRPr>
            </a:pPr>
            <a:r>
              <a:t>Key insight: risk weight is the capital-intensity lever.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Basel I credit risk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A deliberately simple five-bucket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45920"/>
          <a:ext cx="5669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691640"/>
            <a:ext cx="46634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691640"/>
            <a:ext cx="64008" cy="91440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7" y="1837944"/>
            <a:ext cx="4297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0%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Selected sovereign / central-bank type exposures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743200"/>
            <a:ext cx="46634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2743200"/>
            <a:ext cx="64008" cy="91440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2889504"/>
            <a:ext cx="4297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20%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Certain bank / public-sector / qualifying exposures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794760"/>
            <a:ext cx="46634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794760"/>
            <a:ext cx="64008" cy="91440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7" y="3941064"/>
            <a:ext cx="4297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50%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Qualifying residential mortgages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846320"/>
            <a:ext cx="46634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4846320"/>
            <a:ext cx="64008" cy="914400"/>
          </a:xfrm>
          <a:prstGeom prst="rect">
            <a:avLst/>
          </a:prstGeom>
          <a:solidFill>
            <a:srgbClr val="A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4992624"/>
            <a:ext cx="4297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100%</a:t>
            </a:r>
          </a:p>
          <a:p>
            <a:pPr>
              <a:spcAft>
                <a:spcPts val="5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Typical corporate and many commercial exposures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C7D"/>
                </a:solidFill>
              </a:defRPr>
            </a:pPr>
            <a:r>
              <a:t>*Certain assets could be deducted from capital rather than risk-weighted; exact treatment depended on the Accord and amendments.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Step-by-step: calculate a bank's Basel I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Illustrative portfolio — all figures in $m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5C6C7D"/>
                </a:solidFill>
              </a:defRPr>
            </a:pPr>
            <a:r>
              <a:t>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5C6C7D"/>
                </a:solidFill>
              </a:defRPr>
            </a:pPr>
            <a:r>
              <a:t>Amount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5C6C7D"/>
                </a:solidFill>
              </a:defRPr>
            </a:pPr>
            <a:r>
              <a:t>Risk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5C6C7D"/>
                </a:solidFill>
              </a:defRPr>
            </a:pPr>
            <a:r>
              <a:t>RWA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Cash /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01168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1168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01168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Bank exposure /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5176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65176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6517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Mortgage /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29184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9184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918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Corporate loans /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93192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93192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93192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500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5029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64008" cy="91440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901184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Total RWA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0 + 30 + 150 + 500 = $680m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754880"/>
            <a:ext cx="53035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754880"/>
            <a:ext cx="64008" cy="91440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4901184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Minimum capital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8% × $680m = $54.4m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67D54"/>
                </a:solidFill>
              </a:defRPr>
            </a:pPr>
            <a:r>
              <a:t>If actual eligible regulatory capital = $65m → CAR = $65m ÷ $680m = 9.56%.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Why risk weights matter to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Same loan amount ≠ same regulatory capital consumption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233172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Loan booked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$100m exposure</a:t>
            </a:r>
          </a:p>
        </p:txBody>
      </p:sp>
      <p:sp>
        <p:nvSpPr>
          <p:cNvPr id="8" name="Chevron 7"/>
          <p:cNvSpPr/>
          <p:nvPr/>
        </p:nvSpPr>
        <p:spPr>
          <a:xfrm>
            <a:off x="3182111" y="2651760"/>
            <a:ext cx="320040" cy="502920"/>
          </a:xfrm>
          <a:prstGeom prst="chevron">
            <a:avLst/>
          </a:prstGeom>
          <a:solidFill>
            <a:srgbClr val="5C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51460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64008" cy="233172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75104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Apply risk weight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100% corporate → $100m RWA</a:t>
            </a:r>
          </a:p>
        </p:txBody>
      </p:sp>
      <p:sp>
        <p:nvSpPr>
          <p:cNvPr id="12" name="Chevron 11"/>
          <p:cNvSpPr/>
          <p:nvPr/>
        </p:nvSpPr>
        <p:spPr>
          <a:xfrm>
            <a:off x="5998464" y="2651760"/>
            <a:ext cx="320040" cy="502920"/>
          </a:xfrm>
          <a:prstGeom prst="chevron">
            <a:avLst/>
          </a:prstGeom>
          <a:solidFill>
            <a:srgbClr val="5C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2784" y="1828800"/>
            <a:ext cx="251460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828800"/>
            <a:ext cx="64008" cy="233172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75104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Capital floor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8% × $100m = $8m</a:t>
            </a:r>
          </a:p>
        </p:txBody>
      </p:sp>
      <p:sp>
        <p:nvSpPr>
          <p:cNvPr id="16" name="Chevron 15"/>
          <p:cNvSpPr/>
          <p:nvPr/>
        </p:nvSpPr>
        <p:spPr>
          <a:xfrm>
            <a:off x="8814816" y="2651760"/>
            <a:ext cx="320040" cy="502920"/>
          </a:xfrm>
          <a:prstGeom prst="chevron">
            <a:avLst/>
          </a:prstGeom>
          <a:solidFill>
            <a:srgbClr val="5C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1828800"/>
            <a:ext cx="251460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828800"/>
            <a:ext cx="64008" cy="2331720"/>
          </a:xfrm>
          <a:prstGeom prst="rect">
            <a:avLst/>
          </a:prstGeom>
          <a:solidFill>
            <a:srgbClr val="A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975104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Management lens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Capital is scarce → price / structure / portfolio mix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01C2D"/>
                </a:solidFill>
              </a:defRPr>
            </a:pPr>
            <a:r>
              <a:t>Banker / CFO implication</a:t>
            </a:r>
          </a:p>
          <a:p>
            <a:pPr algn="ctr">
              <a:defRPr sz="1600">
                <a:solidFill>
                  <a:srgbClr val="1F2937"/>
                </a:solidFill>
              </a:defRPr>
            </a:pPr>
            <a:r>
              <a:t>A transaction should be evaluated not only on interest income, but also on the capital it consumes and the risk it adds.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Case study 1 — portfolio capital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Illustrative data: two banks with the same $1bn gross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91440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BANK A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$1,000m corporate-heavy portfolio → 100% risk 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64008" cy="91440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35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RWA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$1,000m × 100% = $1,000m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64008" cy="91440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78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8% minimum capital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$80m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64008" cy="91440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92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BANK B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$1,000m diversified portfolio → blended 65% risk weight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64008" cy="91440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935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RWA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$1,000m × 65% = $650m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1663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64008" cy="91440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078224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8% minimum capital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$52m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AD4141"/>
                </a:solidFill>
              </a:defRPr>
            </a:pPr>
            <a:r>
              <a:t>Illustrative capital-intensity difference = $28m</a:t>
            </a:r>
          </a:p>
          <a:p>
            <a:pPr algn="ctr">
              <a:defRPr sz="1200">
                <a:solidFill>
                  <a:srgbClr val="5C6C7D"/>
                </a:solidFill>
              </a:defRPr>
            </a:pPr>
            <a:r>
              <a:t>The difference does not mean Bank B has lower economic risk; it shows how Basel I's prescribed weights translate portfolio composition into regulatory capital.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Case study 2 — loan pricing through a capital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Illustrative transaction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3756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Deal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$100m corporate loan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Risk weight: 100%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RWA: $100m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Minimum capital: $8m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64008" cy="356616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92224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Economics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Interest income: $7m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Expected credit loss: $1.5m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Operating / funding costs: $2.0m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Pre-tax contribution: $3.5m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3756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64008" cy="356616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792224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Capital lens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Capital floor: $8m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Illustrative return on required capital: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$3.5m ÷ $8m = 43.75%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Not a Basel-mandated profitability metric.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1C2D"/>
                </a:solidFill>
              </a:defRPr>
            </a:pPr>
            <a:r>
              <a:t>Decision discipline: price for risk + funding + operating cost + capital consumption — not headline yield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Basel I: what it solved — and what it could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Useful simplicity created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3566160"/>
          </a:xfrm>
          <a:prstGeom prst="rect">
            <a:avLst/>
          </a:prstGeom>
          <a:solidFill>
            <a:srgbClr val="36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WHAT IT SOLVED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Common international benchmark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Simple risk-weighted capital logic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Improved comparability across banks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Focused attention on capital buffers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64008" cy="356616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792224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WHERE IT WAS BLUNT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Large exposures within a 100% bucket could receive the same weight despite different borrower risk.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Risk sensitivity was limited.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35661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64008" cy="3566160"/>
          </a:xfrm>
          <a:prstGeom prst="rect">
            <a:avLst/>
          </a:prstGeom>
          <a:solidFill>
            <a:srgbClr val="A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92224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INCENTIVE EFFECT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If two assets receive the same weight, regulatory capital treatment may be similar even when economic risk differs.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This helped motivate Basel II's greater risk sensitivity.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1C2D"/>
                </a:solidFill>
              </a:defRPr>
            </a:pPr>
            <a:r>
              <a:t>Important: Basel I was a regulatory minimum framework, not a complete measure of economic capital or total bank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Credit analyst / banker / CFO / investor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Translate the framework into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2578608" cy="3794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64008" cy="3794760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37944"/>
            <a:ext cx="2212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Credit Analyst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Does the borrower sit in a high capital-intensity bucket?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What happens to RWA if exposure grows?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78608" cy="3794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91640"/>
            <a:ext cx="64008" cy="3794760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37944"/>
            <a:ext cx="2212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Banker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Can structure, collateral or exposure type change regulatory capital treatment?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What is the capital-adjusted economics?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691640"/>
            <a:ext cx="2578608" cy="3794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18504" y="1691640"/>
            <a:ext cx="64008" cy="3794760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37944"/>
            <a:ext cx="2212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CFO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How does bank capital capacity affect loan availability, pricing and terms?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691640"/>
            <a:ext cx="2578608" cy="3794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0576" y="1691640"/>
            <a:ext cx="64008" cy="3794760"/>
          </a:xfrm>
          <a:prstGeom prst="rect">
            <a:avLst/>
          </a:prstGeom>
          <a:solidFill>
            <a:srgbClr val="A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837944"/>
            <a:ext cx="2212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Investor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Is reported capital supported by meaningful loss-absorbing capacity and a resilient asset mix?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Common mistakes &amp; red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Five checks before interpreting a Basel I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858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713232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46504"/>
            <a:ext cx="320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1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417320" y="1600200"/>
            <a:ext cx="100584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1600200"/>
            <a:ext cx="64008" cy="713232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1746504"/>
            <a:ext cx="9692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Confusing exposure with RWA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$100m exposure can become $0m, $20m, $50m or $100m RWA depending on the prescribed weight.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6858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41448"/>
            <a:ext cx="64008" cy="713232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87752"/>
            <a:ext cx="320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2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1417320" y="2441448"/>
            <a:ext cx="100584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2441448"/>
            <a:ext cx="64008" cy="713232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2587752"/>
            <a:ext cx="9692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Treating 8% as a universal capital-to-assets rule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It is 8% of RWA, not 8% of gross assets.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82696"/>
            <a:ext cx="6858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82696"/>
            <a:ext cx="64008" cy="713232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429000"/>
            <a:ext cx="320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3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1417320" y="3282696"/>
            <a:ext cx="100584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282696"/>
            <a:ext cx="64008" cy="713232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8488" y="3429000"/>
            <a:ext cx="9692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Ignoring capital composition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Total regulatory capital has eligibility rules; quality and loss absorbency matter.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23944"/>
            <a:ext cx="6858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23944"/>
            <a:ext cx="64008" cy="713232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270248"/>
            <a:ext cx="320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4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1417320" y="4123944"/>
            <a:ext cx="100584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4123944"/>
            <a:ext cx="64008" cy="713232"/>
          </a:xfrm>
          <a:prstGeom prst="rect">
            <a:avLst/>
          </a:prstGeom>
          <a:solidFill>
            <a:srgbClr val="21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18488" y="4270248"/>
            <a:ext cx="9692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Assuming Basel I captures all risk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The original Accord was overwhelmingly focused on credit risk; market risk was added later.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65192"/>
            <a:ext cx="6858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65192"/>
            <a:ext cx="64008" cy="713232"/>
          </a:xfrm>
          <a:prstGeom prst="rect">
            <a:avLst/>
          </a:prstGeom>
          <a:solidFill>
            <a:srgbClr val="26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111496"/>
            <a:ext cx="320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5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1417320" y="4965192"/>
            <a:ext cx="10058400" cy="713232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4965192"/>
            <a:ext cx="64008" cy="713232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18488" y="5111496"/>
            <a:ext cx="9692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1C2D"/>
                </a:solidFill>
                <a:latin typeface="Aptos"/>
              </a:defRPr>
            </a:pPr>
            <a:r>
              <a:t>Equating regulatory capital with economic safety</a:t>
            </a:r>
          </a:p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A ratio can meet a minimum while underlying concentration, liquidity or asset-quality risks remain.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Executive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E1E8F0"/>
                </a:solidFill>
                <a:latin typeface="Aptos"/>
              </a:defRPr>
            </a:pPr>
            <a:r>
              <a:t>01   Basel I's breakthrough was a common risk-weighted language for bank capital.</a:t>
            </a:r>
          </a:p>
          <a:p>
            <a:pPr>
              <a:spcAft>
                <a:spcPts val="1600"/>
              </a:spcAft>
              <a:defRPr sz="1900">
                <a:solidFill>
                  <a:srgbClr val="E1E8F0"/>
                </a:solidFill>
                <a:latin typeface="Aptos"/>
              </a:defRPr>
            </a:pPr>
            <a:r>
              <a:t>02   The 8% minimum applies to Risk-Weighted Assets — not simply to total assets.</a:t>
            </a:r>
          </a:p>
          <a:p>
            <a:pPr>
              <a:spcAft>
                <a:spcPts val="1600"/>
              </a:spcAft>
              <a:defRPr sz="1900">
                <a:solidFill>
                  <a:srgbClr val="E1E8F0"/>
                </a:solidFill>
                <a:latin typeface="Aptos"/>
              </a:defRPr>
            </a:pPr>
            <a:r>
              <a:t>03   Risk weights determine how much regulatory capital a given exposure consumes.</a:t>
            </a:r>
          </a:p>
          <a:p>
            <a:pPr>
              <a:spcAft>
                <a:spcPts val="1600"/>
              </a:spcAft>
              <a:defRPr sz="1900">
                <a:solidFill>
                  <a:srgbClr val="E1E8F0"/>
                </a:solidFill>
                <a:latin typeface="Aptos"/>
              </a:defRPr>
            </a:pPr>
            <a:r>
              <a:t>04   Capital adequacy is therefore both a risk-management metric and a business-capacity constraint.</a:t>
            </a:r>
          </a:p>
          <a:p>
            <a:pPr>
              <a:spcAft>
                <a:spcPts val="1600"/>
              </a:spcAft>
              <a:defRPr sz="1900">
                <a:solidFill>
                  <a:srgbClr val="E1E8F0"/>
                </a:solidFill>
                <a:latin typeface="Aptos"/>
              </a:defRPr>
            </a:pPr>
            <a:r>
              <a:t>05   Basel I's simplicity improved comparability but limited risk sensitivity, helping motivate later Basel reforms.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1BE64"/>
                </a:solidFill>
              </a:defRPr>
            </a:pPr>
            <a:r>
              <a:t>CORE FORMULA:  Capital Adequacy = Regulatory Capital ÷ RWA ≥ 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2D"/>
                </a:solidFill>
                <a:latin typeface="Aptos Display"/>
              </a:defRPr>
            </a:pPr>
            <a:r>
              <a:t>Reference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D"/>
                </a:solidFill>
                <a:latin typeface="Aptos"/>
              </a:defRPr>
            </a:pPr>
            <a:r>
              <a:t>Primary source: Bank for International Settlements / Basel Committee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051560" cy="41148"/>
          </a:xfrm>
          <a:prstGeom prst="rect">
            <a:avLst/>
          </a:prstGeom>
          <a:solidFill>
            <a:srgbClr val="C2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Basel Committee on Banking Supervision, International convergence of capital measurement and capital standards (July 1988) — original Basel Capital Accord.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BIS, BCBS history — chronology and implementation context for the 1988 Accord.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BIS, Evolution of the Basel capital adequacy requirements — historical explanation of the 8% minimum and Tier 1 concept.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BIS, The capital adequacy of banks — discussion of Basel I's five broad risk-weight categories and later evolution.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All numerical examples and case studies in this deck are illustrative unless explicitly identified otherwise.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C6C7D"/>
                </a:solidFill>
              </a:defRPr>
            </a:pPr>
            <a:r>
              <a:t>Sources: bis.org / Basel Committee on Banking Supervision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BASEL I  |  CREDIT RISK &amp; CAPITAL ADEQUACY                                 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