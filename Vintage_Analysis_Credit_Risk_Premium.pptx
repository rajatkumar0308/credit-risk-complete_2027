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Jan-25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MOB 1</c:v>
                </c:pt>
                <c:pt idx="1">
                  <c:v>MOB 2</c:v>
                </c:pt>
                <c:pt idx="2">
                  <c:v>MOB 3</c:v>
                </c:pt>
                <c:pt idx="3">
                  <c:v>MOB 4</c:v>
                </c:pt>
                <c:pt idx="4">
                  <c:v>MOB 5</c:v>
                </c:pt>
                <c:pt idx="5">
                  <c:v>MOB 6</c:v>
                </c:pt>
                <c:pt idx="6">
                  <c:v>MOB 7</c:v>
                </c:pt>
                <c:pt idx="7">
                  <c:v>MOB 8</c:v>
                </c:pt>
                <c:pt idx="8">
                  <c:v>MOB 9</c:v>
                </c:pt>
                <c:pt idx="9">
                  <c:v>MOB 10</c:v>
                </c:pt>
                <c:pt idx="10">
                  <c:v>MOB 11</c:v>
                </c:pt>
                <c:pt idx="11">
                  <c:v>MOB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</c:v>
                </c:pt>
                <c:pt idx="1">
                  <c:v>0.6</c:v>
                </c:pt>
                <c:pt idx="2">
                  <c:v>1.0</c:v>
                </c:pt>
                <c:pt idx="3">
                  <c:v>1.4</c:v>
                </c:pt>
                <c:pt idx="4">
                  <c:v>1.8</c:v>
                </c:pt>
                <c:pt idx="5">
                  <c:v>2.2</c:v>
                </c:pt>
                <c:pt idx="6">
                  <c:v>2.6</c:v>
                </c:pt>
                <c:pt idx="7">
                  <c:v>3.0</c:v>
                </c:pt>
                <c:pt idx="8">
                  <c:v>3.3</c:v>
                </c:pt>
                <c:pt idx="9">
                  <c:v>3.6</c:v>
                </c:pt>
                <c:pt idx="10">
                  <c:v>3.8</c:v>
                </c:pt>
                <c:pt idx="11">
                  <c:v>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Apr-25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MOB 1</c:v>
                </c:pt>
                <c:pt idx="1">
                  <c:v>MOB 2</c:v>
                </c:pt>
                <c:pt idx="2">
                  <c:v>MOB 3</c:v>
                </c:pt>
                <c:pt idx="3">
                  <c:v>MOB 4</c:v>
                </c:pt>
                <c:pt idx="4">
                  <c:v>MOB 5</c:v>
                </c:pt>
                <c:pt idx="5">
                  <c:v>MOB 6</c:v>
                </c:pt>
                <c:pt idx="6">
                  <c:v>MOB 7</c:v>
                </c:pt>
                <c:pt idx="7">
                  <c:v>MOB 8</c:v>
                </c:pt>
                <c:pt idx="8">
                  <c:v>MOB 9</c:v>
                </c:pt>
                <c:pt idx="9">
                  <c:v>MOB 10</c:v>
                </c:pt>
                <c:pt idx="10">
                  <c:v>MOB 11</c:v>
                </c:pt>
                <c:pt idx="11">
                  <c:v>MOB 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>1.1</c:v>
                </c:pt>
                <c:pt idx="4">
                  <c:v>1.5</c:v>
                </c:pt>
                <c:pt idx="5">
                  <c:v>1.9</c:v>
                </c:pt>
                <c:pt idx="6">
                  <c:v>2.2</c:v>
                </c:pt>
                <c:pt idx="7">
                  <c:v>2.5</c:v>
                </c:pt>
                <c:pt idx="8">
                  <c:v>2.8</c:v>
                </c:pt>
                <c:pt idx="9">
                  <c:v>3.0</c:v>
                </c:pt>
                <c:pt idx="10">
                  <c:v>3.2</c:v>
                </c:pt>
                <c:pt idx="11">
                  <c:v>3.4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Jul-25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MOB 1</c:v>
                </c:pt>
                <c:pt idx="1">
                  <c:v>MOB 2</c:v>
                </c:pt>
                <c:pt idx="2">
                  <c:v>MOB 3</c:v>
                </c:pt>
                <c:pt idx="3">
                  <c:v>MOB 4</c:v>
                </c:pt>
                <c:pt idx="4">
                  <c:v>MOB 5</c:v>
                </c:pt>
                <c:pt idx="5">
                  <c:v>MOB 6</c:v>
                </c:pt>
                <c:pt idx="6">
                  <c:v>MOB 7</c:v>
                </c:pt>
                <c:pt idx="7">
                  <c:v>MOB 8</c:v>
                </c:pt>
                <c:pt idx="8">
                  <c:v>MOB 9</c:v>
                </c:pt>
                <c:pt idx="9">
                  <c:v>MOB 10</c:v>
                </c:pt>
                <c:pt idx="10">
                  <c:v>MOB 11</c:v>
                </c:pt>
                <c:pt idx="11">
                  <c:v>MOB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0.15</c:v>
                </c:pt>
                <c:pt idx="1">
                  <c:v>0.35</c:v>
                </c:pt>
                <c:pt idx="2">
                  <c:v>0.6</c:v>
                </c:pt>
                <c:pt idx="3">
                  <c:v>0.9</c:v>
                </c:pt>
                <c:pt idx="4">
                  <c:v>1.2</c:v>
                </c:pt>
                <c:pt idx="5">
                  <c:v>1.5</c:v>
                </c:pt>
                <c:pt idx="6">
                  <c:v>1.8</c:v>
                </c:pt>
                <c:pt idx="7">
                  <c:v>2.0</c:v>
                </c:pt>
                <c:pt idx="8">
                  <c:v>2.2</c:v>
                </c:pt>
                <c:pt idx="9">
                  <c:v>2.4</c:v>
                </c:pt>
                <c:pt idx="10">
                  <c:v>2.6</c:v>
                </c:pt>
                <c:pt idx="11">
                  <c:v>2.8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6BEFF"/>
                </a:solidFill>
                <a:latin typeface="Aptos"/>
              </a:rPr>
              <a:t>CREDIT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Vintage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CDD8E5"/>
                </a:solidFill>
                <a:latin typeface="Aptos"/>
              </a:rPr>
              <a:t>MOB • Default Curves • Cohorts • Portfolio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370332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7768" y="370332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54696" y="370332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21624" y="370332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552" y="370332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370332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22408" y="370332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411480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7768" y="411480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54696" y="411480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21624" y="411480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88552" y="411480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55480" y="411480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22408" y="411480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452628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7768" y="452628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54696" y="452628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21624" y="452628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88552" y="452628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452628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22408" y="452628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493776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87768" y="493776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54696" y="493776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21624" y="493776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88552" y="493776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55480" y="493776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22408" y="493776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20840" y="5349240"/>
            <a:ext cx="475488" cy="292608"/>
          </a:xfrm>
          <a:prstGeom prst="round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87768" y="534924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54696" y="534924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21624" y="5349240"/>
            <a:ext cx="475488" cy="292608"/>
          </a:xfrm>
          <a:prstGeom prst="round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88552" y="534924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55480" y="534924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22408" y="5349240"/>
            <a:ext cx="475488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65760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 cohort lens for answering one critical question: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25196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1EBF5"/>
                </a:solidFill>
                <a:latin typeface="Aptos"/>
              </a:rPr>
              <a:t>“Are newer loans performing better—or are we simply looking at younger books?”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9893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6A5B4"/>
                </a:solidFill>
                <a:latin typeface="Aptos"/>
              </a:rPr>
              <a:t>Premium corporate training deck  |  Illustrative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What is Vintage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C2D"/>
                </a:solidFill>
                <a:latin typeface="Aptos"/>
              </a:rPr>
              <a:t>Vintage = the origination cohort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166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976"/>
                </a:solidFill>
                <a:latin typeface="Aptos"/>
              </a:rPr>
              <a:t>Vintage analysis groups loans by the period they were originated, then tracks their performance as they 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64008" cy="141732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209544"/>
            <a:ext cx="2075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ORIGINATE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566160"/>
            <a:ext cx="20756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Jan-25 cohort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39" y="3767328"/>
            <a:ext cx="320041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29000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063240"/>
            <a:ext cx="64008" cy="141732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3209544"/>
            <a:ext cx="2075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566160"/>
            <a:ext cx="20756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MOB 1 →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3767328"/>
            <a:ext cx="32004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64008" cy="1417320"/>
          </a:xfrm>
          <a:prstGeom prst="rect">
            <a:avLst/>
          </a:prstGeom>
          <a:solidFill>
            <a:srgbClr val="DD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209544"/>
            <a:ext cx="2075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66160"/>
            <a:ext cx="20756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Delinquency / default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3767328"/>
            <a:ext cx="32004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39" y="30632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39" y="3063240"/>
            <a:ext cx="64008" cy="141732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7" y="3209544"/>
            <a:ext cx="20756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3566160"/>
            <a:ext cx="20756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Cohort vs cohort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8348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63B0"/>
                </a:solidFill>
                <a:latin typeface="Aptos"/>
              </a:rPr>
              <a:t>Core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01C2D"/>
                </a:solidFill>
                <a:latin typeface="Aptos"/>
              </a:rPr>
              <a:t>Vintage analysis separates **portfolio seasoning** from **true underwriting / policy change**.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02 • MOB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Month on Book — MOB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01C2D"/>
                </a:solidFill>
                <a:latin typeface="Aptos"/>
              </a:rPr>
              <a:t>MOB measures loan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303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976"/>
                </a:solidFill>
                <a:latin typeface="Aptos"/>
              </a:rPr>
              <a:t>MOB 0 = origination month. MOB 1 = one month after origination, and so 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54680"/>
            <a:ext cx="475488" cy="475488"/>
          </a:xfrm>
          <a:prstGeom prst="ellipse">
            <a:avLst/>
          </a:prstGeom>
          <a:solidFill>
            <a:srgbClr val="2463B0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98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65960" y="3154680"/>
            <a:ext cx="475488" cy="475488"/>
          </a:xfrm>
          <a:prstGeom prst="ellipse">
            <a:avLst/>
          </a:prstGeom>
          <a:solidFill>
            <a:srgbClr val="2463B0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41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08960" y="3154680"/>
            <a:ext cx="475488" cy="475488"/>
          </a:xfrm>
          <a:prstGeom prst="ellipse">
            <a:avLst/>
          </a:prstGeom>
          <a:solidFill>
            <a:srgbClr val="2463B0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51960" y="3154680"/>
            <a:ext cx="475488" cy="475488"/>
          </a:xfrm>
          <a:prstGeom prst="ellipse">
            <a:avLst/>
          </a:prstGeom>
          <a:solidFill>
            <a:srgbClr val="2463B0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27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394960" y="3154680"/>
            <a:ext cx="475488" cy="475488"/>
          </a:xfrm>
          <a:prstGeom prst="ellipse">
            <a:avLst/>
          </a:prstGeom>
          <a:solidFill>
            <a:srgbClr val="F4F7FA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6976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70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37960" y="3154680"/>
            <a:ext cx="475488" cy="475488"/>
          </a:xfrm>
          <a:prstGeom prst="ellipse">
            <a:avLst/>
          </a:prstGeom>
          <a:solidFill>
            <a:srgbClr val="F4F7FA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6976"/>
                </a:solidFill>
                <a:latin typeface="Aptos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13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80960" y="3154680"/>
            <a:ext cx="475488" cy="475488"/>
          </a:xfrm>
          <a:prstGeom prst="ellipse">
            <a:avLst/>
          </a:prstGeom>
          <a:solidFill>
            <a:srgbClr val="F4F7FA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6976"/>
                </a:solidFill>
                <a:latin typeface="Aptos"/>
              </a:rPr>
              <a:t>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823960" y="3154680"/>
            <a:ext cx="475488" cy="475488"/>
          </a:xfrm>
          <a:prstGeom prst="ellipse">
            <a:avLst/>
          </a:prstGeom>
          <a:solidFill>
            <a:srgbClr val="F4F7FA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6976"/>
                </a:solidFill>
                <a:latin typeface="Aptos"/>
              </a:rPr>
              <a:t>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99448" y="3392424"/>
            <a:ext cx="649224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3154680"/>
            <a:ext cx="475488" cy="475488"/>
          </a:xfrm>
          <a:prstGeom prst="ellipse">
            <a:avLst/>
          </a:prstGeom>
          <a:solidFill>
            <a:srgbClr val="F4F7FA"/>
          </a:solidFill>
          <a:ln>
            <a:solidFill>
              <a:srgbClr val="24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326440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E6976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E6976"/>
                </a:solidFill>
                <a:latin typeface="Aptos"/>
              </a:rPr>
              <a:t>Origination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E6976"/>
                </a:solidFill>
                <a:latin typeface="Aptos"/>
              </a:rPr>
              <a:t>Early seasoning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794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E6976"/>
                </a:solidFill>
                <a:latin typeface="Aptos"/>
              </a:rPr>
              <a:t>Mature book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17720"/>
            <a:ext cx="2103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727448"/>
            <a:ext cx="18287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463B0"/>
                </a:solidFill>
                <a:latin typeface="Aptos"/>
              </a:rPr>
              <a:t>MOB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175504"/>
            <a:ext cx="182879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Booked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4617720"/>
            <a:ext cx="2103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4727448"/>
            <a:ext cx="18287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9191"/>
                </a:solidFill>
                <a:latin typeface="Aptos"/>
              </a:rPr>
              <a:t>MOB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175504"/>
            <a:ext cx="182879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Early signal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4617720"/>
            <a:ext cx="2103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4727448"/>
            <a:ext cx="18287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DD911F"/>
                </a:solidFill>
                <a:latin typeface="Aptos"/>
              </a:rPr>
              <a:t>MOB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175504"/>
            <a:ext cx="182879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Risk curve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26679" y="4617720"/>
            <a:ext cx="210312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0" y="4727448"/>
            <a:ext cx="18287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C0392B"/>
                </a:solidFill>
                <a:latin typeface="Aptos"/>
              </a:rPr>
              <a:t>MOB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175504"/>
            <a:ext cx="182879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Mature 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4617720"/>
            <a:ext cx="132588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4727448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01C2D"/>
                </a:solidFill>
                <a:latin typeface="Aptos"/>
              </a:rPr>
              <a:t>MOB 18+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517550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Long 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03 • DEFAULT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Default Curves: the shape of credit deterioration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C2D"/>
                </a:solidFill>
                <a:latin typeface="Aptos"/>
              </a:rPr>
              <a:t>Cumulative default rate by MOB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965960"/>
          <a:ext cx="65379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C2D"/>
                </a:solidFill>
                <a:latin typeface="Aptos"/>
              </a:rPr>
              <a:t>How to read the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659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E6976"/>
                </a:solidFill>
                <a:latin typeface="Aptos"/>
              </a:defRPr>
            </a:pPr>
            <a:r>
              <a:t>• Steep early slope → front-loaded risk</a:t>
            </a:r>
          </a:p>
          <a:p>
            <a:pPr>
              <a:spcAft>
                <a:spcPts val="900"/>
              </a:spcAft>
              <a:defRPr sz="1400">
                <a:solidFill>
                  <a:srgbClr val="5E6976"/>
                </a:solidFill>
                <a:latin typeface="Aptos"/>
              </a:defRPr>
            </a:pPr>
            <a:r>
              <a:t>• Flattening curve → seasoning effect / stabilization</a:t>
            </a:r>
          </a:p>
          <a:p>
            <a:pPr>
              <a:spcAft>
                <a:spcPts val="900"/>
              </a:spcAft>
              <a:defRPr sz="1400">
                <a:solidFill>
                  <a:srgbClr val="5E6976"/>
                </a:solidFill>
                <a:latin typeface="Aptos"/>
              </a:defRPr>
            </a:pPr>
            <a:r>
              <a:t>• Higher curve → weaker cohort quality</a:t>
            </a:r>
          </a:p>
          <a:p>
            <a:pPr>
              <a:spcAft>
                <a:spcPts val="900"/>
              </a:spcAft>
              <a:defRPr sz="1400">
                <a:solidFill>
                  <a:srgbClr val="5E6976"/>
                </a:solidFill>
                <a:latin typeface="Aptos"/>
              </a:defRPr>
            </a:pPr>
            <a:r>
              <a:t>• Gap between vintages → policy, mix or macro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257800"/>
            <a:ext cx="3794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5257800"/>
            <a:ext cx="64008" cy="6858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5404104"/>
            <a:ext cx="3447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Decision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5760720"/>
            <a:ext cx="3447288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>Compare like-for-like MOB, not calendar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04 • COHORT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Cohort Analysis: compare like-aged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182880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282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600200"/>
            <a:ext cx="141732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7282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MOB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00200"/>
            <a:ext cx="141732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7282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MOB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00200"/>
            <a:ext cx="141732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7282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MOB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600200"/>
            <a:ext cx="141732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7282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MOB 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1417320" cy="502920"/>
          </a:xfrm>
          <a:prstGeom prst="rect">
            <a:avLst/>
          </a:prstGeom>
          <a:solidFill>
            <a:srgbClr val="10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72821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MOB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30552"/>
            <a:ext cx="182880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9514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C2D"/>
                </a:solidFill>
                <a:latin typeface="Aptos"/>
              </a:rPr>
              <a:t>Jan-25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213055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22951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13055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2951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1.0%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13055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2951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2.2%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3055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2951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3.3%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13055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22951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0392B"/>
                </a:solidFill>
                <a:latin typeface="Aptos"/>
              </a:rPr>
              <a:t>4.0%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770632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93522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C2D"/>
                </a:solidFill>
                <a:latin typeface="Aptos"/>
              </a:rPr>
              <a:t>Apr-25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277063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29352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77063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29352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277063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9352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1.9%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77063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29352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2.8%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77063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93522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3.4%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410712"/>
            <a:ext cx="182880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35753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C2D"/>
                </a:solidFill>
                <a:latin typeface="Aptos"/>
              </a:rPr>
              <a:t>Jul-25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341071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35753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41071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0" y="35753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41071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35753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1.5%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41071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5753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2.2%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2440" y="3410712"/>
            <a:ext cx="1417320" cy="59436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357530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2.8%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050791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215383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C2D"/>
                </a:solidFill>
                <a:latin typeface="Aptos"/>
              </a:rPr>
              <a:t>Oct-25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23160" y="4050791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3160" y="421538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050791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0" y="421538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0.5%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4050791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421538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1.3%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4050791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421538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9191"/>
                </a:solidFill>
                <a:latin typeface="Aptos"/>
              </a:rPr>
              <a:t>1.9%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4050791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421538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6976"/>
                </a:solidFill>
                <a:latin typeface="Aptos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48006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3B0"/>
                </a:solidFill>
                <a:latin typeface="Aptos"/>
              </a:rPr>
              <a:t>Read vertically = one cohort aging  |  Read horizontally = same MOB across vintages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394960"/>
            <a:ext cx="3383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520" y="5394960"/>
            <a:ext cx="64008" cy="68580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2688" y="5541264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Analyst question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" y="5897880"/>
            <a:ext cx="3035808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>Is deterioration improving at the same MOB?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0" y="5394960"/>
            <a:ext cx="3383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9120" y="5394960"/>
            <a:ext cx="64008" cy="6858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90288" y="5541264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Management question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90288" y="5897880"/>
            <a:ext cx="3035808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>Did a policy / channel change improve quality?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46720" y="5394960"/>
            <a:ext cx="33832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46720" y="5394960"/>
            <a:ext cx="64008" cy="685800"/>
          </a:xfrm>
          <a:prstGeom prst="rect">
            <a:avLst/>
          </a:prstGeom>
          <a:solidFill>
            <a:srgbClr val="DD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47888" y="5541264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Investor question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47888" y="5897880"/>
            <a:ext cx="3035808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>Is credit growth hiding weakening cohorts?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05 • COMPLETE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Vintage Analysis —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14884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463B0"/>
                </a:solidFill>
                <a:latin typeface="Aptos"/>
              </a:rPr>
              <a:t>₹100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1874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Jan-25 originations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417320"/>
            <a:ext cx="214884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527048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9191"/>
                </a:solidFill>
                <a:latin typeface="Aptos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75104"/>
            <a:ext cx="1874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417320"/>
            <a:ext cx="214884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527048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C0392B"/>
                </a:solidFill>
                <a:latin typeface="Aptos"/>
              </a:rPr>
              <a:t>4.0%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75104"/>
            <a:ext cx="1874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MOB-12 default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17320"/>
            <a:ext cx="214884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527048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E7D50"/>
                </a:solidFill>
                <a:latin typeface="Aptos"/>
              </a:rPr>
              <a:t>2.8%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975104"/>
            <a:ext cx="1874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Jul-25 MOB-12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1417320"/>
            <a:ext cx="1463040" cy="9601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152704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DD911F"/>
                </a:solidFill>
                <a:latin typeface="Aptos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7510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E6976"/>
                </a:solidFill>
                <a:latin typeface="Aptos"/>
              </a:rPr>
              <a:t>Improvement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7432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2743200"/>
            <a:ext cx="64008" cy="214884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889504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Step 1 — Define cohort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24612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Jan-25 loans = 1,000 accounts / ₹100 Cr booked
Vintage = all loans originated in Jan-25.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7432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743200"/>
            <a:ext cx="64008" cy="214884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2889504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Step 2 — Align by MOB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24612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At MOB 6:
Jan-25 default = 2.2%
Apr-25 default = 1.9%
Jul-25 default = 1.5%
Compare at same 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74320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743200"/>
            <a:ext cx="64008" cy="214884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2889504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Step 3 — Quantify 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24612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Jan-25 vs Jul-25 at MOB 12:
4.0% − 2.8% = 1.2 pp
Relative improvement = 1.2 / 4.0 = 30%.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63B0"/>
                </a:solidFill>
                <a:latin typeface="Aptos"/>
              </a:rPr>
              <a:t>So what?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7784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1C2D"/>
                </a:solidFill>
                <a:latin typeface="Aptos"/>
              </a:rPr>
              <a:t>The newer cohort is materially better at the same seasoning point—evidence consistent with improved underwriting, mix, collections, or all three.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06 • DIAGNOSTIC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When a vintage improves, find the reason—not just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64008" cy="141732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55063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UNDERWRITING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48188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Cut-offs, scorecards, DTI, policy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64008" cy="141732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655063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CHANNEL /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11680"/>
            <a:ext cx="48188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Branch, digital, geography, product, ticket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64008" cy="141732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83864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COLLECTIONS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40480"/>
            <a:ext cx="48188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Early contact, cure rates, roll-back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375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337560"/>
            <a:ext cx="64008" cy="1417320"/>
          </a:xfrm>
          <a:prstGeom prst="rect">
            <a:avLst/>
          </a:prstGeom>
          <a:solidFill>
            <a:srgbClr val="DD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483864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MACRO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840480"/>
            <a:ext cx="481888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Employment, rates, inflation, sector 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578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3B0"/>
                </a:solidFill>
                <a:latin typeface="Aptos"/>
              </a:rPr>
              <a:t>Diagnostic logic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96128"/>
            <a:ext cx="1783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74243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C2D"/>
                </a:solidFill>
                <a:latin typeface="Aptos"/>
              </a:rPr>
              <a:t>Vintage gap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68880" y="5852160"/>
            <a:ext cx="36576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98648" y="5596128"/>
            <a:ext cx="1783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574243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C2D"/>
                </a:solidFill>
                <a:latin typeface="Aptos"/>
              </a:rPr>
              <a:t>Decompose mix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81728" y="5852160"/>
            <a:ext cx="36576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11496" y="5596128"/>
            <a:ext cx="1783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1496" y="574243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C2D"/>
                </a:solidFill>
                <a:latin typeface="Aptos"/>
              </a:rPr>
              <a:t>Test policy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94576" y="5852160"/>
            <a:ext cx="36576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24344" y="5596128"/>
            <a:ext cx="1783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24344" y="574243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C2D"/>
                </a:solidFill>
                <a:latin typeface="Aptos"/>
              </a:rPr>
              <a:t>Validate collections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07424" y="5852160"/>
            <a:ext cx="365760" cy="0"/>
          </a:xfrm>
          <a:prstGeom prst="line">
            <a:avLst/>
          </a:prstGeom>
          <a:ln w="25400">
            <a:solidFill>
              <a:srgbClr val="24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37192" y="5596128"/>
            <a:ext cx="17830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7192" y="574243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1C2D"/>
                </a:solidFill>
                <a:latin typeface="Aptos"/>
              </a:rPr>
              <a:t>Conclude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07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Case Study: digital consumer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D911F"/>
                </a:solidFill>
                <a:latin typeface="Aptos"/>
              </a:rPr>
              <a:t>Illustrative data — not a real institution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64008" cy="333756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75104"/>
            <a:ext cx="4864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31720"/>
            <a:ext cx="486460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A lender saw 90+ DPD increase in new digital originations.
Vintage curves showed the Jan-25 cohort reaching 4.0% cumulative default by MOB 12, while Jul-25 reached 2.8%.
Management initially attributed the improvement to “better collections.”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28800"/>
            <a:ext cx="64008" cy="333756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975104"/>
            <a:ext cx="4864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331720"/>
            <a:ext cx="4864608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976"/>
                </a:solidFill>
                <a:latin typeface="Aptos"/>
              </a:rPr>
              <a:t>Decomposition showed:
• 45% of improvement: tighter score cut-off
• 30%: lower-risk salary segment mix
• 15%: improved early collections
• 10%: residual / macro
Decision: retain underwriting change; monitor growth and channel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01C2D"/>
                </a:solidFill>
                <a:latin typeface="Aptos"/>
              </a:rPr>
              <a:t>Banker takeaway: vintage analysis turns a headline delinquency number into an attribution problem.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08 • RISKS &amp;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What can make vintage analysis misleading?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64008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5506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Right-censoring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1168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Recent vintages have not seasoned enough to show the full curve.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4008" cy="1645920"/>
          </a:xfrm>
          <a:prstGeom prst="rect">
            <a:avLst/>
          </a:prstGeom>
          <a:solidFill>
            <a:srgbClr val="DD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5506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Mix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1168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A “better” vintage may simply contain safer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08760"/>
            <a:ext cx="64008" cy="1645920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65506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Definition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1168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Default / DPD rules changed across periods.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118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611879"/>
            <a:ext cx="64008" cy="164592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75818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Small cohorts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11480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Low volume creates noisy rates and false signals.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611879"/>
            <a:ext cx="64008" cy="164592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75818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Prepayment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1480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High-risk accounts may disappear through refinance / closure.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611879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611879"/>
            <a:ext cx="64008" cy="1645920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758183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Macro timing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114800"/>
            <a:ext cx="30815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976"/>
                </a:solidFill>
                <a:latin typeface="Aptos"/>
              </a:rPr>
              <a:t>Cohorts originated in different environments are not perfectly comparable.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C2D"/>
                </a:solidFill>
                <a:latin typeface="Aptos"/>
              </a:rPr>
              <a:t>Best practice: lock definitions, align MOB, disclose censoring, and segment before concluding.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09 • DECISION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From vintage curves to credit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64008" cy="1874519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CREDIT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216712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Underwriting quality
Early warning
Reserve / capital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5544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1554480"/>
            <a:ext cx="64008" cy="1874519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700784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BANKER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057400"/>
            <a:ext cx="216712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Pricing
Limits
Growth appetite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544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554480"/>
            <a:ext cx="64008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700784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057400"/>
            <a:ext cx="216712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Provision trend
Portfolio profitability
Risk-adjusted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554480"/>
            <a:ext cx="2514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19" y="1554480"/>
            <a:ext cx="64008" cy="1874519"/>
          </a:xfrm>
          <a:prstGeom prst="rect">
            <a:avLst/>
          </a:prstGeom>
          <a:solidFill>
            <a:srgbClr val="DD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700784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INVESTOR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057400"/>
            <a:ext cx="216712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976"/>
                </a:solidFill>
                <a:latin typeface="Aptos"/>
              </a:rPr>
              <a:t>Credit cycle
Asset quality
Sustainable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63B0"/>
                </a:solidFill>
                <a:latin typeface="Aptos"/>
              </a:rPr>
              <a:t>Executive decision matrix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2377440" cy="438912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2511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Signal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206240"/>
            <a:ext cx="4572000" cy="438912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4325112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19" y="4206240"/>
            <a:ext cx="3657600" cy="438912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432511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81728"/>
            <a:ext cx="237744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1" y="4773168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01C2D"/>
                </a:solidFill>
                <a:latin typeface="Aptos"/>
              </a:rPr>
              <a:t>New vintage better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681728"/>
            <a:ext cx="45720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4773168"/>
            <a:ext cx="4425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Likely quality improvement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19" y="4681728"/>
            <a:ext cx="36576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1" y="4773168"/>
            <a:ext cx="35112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Validate driver; scale selectively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20640"/>
            <a:ext cx="2377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1" y="5212079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01C2D"/>
                </a:solidFill>
                <a:latin typeface="Aptos"/>
              </a:rPr>
              <a:t>New vintage worse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120640"/>
            <a:ext cx="4572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0672" y="5212079"/>
            <a:ext cx="4425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Deteriorating origination quality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19" y="5120640"/>
            <a:ext cx="3657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1" y="5212079"/>
            <a:ext cx="35112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Tighten policy / pricing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59552"/>
            <a:ext cx="237744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1" y="5650992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01C2D"/>
                </a:solidFill>
                <a:latin typeface="Aptos"/>
              </a:rPr>
              <a:t>Same curve, higher volume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559552"/>
            <a:ext cx="45720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0672" y="5650992"/>
            <a:ext cx="4425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Growth without quality gain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19" y="5559552"/>
            <a:ext cx="3657600" cy="411480"/>
          </a:xfrm>
          <a:prstGeom prst="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62671" y="5650992"/>
            <a:ext cx="35112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Stress capacity &amp; collections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998464"/>
            <a:ext cx="2377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1" y="6089904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01C2D"/>
                </a:solidFill>
                <a:latin typeface="Aptos"/>
              </a:rPr>
              <a:t>Curve shape changes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5998464"/>
            <a:ext cx="4572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90672" y="6089904"/>
            <a:ext cx="4425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Risk timing shifted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19" y="5998464"/>
            <a:ext cx="36576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2671" y="6089904"/>
            <a:ext cx="35112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976"/>
                </a:solidFill>
                <a:latin typeface="Aptos"/>
              </a:rPr>
              <a:t>Revisit limits, ECL and liquidity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6BEFF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Five rules for using Vintage Analysis well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1051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1  Compare cohorts at the SAME MOB.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78608"/>
            <a:ext cx="411480" cy="4114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2  Read the CURVE SHAPE—not just the final default rate.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328415"/>
            <a:ext cx="411480" cy="4114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38144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10127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3  Separate underwriting effects from MIX, COLLECTIONS and MACRO.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78224"/>
            <a:ext cx="411480" cy="4114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87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59936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4  Treat recent vintages as CENSORED until sufficiently seasoned.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828031"/>
            <a:ext cx="411480" cy="4114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37759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9744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5  Convert the signal into a DECISION: policy, pricing, limits, capital or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D2E1F0"/>
                </a:solidFill>
                <a:latin typeface="Aptos"/>
              </a:rPr>
              <a:t>Bottom line: Vintage analysis is not a report—it is a lens for making better credit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B0"/>
                </a:solidFill>
                <a:latin typeface="Aptos"/>
              </a:rPr>
              <a:t>APPENDIX •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C2D"/>
                </a:solidFill>
                <a:latin typeface="Aptos"/>
              </a:rPr>
              <a:t>Practical formula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E6976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6976"/>
                </a:solidFill>
                <a:latin typeface="Aptos"/>
              </a:rPr>
              <a:t>CREDIT RISK ANALYTICS  •  VINTAGE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331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658368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1984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MOB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20240"/>
            <a:ext cx="198424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>MOB = Observation Month − Origination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C2D"/>
                </a:solidFill>
                <a:latin typeface="Aptos"/>
              </a:rPr>
              <a:t>MOB = Observation Month − Origination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13432"/>
            <a:ext cx="2331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313432"/>
            <a:ext cx="64008" cy="658368"/>
          </a:xfrm>
          <a:prstGeom prst="rect">
            <a:avLst/>
          </a:prstGeom>
          <a:solidFill>
            <a:srgbClr val="24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459736"/>
            <a:ext cx="1984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Default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816352"/>
            <a:ext cx="198424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32304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C2D"/>
                </a:solidFill>
                <a:latin typeface="Aptos"/>
              </a:rPr>
              <a:t>Cumulative Defaults ÷ Relevant Cohort Population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9544"/>
            <a:ext cx="2331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09544"/>
            <a:ext cx="64008" cy="658368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355848"/>
            <a:ext cx="1984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Vintage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712463"/>
            <a:ext cx="198424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328415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C2D"/>
                </a:solidFill>
                <a:latin typeface="Aptos"/>
              </a:rPr>
              <a:t>Cohort A default @ same MOB − Cohort B default @ same MOB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05656"/>
            <a:ext cx="2331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05656"/>
            <a:ext cx="64008" cy="658368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251960"/>
            <a:ext cx="1984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Relative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608576"/>
            <a:ext cx="198424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224528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C2D"/>
                </a:solidFill>
                <a:latin typeface="Aptos"/>
              </a:rPr>
              <a:t>(Old rate − New rate) ÷ Old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01768"/>
            <a:ext cx="2331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001768"/>
            <a:ext cx="64008" cy="658368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148072"/>
            <a:ext cx="1984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1C2D"/>
                </a:solidFill>
                <a:latin typeface="Aptos"/>
              </a:rPr>
              <a:t>Roll-rate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504688"/>
            <a:ext cx="198424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976"/>
                </a:solidFill>
                <a:latin typeface="Apto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1206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C2D"/>
                </a:solidFill>
                <a:latin typeface="Aptos"/>
              </a:rPr>
              <a:t>Track movement: Current → 30 DPD → 60 DPD → 90+ DPD → 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976"/>
                </a:solidFill>
                <a:latin typeface="Aptos"/>
              </a:rPr>
              <a:t>Use consistent cohort definitions, default definitions and exposure bases across periods.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