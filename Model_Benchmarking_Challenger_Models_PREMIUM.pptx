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AUC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Benchmark</c:v>
                </c:pt>
                <c:pt idx="1">
                  <c:v>Champion</c:v>
                </c:pt>
                <c:pt idx="2">
                  <c:v>Challenger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0.71</c:v>
                </c:pt>
                <c:pt idx="1">
                  <c:v>0.76</c:v>
                </c:pt>
                <c:pt idx="2">
                  <c:v>0.79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5"/>
          <c:min val="0.6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943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7EC6C6"/>
                </a:solidFill>
                <a:latin typeface="Aptos"/>
              </a:rPr>
              <a:t>MODEL RISK MANAGEMENT  |  9.5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"/>
              </a:rPr>
              <a:t>Model Benchmarking</a:t>
            </a:r>
            <a:br/>
            <a:r>
              <a:t>&amp; Challenger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542032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D7E1EB"/>
                </a:solidFill>
                <a:latin typeface="Aptos"/>
              </a:rPr>
              <a:t>Benchmark • Alternative Models • Champion vs Challenger • Head-to-Head Testing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709160"/>
            <a:ext cx="2834640" cy="640080"/>
          </a:xfrm>
          <a:prstGeom prst="roundRect">
            <a:avLst/>
          </a:prstGeom>
          <a:solidFill>
            <a:srgbClr val="3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892040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REFERENCE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4709160"/>
            <a:ext cx="2834640" cy="640080"/>
          </a:xfrm>
          <a:prstGeom prst="roundRect">
            <a:avLst/>
          </a:prstGeom>
          <a:solidFill>
            <a:srgbClr val="24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60520" y="4892040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COMPARE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4709160"/>
            <a:ext cx="2834640" cy="640080"/>
          </a:xfrm>
          <a:prstGeom prst="roundRect">
            <a:avLst/>
          </a:prstGeom>
          <a:solidFill>
            <a:srgbClr val="CD7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4892040"/>
            <a:ext cx="2834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8932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B9C7D7"/>
                </a:solidFill>
                <a:latin typeface="Aptos"/>
              </a:rPr>
              <a:t>A practical framework for comparing models before changing the production decision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47E7E"/>
                </a:solidFill>
                <a:latin typeface="Aptos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42034"/>
                </a:solidFill>
                <a:latin typeface="Aptos"/>
              </a:rPr>
              <a:t>What is Model Benchmarking?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7789"/>
                </a:solidFill>
                <a:latin typeface="Aptos"/>
              </a:rPr>
              <a:t>A reference point tells us whether a model creates meaningful incremental value.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3429000" cy="356616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64008" cy="3566160"/>
          </a:xfrm>
          <a:prstGeom prst="rect">
            <a:avLst/>
          </a:prstGeom>
          <a:solidFill>
            <a:srgbClr val="3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856232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034"/>
                </a:solidFill>
                <a:latin typeface="Aptos"/>
              </a:rPr>
              <a:t>REFERENCE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313432"/>
            <a:ext cx="3063240" cy="2788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20" b="0">
                <a:solidFill>
                  <a:srgbClr val="232B35"/>
                </a:solidFill>
                <a:latin typeface="Aptos"/>
              </a:rPr>
              <a:t>A credible baseline used to anchor comparison.</a:t>
            </a:r>
            <a:br/>
            <a:br/>
            <a:r>
              <a:t>Examples:</a:t>
            </a:r>
            <a:br/>
            <a:r>
              <a:t>• Simple logistic regression</a:t>
            </a:r>
            <a:br/>
            <a:r>
              <a:t>• Existing production model</a:t>
            </a:r>
            <a:br/>
            <a:r>
              <a:t>• Business-rule score</a:t>
            </a:r>
            <a:br/>
            <a:r>
              <a:t>• External/reference score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691640"/>
            <a:ext cx="3429000" cy="356616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1691640"/>
            <a:ext cx="64008" cy="3566160"/>
          </a:xfrm>
          <a:prstGeom prst="rect">
            <a:avLst/>
          </a:prstGeom>
          <a:solidFill>
            <a:srgbClr val="24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856232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034"/>
                </a:solidFill>
                <a:latin typeface="Aptos"/>
              </a:rPr>
              <a:t>COMPARE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313432"/>
            <a:ext cx="3063240" cy="2788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20" b="0">
                <a:solidFill>
                  <a:srgbClr val="232B35"/>
                </a:solidFill>
                <a:latin typeface="Aptos"/>
              </a:rPr>
              <a:t>Use the same target, population and evaluation period where possible.</a:t>
            </a:r>
            <a:br/>
            <a:br/>
            <a:r>
              <a:t>Compare:</a:t>
            </a:r>
            <a:br/>
            <a:r>
              <a:t>• Discrimination</a:t>
            </a:r>
            <a:br/>
            <a:r>
              <a:t>• Calibration</a:t>
            </a:r>
            <a:br/>
            <a:r>
              <a:t>• Stability</a:t>
            </a:r>
            <a:br/>
            <a:r>
              <a:t>• Operational impact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691640"/>
            <a:ext cx="3429000" cy="356616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1583" y="1691640"/>
            <a:ext cx="64008" cy="3566160"/>
          </a:xfrm>
          <a:prstGeom prst="rect">
            <a:avLst/>
          </a:prstGeom>
          <a:solidFill>
            <a:srgbClr val="CD7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856232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034"/>
                </a:solidFill>
                <a:latin typeface="Aptos"/>
              </a:rPr>
              <a:t>DECISION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313432"/>
            <a:ext cx="3063240" cy="2788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20" b="0">
                <a:solidFill>
                  <a:srgbClr val="232B35"/>
                </a:solidFill>
                <a:latin typeface="Aptos"/>
              </a:rPr>
              <a:t>The question is not simply “Is the model accurate?”</a:t>
            </a:r>
            <a:br/>
            <a:br/>
            <a:r>
              <a:t>It is:</a:t>
            </a:r>
            <a:br/>
            <a:r>
              <a:t>“Does this model add enough value over a credible alternative to justify its use?”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10058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97789"/>
                </a:solidFill>
                <a:latin typeface="Aptos"/>
              </a:rPr>
              <a:t>CREDIT RISK MODELING  |  MODEL BENCHMARKING &amp; CHALLENGER MODELS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73952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97789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47E7E"/>
                </a:solidFill>
                <a:latin typeface="Apto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42034"/>
                </a:solidFill>
                <a:latin typeface="Aptos"/>
              </a:rPr>
              <a:t>Alternative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7789"/>
                </a:solidFill>
                <a:latin typeface="Aptos"/>
              </a:rPr>
              <a:t>Different alternatives answer different benchmarking questions.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00200"/>
            <a:ext cx="2286000" cy="502920"/>
          </a:xfrm>
          <a:prstGeom prst="rect">
            <a:avLst/>
          </a:prstGeom>
          <a:solidFill>
            <a:srgbClr val="14203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28216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Alternative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1600200"/>
            <a:ext cx="2926080" cy="502920"/>
          </a:xfrm>
          <a:prstGeom prst="rect">
            <a:avLst/>
          </a:prstGeom>
          <a:solidFill>
            <a:srgbClr val="14203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1728216"/>
            <a:ext cx="2926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Typical example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0" y="1600200"/>
            <a:ext cx="5669280" cy="502920"/>
          </a:xfrm>
          <a:prstGeom prst="rect">
            <a:avLst/>
          </a:prstGeom>
          <a:solidFill>
            <a:srgbClr val="14203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0" y="1728216"/>
            <a:ext cx="5669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What it tells 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103120"/>
            <a:ext cx="2286000" cy="749808"/>
          </a:xfrm>
          <a:prstGeom prst="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19" y="228600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20" b="1">
                <a:solidFill>
                  <a:srgbClr val="142034"/>
                </a:solidFill>
                <a:latin typeface="Aptos"/>
              </a:rPr>
              <a:t>Simple benchmark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2103120"/>
            <a:ext cx="2926080" cy="749808"/>
          </a:xfrm>
          <a:prstGeom prst="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0" y="22860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20" b="0">
                <a:solidFill>
                  <a:srgbClr val="232B35"/>
                </a:solidFill>
                <a:latin typeface="Aptos"/>
              </a:rPr>
              <a:t>Logistic regression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103120"/>
            <a:ext cx="5669280" cy="749808"/>
          </a:xfrm>
          <a:prstGeom prst="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228600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20" b="0">
                <a:solidFill>
                  <a:srgbClr val="232B35"/>
                </a:solidFill>
                <a:latin typeface="Aptos"/>
              </a:rPr>
              <a:t>Minimum modelling capability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852927"/>
            <a:ext cx="22860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19" y="30358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20" b="1">
                <a:solidFill>
                  <a:srgbClr val="142034"/>
                </a:solidFill>
                <a:latin typeface="Aptos"/>
              </a:rPr>
              <a:t>Business benchmark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0" y="2852927"/>
            <a:ext cx="292608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17520" y="303580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20" b="0">
                <a:solidFill>
                  <a:srgbClr val="232B35"/>
                </a:solidFill>
                <a:latin typeface="Aptos"/>
              </a:rPr>
              <a:t>Rules / expert score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0" y="2852927"/>
            <a:ext cx="566928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0" y="3035808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20" b="0">
                <a:solidFill>
                  <a:srgbClr val="232B35"/>
                </a:solidFill>
                <a:latin typeface="Aptos"/>
              </a:rPr>
              <a:t>Value added over policy judgement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602735"/>
            <a:ext cx="2286000" cy="749808"/>
          </a:xfrm>
          <a:prstGeom prst="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19" y="3785615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20" b="1">
                <a:solidFill>
                  <a:srgbClr val="142034"/>
                </a:solidFill>
                <a:latin typeface="Aptos"/>
              </a:rPr>
              <a:t>Production model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3602735"/>
            <a:ext cx="2926080" cy="749808"/>
          </a:xfrm>
          <a:prstGeom prst="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20" y="3785615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20" b="0">
                <a:solidFill>
                  <a:srgbClr val="232B35"/>
                </a:solidFill>
                <a:latin typeface="Aptos"/>
              </a:rPr>
              <a:t>Current PD model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52160" y="3602735"/>
            <a:ext cx="5669280" cy="749808"/>
          </a:xfrm>
          <a:prstGeom prst="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0" y="3785615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20" b="0">
                <a:solidFill>
                  <a:srgbClr val="232B35"/>
                </a:solidFill>
                <a:latin typeface="Aptos"/>
              </a:rPr>
              <a:t>Existing decision baseline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352544"/>
            <a:ext cx="228600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19" y="4535424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20" b="1">
                <a:solidFill>
                  <a:srgbClr val="142034"/>
                </a:solidFill>
                <a:latin typeface="Aptos"/>
              </a:rPr>
              <a:t>Method challenger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26080" y="4352544"/>
            <a:ext cx="292608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17520" y="4535424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20" b="0">
                <a:solidFill>
                  <a:srgbClr val="232B35"/>
                </a:solidFill>
                <a:latin typeface="Aptos"/>
              </a:rPr>
              <a:t>GBM / tree-based model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52160" y="4352544"/>
            <a:ext cx="566928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0" y="4535424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20" b="0">
                <a:solidFill>
                  <a:srgbClr val="232B35"/>
                </a:solidFill>
                <a:latin typeface="Aptos"/>
              </a:rPr>
              <a:t>Value of a different algorithm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5102352"/>
            <a:ext cx="2286000" cy="749808"/>
          </a:xfrm>
          <a:prstGeom prst="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19" y="5285232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20" b="1">
                <a:solidFill>
                  <a:srgbClr val="142034"/>
                </a:solidFill>
                <a:latin typeface="Aptos"/>
              </a:rPr>
              <a:t>External benchmark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26080" y="5102352"/>
            <a:ext cx="2926080" cy="749808"/>
          </a:xfrm>
          <a:prstGeom prst="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017520" y="528523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20" b="0">
                <a:solidFill>
                  <a:srgbClr val="232B35"/>
                </a:solidFill>
                <a:latin typeface="Aptos"/>
              </a:rPr>
              <a:t>Bureau / vendor score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52160" y="5102352"/>
            <a:ext cx="5669280" cy="749808"/>
          </a:xfrm>
          <a:prstGeom prst="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0" y="528523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20" b="0">
                <a:solidFill>
                  <a:srgbClr val="232B35"/>
                </a:solidFill>
                <a:latin typeface="Aptos"/>
              </a:rPr>
              <a:t>Performance relative to an external reference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510528"/>
            <a:ext cx="10058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97789"/>
                </a:solidFill>
                <a:latin typeface="Aptos"/>
              </a:rPr>
              <a:t>CREDIT RISK MODELING  |  MODEL BENCHMARKING &amp; CHALLENGER MODELS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47120" y="6473952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97789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47E7E"/>
                </a:solidFill>
                <a:latin typeface="Apto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42034"/>
                </a:solidFill>
                <a:latin typeface="Aptos"/>
              </a:rPr>
              <a:t>What is a Challenger Model?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7789"/>
                </a:solidFill>
                <a:latin typeface="Aptos"/>
              </a:rPr>
              <a:t>A challenger is an alternative model deliberately tested against the production Champion.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356616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64008" cy="3566160"/>
          </a:xfrm>
          <a:prstGeom prst="rect">
            <a:avLst/>
          </a:prstGeom>
          <a:solidFill>
            <a:srgbClr val="3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10512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034"/>
                </a:solidFill>
                <a:latin typeface="Aptos"/>
              </a:rPr>
              <a:t>CHAMPION — PRODUCTION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267712"/>
            <a:ext cx="4663440" cy="2788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20" b="0">
                <a:solidFill>
                  <a:srgbClr val="232B35"/>
                </a:solidFill>
                <a:latin typeface="Aptos"/>
              </a:rPr>
              <a:t>Current model used in live decisions</a:t>
            </a:r>
            <a:br/>
            <a:br/>
            <a:r>
              <a:t>• Established governance</a:t>
            </a:r>
            <a:br/>
            <a:r>
              <a:t>• Known performance</a:t>
            </a:r>
            <a:br/>
            <a:r>
              <a:t>• Existing data pipeline</a:t>
            </a:r>
            <a:br/>
            <a:r>
              <a:t>• Current decision thresholds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45920"/>
            <a:ext cx="5029200" cy="356616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645920"/>
            <a:ext cx="64008" cy="3566160"/>
          </a:xfrm>
          <a:prstGeom prst="rect">
            <a:avLst/>
          </a:prstGeom>
          <a:solidFill>
            <a:srgbClr val="CD7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1810512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034"/>
                </a:solidFill>
                <a:latin typeface="Aptos"/>
              </a:rPr>
              <a:t>CHALLENGER —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2267712"/>
            <a:ext cx="4663440" cy="2788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20" b="0">
                <a:solidFill>
                  <a:srgbClr val="232B35"/>
                </a:solidFill>
                <a:latin typeface="Aptos"/>
              </a:rPr>
              <a:t>Alternative model under controlled evaluation</a:t>
            </a:r>
            <a:br/>
            <a:br/>
            <a:r>
              <a:t>• New methodology or specification</a:t>
            </a:r>
            <a:br/>
            <a:r>
              <a:t>• Same business objective</a:t>
            </a:r>
            <a:br/>
            <a:r>
              <a:t>• Same evaluation population</a:t>
            </a:r>
            <a:br/>
            <a:r>
              <a:t>• Potential future replacement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2880360"/>
            <a:ext cx="1097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142034"/>
                </a:solidFill>
                <a:latin typeface="Aptos"/>
              </a:rPr>
              <a:t>VS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10058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97789"/>
                </a:solidFill>
                <a:latin typeface="Aptos"/>
              </a:rPr>
              <a:t>CREDIT RISK MODELING  |  MODEL BENCHMARKING &amp; CHALLENGER 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73952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97789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47E7E"/>
                </a:solidFill>
                <a:latin typeface="Apto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42034"/>
                </a:solidFill>
                <a:latin typeface="Aptos"/>
              </a:rPr>
              <a:t>Champion–Challenger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7789"/>
                </a:solidFill>
                <a:latin typeface="Aptos"/>
              </a:rPr>
              <a:t>The comparison should be controlled before interpreting any performance difference.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2011680" cy="310896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84831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247E7E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42034"/>
                </a:solidFill>
                <a:latin typeface="Aptos"/>
              </a:rPr>
              <a:t>Same 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3337560"/>
            <a:ext cx="1682496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19" b="0">
                <a:solidFill>
                  <a:srgbClr val="232B35"/>
                </a:solidFill>
                <a:latin typeface="Aptos"/>
              </a:rPr>
              <a:t>Default definition and outcome window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98648" y="1828800"/>
            <a:ext cx="2011680" cy="310896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35808" y="2084831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247E7E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35808" y="260604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42034"/>
                </a:solidFill>
                <a:latin typeface="Aptos"/>
              </a:rPr>
              <a:t>Same population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3337560"/>
            <a:ext cx="1682496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19" b="0">
                <a:solidFill>
                  <a:srgbClr val="232B35"/>
                </a:solidFill>
                <a:latin typeface="Aptos"/>
              </a:rPr>
              <a:t>Comparable observation period / segment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02936" y="1828800"/>
            <a:ext cx="2011680" cy="310896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0096" y="2084831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247E7E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0096" y="260604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42034"/>
                </a:solidFill>
                <a:latin typeface="Aptos"/>
              </a:rPr>
              <a:t>Same information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67528" y="3337560"/>
            <a:ext cx="1682496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19" b="0">
                <a:solidFill>
                  <a:srgbClr val="232B35"/>
                </a:solidFill>
                <a:latin typeface="Aptos"/>
              </a:rPr>
              <a:t>Equivalent data availability and cut-off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07224" y="1828800"/>
            <a:ext cx="2011680" cy="310896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44384" y="2084831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247E7E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44384" y="260604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42034"/>
                </a:solidFill>
                <a:latin typeface="Aptos"/>
              </a:rPr>
              <a:t>Same metrics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71816" y="3337560"/>
            <a:ext cx="1682496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19" b="0">
                <a:solidFill>
                  <a:srgbClr val="232B35"/>
                </a:solidFill>
                <a:latin typeface="Aptos"/>
              </a:rPr>
              <a:t>Common discrimination, calibration and business measures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11512" y="1828800"/>
            <a:ext cx="2011680" cy="310896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48672" y="2084831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247E7E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48672" y="260604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42034"/>
                </a:solidFill>
                <a:latin typeface="Aptos"/>
              </a:rPr>
              <a:t>Same constraints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76104" y="3337560"/>
            <a:ext cx="1682496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19" b="0">
                <a:solidFill>
                  <a:srgbClr val="232B35"/>
                </a:solidFill>
                <a:latin typeface="Aptos"/>
              </a:rPr>
              <a:t>Operational, policy and governance requirements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10058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97789"/>
                </a:solidFill>
                <a:latin typeface="Aptos"/>
              </a:rPr>
              <a:t>CREDIT RISK MODELING  |  MODEL BENCHMARKING &amp; CHALLENGER MODELS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73952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97789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47E7E"/>
                </a:solidFill>
                <a:latin typeface="Apto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42034"/>
                </a:solidFill>
                <a:latin typeface="Aptos"/>
              </a:rPr>
              <a:t>Head-to-Head Model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7789"/>
                </a:solidFill>
                <a:latin typeface="Aptos"/>
              </a:rPr>
              <a:t>Illustrative results — higher predictive power is only one part of the decision.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645920"/>
          <a:ext cx="54864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46520" y="1645920"/>
            <a:ext cx="5074920" cy="105156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46520" y="1645920"/>
            <a:ext cx="64008" cy="1051560"/>
          </a:xfrm>
          <a:prstGeom prst="rect">
            <a:avLst/>
          </a:prstGeom>
          <a:solidFill>
            <a:srgbClr val="24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47688" y="1810512"/>
            <a:ext cx="47091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034"/>
                </a:solidFill>
                <a:latin typeface="Aptos"/>
              </a:rPr>
              <a:t>DISCRIMINATION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47688" y="2267712"/>
            <a:ext cx="4709159" cy="274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20" b="0">
                <a:solidFill>
                  <a:srgbClr val="232B35"/>
                </a:solidFill>
                <a:latin typeface="Aptos"/>
              </a:rPr>
              <a:t>Benchmark 0.71  |  Champion 0.76  |  Challenger 0.79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2852928"/>
            <a:ext cx="5074920" cy="105156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46520" y="2852928"/>
            <a:ext cx="64008" cy="1051560"/>
          </a:xfrm>
          <a:prstGeom prst="rect">
            <a:avLst/>
          </a:prstGeom>
          <a:solidFill>
            <a:srgbClr val="3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47688" y="3017520"/>
            <a:ext cx="47091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034"/>
                </a:solidFill>
                <a:latin typeface="Aptos"/>
              </a:rPr>
              <a:t>CALIBRATION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7688" y="3474720"/>
            <a:ext cx="4709159" cy="274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20" b="0">
                <a:solidFill>
                  <a:srgbClr val="232B35"/>
                </a:solidFill>
                <a:latin typeface="Aptos"/>
              </a:rPr>
              <a:t>Do predicted probabilities track realised default rates?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4059936"/>
            <a:ext cx="5074920" cy="105156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46520" y="4059936"/>
            <a:ext cx="64008" cy="1051560"/>
          </a:xfrm>
          <a:prstGeom prst="rect">
            <a:avLst/>
          </a:prstGeom>
          <a:solidFill>
            <a:srgbClr val="CD7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47688" y="4224528"/>
            <a:ext cx="47091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034"/>
                </a:solidFill>
                <a:latin typeface="Aptos"/>
              </a:rPr>
              <a:t>PRACTICALITY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7688" y="4681728"/>
            <a:ext cx="4709159" cy="2743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20" b="0">
                <a:solidFill>
                  <a:srgbClr val="232B35"/>
                </a:solidFill>
                <a:latin typeface="Aptos"/>
              </a:rPr>
              <a:t>Data availability • Explainability • Runtime • Monitoring • Governance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10058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97789"/>
                </a:solidFill>
                <a:latin typeface="Aptos"/>
              </a:rPr>
              <a:t>CREDIT RISK MODELING  |  MODEL BENCHMARKING &amp; CHALLENGER 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73952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97789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47E7E"/>
                </a:solidFill>
                <a:latin typeface="Aptos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42034"/>
                </a:solidFill>
                <a:latin typeface="Aptos"/>
              </a:rPr>
              <a:t>Numerical Example — Three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7789"/>
                </a:solidFill>
                <a:latin typeface="Aptos"/>
              </a:rPr>
              <a:t>Illustrative credit-risk comparison on the same evaluation sample.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600200"/>
            <a:ext cx="3108960" cy="502920"/>
          </a:xfrm>
          <a:prstGeom prst="rect">
            <a:avLst/>
          </a:prstGeom>
          <a:solidFill>
            <a:srgbClr val="14203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28216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Measure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3886200" y="1600200"/>
            <a:ext cx="1920240" cy="502920"/>
          </a:xfrm>
          <a:prstGeom prst="rect">
            <a:avLst/>
          </a:prstGeom>
          <a:solidFill>
            <a:srgbClr val="14203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86200" y="1728216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Benchmark</a:t>
            </a:r>
          </a:p>
        </p:txBody>
      </p:sp>
      <p:sp>
        <p:nvSpPr>
          <p:cNvPr id="9" name="Rectangle 8"/>
          <p:cNvSpPr/>
          <p:nvPr/>
        </p:nvSpPr>
        <p:spPr>
          <a:xfrm>
            <a:off x="5806440" y="1600200"/>
            <a:ext cx="1920240" cy="502920"/>
          </a:xfrm>
          <a:prstGeom prst="rect">
            <a:avLst/>
          </a:prstGeom>
          <a:solidFill>
            <a:srgbClr val="14203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6440" y="1728216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Champion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26679" y="1600200"/>
            <a:ext cx="1920240" cy="502920"/>
          </a:xfrm>
          <a:prstGeom prst="rect">
            <a:avLst/>
          </a:prstGeom>
          <a:solidFill>
            <a:srgbClr val="14203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1728216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Challenger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103120"/>
            <a:ext cx="3108960" cy="731520"/>
          </a:xfrm>
          <a:prstGeom prst="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2286000"/>
            <a:ext cx="29626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20" b="1">
                <a:solidFill>
                  <a:srgbClr val="142034"/>
                </a:solidFill>
                <a:latin typeface="Aptos"/>
              </a:rPr>
              <a:t>AUC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6200" y="2103120"/>
            <a:ext cx="1920240" cy="731520"/>
          </a:xfrm>
          <a:prstGeom prst="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59352" y="2286000"/>
            <a:ext cx="17739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20" b="0">
                <a:solidFill>
                  <a:srgbClr val="232B35"/>
                </a:solidFill>
                <a:latin typeface="Aptos"/>
              </a:rPr>
              <a:t>0.71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06440" y="2103120"/>
            <a:ext cx="1920240" cy="731520"/>
          </a:xfrm>
          <a:prstGeom prst="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79592" y="2286000"/>
            <a:ext cx="17739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20" b="0">
                <a:solidFill>
                  <a:srgbClr val="232B35"/>
                </a:solidFill>
                <a:latin typeface="Aptos"/>
              </a:rPr>
              <a:t>0.76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26679" y="2103120"/>
            <a:ext cx="1920240" cy="731520"/>
          </a:xfrm>
          <a:prstGeom prst="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9831" y="2286000"/>
            <a:ext cx="17739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20" b="0">
                <a:solidFill>
                  <a:srgbClr val="232B35"/>
                </a:solidFill>
                <a:latin typeface="Aptos"/>
              </a:rPr>
              <a:t>0.79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2834639"/>
            <a:ext cx="310896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" y="3017520"/>
            <a:ext cx="29626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20" b="1">
                <a:solidFill>
                  <a:srgbClr val="142034"/>
                </a:solidFill>
                <a:latin typeface="Aptos"/>
              </a:rPr>
              <a:t>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86200" y="2834639"/>
            <a:ext cx="19202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59352" y="3017520"/>
            <a:ext cx="17739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20" b="0">
                <a:solidFill>
                  <a:srgbClr val="232B35"/>
                </a:solidFill>
                <a:latin typeface="Aptos"/>
              </a:rPr>
              <a:t>35%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06440" y="2834639"/>
            <a:ext cx="19202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79592" y="3017520"/>
            <a:ext cx="17739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20" b="0">
                <a:solidFill>
                  <a:srgbClr val="232B35"/>
                </a:solidFill>
                <a:latin typeface="Aptos"/>
              </a:rPr>
              <a:t>42%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26679" y="2834639"/>
            <a:ext cx="19202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99831" y="3017520"/>
            <a:ext cx="17739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20" b="0">
                <a:solidFill>
                  <a:srgbClr val="232B35"/>
                </a:solidFill>
                <a:latin typeface="Aptos"/>
              </a:rPr>
              <a:t>45%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3566160"/>
            <a:ext cx="3108960" cy="731520"/>
          </a:xfrm>
          <a:prstGeom prst="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" y="3749039"/>
            <a:ext cx="29626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20" b="1">
                <a:solidFill>
                  <a:srgbClr val="142034"/>
                </a:solidFill>
                <a:latin typeface="Aptos"/>
              </a:rPr>
              <a:t>Gini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86200" y="3566160"/>
            <a:ext cx="1920240" cy="731520"/>
          </a:xfrm>
          <a:prstGeom prst="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59352" y="3749039"/>
            <a:ext cx="17739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20" b="0">
                <a:solidFill>
                  <a:srgbClr val="232B35"/>
                </a:solidFill>
                <a:latin typeface="Aptos"/>
              </a:rPr>
              <a:t>42%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06440" y="3566160"/>
            <a:ext cx="1920240" cy="731520"/>
          </a:xfrm>
          <a:prstGeom prst="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79592" y="3749039"/>
            <a:ext cx="17739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20" b="0">
                <a:solidFill>
                  <a:srgbClr val="232B35"/>
                </a:solidFill>
                <a:latin typeface="Aptos"/>
              </a:rPr>
              <a:t>52%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26679" y="3566160"/>
            <a:ext cx="1920240" cy="731520"/>
          </a:xfrm>
          <a:prstGeom prst="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99831" y="3749039"/>
            <a:ext cx="17739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20" b="0">
                <a:solidFill>
                  <a:srgbClr val="232B35"/>
                </a:solidFill>
                <a:latin typeface="Aptos"/>
              </a:rPr>
              <a:t>58%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297680"/>
            <a:ext cx="310896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2" y="4480560"/>
            <a:ext cx="29626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20" b="1">
                <a:solidFill>
                  <a:srgbClr val="142034"/>
                </a:solidFill>
                <a:latin typeface="Aptos"/>
              </a:rPr>
              <a:t>PD calibration gap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86200" y="4297680"/>
            <a:ext cx="19202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59352" y="4480560"/>
            <a:ext cx="17739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20" b="0">
                <a:solidFill>
                  <a:srgbClr val="232B35"/>
                </a:solidFill>
                <a:latin typeface="Aptos"/>
              </a:rPr>
              <a:t>2.4 pp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06440" y="4297680"/>
            <a:ext cx="19202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79592" y="4480560"/>
            <a:ext cx="17739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20" b="0">
                <a:solidFill>
                  <a:srgbClr val="232B35"/>
                </a:solidFill>
                <a:latin typeface="Aptos"/>
              </a:rPr>
              <a:t>1.1 pp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26679" y="4297680"/>
            <a:ext cx="19202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99831" y="4480560"/>
            <a:ext cx="17739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20" b="0">
                <a:solidFill>
                  <a:srgbClr val="232B35"/>
                </a:solidFill>
                <a:latin typeface="Aptos"/>
              </a:rPr>
              <a:t>0.9 pp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7240" y="5029200"/>
            <a:ext cx="3108960" cy="731520"/>
          </a:xfrm>
          <a:prstGeom prst="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0392" y="5212080"/>
            <a:ext cx="29626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20" b="1">
                <a:solidFill>
                  <a:srgbClr val="142034"/>
                </a:solidFill>
                <a:latin typeface="Aptos"/>
              </a:rPr>
              <a:t>Operational complexity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886200" y="5029200"/>
            <a:ext cx="1920240" cy="731520"/>
          </a:xfrm>
          <a:prstGeom prst="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959352" y="5212080"/>
            <a:ext cx="17739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20" b="0">
                <a:solidFill>
                  <a:srgbClr val="232B35"/>
                </a:solidFill>
                <a:latin typeface="Aptos"/>
              </a:rPr>
              <a:t>Low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06440" y="5029200"/>
            <a:ext cx="1920240" cy="731520"/>
          </a:xfrm>
          <a:prstGeom prst="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879592" y="5212080"/>
            <a:ext cx="17739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20" b="0">
                <a:solidFill>
                  <a:srgbClr val="232B35"/>
                </a:solidFill>
                <a:latin typeface="Aptos"/>
              </a:rPr>
              <a:t>Medium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26679" y="5029200"/>
            <a:ext cx="1920240" cy="731520"/>
          </a:xfrm>
          <a:prstGeom prst="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99831" y="5212080"/>
            <a:ext cx="17739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20" b="0">
                <a:solidFill>
                  <a:srgbClr val="232B35"/>
                </a:solidFill>
                <a:latin typeface="Aptos"/>
              </a:rPr>
              <a:t>High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" y="5623560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50" b="1">
                <a:solidFill>
                  <a:srgbClr val="142034"/>
                </a:solidFill>
                <a:latin typeface="Aptos"/>
              </a:rPr>
              <a:t>Interpretation: the Challenger shows stronger illustrative metrics, but that does not automatically make it the preferred production model.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" y="6510528"/>
            <a:ext cx="10058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97789"/>
                </a:solidFill>
                <a:latin typeface="Aptos"/>
              </a:rPr>
              <a:t>CREDIT RISK MODELING  |  MODEL BENCHMARKING &amp; CHALLENGER MODELS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47120" y="6473952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97789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47E7E"/>
                </a:solidFill>
                <a:latin typeface="Aptos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42034"/>
                </a:solidFill>
                <a:latin typeface="Aptos"/>
              </a:rPr>
              <a:t>A Challenger Is More Than a Better AUC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7789"/>
                </a:solidFill>
                <a:latin typeface="Aptos"/>
              </a:rPr>
              <a:t>Predictive and practical dimensions should be considered together.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333756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00200"/>
            <a:ext cx="64008" cy="1691640"/>
          </a:xfrm>
          <a:prstGeom prst="rect">
            <a:avLst/>
          </a:prstGeom>
          <a:solidFill>
            <a:srgbClr val="3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764792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034"/>
                </a:solidFill>
                <a:latin typeface="Aptos"/>
              </a:rPr>
              <a:t>Predictive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221992"/>
            <a:ext cx="2971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20" b="0">
                <a:solidFill>
                  <a:srgbClr val="232B35"/>
                </a:solidFill>
                <a:latin typeface="Aptos"/>
              </a:rPr>
              <a:t>AUC / KS / Gini / lift</a:t>
            </a:r>
            <a:br/>
            <a:r>
              <a:t>Does it separate risk better?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00200"/>
            <a:ext cx="333756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600200"/>
            <a:ext cx="64008" cy="1691640"/>
          </a:xfrm>
          <a:prstGeom prst="rect">
            <a:avLst/>
          </a:prstGeom>
          <a:solidFill>
            <a:srgbClr val="24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1764792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034"/>
                </a:solidFill>
                <a:latin typeface="Aptos"/>
              </a:rPr>
              <a:t>Calibration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221992"/>
            <a:ext cx="2971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20" b="0">
                <a:solidFill>
                  <a:srgbClr val="232B35"/>
                </a:solidFill>
                <a:latin typeface="Aptos"/>
              </a:rPr>
              <a:t>Predicted vs realised PD</a:t>
            </a:r>
            <a:br/>
            <a:r>
              <a:t>Are probabilities reliable?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600200"/>
            <a:ext cx="333756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75320" y="1600200"/>
            <a:ext cx="64008" cy="1691640"/>
          </a:xfrm>
          <a:prstGeom prst="rect">
            <a:avLst/>
          </a:prstGeom>
          <a:solidFill>
            <a:srgbClr val="CD7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76488" y="1764792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034"/>
                </a:solidFill>
                <a:latin typeface="Aptos"/>
              </a:rPr>
              <a:t>Stability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2221992"/>
            <a:ext cx="2971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20" b="0">
                <a:solidFill>
                  <a:srgbClr val="232B35"/>
                </a:solidFill>
                <a:latin typeface="Aptos"/>
              </a:rPr>
              <a:t>Performance across time/segments</a:t>
            </a:r>
            <a:br/>
            <a:r>
              <a:t>Does the gain persist?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657600"/>
            <a:ext cx="333756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657600"/>
            <a:ext cx="64008" cy="1691640"/>
          </a:xfrm>
          <a:prstGeom prst="rect">
            <a:avLst/>
          </a:prstGeom>
          <a:solidFill>
            <a:srgbClr val="3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3822191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034"/>
                </a:solidFill>
                <a:latin typeface="Aptos"/>
              </a:rPr>
              <a:t>Explainability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279392"/>
            <a:ext cx="2971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20" b="0">
                <a:solidFill>
                  <a:srgbClr val="232B35"/>
                </a:solidFill>
                <a:latin typeface="Aptos"/>
              </a:rPr>
              <a:t>Drivers / reason codes</a:t>
            </a:r>
            <a:br/>
            <a:r>
              <a:t>Can decisions be understood?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3657600"/>
            <a:ext cx="333756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60" y="3657600"/>
            <a:ext cx="64008" cy="1691640"/>
          </a:xfrm>
          <a:prstGeom prst="rect">
            <a:avLst/>
          </a:prstGeom>
          <a:solidFill>
            <a:srgbClr val="24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81728" y="3822191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034"/>
                </a:solidFill>
                <a:latin typeface="Aptos"/>
              </a:rPr>
              <a:t>Operations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1728" y="4279392"/>
            <a:ext cx="2971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20" b="0">
                <a:solidFill>
                  <a:srgbClr val="232B35"/>
                </a:solidFill>
                <a:latin typeface="Aptos"/>
              </a:rPr>
              <a:t>Data / latency / cost</a:t>
            </a:r>
            <a:br/>
            <a:r>
              <a:t>Can it run reliably?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3657600"/>
            <a:ext cx="3337560" cy="169164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75320" y="3657600"/>
            <a:ext cx="64008" cy="1691640"/>
          </a:xfrm>
          <a:prstGeom prst="rect">
            <a:avLst/>
          </a:prstGeom>
          <a:solidFill>
            <a:srgbClr val="CD7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76488" y="3822191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034"/>
                </a:solidFill>
                <a:latin typeface="Aptos"/>
              </a:rPr>
              <a:t>Governance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6488" y="4279392"/>
            <a:ext cx="2971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20" b="0">
                <a:solidFill>
                  <a:srgbClr val="232B35"/>
                </a:solidFill>
                <a:latin typeface="Aptos"/>
              </a:rPr>
              <a:t>Documentation / controls</a:t>
            </a:r>
            <a:br/>
            <a:r>
              <a:t>Can it be approved and monitored?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10058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97789"/>
                </a:solidFill>
                <a:latin typeface="Aptos"/>
              </a:rPr>
              <a:t>CREDIT RISK MODELING  |  MODEL BENCHMARKING &amp; CHALLENGER MODELS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73952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97789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47E7E"/>
                </a:solidFill>
                <a:latin typeface="Aptos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42034"/>
                </a:solidFill>
                <a:latin typeface="Aptos"/>
              </a:rPr>
              <a:t>Practical Case Study — Retail PD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7789"/>
                </a:solidFill>
                <a:latin typeface="Aptos"/>
              </a:rPr>
              <a:t>Illustrative case: an alternative model improves discrimination but introduces new operating requirements.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3474720" cy="406908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64008" cy="4069080"/>
          </a:xfrm>
          <a:prstGeom prst="rect">
            <a:avLst/>
          </a:prstGeom>
          <a:solidFill>
            <a:srgbClr val="3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76479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034"/>
                </a:solidFill>
                <a:latin typeface="Aptos"/>
              </a:rPr>
              <a:t>STARTING 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221992"/>
            <a:ext cx="310896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20" b="0">
                <a:solidFill>
                  <a:srgbClr val="232B35"/>
                </a:solidFill>
                <a:latin typeface="Aptos"/>
              </a:rPr>
              <a:t>Champion: logistic-regression PD model</a:t>
            </a:r>
            <a:br/>
            <a:br/>
            <a:r>
              <a:t>Role: production underwriting score</a:t>
            </a:r>
            <a:br/>
            <a:br/>
            <a:r>
              <a:t>Issue:</a:t>
            </a:r>
            <a:br/>
            <a:r>
              <a:t>• Performance has room for improvement</a:t>
            </a:r>
            <a:br/>
            <a:r>
              <a:t>• Management asks whether a different methodology adds value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600200"/>
            <a:ext cx="3474720" cy="406908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61688" y="1600200"/>
            <a:ext cx="64008" cy="4069080"/>
          </a:xfrm>
          <a:prstGeom prst="rect">
            <a:avLst/>
          </a:prstGeom>
          <a:solidFill>
            <a:srgbClr val="CD7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5" y="176479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034"/>
                </a:solidFill>
                <a:latin typeface="Aptos"/>
              </a:rPr>
              <a:t>CHALLENGER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5" y="2221992"/>
            <a:ext cx="310896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20" b="0">
                <a:solidFill>
                  <a:srgbClr val="232B35"/>
                </a:solidFill>
                <a:latin typeface="Aptos"/>
              </a:rPr>
              <a:t>Alternative: gradient-boosting PD model</a:t>
            </a:r>
            <a:br/>
            <a:br/>
            <a:r>
              <a:t>Controlled test:</a:t>
            </a:r>
            <a:br/>
            <a:r>
              <a:t>• Same development objective</a:t>
            </a:r>
            <a:br/>
            <a:r>
              <a:t>• Same evaluation sample</a:t>
            </a:r>
            <a:br/>
            <a:r>
              <a:t>• Same outcome definition</a:t>
            </a:r>
            <a:br/>
            <a:br/>
            <a:r>
              <a:t>Result: stronger illustrative discrimination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600200"/>
            <a:ext cx="3474720" cy="406908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83296" y="1600200"/>
            <a:ext cx="64008" cy="4069080"/>
          </a:xfrm>
          <a:prstGeom prst="rect">
            <a:avLst/>
          </a:prstGeom>
          <a:solidFill>
            <a:srgbClr val="24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176479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034"/>
                </a:solidFill>
                <a:latin typeface="Aptos"/>
              </a:rPr>
              <a:t>DECISION QUESTIONS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4" y="2221992"/>
            <a:ext cx="310896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20" b="0">
                <a:solidFill>
                  <a:srgbClr val="232B35"/>
                </a:solidFill>
                <a:latin typeface="Aptos"/>
              </a:rPr>
              <a:t>Before any production change:</a:t>
            </a:r>
            <a:br/>
            <a:br/>
            <a:r>
              <a:t>• Is the gain stable?</a:t>
            </a:r>
            <a:br/>
            <a:r>
              <a:t>• Are probabilities calibrated?</a:t>
            </a:r>
            <a:br/>
            <a:r>
              <a:t>• Can reasons be explained?</a:t>
            </a:r>
            <a:br/>
            <a:r>
              <a:t>• Are required variables available?</a:t>
            </a:r>
            <a:br/>
            <a:r>
              <a:t>• What is monitoring effort?</a:t>
            </a:r>
            <a:br/>
            <a:r>
              <a:t>• What governance is needed?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10058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97789"/>
                </a:solidFill>
                <a:latin typeface="Aptos"/>
              </a:rPr>
              <a:t>CREDIT RISK MODELING  |  MODEL BENCHMARKING &amp; CHALLENGER MODELS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73952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97789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47E7E"/>
                </a:solidFill>
                <a:latin typeface="Aptos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42034"/>
                </a:solidFill>
                <a:latin typeface="Aptos"/>
              </a:rPr>
              <a:t>Benchmark vs Challenger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7789"/>
                </a:solidFill>
                <a:latin typeface="Aptos"/>
              </a:rPr>
              <a:t>The terms are related, but they serve different roles.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257800" cy="388620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45920"/>
            <a:ext cx="64008" cy="3886200"/>
          </a:xfrm>
          <a:prstGeom prst="rect">
            <a:avLst/>
          </a:prstGeom>
          <a:solidFill>
            <a:srgbClr val="3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810512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034"/>
                </a:solidFill>
                <a:latin typeface="Aptos"/>
              </a:rPr>
              <a:t>BENCHMARK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267712"/>
            <a:ext cx="489204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20" b="0">
                <a:solidFill>
                  <a:srgbClr val="232B35"/>
                </a:solidFill>
                <a:latin typeface="Aptos"/>
              </a:rPr>
              <a:t>Reference point</a:t>
            </a:r>
            <a:br/>
            <a:br/>
            <a:r>
              <a:t>Purpose: establish a comparison baseline</a:t>
            </a:r>
            <a:br/>
            <a:br/>
            <a:r>
              <a:t>Typical question:</a:t>
            </a:r>
            <a:br/>
            <a:r>
              <a:t>“How much value does the model add versus a credible reference?”</a:t>
            </a:r>
            <a:br/>
            <a:br/>
            <a:r>
              <a:t>May be simple, external, business-based, or the current model.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45920"/>
            <a:ext cx="5257800" cy="388620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45920"/>
            <a:ext cx="64008" cy="3886200"/>
          </a:xfrm>
          <a:prstGeom prst="rect">
            <a:avLst/>
          </a:prstGeom>
          <a:solidFill>
            <a:srgbClr val="CD7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1810512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034"/>
                </a:solidFill>
                <a:latin typeface="Aptos"/>
              </a:rPr>
              <a:t>CHALLENGER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2267712"/>
            <a:ext cx="4892040" cy="310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20" b="0">
                <a:solidFill>
                  <a:srgbClr val="232B35"/>
                </a:solidFill>
                <a:latin typeface="Aptos"/>
              </a:rPr>
              <a:t>Direct alternative to the Champion</a:t>
            </a:r>
            <a:br/>
            <a:br/>
            <a:r>
              <a:t>Purpose: test whether another model could perform the production role better</a:t>
            </a:r>
            <a:br/>
            <a:br/>
            <a:r>
              <a:t>Typical question:</a:t>
            </a:r>
            <a:br/>
            <a:r>
              <a:t>“Can this alternative deliver sufficient incremental value under real constraints?”</a:t>
            </a:r>
            <a:br/>
            <a:br/>
            <a:r>
              <a:t>Requires controlled head-to-head testing.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0368" y="2926080"/>
            <a:ext cx="16916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42034"/>
                </a:solidFill>
                <a:latin typeface="Aptos"/>
              </a:rPr>
              <a:t>DIFFERENT JOBS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10058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97789"/>
                </a:solidFill>
                <a:latin typeface="Aptos"/>
              </a:rPr>
              <a:t>CREDIT RISK MODELING  |  MODEL BENCHMARKING &amp; CHALLENGER 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73952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97789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47E7E"/>
                </a:solidFill>
                <a:latin typeface="Aptos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42034"/>
                </a:solidFill>
                <a:latin typeface="Aptos"/>
              </a:rPr>
              <a:t>From Benchmark to Model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7789"/>
                </a:solidFill>
                <a:latin typeface="Aptos"/>
              </a:rPr>
              <a:t>A challenger becomes a production candidate only after evidence, controls and implementation readiness.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65960"/>
            <a:ext cx="1664208" cy="292608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212848"/>
            <a:ext cx="14813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247E7E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743200"/>
            <a:ext cx="14813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42034"/>
                </a:solidFill>
                <a:latin typeface="Aptos"/>
              </a:rPr>
              <a:t>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3429000"/>
            <a:ext cx="1426464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232B35"/>
                </a:solidFill>
                <a:latin typeface="Aptos"/>
              </a:rPr>
              <a:t>Define benchmark &amp; Champion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50591" y="1965960"/>
            <a:ext cx="1664208" cy="292608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42032" y="2212848"/>
            <a:ext cx="14813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247E7E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2032" y="2743200"/>
            <a:ext cx="14813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42034"/>
                </a:solidFill>
                <a:latin typeface="Aptos"/>
              </a:rPr>
              <a:t>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9463" y="3429000"/>
            <a:ext cx="1426464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232B35"/>
                </a:solidFill>
                <a:latin typeface="Aptos"/>
              </a:rPr>
              <a:t>Develop challenger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8264" y="1965960"/>
            <a:ext cx="1664208" cy="292608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9703" y="2212848"/>
            <a:ext cx="14813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247E7E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9703" y="2743200"/>
            <a:ext cx="14813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42034"/>
                </a:solidFill>
                <a:latin typeface="Aptos"/>
              </a:rPr>
              <a:t>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3429000"/>
            <a:ext cx="1426464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232B35"/>
                </a:solidFill>
                <a:latin typeface="Aptos"/>
              </a:rPr>
              <a:t>Head-to-head evaluation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45936" y="1965960"/>
            <a:ext cx="1664208" cy="292608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7375" y="2212848"/>
            <a:ext cx="14813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247E7E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5" y="2743200"/>
            <a:ext cx="14813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42034"/>
                </a:solidFill>
                <a:latin typeface="Aptos"/>
              </a:rPr>
              <a:t>Challenge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7" y="3429000"/>
            <a:ext cx="1426464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232B35"/>
                </a:solidFill>
                <a:latin typeface="Aptos"/>
              </a:rPr>
              <a:t>Stress, stability &amp; segments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93608" y="1965960"/>
            <a:ext cx="1664208" cy="292608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5048" y="2212848"/>
            <a:ext cx="14813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247E7E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5048" y="2743200"/>
            <a:ext cx="14813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42034"/>
                </a:solidFill>
                <a:latin typeface="Aptos"/>
              </a:rPr>
              <a:t>Govern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429000"/>
            <a:ext cx="1426464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232B35"/>
                </a:solidFill>
                <a:latin typeface="Aptos"/>
              </a:rPr>
              <a:t>Independent review &amp; approval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41280" y="1965960"/>
            <a:ext cx="1664208" cy="292608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32719" y="2212848"/>
            <a:ext cx="14813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247E7E"/>
                </a:solidFill>
                <a:latin typeface="Aptos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19" y="2743200"/>
            <a:ext cx="148132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42034"/>
                </a:solidFill>
                <a:latin typeface="Aptos"/>
              </a:rPr>
              <a:t>Deploy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60152" y="3429000"/>
            <a:ext cx="1426464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solidFill>
                  <a:srgbClr val="232B35"/>
                </a:solidFill>
                <a:latin typeface="Aptos"/>
              </a:rPr>
              <a:t>If approved, transition &amp; monitor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10058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97789"/>
                </a:solidFill>
                <a:latin typeface="Aptos"/>
              </a:rPr>
              <a:t>CREDIT RISK MODELING  |  MODEL BENCHMARKING &amp; CHALLENGER MODELS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73952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97789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247E7E"/>
                </a:solidFill>
                <a:latin typeface="Aptos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42034"/>
                </a:solidFill>
                <a:latin typeface="Aptos"/>
              </a:rPr>
              <a:t>Common Mistakes in Benchmarking &amp; Challenger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697789"/>
                </a:solidFill>
                <a:latin typeface="Aptos"/>
              </a:rPr>
              <a:t>Comparison quality depends on making the test genuinely comparable.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521208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64008" cy="1234440"/>
          </a:xfrm>
          <a:prstGeom prst="rect">
            <a:avLst/>
          </a:prstGeom>
          <a:solidFill>
            <a:srgbClr val="B0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71907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034"/>
                </a:solidFill>
                <a:latin typeface="Aptos"/>
              </a:rPr>
              <a:t>Metric shopping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76272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20" b="0">
                <a:solidFill>
                  <a:srgbClr val="232B35"/>
                </a:solidFill>
                <a:latin typeface="Aptos"/>
              </a:rPr>
              <a:t>Selecting only the metric where the Challenger looks strongest.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54480"/>
            <a:ext cx="521208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554480"/>
            <a:ext cx="64008" cy="1234440"/>
          </a:xfrm>
          <a:prstGeom prst="rect">
            <a:avLst/>
          </a:prstGeom>
          <a:solidFill>
            <a:srgbClr val="CD7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8" y="171907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034"/>
                </a:solidFill>
                <a:latin typeface="Aptos"/>
              </a:rPr>
              <a:t>Unequal information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8" y="2176272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20" b="0">
                <a:solidFill>
                  <a:srgbClr val="232B35"/>
                </a:solidFill>
                <a:latin typeface="Aptos"/>
              </a:rPr>
              <a:t>Giving one model data that would not be available at decision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108960"/>
            <a:ext cx="521208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108960"/>
            <a:ext cx="64008" cy="1234440"/>
          </a:xfrm>
          <a:prstGeom prst="rect">
            <a:avLst/>
          </a:prstGeom>
          <a:solidFill>
            <a:srgbClr val="CD7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27355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034"/>
                </a:solidFill>
                <a:latin typeface="Aptos"/>
              </a:rPr>
              <a:t>Different samples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3730752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20" b="0">
                <a:solidFill>
                  <a:srgbClr val="232B35"/>
                </a:solidFill>
                <a:latin typeface="Aptos"/>
              </a:rPr>
              <a:t>Comparing models on materially different populations.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108960"/>
            <a:ext cx="521208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108960"/>
            <a:ext cx="64008" cy="1234440"/>
          </a:xfrm>
          <a:prstGeom prst="rect">
            <a:avLst/>
          </a:prstGeom>
          <a:solidFill>
            <a:srgbClr val="B0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8" y="327355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034"/>
                </a:solidFill>
                <a:latin typeface="Aptos"/>
              </a:rPr>
              <a:t>Ignoring calibration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3730752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20" b="0">
                <a:solidFill>
                  <a:srgbClr val="232B35"/>
                </a:solidFill>
                <a:latin typeface="Aptos"/>
              </a:rPr>
              <a:t>Focusing on ranking while predicted PDs are poorly aligned.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521208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663440"/>
            <a:ext cx="64008" cy="1234440"/>
          </a:xfrm>
          <a:prstGeom prst="rect">
            <a:avLst/>
          </a:prstGeom>
          <a:solidFill>
            <a:srgbClr val="CD7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" y="4828031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034"/>
                </a:solidFill>
                <a:latin typeface="Aptos"/>
              </a:rPr>
              <a:t>Ignoring operations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5285231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20" b="0">
                <a:solidFill>
                  <a:srgbClr val="232B35"/>
                </a:solidFill>
                <a:latin typeface="Aptos"/>
              </a:rPr>
              <a:t>Overlooking data, latency, explainability or monitoring requirements.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663440"/>
            <a:ext cx="521208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4663440"/>
            <a:ext cx="64008" cy="1234440"/>
          </a:xfrm>
          <a:prstGeom prst="rect">
            <a:avLst/>
          </a:prstGeom>
          <a:solidFill>
            <a:srgbClr val="B0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64808" y="4828031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142034"/>
                </a:solidFill>
                <a:latin typeface="Aptos"/>
              </a:rPr>
              <a:t>Premature replacement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4808" y="5285231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20" b="0">
                <a:solidFill>
                  <a:srgbClr val="232B35"/>
                </a:solidFill>
                <a:latin typeface="Aptos"/>
              </a:rPr>
              <a:t>Treating a performance uplift as automatic approval for production.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10058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97789"/>
                </a:solidFill>
                <a:latin typeface="Aptos"/>
              </a:rPr>
              <a:t>CREDIT RISK MODELING  |  MODEL BENCHMARKING &amp; CHALLENGER MODELS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73952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97789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7EC6C6"/>
                </a:solidFill>
                <a:latin typeface="Aptos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1264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Executive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50" b="0">
                <a:solidFill>
                  <a:srgbClr val="B9C7D7"/>
                </a:solidFill>
                <a:latin typeface="Aptos"/>
              </a:rPr>
              <a:t>Benchmarking creates context; challenger testing creates a controlled alternative.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7EC6C6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76272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Benchmarking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60320"/>
            <a:ext cx="51206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sets a credible reference point.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15468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7EC6C6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93592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Challenger 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77640"/>
            <a:ext cx="51206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test whether an alternative can outperform the Champion under comparable conditions.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7EC6C6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76272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Metrics are necessary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560320"/>
            <a:ext cx="51206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but not sufficient for a production decision.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15468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7EC6C6"/>
                </a:solidFill>
                <a:latin typeface="Apto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593592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The real 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977640"/>
            <a:ext cx="51206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is evidence-based model selection balancing predictive value, reliability, explainability, operations and governance.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25780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Bottom line: a Challenger earns consideration through controlled evidence—not simply through a higher score on one metric.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10058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A0AFBE"/>
                </a:solidFill>
                <a:latin typeface="Aptos"/>
              </a:rPr>
              <a:t>CREDIT RISK MODELING  |  MODEL BENCHMARKING &amp; CHALLENGER 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73952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A0AFBE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