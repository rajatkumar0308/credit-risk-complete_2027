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9734"/>
          </a:solidFill>
          <a:ln>
            <a:solidFill>
              <a:srgbClr val="C49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AC3DC"/>
                </a:solidFill>
                <a:latin typeface="Aptos"/>
              </a:rPr>
              <a:t>CREDIT RISK • MODEL RISK • DECISION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80467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Credit Risk Model</a:t>
            </a:r>
            <a:br/>
            <a:r>
              <a:t>Development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0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D7E0EB"/>
                </a:solidFill>
                <a:latin typeface="Aptos"/>
              </a:rPr>
              <a:t>From business problem → data → development → implementation → monitoring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977639"/>
            <a:ext cx="1965960" cy="1170432"/>
          </a:xfrm>
          <a:prstGeom prst="roundRect">
            <a:avLst>
              <a:gd name="adj" fmla="val 8000"/>
            </a:avLst>
          </a:prstGeom>
          <a:solidFill>
            <a:srgbClr val="1E2E48"/>
          </a:solidFill>
          <a:ln>
            <a:solidFill>
              <a:srgbClr val="49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160520"/>
            <a:ext cx="384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B5B94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443984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Business</a:t>
            </a:r>
            <a:br/>
            <a:r>
              <a:t>problem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24328" y="4562856"/>
            <a:ext cx="365759" cy="0"/>
          </a:xfrm>
          <a:prstGeom prst="line">
            <a:avLst/>
          </a:prstGeom>
          <a:ln w="25400">
            <a:solidFill>
              <a:srgbClr val="6479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44368" y="3977639"/>
            <a:ext cx="1965960" cy="1170432"/>
          </a:xfrm>
          <a:prstGeom prst="roundRect">
            <a:avLst>
              <a:gd name="adj" fmla="val 8000"/>
            </a:avLst>
          </a:prstGeom>
          <a:solidFill>
            <a:srgbClr val="1E2E48"/>
          </a:solidFill>
          <a:ln>
            <a:solidFill>
              <a:srgbClr val="49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0672" y="4160520"/>
            <a:ext cx="384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37E87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4443984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Data &amp;</a:t>
            </a:r>
            <a:br/>
            <a:r>
              <a:t>engineering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10327" y="4562856"/>
            <a:ext cx="365761" cy="0"/>
          </a:xfrm>
          <a:prstGeom prst="line">
            <a:avLst/>
          </a:prstGeom>
          <a:ln w="25400">
            <a:solidFill>
              <a:srgbClr val="6479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30368" y="3977639"/>
            <a:ext cx="1965960" cy="1170432"/>
          </a:xfrm>
          <a:prstGeom prst="roundRect">
            <a:avLst>
              <a:gd name="adj" fmla="val 8000"/>
            </a:avLst>
          </a:prstGeom>
          <a:solidFill>
            <a:srgbClr val="1E2E48"/>
          </a:solidFill>
          <a:ln>
            <a:solidFill>
              <a:srgbClr val="49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76672" y="4160520"/>
            <a:ext cx="384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49734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6672" y="4443984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Model</a:t>
            </a:r>
            <a:br/>
            <a:r>
              <a:t>build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96327" y="4562856"/>
            <a:ext cx="365761" cy="0"/>
          </a:xfrm>
          <a:prstGeom prst="line">
            <a:avLst/>
          </a:prstGeom>
          <a:ln w="25400">
            <a:solidFill>
              <a:srgbClr val="6479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16367" y="3977639"/>
            <a:ext cx="1965960" cy="1170432"/>
          </a:xfrm>
          <a:prstGeom prst="roundRect">
            <a:avLst>
              <a:gd name="adj" fmla="val 8000"/>
            </a:avLst>
          </a:prstGeom>
          <a:solidFill>
            <a:srgbClr val="1E2E48"/>
          </a:solidFill>
          <a:ln>
            <a:solidFill>
              <a:srgbClr val="49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2671" y="4160520"/>
            <a:ext cx="384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B5B94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1" y="4443984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Validation &amp;</a:t>
            </a:r>
            <a:br/>
            <a:r>
              <a:t>implementation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82328" y="4562856"/>
            <a:ext cx="365760" cy="0"/>
          </a:xfrm>
          <a:prstGeom prst="line">
            <a:avLst/>
          </a:prstGeom>
          <a:ln w="25400">
            <a:solidFill>
              <a:srgbClr val="6479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02367" y="3977639"/>
            <a:ext cx="1965960" cy="1170432"/>
          </a:xfrm>
          <a:prstGeom prst="roundRect">
            <a:avLst>
              <a:gd name="adj" fmla="val 8000"/>
            </a:avLst>
          </a:prstGeom>
          <a:solidFill>
            <a:srgbClr val="1E2E48"/>
          </a:solidFill>
          <a:ln>
            <a:solidFill>
              <a:srgbClr val="49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48672" y="4160520"/>
            <a:ext cx="384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37E87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443984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Monitor &amp;</a:t>
            </a:r>
            <a:br/>
            <a:r>
              <a:t>refresh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98932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AC3DC"/>
                </a:solidFill>
                <a:latin typeface="Aptos"/>
              </a:rPr>
              <a:t>Oxford + MIT + Harvard level • Practical banking / finance / corporate lens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598932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C49734"/>
                </a:solidFill>
                <a:latin typeface="Aptos"/>
              </a:rPr>
              <a:t>PREMIUM TRAINING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5B94"/>
                </a:solidFill>
                <a:latin typeface="Aptos"/>
              </a:rPr>
              <a:t>01 •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036"/>
                </a:solidFill>
                <a:latin typeface="Aptos"/>
              </a:rPr>
              <a:t>What is a Credit Risk Model?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182"/>
                </a:solidFill>
                <a:latin typeface="Aptos"/>
              </a:rPr>
              <a:t>A quantitative system that converts borrower / exposure information into a measurable credit-risk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57182"/>
                </a:solidFill>
                <a:latin typeface="Aptos"/>
              </a:rPr>
              <a:t>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270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65392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182"/>
                </a:solidFill>
                <a:latin typeface="Aptos"/>
              </a:rPr>
              <a:t>Credit Risk Model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57182"/>
                </a:solidFill>
                <a:latin typeface="Aptos"/>
              </a:rPr>
              <a:t>Illustrative training material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783080"/>
            <a:ext cx="4800600" cy="416052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B5B94"/>
                </a:solidFill>
                <a:latin typeface="Aptos"/>
              </a:rPr>
              <a:t>Core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22860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42036"/>
                </a:solidFill>
                <a:latin typeface="Aptos"/>
              </a:rPr>
              <a:t>Inputs</a:t>
            </a:r>
            <a:br/>
            <a:r>
              <a:t>→ risk signal</a:t>
            </a:r>
            <a:br/>
            <a:r>
              <a:t>→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40480"/>
            <a:ext cx="40233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5"/>
                </a:solidFill>
                <a:latin typeface="Aptos"/>
              </a:defRPr>
            </a:pPr>
            <a:r>
              <a:t>• Inputs: bureau, financials, behaviour, transactions, collateral &amp; macro variables</a:t>
            </a:r>
          </a:p>
          <a:p>
            <a:pPr>
              <a:spcAft>
                <a:spcPts val="500"/>
              </a:spcAft>
              <a:defRPr sz="1400">
                <a:solidFill>
                  <a:srgbClr val="232B35"/>
                </a:solidFill>
                <a:latin typeface="Aptos"/>
              </a:defRPr>
            </a:pPr>
            <a:r>
              <a:t>• Output: PD, score, rating, LGD, EAD, limit, price or approval decision</a:t>
            </a:r>
          </a:p>
          <a:p>
            <a:pPr>
              <a:spcAft>
                <a:spcPts val="500"/>
              </a:spcAft>
              <a:defRPr sz="1400">
                <a:solidFill>
                  <a:srgbClr val="232B35"/>
                </a:solidFill>
                <a:latin typeface="Aptos"/>
              </a:defRPr>
            </a:pPr>
            <a:r>
              <a:t>• Purpose: make decisions more consistent, scalable and measurable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18470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7E87"/>
                </a:solidFill>
                <a:latin typeface="Aptos"/>
              </a:rPr>
              <a:t>A simplified PD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2331720"/>
            <a:ext cx="5669280" cy="960120"/>
          </a:xfrm>
          <a:prstGeom prst="roundRect">
            <a:avLst>
              <a:gd name="adj" fmla="val 8000"/>
            </a:avLst>
          </a:prstGeom>
          <a:solidFill>
            <a:srgbClr val="E4F3F3"/>
          </a:solidFill>
          <a:ln>
            <a:solidFill>
              <a:srgbClr val="E4F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2532888"/>
            <a:ext cx="5120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142036"/>
                </a:solidFill>
                <a:latin typeface="Aptos"/>
              </a:rPr>
              <a:t>PD = P(Default | 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456432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57182"/>
                </a:solidFill>
                <a:latin typeface="Aptos"/>
              </a:rPr>
              <a:t>X = borrower + facility + macro information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4069080"/>
            <a:ext cx="25603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52744" y="4197096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B5B94"/>
                </a:solidFill>
                <a:latin typeface="Aptos"/>
              </a:rPr>
              <a:t>Origination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52744" y="4453128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182"/>
                </a:solidFill>
                <a:latin typeface="Aptos"/>
              </a:rPr>
              <a:t>Approve / reject / price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4069080"/>
            <a:ext cx="25603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33104" y="4197096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37E87"/>
                </a:solidFill>
                <a:latin typeface="Aptos"/>
              </a:rPr>
              <a:t>Portfolio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4453128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182"/>
                </a:solidFill>
                <a:latin typeface="Aptos"/>
              </a:rPr>
              <a:t>Early warning &amp; limits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5001768"/>
            <a:ext cx="25603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52744" y="5129784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49734"/>
                </a:solidFill>
                <a:latin typeface="Aptos"/>
              </a:rPr>
              <a:t>Capital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52744" y="5385816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182"/>
                </a:solidFill>
                <a:latin typeface="Aptos"/>
              </a:rPr>
              <a:t>RWA / ECL inputs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5001768"/>
            <a:ext cx="25603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33104" y="5129784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14343"/>
                </a:solidFill>
                <a:latin typeface="Aptos"/>
              </a:rPr>
              <a:t>Collections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5385816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182"/>
                </a:solidFill>
                <a:latin typeface="Aptos"/>
              </a:rPr>
              <a:t>Prioritise intervention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5B94"/>
                </a:solidFill>
                <a:latin typeface="Aptos"/>
              </a:rPr>
              <a:t>02 •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036"/>
                </a:solidFill>
                <a:latin typeface="Aptos"/>
              </a:rPr>
              <a:t>Why do banks build credit risk models?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182"/>
                </a:solidFill>
                <a:latin typeface="Aptos"/>
              </a:rPr>
              <a:t>The value is not the algorithm alone; it is better risk-adjusted decisions at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57182"/>
                </a:solidFill>
                <a:latin typeface="Aptos"/>
              </a:rP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270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65392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182"/>
                </a:solidFill>
                <a:latin typeface="Aptos"/>
              </a:rPr>
              <a:t>Credit Risk Model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57182"/>
                </a:solidFill>
                <a:latin typeface="Aptos"/>
              </a:rPr>
              <a:t>Illustrative training material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108356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109728" cy="841248"/>
          </a:xfrm>
          <a:prstGeom prst="rect">
            <a:avLst/>
          </a:prstGeom>
          <a:solidFill>
            <a:srgbClr val="2B5B94"/>
          </a:solidFill>
          <a:ln>
            <a:solidFill>
              <a:srgbClr val="2B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993392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036"/>
                </a:solidFill>
                <a:latin typeface="Aptos"/>
              </a:rPr>
              <a:t>Consistency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196596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B35"/>
                </a:solidFill>
                <a:latin typeface="Aptos"/>
              </a:rPr>
              <a:t>Reduce analyst-to-analyst variation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965960"/>
            <a:ext cx="5440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182"/>
                </a:solidFill>
                <a:latin typeface="Aptos"/>
              </a:rPr>
              <a:t>Same rules applied to comparable cases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907791"/>
            <a:ext cx="108356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2907791"/>
            <a:ext cx="109728" cy="841248"/>
          </a:xfrm>
          <a:prstGeom prst="rect">
            <a:avLst/>
          </a:prstGeom>
          <a:solidFill>
            <a:srgbClr val="237E87"/>
          </a:solidFill>
          <a:ln>
            <a:solidFill>
              <a:srgbClr val="237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072384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036"/>
                </a:solidFill>
                <a:latin typeface="Aptos"/>
              </a:rPr>
              <a:t>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3044951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B35"/>
                </a:solidFill>
                <a:latin typeface="Aptos"/>
              </a:rPr>
              <a:t>Process millions of decisions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3044951"/>
            <a:ext cx="5440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182"/>
                </a:solidFill>
                <a:latin typeface="Aptos"/>
              </a:rPr>
              <a:t>Automation without abandoning controls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86783"/>
            <a:ext cx="108356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986783"/>
            <a:ext cx="109728" cy="841248"/>
          </a:xfrm>
          <a:prstGeom prst="rect">
            <a:avLst/>
          </a:prstGeom>
          <a:solidFill>
            <a:srgbClr val="C49734"/>
          </a:solidFill>
          <a:ln>
            <a:solidFill>
              <a:srgbClr val="C49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51375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036"/>
                </a:solidFill>
                <a:latin typeface="Aptos"/>
              </a:rPr>
              <a:t>Economics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4123944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B35"/>
                </a:solidFill>
                <a:latin typeface="Aptos"/>
              </a:rPr>
              <a:t>Connect risk to price &amp; capital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4123944"/>
            <a:ext cx="5440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182"/>
                </a:solidFill>
                <a:latin typeface="Aptos"/>
              </a:rPr>
              <a:t>Expected loss + capital + return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065776"/>
            <a:ext cx="108356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5065776"/>
            <a:ext cx="109728" cy="841248"/>
          </a:xfrm>
          <a:prstGeom prst="rect">
            <a:avLst/>
          </a:prstGeom>
          <a:solidFill>
            <a:srgbClr val="B14343"/>
          </a:solidFill>
          <a:ln>
            <a:solidFill>
              <a:srgbClr val="B1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230368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036"/>
                </a:solidFill>
                <a:latin typeface="Aptos"/>
              </a:rPr>
              <a:t>Early 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520293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B35"/>
                </a:solidFill>
                <a:latin typeface="Aptos"/>
              </a:rPr>
              <a:t>Detect deterioration sooner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5202936"/>
            <a:ext cx="5440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182"/>
                </a:solidFill>
                <a:latin typeface="Aptos"/>
              </a:rPr>
              <a:t>Behavioural signals can trigger intervention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6199632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B5B94"/>
                </a:solidFill>
                <a:latin typeface="Aptos"/>
              </a:rPr>
              <a:t>Decision principle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614476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036"/>
                </a:solidFill>
                <a:latin typeface="Aptos"/>
              </a:rPr>
              <a:t>Model output is an input to a governed decision — not a substitute for judgement.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5B94"/>
                </a:solidFill>
                <a:latin typeface="Aptos"/>
              </a:rPr>
              <a:t>03 •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036"/>
                </a:solidFill>
                <a:latin typeface="Aptos"/>
              </a:rPr>
              <a:t>Where does a Credit Risk Model fit?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182"/>
                </a:solidFill>
                <a:latin typeface="Aptos"/>
              </a:rPr>
              <a:t>Different models answer different questions across the credit lifecycle.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57182"/>
                </a:solidFill>
                <a:latin typeface="Aptos"/>
              </a:rP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270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65392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182"/>
                </a:solidFill>
                <a:latin typeface="Aptos"/>
              </a:rPr>
              <a:t>Credit Risk Model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57182"/>
                </a:solidFill>
                <a:latin typeface="Aptos"/>
              </a:rPr>
              <a:t>Illustrative training material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2487168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2487168" cy="100584"/>
          </a:xfrm>
          <a:prstGeom prst="rect">
            <a:avLst/>
          </a:prstGeom>
          <a:solidFill>
            <a:srgbClr val="2B5B94"/>
          </a:solidFill>
          <a:ln>
            <a:solidFill>
              <a:srgbClr val="2B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084831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6"/>
                </a:solidFill>
                <a:latin typeface="Aptos"/>
              </a:rPr>
              <a:t>Origination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542032"/>
            <a:ext cx="21488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57182"/>
                </a:solidFill>
                <a:latin typeface="Aptos"/>
              </a:rPr>
              <a:t>Application score</a:t>
            </a:r>
            <a:br/>
            <a:r>
              <a:t>PD / rating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81528" y="2587752"/>
            <a:ext cx="329184" cy="0"/>
          </a:xfrm>
          <a:prstGeom prst="line">
            <a:avLst/>
          </a:prstGeom>
          <a:ln w="19050">
            <a:solidFill>
              <a:srgbClr val="657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10712" y="1828800"/>
            <a:ext cx="2487168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10712" y="1828800"/>
            <a:ext cx="2487168" cy="100584"/>
          </a:xfrm>
          <a:prstGeom prst="rect">
            <a:avLst/>
          </a:prstGeom>
          <a:solidFill>
            <a:srgbClr val="237E87"/>
          </a:solidFill>
          <a:ln>
            <a:solidFill>
              <a:srgbClr val="237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75304" y="2084831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6"/>
                </a:solidFill>
                <a:latin typeface="Aptos"/>
              </a:rPr>
              <a:t>Account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5304" y="2542032"/>
            <a:ext cx="21488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57182"/>
                </a:solidFill>
                <a:latin typeface="Aptos"/>
              </a:rPr>
              <a:t>Behaviour score</a:t>
            </a:r>
            <a:br/>
            <a:r>
              <a:t>EWS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97880" y="2587752"/>
            <a:ext cx="329184" cy="0"/>
          </a:xfrm>
          <a:prstGeom prst="line">
            <a:avLst/>
          </a:prstGeom>
          <a:ln w="19050">
            <a:solidFill>
              <a:srgbClr val="657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27064" y="1828800"/>
            <a:ext cx="2487168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7064" y="1828800"/>
            <a:ext cx="2487168" cy="100584"/>
          </a:xfrm>
          <a:prstGeom prst="rect">
            <a:avLst/>
          </a:prstGeom>
          <a:solidFill>
            <a:srgbClr val="B14343"/>
          </a:solidFill>
          <a:ln>
            <a:solidFill>
              <a:srgbClr val="B1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1656" y="2084831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6"/>
                </a:solidFill>
                <a:latin typeface="Aptos"/>
              </a:rPr>
              <a:t>Default / workout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2542032"/>
            <a:ext cx="21488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57182"/>
                </a:solidFill>
                <a:latin typeface="Aptos"/>
              </a:rPr>
              <a:t>LGD / recovery</a:t>
            </a:r>
            <a:br/>
            <a:r>
              <a:t>EAD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4232" y="2587752"/>
            <a:ext cx="329184" cy="0"/>
          </a:xfrm>
          <a:prstGeom prst="line">
            <a:avLst/>
          </a:prstGeom>
          <a:ln w="19050">
            <a:solidFill>
              <a:srgbClr val="657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3416" y="1828800"/>
            <a:ext cx="2487168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3416" y="1828800"/>
            <a:ext cx="2487168" cy="100584"/>
          </a:xfrm>
          <a:prstGeom prst="rect">
            <a:avLst/>
          </a:prstGeom>
          <a:solidFill>
            <a:srgbClr val="C49734"/>
          </a:solidFill>
          <a:ln>
            <a:solidFill>
              <a:srgbClr val="C49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08008" y="2084831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6"/>
                </a:solidFill>
                <a:latin typeface="Aptos"/>
              </a:rPr>
              <a:t>Portfolio / capital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8008" y="2542032"/>
            <a:ext cx="21488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57182"/>
                </a:solidFill>
                <a:latin typeface="Aptos"/>
              </a:rPr>
              <a:t>ECL / RWA</a:t>
            </a:r>
            <a:br/>
            <a:r>
              <a:t>Stress 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388620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B5B94"/>
                </a:solidFill>
                <a:latin typeface="Aptos"/>
              </a:rPr>
              <a:t>Typical model families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343400"/>
            <a:ext cx="5166360" cy="603504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4453128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6"/>
                </a:solidFill>
                <a:latin typeface="Aptos"/>
              </a:rPr>
              <a:t>Scorecards / logistic regression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64408" y="445312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182"/>
                </a:solidFill>
                <a:latin typeface="Aptos"/>
              </a:rPr>
              <a:t>Transparent, stable, widely used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81928" y="4343400"/>
            <a:ext cx="5166360" cy="603504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4453128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6"/>
                </a:solidFill>
                <a:latin typeface="Aptos"/>
              </a:rPr>
              <a:t>Tree / boosting models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87968" y="445312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182"/>
                </a:solidFill>
                <a:latin typeface="Aptos"/>
              </a:rPr>
              <a:t>Non-linear interactions, strong predictive power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48072"/>
            <a:ext cx="5166360" cy="603504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8" y="5257800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6"/>
                </a:solidFill>
                <a:latin typeface="Aptos"/>
              </a:rPr>
              <a:t>Survival / hazard models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64408" y="52578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182"/>
                </a:solidFill>
                <a:latin typeface="Aptos"/>
              </a:rPr>
              <a:t>Time-to-default / time-to-event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1928" y="5148072"/>
            <a:ext cx="5166360" cy="603504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5257800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6"/>
                </a:solidFill>
                <a:latin typeface="Aptos"/>
              </a:rPr>
              <a:t>LGD &amp; EAD models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87968" y="52578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182"/>
                </a:solidFill>
                <a:latin typeface="Aptos"/>
              </a:rPr>
              <a:t>Loss severity and exposure at default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5B94"/>
                </a:solidFill>
                <a:latin typeface="Aptos"/>
              </a:rPr>
              <a:t>04 •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036"/>
                </a:solidFill>
                <a:latin typeface="Aptos"/>
              </a:rPr>
              <a:t>Credit Risk Model Development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182"/>
                </a:solidFill>
                <a:latin typeface="Aptos"/>
              </a:rPr>
              <a:t>A controlled chain: business objective → data → model → deployment → monitoring → refresh.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57182"/>
                </a:solidFill>
                <a:latin typeface="Aptos"/>
              </a:rP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270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65392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182"/>
                </a:solidFill>
                <a:latin typeface="Aptos"/>
              </a:rPr>
              <a:t>Credit Risk Model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57182"/>
                </a:solidFill>
                <a:latin typeface="Aptos"/>
              </a:rPr>
              <a:t>Illustrative training material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57400"/>
            <a:ext cx="162763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2231136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B5B94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578608"/>
            <a:ext cx="13533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6"/>
                </a:solidFill>
                <a:latin typeface="Aptos"/>
              </a:rPr>
              <a:t>Define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3017520"/>
            <a:ext cx="135331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182"/>
                </a:solidFill>
                <a:latin typeface="Aptos"/>
              </a:rPr>
              <a:t>Business problem</a:t>
            </a:r>
            <a:br/>
            <a:r>
              <a:t>&amp; target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30552" y="2971800"/>
            <a:ext cx="310896" cy="0"/>
          </a:xfrm>
          <a:prstGeom prst="line">
            <a:avLst/>
          </a:prstGeom>
          <a:ln w="17780">
            <a:solidFill>
              <a:srgbClr val="657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41448" y="2057400"/>
            <a:ext cx="162763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9464" y="2231136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37E87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9464" y="2578608"/>
            <a:ext cx="13533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6"/>
                </a:solidFill>
                <a:latin typeface="Aptos"/>
              </a:rP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9464" y="3017520"/>
            <a:ext cx="135331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182"/>
                </a:solidFill>
                <a:latin typeface="Aptos"/>
              </a:rPr>
              <a:t>Source, quality,</a:t>
            </a:r>
            <a:br/>
            <a:r>
              <a:t>window, features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69080" y="2971800"/>
            <a:ext cx="310896" cy="0"/>
          </a:xfrm>
          <a:prstGeom prst="line">
            <a:avLst/>
          </a:prstGeom>
          <a:ln w="17780">
            <a:solidFill>
              <a:srgbClr val="657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79976" y="2057400"/>
            <a:ext cx="162763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7992" y="2231136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49734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2578608"/>
            <a:ext cx="13533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6"/>
                </a:solidFill>
                <a:latin typeface="Aptos"/>
              </a:rPr>
              <a:t>Develop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3017520"/>
            <a:ext cx="135331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182"/>
                </a:solidFill>
                <a:latin typeface="Aptos"/>
              </a:rPr>
              <a:t>EDA → WOE / ML →</a:t>
            </a:r>
            <a:br/>
            <a:r>
              <a:t>calibration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2971800"/>
            <a:ext cx="310896" cy="0"/>
          </a:xfrm>
          <a:prstGeom prst="line">
            <a:avLst/>
          </a:prstGeom>
          <a:ln w="17780">
            <a:solidFill>
              <a:srgbClr val="657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18504" y="2057400"/>
            <a:ext cx="162763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231136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14343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578608"/>
            <a:ext cx="13533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6"/>
                </a:solidFill>
                <a:latin typeface="Aptos"/>
              </a:rPr>
              <a:t>Validate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017520"/>
            <a:ext cx="135331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182"/>
                </a:solidFill>
                <a:latin typeface="Aptos"/>
              </a:rPr>
              <a:t>Performance, stability,</a:t>
            </a:r>
            <a:br/>
            <a:r>
              <a:t>conceptual soundness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946136" y="2971800"/>
            <a:ext cx="310896" cy="0"/>
          </a:xfrm>
          <a:prstGeom prst="line">
            <a:avLst/>
          </a:prstGeom>
          <a:ln w="17780">
            <a:solidFill>
              <a:srgbClr val="657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257032" y="2057400"/>
            <a:ext cx="162763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5048" y="2231136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B5B94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5048" y="2578608"/>
            <a:ext cx="13533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6"/>
                </a:solidFill>
                <a:latin typeface="Aptos"/>
              </a:rPr>
              <a:t>Implement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8" y="3017520"/>
            <a:ext cx="135331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182"/>
                </a:solidFill>
                <a:latin typeface="Aptos"/>
              </a:rPr>
              <a:t>Score engine,</a:t>
            </a:r>
            <a:br/>
            <a:r>
              <a:t>cut-offs, controls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884664" y="2971800"/>
            <a:ext cx="310896" cy="0"/>
          </a:xfrm>
          <a:prstGeom prst="line">
            <a:avLst/>
          </a:prstGeom>
          <a:ln w="17780">
            <a:solidFill>
              <a:srgbClr val="657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195560" y="2057400"/>
            <a:ext cx="162763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23576" y="2231136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37E87"/>
                </a:solidFill>
                <a:latin typeface="Aptos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23576" y="2578608"/>
            <a:ext cx="13533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6"/>
                </a:solidFill>
                <a:latin typeface="Aptos"/>
              </a:rPr>
              <a:t>Monitor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23576" y="3017520"/>
            <a:ext cx="135331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182"/>
                </a:solidFill>
                <a:latin typeface="Aptos"/>
              </a:rPr>
              <a:t>PSI, KS/AUC,</a:t>
            </a:r>
            <a:br/>
            <a:r>
              <a:t>back-testing, drift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195560" y="4160520"/>
            <a:ext cx="0" cy="822960"/>
          </a:xfrm>
          <a:prstGeom prst="line">
            <a:avLst/>
          </a:prstGeom>
          <a:ln w="25400">
            <a:solidFill>
              <a:srgbClr val="23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1325880" y="4983480"/>
            <a:ext cx="8869680" cy="0"/>
          </a:xfrm>
          <a:prstGeom prst="line">
            <a:avLst/>
          </a:prstGeom>
          <a:ln w="25400">
            <a:solidFill>
              <a:srgbClr val="23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325880" y="3886200"/>
            <a:ext cx="0" cy="1097280"/>
          </a:xfrm>
          <a:prstGeom prst="line">
            <a:avLst/>
          </a:prstGeom>
          <a:ln w="25400">
            <a:solidFill>
              <a:srgbClr val="23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600200" y="4736592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42036"/>
                </a:solidFill>
                <a:latin typeface="Aptos"/>
              </a:rPr>
              <a:t>Monitoring feeds model governance: drift, overrides, outcomes and macro regime changes can trigger redevelopment.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" y="5623560"/>
            <a:ext cx="29260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4400" y="5623560"/>
            <a:ext cx="64008" cy="658368"/>
          </a:xfrm>
          <a:prstGeom prst="rect">
            <a:avLst/>
          </a:prstGeom>
          <a:solidFill>
            <a:srgbClr val="2B5B94"/>
          </a:solidFill>
          <a:ln>
            <a:solidFill>
              <a:srgbClr val="2B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15568" y="5788152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42036"/>
                </a:solidFill>
                <a:latin typeface="Aptos"/>
              </a:rPr>
              <a:t>TARGET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" y="6263640"/>
            <a:ext cx="2606040" cy="-54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182"/>
                </a:solidFill>
                <a:latin typeface="Aptos"/>
              </a:rPr>
              <a:t>Define what 'bad' means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617720" y="5623560"/>
            <a:ext cx="29260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617720" y="5623560"/>
            <a:ext cx="64008" cy="658368"/>
          </a:xfrm>
          <a:prstGeom prst="rect">
            <a:avLst/>
          </a:prstGeom>
          <a:solidFill>
            <a:srgbClr val="237E87"/>
          </a:solidFill>
          <a:ln>
            <a:solidFill>
              <a:srgbClr val="237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18888" y="5788152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42036"/>
                </a:solidFill>
                <a:latin typeface="Aptos"/>
              </a:rPr>
              <a:t>TIME WINDOWS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18888" y="6263640"/>
            <a:ext cx="2606040" cy="-54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182"/>
                </a:solidFill>
                <a:latin typeface="Aptos"/>
              </a:rPr>
              <a:t>Observation + performance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21040" y="5623560"/>
            <a:ext cx="29260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321040" y="5623560"/>
            <a:ext cx="64008" cy="658368"/>
          </a:xfrm>
          <a:prstGeom prst="rect">
            <a:avLst/>
          </a:prstGeom>
          <a:solidFill>
            <a:srgbClr val="C49734"/>
          </a:solidFill>
          <a:ln>
            <a:solidFill>
              <a:srgbClr val="C49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22208" y="5788152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42036"/>
                </a:solidFill>
                <a:latin typeface="Aptos"/>
              </a:rPr>
              <a:t>CONTROL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22208" y="6263640"/>
            <a:ext cx="2606040" cy="-54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182"/>
                </a:solidFill>
                <a:latin typeface="Aptos"/>
              </a:rPr>
              <a:t>Validation + 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5B94"/>
                </a:solidFill>
                <a:latin typeface="Aptos"/>
              </a:rPr>
              <a:t>05 • 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036"/>
                </a:solidFill>
                <a:latin typeface="Aptos"/>
              </a:rPr>
              <a:t>Business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182"/>
                </a:solidFill>
                <a:latin typeface="Aptos"/>
              </a:rPr>
              <a:t>The model starts with a decision, not with a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57182"/>
                </a:solidFill>
                <a:latin typeface="Aptos"/>
              </a:rPr>
              <a:t>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270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65392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182"/>
                </a:solidFill>
                <a:latin typeface="Aptos"/>
              </a:rPr>
              <a:t>Credit Risk Model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57182"/>
                </a:solidFill>
                <a:latin typeface="Aptos"/>
              </a:rPr>
              <a:t>Illustrative training material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19659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29968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B5B94"/>
                </a:solidFill>
                <a:latin typeface="Aptos"/>
              </a:rPr>
              <a:t>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41448"/>
            <a:ext cx="166420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6"/>
                </a:solidFill>
                <a:latin typeface="Aptos"/>
              </a:rPr>
              <a:t>What decision must improve?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52928" y="1828800"/>
            <a:ext cx="19659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029968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37E87"/>
                </a:solidFill>
                <a:latin typeface="Aptos"/>
              </a:rPr>
              <a:t>Population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2441448"/>
            <a:ext cx="166420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6"/>
                </a:solidFill>
                <a:latin typeface="Aptos"/>
              </a:rPr>
              <a:t>Which customers / facilities?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11496" y="1828800"/>
            <a:ext cx="19659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48656" y="2029968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49734"/>
                </a:solidFill>
                <a:latin typeface="Aptos"/>
              </a:rPr>
              <a:t>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8656" y="2441448"/>
            <a:ext cx="166420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6"/>
                </a:solidFill>
                <a:latin typeface="Aptos"/>
              </a:rPr>
              <a:t>What outcome is 'bad'?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70064" y="1828800"/>
            <a:ext cx="19659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07224" y="2029968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14343"/>
                </a:solidFill>
                <a:latin typeface="Aptos"/>
              </a:rPr>
              <a:t>Horizon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7224" y="2441448"/>
            <a:ext cx="166420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6"/>
                </a:solidFill>
                <a:latin typeface="Aptos"/>
              </a:rPr>
              <a:t>Over what future period?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28632" y="1828800"/>
            <a:ext cx="19659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65792" y="2029968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B5B94"/>
                </a:solidFill>
                <a:latin typeface="Aptos"/>
              </a:rPr>
              <a:t>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5792" y="2441448"/>
            <a:ext cx="166420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6"/>
                </a:solidFill>
                <a:latin typeface="Aptos"/>
              </a:rPr>
              <a:t>What will the score change?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749039"/>
            <a:ext cx="10881360" cy="1965960"/>
          </a:xfrm>
          <a:prstGeom prst="roundRect">
            <a:avLst>
              <a:gd name="adj" fmla="val 8000"/>
            </a:avLst>
          </a:prstGeom>
          <a:solidFill>
            <a:srgbClr val="E4EDF7"/>
          </a:solidFill>
          <a:ln>
            <a:solidFill>
              <a:srgbClr val="E4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00507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B5B94"/>
                </a:solidFill>
                <a:latin typeface="Aptos"/>
              </a:rPr>
              <a:t>Illustrative business problem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407408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2036"/>
                </a:solidFill>
                <a:latin typeface="Aptos"/>
              </a:rPr>
              <a:t>“Predict 12-month default risk for new SME term-loan applications so underwriting can set risk-based cut-offs and pricing.”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166360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57182"/>
                </a:solidFill>
                <a:latin typeface="Aptos"/>
              </a:rPr>
              <a:t>Success 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1206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5"/>
                </a:solidFill>
                <a:latin typeface="Aptos"/>
              </a:rPr>
              <a:t>Discrimination • calibration • approval rate • bad rate • profitability • override 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5B94"/>
                </a:solidFill>
                <a:latin typeface="Aptos"/>
              </a:rPr>
              <a:t>06 • TARGET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036"/>
                </a:solidFill>
                <a:latin typeface="Aptos"/>
              </a:rPr>
              <a:t>Target Variable &amp; Time 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182"/>
                </a:solidFill>
                <a:latin typeface="Aptos"/>
              </a:rPr>
              <a:t>A model can be mathematically correct and still answer the wrong business question.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57182"/>
                </a:solidFill>
                <a:latin typeface="Aptos"/>
              </a:rP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270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65392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182"/>
                </a:solidFill>
                <a:latin typeface="Aptos"/>
              </a:rPr>
              <a:t>Credit Risk Model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57182"/>
                </a:solidFill>
                <a:latin typeface="Aptos"/>
              </a:rPr>
              <a:t>Illustrative training material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B5B94"/>
                </a:solidFill>
                <a:latin typeface="Aptos"/>
              </a:rPr>
              <a:t>Application / observation date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423160"/>
            <a:ext cx="10241280" cy="0"/>
          </a:xfrm>
          <a:prstGeom prst="line">
            <a:avLst/>
          </a:prstGeom>
          <a:ln w="38100">
            <a:solidFill>
              <a:srgbClr val="2B5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" y="2221992"/>
            <a:ext cx="0" cy="411480"/>
          </a:xfrm>
          <a:prstGeom prst="line">
            <a:avLst/>
          </a:prstGeom>
          <a:ln w="19050">
            <a:solidFill>
              <a:srgbClr val="2B5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79" y="2761488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42036"/>
                </a:solidFill>
                <a:latin typeface="Aptos"/>
              </a:rPr>
              <a:t>t₀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40480" y="2221992"/>
            <a:ext cx="0" cy="411480"/>
          </a:xfrm>
          <a:prstGeom prst="line">
            <a:avLst/>
          </a:prstGeom>
          <a:ln w="19050">
            <a:solidFill>
              <a:srgbClr val="2B5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337560" y="2761488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42036"/>
                </a:solidFill>
                <a:latin typeface="Aptos"/>
              </a:rPr>
              <a:t>Observation</a:t>
            </a:r>
            <a:br/>
            <a:r>
              <a:t>window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0" y="2221992"/>
            <a:ext cx="0" cy="411480"/>
          </a:xfrm>
          <a:prstGeom prst="line">
            <a:avLst/>
          </a:prstGeom>
          <a:ln w="19050">
            <a:solidFill>
              <a:srgbClr val="2B5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12280" y="2761488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42036"/>
                </a:solidFill>
                <a:latin typeface="Aptos"/>
              </a:rPr>
              <a:t>Performance</a:t>
            </a:r>
            <a:br/>
            <a:r>
              <a:t>window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652760" y="2221992"/>
            <a:ext cx="0" cy="411480"/>
          </a:xfrm>
          <a:prstGeom prst="line">
            <a:avLst/>
          </a:prstGeom>
          <a:ln w="19050">
            <a:solidFill>
              <a:srgbClr val="2B5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49840" y="2761488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42036"/>
                </a:solidFill>
                <a:latin typeface="Aptos"/>
              </a:rPr>
              <a:t>Outcome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749039"/>
            <a:ext cx="2377440" cy="841248"/>
          </a:xfrm>
          <a:prstGeom prst="roundRect">
            <a:avLst>
              <a:gd name="adj" fmla="val 8000"/>
            </a:avLst>
          </a:prstGeom>
          <a:solidFill>
            <a:srgbClr val="E4EDF7"/>
          </a:solidFill>
          <a:ln>
            <a:solidFill>
              <a:srgbClr val="E4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393192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036"/>
                </a:solidFill>
                <a:latin typeface="Aptos"/>
              </a:rPr>
              <a:t>Snapshot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206240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57182"/>
                </a:solidFill>
                <a:latin typeface="Aptos"/>
              </a:rPr>
              <a:t>Customer attributes at t₀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49039" y="3749039"/>
            <a:ext cx="2743200" cy="841248"/>
          </a:xfrm>
          <a:prstGeom prst="roundRect">
            <a:avLst>
              <a:gd name="adj" fmla="val 8000"/>
            </a:avLst>
          </a:prstGeom>
          <a:solidFill>
            <a:srgbClr val="E4F3F3"/>
          </a:solidFill>
          <a:ln>
            <a:solidFill>
              <a:srgbClr val="E4F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13632" y="393192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036"/>
                </a:solidFill>
                <a:latin typeface="Aptos"/>
              </a:rPr>
              <a:t>Predictor capture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2" y="4206240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57182"/>
                </a:solidFill>
                <a:latin typeface="Aptos"/>
              </a:rPr>
              <a:t>Only information available by t₀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03720" y="3749039"/>
            <a:ext cx="2743200" cy="841248"/>
          </a:xfrm>
          <a:prstGeom prst="roundRect">
            <a:avLst>
              <a:gd name="adj" fmla="val 8000"/>
            </a:avLst>
          </a:prstGeom>
          <a:solidFill>
            <a:srgbClr val="F7F0DD"/>
          </a:solidFill>
          <a:ln>
            <a:solidFill>
              <a:srgbClr val="F7F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68312" y="393192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036"/>
                </a:solidFill>
                <a:latin typeface="Aptos"/>
              </a:rPr>
              <a:t>Performance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68312" y="4206240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57182"/>
                </a:solidFill>
                <a:latin typeface="Aptos"/>
              </a:rPr>
              <a:t>Default observed in next 12 months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3749039"/>
            <a:ext cx="1143000" cy="841248"/>
          </a:xfrm>
          <a:prstGeom prst="roundRect">
            <a:avLst>
              <a:gd name="adj" fmla="val 8000"/>
            </a:avLst>
          </a:prstGeom>
          <a:solidFill>
            <a:srgbClr val="F8E7E7"/>
          </a:solidFill>
          <a:ln>
            <a:solidFill>
              <a:srgbClr val="F8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22992" y="393192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B14343"/>
                </a:solidFill>
                <a:latin typeface="Aptos"/>
              </a:rPr>
              <a:t>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22992" y="4206240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57182"/>
                </a:solidFill>
                <a:latin typeface="Aptos"/>
              </a:rPr>
              <a:t>0 /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166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14343"/>
                </a:solidFill>
                <a:latin typeface="Aptos"/>
              </a:rPr>
              <a:t>Red flag: leakage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48840" y="5138928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5"/>
                </a:solidFill>
                <a:latin typeface="Aptos"/>
              </a:rPr>
              <a:t>Using post-application information — e.g., collections actions or future delinquency — makes historical performance look unrealistically strong.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5B94"/>
                </a:solidFill>
                <a:latin typeface="Aptos"/>
              </a:rPr>
              <a:t>07 • 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036"/>
                </a:solidFill>
                <a:latin typeface="Aptos"/>
              </a:rPr>
              <a:t>Data → Development: What Goes Into the Model?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182"/>
                </a:solidFill>
                <a:latin typeface="Aptos"/>
              </a:rPr>
              <a:t>Strong models begin with strong data lineage, definitions and controls.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57182"/>
                </a:solidFill>
                <a:latin typeface="Aptos"/>
              </a:rPr>
              <a:t>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270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65392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182"/>
                </a:solidFill>
                <a:latin typeface="Aptos"/>
              </a:rPr>
              <a:t>Credit Risk Model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57182"/>
                </a:solidFill>
                <a:latin typeface="Aptos"/>
              </a:rPr>
              <a:t>Illustrative training material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333756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975104"/>
            <a:ext cx="12344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B5B94"/>
                </a:solidFill>
                <a:latin typeface="Aptos"/>
              </a:rPr>
              <a:t>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295144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6"/>
                </a:solidFill>
                <a:latin typeface="Aptos"/>
              </a:rPr>
              <a:t>Income, tenure, requested amount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587752"/>
            <a:ext cx="2880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57182"/>
                </a:solidFill>
                <a:latin typeface="Aptos"/>
              </a:rPr>
              <a:t>Origination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1828800"/>
            <a:ext cx="333756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1975104"/>
            <a:ext cx="12344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7E87"/>
                </a:solidFill>
                <a:latin typeface="Aptos"/>
              </a:rPr>
              <a:t>Bureau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2295144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6"/>
                </a:solidFill>
                <a:latin typeface="Aptos"/>
              </a:rPr>
              <a:t>DPD, enquiries, utilisation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587752"/>
            <a:ext cx="2880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57182"/>
                </a:solidFill>
                <a:latin typeface="Aptos"/>
              </a:rPr>
              <a:t>External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74736" y="1828800"/>
            <a:ext cx="333756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1975104"/>
            <a:ext cx="12344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49734"/>
                </a:solidFill>
                <a:latin typeface="Aptos"/>
              </a:rPr>
              <a:t>Behaviour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2295144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6"/>
                </a:solidFill>
                <a:latin typeface="Aptos"/>
              </a:rPr>
              <a:t>Payments, utilisation, roll rates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3" y="2587752"/>
            <a:ext cx="2880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57182"/>
                </a:solidFill>
                <a:latin typeface="Aptos"/>
              </a:rPr>
              <a:t>Existing customers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246120"/>
            <a:ext cx="333756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3392424"/>
            <a:ext cx="12344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B5B94"/>
                </a:solidFill>
                <a:latin typeface="Aptos"/>
              </a:rPr>
              <a:t>Financials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3712463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6"/>
                </a:solidFill>
                <a:latin typeface="Aptos"/>
              </a:rPr>
              <a:t>Leverage, liquidity, DSCR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4005072"/>
            <a:ext cx="2880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57182"/>
                </a:solidFill>
                <a:latin typeface="Aptos"/>
              </a:rPr>
              <a:t>SME / corporate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07408" y="3246120"/>
            <a:ext cx="333756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2856" y="3392424"/>
            <a:ext cx="12344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7E87"/>
                </a:solidFill>
                <a:latin typeface="Aptos"/>
              </a:rPr>
              <a:t>Transactions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6" y="3712463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6"/>
                </a:solidFill>
                <a:latin typeface="Aptos"/>
              </a:rPr>
              <a:t>Cash flows, inflows/outflows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2856" y="4005072"/>
            <a:ext cx="2880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57182"/>
                </a:solidFill>
                <a:latin typeface="Aptos"/>
              </a:rPr>
              <a:t>Account 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74736" y="3246120"/>
            <a:ext cx="333756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3392424"/>
            <a:ext cx="12344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14343"/>
                </a:solidFill>
                <a:latin typeface="Aptos"/>
              </a:rPr>
              <a:t>Macro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0183" y="3712463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6"/>
                </a:solidFill>
                <a:latin typeface="Aptos"/>
              </a:rPr>
              <a:t>GDP, rates, unemployment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0183" y="4005072"/>
            <a:ext cx="2880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57182"/>
                </a:solidFill>
                <a:latin typeface="Aptos"/>
              </a:rPr>
              <a:t>Scenario / stress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98348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B5B94"/>
                </a:solidFill>
                <a:latin typeface="Aptos"/>
              </a:rPr>
              <a:t>Data quality gates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48840" y="4892040"/>
            <a:ext cx="2514600" cy="347472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58568" y="4965192"/>
            <a:ext cx="2286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32B35"/>
                </a:solidFill>
                <a:latin typeface="Aptos"/>
              </a:rPr>
              <a:t>Completeness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20640" y="4892040"/>
            <a:ext cx="2514600" cy="347472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30368" y="4965192"/>
            <a:ext cx="2286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32B35"/>
                </a:solidFill>
                <a:latin typeface="Aptos"/>
              </a:rPr>
              <a:t>Consistency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92440" y="4892040"/>
            <a:ext cx="2514600" cy="347472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02167" y="4965192"/>
            <a:ext cx="2286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32B35"/>
                </a:solidFill>
                <a:latin typeface="Aptos"/>
              </a:rPr>
              <a:t>Outliers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148840" y="5394959"/>
            <a:ext cx="2514600" cy="347472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58568" y="5468112"/>
            <a:ext cx="2286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32B35"/>
                </a:solidFill>
                <a:latin typeface="Aptos"/>
              </a:rPr>
              <a:t>Lineage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20640" y="5394959"/>
            <a:ext cx="2514600" cy="347472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30368" y="5468112"/>
            <a:ext cx="2286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32B35"/>
                </a:solidFill>
                <a:latin typeface="Aptos"/>
              </a:rPr>
              <a:t>Missingness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92440" y="5394959"/>
            <a:ext cx="2514600" cy="347472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02167" y="5468112"/>
            <a:ext cx="2286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32B35"/>
                </a:solidFill>
                <a:latin typeface="Aptos"/>
              </a:rPr>
              <a:t>Population bias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5B94"/>
                </a:solidFill>
                <a:latin typeface="Aptos"/>
              </a:rPr>
              <a:t>08 •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036"/>
                </a:solidFill>
                <a:latin typeface="Aptos"/>
              </a:rPr>
              <a:t>From Raw Data to Risk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182"/>
                </a:solidFill>
                <a:latin typeface="Aptos"/>
              </a:rPr>
              <a:t>Feature engineering translates messy operational data into economically meaningful predictors.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57182"/>
                </a:solidFill>
                <a:latin typeface="Aptos"/>
              </a:rPr>
              <a:t>09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270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65392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182"/>
                </a:solidFill>
                <a:latin typeface="Aptos"/>
              </a:rPr>
              <a:t>Credit Risk Model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57182"/>
                </a:solidFill>
                <a:latin typeface="Aptos"/>
              </a:rPr>
              <a:t>Illustrative training material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22402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59152"/>
            <a:ext cx="19659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B5B94"/>
                </a:solidFill>
                <a:latin typeface="Aptos"/>
              </a:rPr>
              <a:t>Raw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6"/>
                </a:solidFill>
                <a:latin typeface="Aptos"/>
              </a:rPr>
              <a:t>DPD history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80360" y="2788920"/>
            <a:ext cx="576072" cy="0"/>
          </a:xfrm>
          <a:prstGeom prst="line">
            <a:avLst/>
          </a:prstGeom>
          <a:ln w="19050">
            <a:solidFill>
              <a:srgbClr val="657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56432" y="2148840"/>
            <a:ext cx="22402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2359152"/>
            <a:ext cx="19659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37E87"/>
                </a:solidFill>
                <a:latin typeface="Aptos"/>
              </a:rPr>
              <a:t>Transform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788920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6"/>
                </a:solidFill>
                <a:latin typeface="Aptos"/>
              </a:rPr>
              <a:t>max / count / recency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96712" y="2788920"/>
            <a:ext cx="576072" cy="0"/>
          </a:xfrm>
          <a:prstGeom prst="line">
            <a:avLst/>
          </a:prstGeom>
          <a:ln w="19050">
            <a:solidFill>
              <a:srgbClr val="657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72784" y="2148840"/>
            <a:ext cx="22402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2359152"/>
            <a:ext cx="19659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49734"/>
                </a:solidFill>
                <a:latin typeface="Aptos"/>
              </a:rPr>
              <a:t>Feature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88920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6"/>
                </a:solidFill>
                <a:latin typeface="Aptos"/>
              </a:rPr>
              <a:t>Max DPD last 6M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13064" y="2788920"/>
            <a:ext cx="576072" cy="0"/>
          </a:xfrm>
          <a:prstGeom prst="line">
            <a:avLst/>
          </a:prstGeom>
          <a:ln w="19050">
            <a:solidFill>
              <a:srgbClr val="657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089136" y="2148840"/>
            <a:ext cx="22402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26296" y="2359152"/>
            <a:ext cx="19659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14343"/>
                </a:solidFill>
                <a:latin typeface="Aptos"/>
              </a:rPr>
              <a:t>Risk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6" y="2788920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6"/>
                </a:solidFill>
                <a:latin typeface="Aptos"/>
              </a:rPr>
              <a:t>Higher → higher PD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069080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B5B94"/>
                </a:solidFill>
                <a:latin typeface="Aptos"/>
              </a:rPr>
              <a:t>Mini example: utilisation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480560"/>
            <a:ext cx="4754880" cy="1143000"/>
          </a:xfrm>
          <a:prstGeom prst="roundRect">
            <a:avLst>
              <a:gd name="adj" fmla="val 8000"/>
            </a:avLst>
          </a:prstGeom>
          <a:solidFill>
            <a:srgbClr val="E4EDF7"/>
          </a:solidFill>
          <a:ln>
            <a:solidFill>
              <a:srgbClr val="E4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681728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42036"/>
                </a:solidFill>
                <a:latin typeface="Aptos"/>
              </a:rPr>
              <a:t>Utilisation = Balance / Limit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07492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42036"/>
                </a:solidFill>
                <a:latin typeface="Aptos"/>
              </a:rPr>
              <a:t>₹4.0L / ₹5.0L = 80%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406908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7E87"/>
                </a:solidFill>
                <a:latin typeface="Aptos"/>
              </a:rPr>
              <a:t>Model 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4480560"/>
            <a:ext cx="5166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2B35"/>
                </a:solidFill>
                <a:latin typeface="Aptos"/>
              </a:defRPr>
            </a:pPr>
            <a:r>
              <a:t>• 80% utilisation may be more informative than raw balance because it normalises for credit limit.</a:t>
            </a:r>
          </a:p>
          <a:p>
            <a:pPr>
              <a:spcAft>
                <a:spcPts val="500"/>
              </a:spcAft>
              <a:defRPr sz="1300">
                <a:solidFill>
                  <a:srgbClr val="232B35"/>
                </a:solidFill>
                <a:latin typeface="Aptos"/>
              </a:defRPr>
            </a:pPr>
            <a:r>
              <a:t>• Always check economic meaning, stability and leakage before selecting a feature.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5B94"/>
                </a:solidFill>
                <a:latin typeface="Aptos"/>
              </a:rPr>
              <a:t>09 • 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036"/>
                </a:solidFill>
                <a:latin typeface="Aptos"/>
              </a:rPr>
              <a:t>Model Development: From Data to PD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182"/>
                </a:solidFill>
                <a:latin typeface="Aptos"/>
              </a:rPr>
              <a:t>A disciplined development loop balances predictive power, interpretability, stability and implementation cost.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57182"/>
                </a:solidFill>
                <a:latin typeface="Aptos"/>
              </a:rPr>
              <a:t>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270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65392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182"/>
                </a:solidFill>
                <a:latin typeface="Aptos"/>
              </a:rPr>
              <a:t>Credit Risk Model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57182"/>
                </a:solidFill>
                <a:latin typeface="Aptos"/>
              </a:rPr>
              <a:t>Illustrative training material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58087" y="1828800"/>
            <a:ext cx="9875520" cy="621792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5247" y="1929384"/>
            <a:ext cx="54315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036"/>
                </a:solidFill>
                <a:latin typeface="Aptos"/>
              </a:rPr>
              <a:t>Candidate variables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1927" y="1929384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657182"/>
                </a:solidFill>
                <a:latin typeface="Aptos"/>
              </a:rPr>
              <a:t>300+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72487" y="2697480"/>
            <a:ext cx="8046720" cy="621792"/>
          </a:xfrm>
          <a:prstGeom prst="roundRect">
            <a:avLst>
              <a:gd name="adj" fmla="val 8000"/>
            </a:avLst>
          </a:prstGeom>
          <a:solidFill>
            <a:srgbClr val="E4EDF7"/>
          </a:solidFill>
          <a:ln>
            <a:solidFill>
              <a:srgbClr val="E4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09647" y="2798064"/>
            <a:ext cx="44256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036"/>
                </a:solidFill>
                <a:latin typeface="Aptos"/>
              </a:rPr>
              <a:t>Screened variables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7527" y="2798064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B5B94"/>
                </a:solidFill>
                <a:latin typeface="Aptos"/>
              </a:rPr>
              <a:t>80–120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86887" y="3566160"/>
            <a:ext cx="6217920" cy="621792"/>
          </a:xfrm>
          <a:prstGeom prst="roundRect">
            <a:avLst>
              <a:gd name="adj" fmla="val 8000"/>
            </a:avLst>
          </a:prstGeom>
          <a:solidFill>
            <a:srgbClr val="E4F3F3"/>
          </a:solidFill>
          <a:ln>
            <a:solidFill>
              <a:srgbClr val="E4F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24047" y="3666744"/>
            <a:ext cx="34198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036"/>
                </a:solidFill>
                <a:latin typeface="Aptos"/>
              </a:rPr>
              <a:t>Final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3127" y="3666744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37E87"/>
                </a:solidFill>
                <a:latin typeface="Aptos"/>
              </a:rPr>
              <a:t>10–30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01287" y="4434840"/>
            <a:ext cx="4389120" cy="621792"/>
          </a:xfrm>
          <a:prstGeom prst="roundRect">
            <a:avLst>
              <a:gd name="adj" fmla="val 8000"/>
            </a:avLst>
          </a:prstGeom>
          <a:solidFill>
            <a:srgbClr val="F7F0DD"/>
          </a:solidFill>
          <a:ln>
            <a:solidFill>
              <a:srgbClr val="F7F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38447" y="4535424"/>
            <a:ext cx="241401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036"/>
                </a:solidFill>
                <a:latin typeface="Aptos"/>
              </a:rPr>
              <a:t>Production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4535424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C49734"/>
                </a:solidFill>
                <a:latin typeface="Aptos"/>
              </a:rPr>
              <a:t>1 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46811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B5B94"/>
                </a:solidFill>
                <a:latin typeface="Aptos"/>
              </a:rPr>
              <a:t>Typical development checks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06440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32B35"/>
                </a:solidFill>
                <a:latin typeface="Aptos"/>
              </a:rPr>
              <a:t>✓ Univariate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5806440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32B35"/>
                </a:solidFill>
                <a:latin typeface="Aptos"/>
              </a:rPr>
              <a:t>✓ Correlation / redundancy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806440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32B35"/>
                </a:solidFill>
                <a:latin typeface="Aptos"/>
              </a:rPr>
              <a:t>✓ WOE / binning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190488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32B35"/>
                </a:solidFill>
                <a:latin typeface="Aptos"/>
              </a:rPr>
              <a:t>✓ Logistic / ML fit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6190488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32B35"/>
                </a:solidFill>
                <a:latin typeface="Aptos"/>
              </a:rPr>
              <a:t>✓ Calibration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6190488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32B35"/>
                </a:solidFill>
                <a:latin typeface="Aptos"/>
              </a:rPr>
              <a:t>✓ Out-of-time test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5B94"/>
                </a:solidFill>
                <a:latin typeface="Aptos"/>
              </a:rPr>
              <a:t>10 • NUMERICAL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036"/>
                </a:solidFill>
                <a:latin typeface="Aptos"/>
              </a:rPr>
              <a:t>PD Calculation —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182"/>
                </a:solidFill>
                <a:latin typeface="Aptos"/>
              </a:rPr>
              <a:t>Illustrative logistic model: three variables are transformed into a probability of default.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57182"/>
                </a:solidFill>
                <a:latin typeface="Aptos"/>
              </a:rPr>
              <a:t>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270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65392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182"/>
                </a:solidFill>
                <a:latin typeface="Aptos"/>
              </a:rPr>
              <a:t>Credit Risk Model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57182"/>
                </a:solidFill>
                <a:latin typeface="Aptos"/>
              </a:rPr>
              <a:t>Illustrative training material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E4EDF7"/>
          </a:solidFill>
          <a:ln>
            <a:solidFill>
              <a:srgbClr val="E4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42036"/>
                </a:solidFill>
                <a:latin typeface="Aptos"/>
              </a:rPr>
              <a:t>logit(PD) = β₀ + β₁X₁ + β₂X₂ + β₃X₃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743200"/>
            <a:ext cx="484632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2834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182"/>
                </a:solidFill>
                <a:latin typeface="Aptos"/>
              </a:rPr>
              <a:t>Intercept β₀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834640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42036"/>
                </a:solidFill>
                <a:latin typeface="Aptos"/>
              </a:rPr>
              <a:t>−2.00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46704"/>
            <a:ext cx="484632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56432"/>
            <a:ext cx="2834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182"/>
                </a:solidFill>
                <a:latin typeface="Aptos"/>
              </a:rPr>
              <a:t>Utilisation X₁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438144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42036"/>
                </a:solidFill>
                <a:latin typeface="Aptos"/>
              </a:rPr>
              <a:t>0.80 × 1.20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950208"/>
            <a:ext cx="484632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059936"/>
            <a:ext cx="2834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182"/>
                </a:solidFill>
                <a:latin typeface="Aptos"/>
              </a:rPr>
              <a:t>Max DPD X₂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041648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42036"/>
                </a:solidFill>
                <a:latin typeface="Aptos"/>
              </a:rPr>
              <a:t>1 × 0.70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553712"/>
            <a:ext cx="484632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663440"/>
            <a:ext cx="2834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182"/>
                </a:solidFill>
                <a:latin typeface="Aptos"/>
              </a:rPr>
              <a:t>Income stress X₃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645152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42036"/>
                </a:solidFill>
                <a:latin typeface="Aptos"/>
              </a:rPr>
              <a:t>0.40 × 0.90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2743200"/>
            <a:ext cx="4892040" cy="2240280"/>
          </a:xfrm>
          <a:prstGeom prst="roundRect">
            <a:avLst>
              <a:gd name="adj" fmla="val 8000"/>
            </a:avLst>
          </a:prstGeom>
          <a:solidFill>
            <a:srgbClr val="E4F3F3"/>
          </a:solidFill>
          <a:ln>
            <a:solidFill>
              <a:srgbClr val="E4F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971800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37E87"/>
                </a:solidFill>
                <a:latin typeface="Aptos"/>
              </a:rPr>
              <a:t>1  Log-odds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33756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036"/>
                </a:solidFill>
                <a:latin typeface="Aptos"/>
              </a:rPr>
              <a:t>z = −2.00 + 0.96 + 0.70 + 0.36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749039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036"/>
                </a:solidFill>
                <a:latin typeface="Aptos"/>
              </a:rPr>
              <a:t>z = 0.02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224528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37E87"/>
                </a:solidFill>
                <a:latin typeface="Aptos"/>
              </a:rPr>
              <a:t>2  Convert to PD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4187952"/>
            <a:ext cx="2743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142036"/>
                </a:solidFill>
                <a:latin typeface="Aptos"/>
              </a:rPr>
              <a:t>PD = 1 / (1 + e⁻⁰·⁰²) ≈ 50.5%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39496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32B35"/>
                </a:solidFill>
                <a:latin typeface="Aptos"/>
              </a:rPr>
              <a:t>Interpretation: this illustrative profile sits around a 50% one-year PD under the model assumptions.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5B94"/>
                </a:solidFill>
                <a:latin typeface="Aptos"/>
              </a:rPr>
              <a:t>11 • 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036"/>
                </a:solidFill>
                <a:latin typeface="Aptos"/>
              </a:rPr>
              <a:t>Validation: Does the Model Work — and for the Right Reasons?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182"/>
                </a:solidFill>
                <a:latin typeface="Aptos"/>
              </a:rPr>
              <a:t>Validation is broader than AUC: discrimination, calibration, stability, conceptual soundness and implementation controls all matter.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57182"/>
                </a:solidFill>
                <a:latin typeface="Aptos"/>
              </a:rPr>
              <a:t>12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270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65392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182"/>
                </a:solidFill>
                <a:latin typeface="Aptos"/>
              </a:rPr>
              <a:t>Credit Risk Model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57182"/>
                </a:solidFill>
                <a:latin typeface="Aptos"/>
              </a:rPr>
              <a:t>Illustrative training material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2487168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039112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5B94"/>
                </a:solidFill>
                <a:latin typeface="Aptos"/>
              </a:rPr>
              <a:t>AUC / Gini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450592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6"/>
                </a:solidFill>
                <a:latin typeface="Aptos"/>
              </a:rPr>
              <a:t>Rank ordering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834640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182"/>
                </a:solidFill>
                <a:latin typeface="Aptos"/>
              </a:rPr>
              <a:t>Does bad rank above good?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28800"/>
            <a:ext cx="2487168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039112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7E87"/>
                </a:solidFill>
                <a:latin typeface="Aptos"/>
              </a:rPr>
              <a:t>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2450592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6"/>
                </a:solidFill>
                <a:latin typeface="Aptos"/>
              </a:rPr>
              <a:t>Separation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2834640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182"/>
                </a:solidFill>
                <a:latin typeface="Aptos"/>
              </a:rPr>
              <a:t>Maximum good/bad gap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828800"/>
            <a:ext cx="2487168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039112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49734"/>
                </a:solidFill>
                <a:latin typeface="Aptos"/>
              </a:rPr>
              <a:t>Calibration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450592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6"/>
                </a:solidFill>
                <a:latin typeface="Aptos"/>
              </a:rPr>
              <a:t>Probability 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834640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182"/>
                </a:solidFill>
                <a:latin typeface="Aptos"/>
              </a:rPr>
              <a:t>Predicted ≈ observed?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1828800"/>
            <a:ext cx="2487168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2039112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14343"/>
                </a:solidFill>
                <a:latin typeface="Aptos"/>
              </a:rPr>
              <a:t>PSI / stability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450592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6"/>
                </a:solidFill>
                <a:latin typeface="Aptos"/>
              </a:rPr>
              <a:t>Population drift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834640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182"/>
                </a:solidFill>
                <a:latin typeface="Aptos"/>
              </a:rPr>
              <a:t>Has the input population changed?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88620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B5B94"/>
                </a:solidFill>
                <a:latin typeface="Aptos"/>
              </a:rPr>
              <a:t>Illustrative discrimination curve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914400" y="4160520"/>
            <a:ext cx="3886200" cy="1417320"/>
          </a:xfrm>
          <a:prstGeom prst="line">
            <a:avLst/>
          </a:prstGeom>
          <a:ln w="15240">
            <a:solidFill>
              <a:srgbClr val="BEC6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68680" y="5532120"/>
            <a:ext cx="91440" cy="91440"/>
          </a:xfrm>
          <a:prstGeom prst="ellipse">
            <a:avLst/>
          </a:prstGeom>
          <a:solidFill>
            <a:srgbClr val="2B5B94"/>
          </a:solidFill>
          <a:ln>
            <a:solidFill>
              <a:srgbClr val="2B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280160" y="5029200"/>
            <a:ext cx="91440" cy="91440"/>
          </a:xfrm>
          <a:prstGeom prst="ellipse">
            <a:avLst/>
          </a:prstGeom>
          <a:solidFill>
            <a:srgbClr val="2B5B94"/>
          </a:solidFill>
          <a:ln>
            <a:solidFill>
              <a:srgbClr val="2B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783080" y="4663440"/>
            <a:ext cx="91440" cy="91440"/>
          </a:xfrm>
          <a:prstGeom prst="ellipse">
            <a:avLst/>
          </a:prstGeom>
          <a:solidFill>
            <a:srgbClr val="2B5B94"/>
          </a:solidFill>
          <a:ln>
            <a:solidFill>
              <a:srgbClr val="2B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423160" y="4389120"/>
            <a:ext cx="91440" cy="91440"/>
          </a:xfrm>
          <a:prstGeom prst="ellipse">
            <a:avLst/>
          </a:prstGeom>
          <a:solidFill>
            <a:srgbClr val="2B5B94"/>
          </a:solidFill>
          <a:ln>
            <a:solidFill>
              <a:srgbClr val="2B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246120" y="4206240"/>
            <a:ext cx="91440" cy="91440"/>
          </a:xfrm>
          <a:prstGeom prst="ellipse">
            <a:avLst/>
          </a:prstGeom>
          <a:solidFill>
            <a:srgbClr val="2B5B94"/>
          </a:solidFill>
          <a:ln>
            <a:solidFill>
              <a:srgbClr val="2B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54880" y="4114800"/>
            <a:ext cx="91440" cy="91440"/>
          </a:xfrm>
          <a:prstGeom prst="ellipse">
            <a:avLst/>
          </a:prstGeom>
          <a:solidFill>
            <a:srgbClr val="2B5B94"/>
          </a:solidFill>
          <a:ln>
            <a:solidFill>
              <a:srgbClr val="2B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23360" y="566928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57182"/>
                </a:solidFill>
                <a:latin typeface="Aptos"/>
              </a:rPr>
              <a:t>Random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9080" y="3977639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B5B94"/>
                </a:solidFill>
                <a:latin typeface="Aptos"/>
              </a:rPr>
              <a:t>Model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60720" y="4160520"/>
            <a:ext cx="5623560" cy="141732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16752" y="4370832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6"/>
                </a:solidFill>
                <a:latin typeface="Aptos"/>
              </a:rPr>
              <a:t>Validation questions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4709160"/>
            <a:ext cx="5074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32B35"/>
                </a:solidFill>
                <a:latin typeface="Aptos"/>
              </a:defRPr>
            </a:pPr>
            <a:r>
              <a:t>• Does performance hold out-of-time and across segments?</a:t>
            </a:r>
          </a:p>
          <a:p>
            <a:pPr>
              <a:spcAft>
                <a:spcPts val="500"/>
              </a:spcAft>
              <a:defRPr sz="1000">
                <a:solidFill>
                  <a:srgbClr val="232B35"/>
                </a:solidFill>
                <a:latin typeface="Aptos"/>
              </a:defRPr>
            </a:pPr>
            <a:r>
              <a:t>• Are variables economically sensible and stable?</a:t>
            </a:r>
          </a:p>
          <a:p>
            <a:pPr>
              <a:spcAft>
                <a:spcPts val="500"/>
              </a:spcAft>
              <a:defRPr sz="1000">
                <a:solidFill>
                  <a:srgbClr val="232B35"/>
                </a:solidFill>
                <a:latin typeface="Aptos"/>
              </a:defRPr>
            </a:pPr>
            <a:r>
              <a:t>• Can the implementation reproduce development scores?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5B94"/>
                </a:solidFill>
                <a:latin typeface="Aptos"/>
              </a:rPr>
              <a:t>12 • 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036"/>
                </a:solidFill>
                <a:latin typeface="Aptos"/>
              </a:rPr>
              <a:t>Implementation: From Model File to Business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182"/>
                </a:solidFill>
                <a:latin typeface="Aptos"/>
              </a:rPr>
              <a:t>A model creates value only when the production system computes the same logic reliably and the decision policy uses it correctly.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57182"/>
                </a:solidFill>
                <a:latin typeface="Aptos"/>
              </a:rPr>
              <a:t>13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270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65392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182"/>
                </a:solidFill>
                <a:latin typeface="Aptos"/>
              </a:rPr>
              <a:t>Credit Risk Model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57182"/>
                </a:solidFill>
                <a:latin typeface="Aptos"/>
              </a:rPr>
              <a:t>Illustrative training material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107899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783080"/>
            <a:ext cx="146304" cy="749808"/>
          </a:xfrm>
          <a:prstGeom prst="rect">
            <a:avLst/>
          </a:prstGeom>
          <a:solidFill>
            <a:srgbClr val="2B5B94"/>
          </a:solidFill>
          <a:ln>
            <a:solidFill>
              <a:srgbClr val="2B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1938528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036"/>
                </a:solidFill>
                <a:latin typeface="Aptos"/>
              </a:rPr>
              <a:t>Data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1938528"/>
            <a:ext cx="7909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B35"/>
                </a:solidFill>
                <a:latin typeface="Aptos"/>
              </a:rPr>
              <a:t>Source feeds • APIs • ETL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70632"/>
            <a:ext cx="107899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770632"/>
            <a:ext cx="146304" cy="749808"/>
          </a:xfrm>
          <a:prstGeom prst="rect">
            <a:avLst/>
          </a:prstGeom>
          <a:solidFill>
            <a:srgbClr val="237E87"/>
          </a:solidFill>
          <a:ln>
            <a:solidFill>
              <a:srgbClr val="237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926080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036"/>
                </a:solidFill>
                <a:latin typeface="Aptos"/>
              </a:rPr>
              <a:t>Score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926080"/>
            <a:ext cx="7909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B35"/>
                </a:solidFill>
                <a:latin typeface="Aptos"/>
              </a:rPr>
              <a:t>Binning / transformations / coefficients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58184"/>
            <a:ext cx="107899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758184"/>
            <a:ext cx="146304" cy="749808"/>
          </a:xfrm>
          <a:prstGeom prst="rect">
            <a:avLst/>
          </a:prstGeom>
          <a:solidFill>
            <a:srgbClr val="C49734"/>
          </a:solidFill>
          <a:ln>
            <a:solidFill>
              <a:srgbClr val="C49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913632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036"/>
                </a:solidFill>
                <a:latin typeface="Aptos"/>
              </a:rPr>
              <a:t>Decision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3913632"/>
            <a:ext cx="7909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B35"/>
                </a:solidFill>
                <a:latin typeface="Aptos"/>
              </a:rPr>
              <a:t>Cut-off • pricing • limit • manual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45736"/>
            <a:ext cx="107899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745736"/>
            <a:ext cx="146304" cy="749808"/>
          </a:xfrm>
          <a:prstGeom prst="rect">
            <a:avLst/>
          </a:prstGeom>
          <a:solidFill>
            <a:srgbClr val="B14343"/>
          </a:solidFill>
          <a:ln>
            <a:solidFill>
              <a:srgbClr val="B1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901184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036"/>
                </a:solidFill>
                <a:latin typeface="Aptos"/>
              </a:rPr>
              <a:t>Control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4901184"/>
            <a:ext cx="7909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B35"/>
                </a:solidFill>
                <a:latin typeface="Aptos"/>
              </a:rPr>
              <a:t>Versioning • audit • overrides • fallback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870448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B5B94"/>
                </a:solidFill>
                <a:latin typeface="Aptos"/>
              </a:rPr>
              <a:t>Production equivalence checklist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5833872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57182"/>
                </a:solidFill>
                <a:latin typeface="Aptos"/>
              </a:rPr>
              <a:t>Same population • same definitions • same bins • same coefficients • same rounding • same version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5B94"/>
                </a:solidFill>
                <a:latin typeface="Aptos"/>
              </a:rPr>
              <a:t>13 •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036"/>
                </a:solidFill>
                <a:latin typeface="Aptos"/>
              </a:rPr>
              <a:t>Case Study — SME Origination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182"/>
                </a:solidFill>
                <a:latin typeface="Aptos"/>
              </a:rPr>
              <a:t>Illustrative data: designed to show the full lifecycle from business need to policy impact.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57182"/>
                </a:solidFill>
                <a:latin typeface="Aptos"/>
              </a:rPr>
              <a:t>14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270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65392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182"/>
                </a:solidFill>
                <a:latin typeface="Aptos"/>
              </a:rPr>
              <a:t>Credit Risk Model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57182"/>
                </a:solidFill>
                <a:latin typeface="Aptos"/>
              </a:rPr>
              <a:t>Illustrative training material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1005840" cy="475488"/>
          </a:xfrm>
          <a:prstGeom prst="rect">
            <a:avLst/>
          </a:prstGeom>
          <a:solidFill>
            <a:srgbClr val="142036"/>
          </a:solidFill>
          <a:ln>
            <a:solidFill>
              <a:srgbClr val="14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56816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Applicant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64208" y="1828800"/>
            <a:ext cx="1508760" cy="475488"/>
          </a:xfrm>
          <a:prstGeom prst="rect">
            <a:avLst/>
          </a:prstGeom>
          <a:solidFill>
            <a:srgbClr val="142036"/>
          </a:solidFill>
          <a:ln>
            <a:solidFill>
              <a:srgbClr val="14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09928" y="1956816"/>
            <a:ext cx="141731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Revenue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72968" y="1828800"/>
            <a:ext cx="1325880" cy="475488"/>
          </a:xfrm>
          <a:prstGeom prst="rect">
            <a:avLst/>
          </a:prstGeom>
          <a:solidFill>
            <a:srgbClr val="142036"/>
          </a:solidFill>
          <a:ln>
            <a:solidFill>
              <a:srgbClr val="14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18687" y="1956816"/>
            <a:ext cx="12344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DSCR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98848" y="1828800"/>
            <a:ext cx="1508760" cy="475488"/>
          </a:xfrm>
          <a:prstGeom prst="rect">
            <a:avLst/>
          </a:prstGeom>
          <a:solidFill>
            <a:srgbClr val="142036"/>
          </a:solidFill>
          <a:ln>
            <a:solidFill>
              <a:srgbClr val="14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1956816"/>
            <a:ext cx="141731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Utilisation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07608" y="1828800"/>
            <a:ext cx="1325880" cy="475488"/>
          </a:xfrm>
          <a:prstGeom prst="rect">
            <a:avLst/>
          </a:prstGeom>
          <a:solidFill>
            <a:srgbClr val="142036"/>
          </a:solidFill>
          <a:ln>
            <a:solidFill>
              <a:srgbClr val="14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3328" y="1956816"/>
            <a:ext cx="12344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Max DPD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33488" y="1828800"/>
            <a:ext cx="1874519" cy="475488"/>
          </a:xfrm>
          <a:prstGeom prst="rect">
            <a:avLst/>
          </a:prstGeom>
          <a:solidFill>
            <a:srgbClr val="142036"/>
          </a:solidFill>
          <a:ln>
            <a:solidFill>
              <a:srgbClr val="14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9208" y="1956816"/>
            <a:ext cx="178307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Observed default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2304288"/>
            <a:ext cx="1005840" cy="475488"/>
          </a:xfrm>
          <a:prstGeom prst="rect">
            <a:avLst/>
          </a:prstGeom>
          <a:solidFill>
            <a:srgbClr val="F4F6F9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2432304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232B35"/>
                </a:solidFill>
                <a:latin typeface="Aptos"/>
              </a:rPr>
              <a:t>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64208" y="2304288"/>
            <a:ext cx="1508760" cy="475488"/>
          </a:xfrm>
          <a:prstGeom prst="rect">
            <a:avLst/>
          </a:prstGeom>
          <a:solidFill>
            <a:srgbClr val="F4F6F9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09928" y="2432304"/>
            <a:ext cx="141731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232B35"/>
                </a:solidFill>
                <a:latin typeface="Aptos"/>
              </a:rPr>
              <a:t>₹8.0 Cr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72968" y="2304288"/>
            <a:ext cx="1325880" cy="475488"/>
          </a:xfrm>
          <a:prstGeom prst="rect">
            <a:avLst/>
          </a:prstGeom>
          <a:solidFill>
            <a:srgbClr val="F4F6F9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18687" y="2432304"/>
            <a:ext cx="12344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232B35"/>
                </a:solidFill>
                <a:latin typeface="Aptos"/>
              </a:rPr>
              <a:t>1.55x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98848" y="2304288"/>
            <a:ext cx="1508760" cy="475488"/>
          </a:xfrm>
          <a:prstGeom prst="rect">
            <a:avLst/>
          </a:prstGeom>
          <a:solidFill>
            <a:srgbClr val="F4F6F9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44568" y="2432304"/>
            <a:ext cx="141731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232B35"/>
                </a:solidFill>
                <a:latin typeface="Aptos"/>
              </a:rPr>
              <a:t>35%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07608" y="2304288"/>
            <a:ext cx="1325880" cy="475488"/>
          </a:xfrm>
          <a:prstGeom prst="rect">
            <a:avLst/>
          </a:prstGeom>
          <a:solidFill>
            <a:srgbClr val="F4F6F9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53328" y="2432304"/>
            <a:ext cx="12344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232B35"/>
                </a:solidFill>
                <a:latin typeface="Aptos"/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33488" y="2304288"/>
            <a:ext cx="1874519" cy="475488"/>
          </a:xfrm>
          <a:prstGeom prst="rect">
            <a:avLst/>
          </a:prstGeom>
          <a:solidFill>
            <a:srgbClr val="F4F6F9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79208" y="2432304"/>
            <a:ext cx="178307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32B35"/>
                </a:solidFill>
                <a:latin typeface="Aptos"/>
              </a:rPr>
              <a:t>No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2779776"/>
            <a:ext cx="1005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2907792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232B35"/>
                </a:solidFill>
                <a:latin typeface="Aptos"/>
              </a:rPr>
              <a:t>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64208" y="2779776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09928" y="2907792"/>
            <a:ext cx="141731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232B35"/>
                </a:solidFill>
                <a:latin typeface="Aptos"/>
              </a:rPr>
              <a:t>₹5.0 Cr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72968" y="2779776"/>
            <a:ext cx="1325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18687" y="2907792"/>
            <a:ext cx="12344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232B35"/>
                </a:solidFill>
                <a:latin typeface="Aptos"/>
              </a:rPr>
              <a:t>1.15x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98848" y="2779776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44568" y="2907792"/>
            <a:ext cx="141731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232B35"/>
                </a:solidFill>
                <a:latin typeface="Aptos"/>
              </a:rPr>
              <a:t>78%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07608" y="2779776"/>
            <a:ext cx="1325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53328" y="2907792"/>
            <a:ext cx="12344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232B35"/>
                </a:solidFill>
                <a:latin typeface="Aptos"/>
              </a:rPr>
              <a:t>30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33488" y="2779776"/>
            <a:ext cx="1874519" cy="475488"/>
          </a:xfrm>
          <a:prstGeom prst="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79208" y="2907792"/>
            <a:ext cx="178307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B14343"/>
                </a:solidFill>
                <a:latin typeface="Aptos"/>
              </a:rPr>
              <a:t>Yes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3255264"/>
            <a:ext cx="1005840" cy="475488"/>
          </a:xfrm>
          <a:prstGeom prst="rect">
            <a:avLst/>
          </a:prstGeom>
          <a:solidFill>
            <a:srgbClr val="F4F6F9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4088" y="3383280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232B35"/>
                </a:solidFill>
                <a:latin typeface="Aptos"/>
              </a:rPr>
              <a:t>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64208" y="3255264"/>
            <a:ext cx="1508760" cy="475488"/>
          </a:xfrm>
          <a:prstGeom prst="rect">
            <a:avLst/>
          </a:prstGeom>
          <a:solidFill>
            <a:srgbClr val="F4F6F9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709928" y="3383280"/>
            <a:ext cx="141731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232B35"/>
                </a:solidFill>
                <a:latin typeface="Aptos"/>
              </a:rPr>
              <a:t>₹12.0 Cr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72968" y="3255264"/>
            <a:ext cx="1325880" cy="475488"/>
          </a:xfrm>
          <a:prstGeom prst="rect">
            <a:avLst/>
          </a:prstGeom>
          <a:solidFill>
            <a:srgbClr val="F4F6F9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18687" y="3383280"/>
            <a:ext cx="12344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232B35"/>
                </a:solidFill>
                <a:latin typeface="Aptos"/>
              </a:rPr>
              <a:t>1.70x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98848" y="3255264"/>
            <a:ext cx="1508760" cy="475488"/>
          </a:xfrm>
          <a:prstGeom prst="rect">
            <a:avLst/>
          </a:prstGeom>
          <a:solidFill>
            <a:srgbClr val="F4F6F9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44568" y="3383280"/>
            <a:ext cx="141731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232B35"/>
                </a:solidFill>
                <a:latin typeface="Aptos"/>
              </a:rPr>
              <a:t>42%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07608" y="3255264"/>
            <a:ext cx="1325880" cy="475488"/>
          </a:xfrm>
          <a:prstGeom prst="rect">
            <a:avLst/>
          </a:prstGeom>
          <a:solidFill>
            <a:srgbClr val="F4F6F9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53328" y="3383280"/>
            <a:ext cx="12344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232B35"/>
                </a:solidFill>
                <a:latin typeface="Aptos"/>
              </a:rPr>
              <a:t>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33488" y="3255264"/>
            <a:ext cx="1874519" cy="475488"/>
          </a:xfrm>
          <a:prstGeom prst="rect">
            <a:avLst/>
          </a:prstGeom>
          <a:solidFill>
            <a:srgbClr val="F4F6F9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79208" y="3383280"/>
            <a:ext cx="178307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32B35"/>
                </a:solidFill>
                <a:latin typeface="Aptos"/>
              </a:rPr>
              <a:t>No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" y="3730752"/>
            <a:ext cx="1005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4088" y="3858768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232B35"/>
                </a:solidFill>
                <a:latin typeface="Aptos"/>
              </a:rPr>
              <a:t>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64208" y="3730752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709928" y="3858768"/>
            <a:ext cx="141731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232B35"/>
                </a:solidFill>
                <a:latin typeface="Aptos"/>
              </a:rPr>
              <a:t>₹4.2 Cr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172968" y="3730752"/>
            <a:ext cx="1325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18687" y="3858768"/>
            <a:ext cx="12344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232B35"/>
                </a:solidFill>
                <a:latin typeface="Aptos"/>
              </a:rPr>
              <a:t>0.95x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98848" y="3730752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44568" y="3858768"/>
            <a:ext cx="141731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232B35"/>
                </a:solidFill>
                <a:latin typeface="Aptos"/>
              </a:rPr>
              <a:t>91%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07608" y="3730752"/>
            <a:ext cx="1325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53328" y="3858768"/>
            <a:ext cx="12344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232B35"/>
                </a:solidFill>
                <a:latin typeface="Aptos"/>
              </a:rPr>
              <a:t>60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33488" y="3730752"/>
            <a:ext cx="1874519" cy="475488"/>
          </a:xfrm>
          <a:prstGeom prst="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79208" y="3858768"/>
            <a:ext cx="178307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B14343"/>
                </a:solidFill>
                <a:latin typeface="Aptos"/>
              </a:rPr>
              <a:t>Yes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8368" y="4206240"/>
            <a:ext cx="1005840" cy="475488"/>
          </a:xfrm>
          <a:prstGeom prst="rect">
            <a:avLst/>
          </a:prstGeom>
          <a:solidFill>
            <a:srgbClr val="F4F6F9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04088" y="4334255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232B35"/>
                </a:solidFill>
                <a:latin typeface="Aptos"/>
              </a:rPr>
              <a:t>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664208" y="4206240"/>
            <a:ext cx="1508760" cy="475488"/>
          </a:xfrm>
          <a:prstGeom prst="rect">
            <a:avLst/>
          </a:prstGeom>
          <a:solidFill>
            <a:srgbClr val="F4F6F9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709928" y="4334255"/>
            <a:ext cx="141731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232B35"/>
                </a:solidFill>
                <a:latin typeface="Aptos"/>
              </a:rPr>
              <a:t>₹7.0 Cr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172968" y="4206240"/>
            <a:ext cx="1325880" cy="475488"/>
          </a:xfrm>
          <a:prstGeom prst="rect">
            <a:avLst/>
          </a:prstGeom>
          <a:solidFill>
            <a:srgbClr val="F4F6F9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218687" y="4334255"/>
            <a:ext cx="12344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232B35"/>
                </a:solidFill>
                <a:latin typeface="Aptos"/>
              </a:rPr>
              <a:t>1.25x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498848" y="4206240"/>
            <a:ext cx="1508760" cy="475488"/>
          </a:xfrm>
          <a:prstGeom prst="rect">
            <a:avLst/>
          </a:prstGeom>
          <a:solidFill>
            <a:srgbClr val="F4F6F9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44568" y="4334255"/>
            <a:ext cx="141731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232B35"/>
                </a:solidFill>
                <a:latin typeface="Aptos"/>
              </a:rPr>
              <a:t>65%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07608" y="4206240"/>
            <a:ext cx="1325880" cy="475488"/>
          </a:xfrm>
          <a:prstGeom prst="rect">
            <a:avLst/>
          </a:prstGeom>
          <a:solidFill>
            <a:srgbClr val="F4F6F9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053328" y="4334255"/>
            <a:ext cx="12344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232B35"/>
                </a:solidFill>
                <a:latin typeface="Aptos"/>
              </a:rPr>
              <a:t>15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333488" y="4206240"/>
            <a:ext cx="1874519" cy="475488"/>
          </a:xfrm>
          <a:prstGeom prst="rect">
            <a:avLst/>
          </a:prstGeom>
          <a:solidFill>
            <a:srgbClr val="F4F6F9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79208" y="4334255"/>
            <a:ext cx="178307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32B35"/>
                </a:solidFill>
                <a:latin typeface="Aptos"/>
              </a:rPr>
              <a:t>No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58368" y="4983480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F8E7E7"/>
          </a:solidFill>
          <a:ln>
            <a:solidFill>
              <a:srgbClr val="F8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68680" y="5166360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14343"/>
                </a:solidFill>
                <a:latin typeface="Aptos"/>
              </a:rPr>
              <a:t>Observed pattern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48840" y="5129784"/>
            <a:ext cx="3429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2036"/>
                </a:solidFill>
                <a:latin typeface="Aptos"/>
              </a:rPr>
              <a:t>Higher utilisation + weaker DSCR + higher delinquency align with the bad outcomes.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080760" y="4983480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E4F3F3"/>
          </a:solidFill>
          <a:ln>
            <a:solidFill>
              <a:srgbClr val="E4F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09360" y="5166360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37E87"/>
                </a:solidFill>
                <a:latin typeface="Aptos"/>
              </a:rPr>
              <a:t>Model implication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589520" y="5129784"/>
            <a:ext cx="3383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2036"/>
                </a:solidFill>
                <a:latin typeface="Aptos"/>
              </a:rPr>
              <a:t>Combine complementary signals; avoid relying on a single ratio or a single data source.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5B94"/>
                </a:solidFill>
                <a:latin typeface="Aptos"/>
              </a:rPr>
              <a:t>14 • COMPLETE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036"/>
                </a:solidFill>
                <a:latin typeface="Aptos"/>
              </a:rPr>
              <a:t>Complete Model Development Lifecycle — Illustrative SME PD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182"/>
                </a:solidFill>
                <a:latin typeface="Aptos"/>
              </a:rPr>
              <a:t>A practical end-to-end view of what the model team, business and governance functions each need.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57182"/>
                </a:solidFill>
                <a:latin typeface="Aptos"/>
              </a:rPr>
              <a:t>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270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65392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182"/>
                </a:solidFill>
                <a:latin typeface="Aptos"/>
              </a:rPr>
              <a:t>Credit Risk Model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57182"/>
                </a:solidFill>
                <a:latin typeface="Aptos"/>
              </a:rPr>
              <a:t>Illustrative training material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874519"/>
            <a:ext cx="162763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" y="1874519"/>
            <a:ext cx="1627632" cy="91440"/>
          </a:xfrm>
          <a:prstGeom prst="rect">
            <a:avLst/>
          </a:prstGeom>
          <a:solidFill>
            <a:srgbClr val="2B5B94"/>
          </a:solidFill>
          <a:ln>
            <a:solidFill>
              <a:srgbClr val="2B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39696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B5B94"/>
                </a:solidFill>
                <a:latin typeface="Aptos"/>
              </a:rPr>
              <a:t>Business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13716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6"/>
                </a:solidFill>
                <a:latin typeface="Aptos"/>
              </a:rPr>
              <a:t>12M default</a:t>
            </a:r>
            <a:br/>
            <a:r>
              <a:t>prediction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03120" y="2852928"/>
            <a:ext cx="292608" cy="0"/>
          </a:xfrm>
          <a:prstGeom prst="line">
            <a:avLst/>
          </a:prstGeom>
          <a:ln w="16510">
            <a:solidFill>
              <a:srgbClr val="657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395728" y="1874519"/>
            <a:ext cx="162763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95728" y="1874519"/>
            <a:ext cx="1627632" cy="91440"/>
          </a:xfrm>
          <a:prstGeom prst="rect">
            <a:avLst/>
          </a:prstGeom>
          <a:solidFill>
            <a:srgbClr val="237E87"/>
          </a:solidFill>
          <a:ln>
            <a:solidFill>
              <a:srgbClr val="237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4600" y="2139696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37E87"/>
                </a:solidFill>
                <a:latin typeface="Aptos"/>
              </a:rP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651760"/>
            <a:ext cx="13716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6"/>
                </a:solidFill>
                <a:latin typeface="Aptos"/>
              </a:rPr>
              <a:t>24M history</a:t>
            </a:r>
            <a:br/>
            <a:r>
              <a:t>+ 12M outcome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23360" y="2852928"/>
            <a:ext cx="292608" cy="0"/>
          </a:xfrm>
          <a:prstGeom prst="line">
            <a:avLst/>
          </a:prstGeom>
          <a:ln w="16510">
            <a:solidFill>
              <a:srgbClr val="657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15968" y="1874519"/>
            <a:ext cx="162763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15968" y="1874519"/>
            <a:ext cx="1627632" cy="91440"/>
          </a:xfrm>
          <a:prstGeom prst="rect">
            <a:avLst/>
          </a:prstGeom>
          <a:solidFill>
            <a:srgbClr val="C49734"/>
          </a:solidFill>
          <a:ln>
            <a:solidFill>
              <a:srgbClr val="C49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2139696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49734"/>
                </a:solidFill>
                <a:latin typeface="Aptos"/>
              </a:rPr>
              <a:t>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651760"/>
            <a:ext cx="13716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6"/>
                </a:solidFill>
                <a:latin typeface="Aptos"/>
              </a:rPr>
              <a:t>WOE + logistic</a:t>
            </a:r>
            <a:br/>
            <a:r>
              <a:t>+ calibration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0" y="2852928"/>
            <a:ext cx="292608" cy="0"/>
          </a:xfrm>
          <a:prstGeom prst="line">
            <a:avLst/>
          </a:prstGeom>
          <a:ln w="16510">
            <a:solidFill>
              <a:srgbClr val="657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36208" y="1874519"/>
            <a:ext cx="162763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1874519"/>
            <a:ext cx="1627632" cy="91440"/>
          </a:xfrm>
          <a:prstGeom prst="rect">
            <a:avLst/>
          </a:prstGeom>
          <a:solidFill>
            <a:srgbClr val="B14343"/>
          </a:solidFill>
          <a:ln>
            <a:solidFill>
              <a:srgbClr val="B1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2139696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14343"/>
                </a:solidFill>
                <a:latin typeface="Aptos"/>
              </a:rPr>
              <a:t>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651760"/>
            <a:ext cx="13716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6"/>
                </a:solidFill>
                <a:latin typeface="Aptos"/>
              </a:rPr>
              <a:t>OOT + AUC</a:t>
            </a:r>
            <a:br/>
            <a:r>
              <a:t>+ stability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63840" y="2852928"/>
            <a:ext cx="292608" cy="0"/>
          </a:xfrm>
          <a:prstGeom prst="line">
            <a:avLst/>
          </a:prstGeom>
          <a:ln w="16510">
            <a:solidFill>
              <a:srgbClr val="657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56448" y="1874519"/>
            <a:ext cx="162763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56448" y="1874519"/>
            <a:ext cx="1627632" cy="91440"/>
          </a:xfrm>
          <a:prstGeom prst="rect">
            <a:avLst/>
          </a:prstGeom>
          <a:solidFill>
            <a:srgbClr val="2B5B94"/>
          </a:solidFill>
          <a:ln>
            <a:solidFill>
              <a:srgbClr val="2B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2139696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B5B94"/>
                </a:solidFill>
                <a:latin typeface="Aptos"/>
              </a:rPr>
              <a:t>Implementation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651760"/>
            <a:ext cx="13716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6"/>
                </a:solidFill>
                <a:latin typeface="Aptos"/>
              </a:rPr>
              <a:t>Score + cut-off</a:t>
            </a:r>
            <a:br/>
            <a:r>
              <a:t>+ policy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784080" y="2852928"/>
            <a:ext cx="292608" cy="0"/>
          </a:xfrm>
          <a:prstGeom prst="line">
            <a:avLst/>
          </a:prstGeom>
          <a:ln w="16510">
            <a:solidFill>
              <a:srgbClr val="657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076688" y="1874519"/>
            <a:ext cx="162763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76688" y="1874519"/>
            <a:ext cx="1627632" cy="91440"/>
          </a:xfrm>
          <a:prstGeom prst="rect">
            <a:avLst/>
          </a:prstGeom>
          <a:solidFill>
            <a:srgbClr val="237E87"/>
          </a:solidFill>
          <a:ln>
            <a:solidFill>
              <a:srgbClr val="237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5560" y="2139696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37E87"/>
                </a:solidFill>
                <a:latin typeface="Aptos"/>
              </a:rPr>
              <a:t>Monitoring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95560" y="2651760"/>
            <a:ext cx="13716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6"/>
                </a:solidFill>
                <a:latin typeface="Aptos"/>
              </a:rPr>
              <a:t>PSI + bad rate</a:t>
            </a:r>
            <a:br/>
            <a:r>
              <a:t>+ back-test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434340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B5B94"/>
                </a:solidFill>
                <a:latin typeface="Aptos"/>
              </a:rPr>
              <a:t>Illustrative policy economics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736592"/>
            <a:ext cx="25603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4360" y="4736592"/>
            <a:ext cx="64008" cy="868680"/>
          </a:xfrm>
          <a:prstGeom prst="rect">
            <a:avLst/>
          </a:prstGeom>
          <a:solidFill>
            <a:srgbClr val="2B5B94"/>
          </a:solidFill>
          <a:ln>
            <a:solidFill>
              <a:srgbClr val="2B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8" y="4901183"/>
            <a:ext cx="2240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42036"/>
                </a:solidFill>
                <a:latin typeface="Aptos"/>
              </a:rPr>
              <a:t>10,000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8" y="5376672"/>
            <a:ext cx="2240279" cy="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182"/>
                </a:solidFill>
                <a:latin typeface="Aptos"/>
              </a:rPr>
              <a:t>Applications / year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37560" y="4736592"/>
            <a:ext cx="25603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337560" y="4736592"/>
            <a:ext cx="64008" cy="868680"/>
          </a:xfrm>
          <a:prstGeom prst="rect">
            <a:avLst/>
          </a:prstGeom>
          <a:solidFill>
            <a:srgbClr val="237E87"/>
          </a:solidFill>
          <a:ln>
            <a:solidFill>
              <a:srgbClr val="237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38728" y="4901183"/>
            <a:ext cx="2240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42036"/>
                </a:solidFill>
                <a:latin typeface="Aptos"/>
              </a:rPr>
              <a:t>8% → 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38728" y="5376672"/>
            <a:ext cx="2240279" cy="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182"/>
                </a:solidFill>
                <a:latin typeface="Aptos"/>
              </a:rPr>
              <a:t>Bad rate after cut-off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80760" y="4736592"/>
            <a:ext cx="25603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80760" y="4736592"/>
            <a:ext cx="64008" cy="868680"/>
          </a:xfrm>
          <a:prstGeom prst="rect">
            <a:avLst/>
          </a:prstGeom>
          <a:solidFill>
            <a:srgbClr val="C49734"/>
          </a:solidFill>
          <a:ln>
            <a:solidFill>
              <a:srgbClr val="C49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81928" y="4901183"/>
            <a:ext cx="2240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42036"/>
                </a:solidFill>
                <a:latin typeface="Aptos"/>
              </a:rPr>
              <a:t>₹2.0 Cr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81928" y="5376672"/>
            <a:ext cx="2240279" cy="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182"/>
                </a:solidFill>
                <a:latin typeface="Aptos"/>
              </a:rPr>
              <a:t>Average exposure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23960" y="4736592"/>
            <a:ext cx="25603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23960" y="4736592"/>
            <a:ext cx="64008" cy="868680"/>
          </a:xfrm>
          <a:prstGeom prst="rect">
            <a:avLst/>
          </a:prstGeom>
          <a:solidFill>
            <a:srgbClr val="B14343"/>
          </a:solidFill>
          <a:ln>
            <a:solidFill>
              <a:srgbClr val="B1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25128" y="4901183"/>
            <a:ext cx="2240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42036"/>
                </a:solidFill>
                <a:latin typeface="Aptos"/>
              </a:rPr>
              <a:t>₹60 Cr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25128" y="5376672"/>
            <a:ext cx="2240279" cy="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182"/>
                </a:solidFill>
                <a:latin typeface="Aptos"/>
              </a:rPr>
              <a:t>Illustrative loss reduction*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" y="580644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57182"/>
                </a:solidFill>
                <a:latin typeface="Aptos"/>
              </a:rPr>
              <a:t>*Illustrative only: assumes 3 percentage-point reduction × ₹2.0 Cr average exposure × 10,000 applications; ignores LGD, timing and selection effects.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5B94"/>
                </a:solidFill>
                <a:latin typeface="Aptos"/>
              </a:rPr>
              <a:t>15 • MODEL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036"/>
                </a:solidFill>
                <a:latin typeface="Aptos"/>
              </a:rPr>
              <a:t>Key Risks, Red Flags &amp;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182"/>
                </a:solidFill>
                <a:latin typeface="Aptos"/>
              </a:rPr>
              <a:t>Most failures are not caused by a lack of sophisticated algorithms.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57182"/>
                </a:solidFill>
                <a:latin typeface="Aptos"/>
              </a:rPr>
              <a:t>16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270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65392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182"/>
                </a:solidFill>
                <a:latin typeface="Aptos"/>
              </a:rPr>
              <a:t>Credit Risk Model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57182"/>
                </a:solidFill>
                <a:latin typeface="Aptos"/>
              </a:rPr>
              <a:t>Illustrative training material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83080"/>
            <a:ext cx="5230368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929384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14343"/>
                </a:solidFill>
                <a:latin typeface="Aptos"/>
              </a:rPr>
              <a:t>Target leakage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901952"/>
            <a:ext cx="3337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2036"/>
                </a:solidFill>
                <a:latin typeface="Aptos"/>
              </a:rPr>
              <a:t>Future information enters predictors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267712"/>
            <a:ext cx="3337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57182"/>
                </a:solidFill>
                <a:latin typeface="Aptos"/>
              </a:rPr>
              <a:t>Artificially high validation performance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783080"/>
            <a:ext cx="5230368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929384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49734"/>
                </a:solidFill>
                <a:latin typeface="Aptos"/>
              </a:rPr>
              <a:t>Sample bias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1901952"/>
            <a:ext cx="3337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2036"/>
                </a:solidFill>
                <a:latin typeface="Aptos"/>
              </a:rPr>
              <a:t>Development population ≠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267712"/>
            <a:ext cx="3337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57182"/>
                </a:solidFill>
                <a:latin typeface="Aptos"/>
              </a:rPr>
              <a:t>Weak performance after rollout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017520"/>
            <a:ext cx="5230368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163824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B5B94"/>
                </a:solidFill>
                <a:latin typeface="Aptos"/>
              </a:rPr>
              <a:t>Overfitting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136391"/>
            <a:ext cx="3337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2036"/>
                </a:solidFill>
                <a:latin typeface="Aptos"/>
              </a:rPr>
              <a:t>Too many variables / tuning to noise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502152"/>
            <a:ext cx="3337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57182"/>
                </a:solidFill>
                <a:latin typeface="Aptos"/>
              </a:rPr>
              <a:t>OOT deterioration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3017520"/>
            <a:ext cx="5230368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3163824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37E87"/>
                </a:solidFill>
                <a:latin typeface="Aptos"/>
              </a:rPr>
              <a:t>Drift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3136391"/>
            <a:ext cx="3337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2036"/>
                </a:solidFill>
                <a:latin typeface="Aptos"/>
              </a:rPr>
              <a:t>Customer mix or macro regime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3502152"/>
            <a:ext cx="3337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57182"/>
                </a:solidFill>
                <a:latin typeface="Aptos"/>
              </a:rPr>
              <a:t>Score distribution shifts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4251960"/>
            <a:ext cx="5230368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398264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14343"/>
                </a:solidFill>
                <a:latin typeface="Aptos"/>
              </a:rPr>
              <a:t>Poor calibration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370832"/>
            <a:ext cx="3337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2036"/>
                </a:solidFill>
                <a:latin typeface="Aptos"/>
              </a:rPr>
              <a:t>Ranking works, PD level is wrong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4736592"/>
            <a:ext cx="3337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57182"/>
                </a:solidFill>
                <a:latin typeface="Aptos"/>
              </a:rPr>
              <a:t>ECL / pricing misstatement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5352" y="4251960"/>
            <a:ext cx="5230368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91656" y="4398264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49734"/>
                </a:solidFill>
                <a:latin typeface="Aptos"/>
              </a:rPr>
              <a:t>Weak implementation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4370832"/>
            <a:ext cx="3337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2036"/>
                </a:solidFill>
                <a:latin typeface="Aptos"/>
              </a:rPr>
              <a:t>Code differs from development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4736592"/>
            <a:ext cx="3337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57182"/>
                </a:solidFill>
                <a:latin typeface="Aptos"/>
              </a:rPr>
              <a:t>Production score mismatch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77900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036"/>
                </a:solidFill>
                <a:latin typeface="Aptos"/>
              </a:rPr>
              <a:t>Red-team question: “What would have to be true for this model to fail?”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5B94"/>
                </a:solidFill>
                <a:latin typeface="Aptos"/>
              </a:rPr>
              <a:t>16 • DECISION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036"/>
                </a:solidFill>
                <a:latin typeface="Aptos"/>
              </a:rPr>
              <a:t>What Different Stakeholders Care 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182"/>
                </a:solidFill>
                <a:latin typeface="Aptos"/>
              </a:rPr>
              <a:t>One model; different questions. Governance works when these views are reconciled.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57182"/>
                </a:solidFill>
                <a:latin typeface="Aptos"/>
              </a:rPr>
              <a:t>17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270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65392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182"/>
                </a:solidFill>
                <a:latin typeface="Aptos"/>
              </a:rPr>
              <a:t>Credit Risk Model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57182"/>
                </a:solidFill>
                <a:latin typeface="Aptos"/>
              </a:rPr>
              <a:t>Illustrative training material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2487168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148840"/>
            <a:ext cx="21762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5B94"/>
                </a:solidFill>
                <a:latin typeface="Aptos"/>
              </a:rPr>
              <a:t>Credit Analyst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743200"/>
            <a:ext cx="217627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036"/>
                </a:solidFill>
                <a:latin typeface="Aptos"/>
              </a:rPr>
              <a:t>Is the risk signal explainable?</a:t>
            </a:r>
            <a:br/>
            <a:r>
              <a:t>Are exceptions sensible?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874519"/>
            <a:ext cx="2487168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2148840"/>
            <a:ext cx="21762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7E87"/>
                </a:solidFill>
                <a:latin typeface="Aptos"/>
              </a:rPr>
              <a:t>Banker / Underwriter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2743200"/>
            <a:ext cx="217627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036"/>
                </a:solidFill>
                <a:latin typeface="Aptos"/>
              </a:rPr>
              <a:t>Does it improve approval speed,</a:t>
            </a:r>
            <a:br/>
            <a:r>
              <a:t>limits and pricing?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1874519"/>
            <a:ext cx="2487168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148840"/>
            <a:ext cx="21762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49734"/>
                </a:solidFill>
                <a:latin typeface="Aptos"/>
              </a:rPr>
              <a:t>CFO / CRO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743200"/>
            <a:ext cx="217627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036"/>
                </a:solidFill>
                <a:latin typeface="Aptos"/>
              </a:rPr>
              <a:t>What does it mean for ECL,</a:t>
            </a:r>
            <a:br/>
            <a:r>
              <a:t>capital and portfolio returns?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89136" y="1874519"/>
            <a:ext cx="2487168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148840"/>
            <a:ext cx="21762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14343"/>
                </a:solidFill>
                <a:latin typeface="Aptos"/>
              </a:rPr>
              <a:t>Investor / 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743200"/>
            <a:ext cx="217627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036"/>
                </a:solidFill>
                <a:latin typeface="Aptos"/>
              </a:rPr>
              <a:t>Is risk controlled, stable and</a:t>
            </a:r>
            <a:br/>
            <a:r>
              <a:t>transparent over time?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480560"/>
            <a:ext cx="4023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B5B94"/>
                </a:solidFill>
                <a:latin typeface="Aptos"/>
              </a:rPr>
              <a:t>The model only works when three disciplines meet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4892040"/>
            <a:ext cx="2880360" cy="685800"/>
          </a:xfrm>
          <a:prstGeom prst="roundRect">
            <a:avLst>
              <a:gd name="adj" fmla="val 8000"/>
            </a:avLst>
          </a:prstGeom>
          <a:solidFill>
            <a:srgbClr val="E4EDF7"/>
          </a:solidFill>
          <a:ln>
            <a:solidFill>
              <a:srgbClr val="E4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102352"/>
            <a:ext cx="2606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036"/>
                </a:solidFill>
                <a:latin typeface="Aptos"/>
              </a:rPr>
              <a:t>Business value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4892040"/>
            <a:ext cx="2880360" cy="685800"/>
          </a:xfrm>
          <a:prstGeom prst="roundRect">
            <a:avLst>
              <a:gd name="adj" fmla="val 8000"/>
            </a:avLst>
          </a:prstGeom>
          <a:solidFill>
            <a:srgbClr val="E4F3F3"/>
          </a:solidFill>
          <a:ln>
            <a:solidFill>
              <a:srgbClr val="E4F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5102352"/>
            <a:ext cx="2606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036"/>
                </a:solidFill>
                <a:latin typeface="Aptos"/>
              </a:rPr>
              <a:t>Statistical validity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4892040"/>
            <a:ext cx="2880360" cy="685800"/>
          </a:xfrm>
          <a:prstGeom prst="roundRect">
            <a:avLst>
              <a:gd name="adj" fmla="val 8000"/>
            </a:avLst>
          </a:prstGeom>
          <a:solidFill>
            <a:srgbClr val="F7F0DD"/>
          </a:solidFill>
          <a:ln>
            <a:solidFill>
              <a:srgbClr val="F7F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5102352"/>
            <a:ext cx="2606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036"/>
                </a:solidFill>
                <a:latin typeface="Aptos"/>
              </a:rPr>
              <a:t>Governance &amp; controls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886200" y="5230368"/>
            <a:ext cx="777240" cy="0"/>
          </a:xfrm>
          <a:prstGeom prst="line">
            <a:avLst/>
          </a:prstGeom>
          <a:ln w="19050">
            <a:solidFill>
              <a:srgbClr val="657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543800" y="5230368"/>
            <a:ext cx="777240" cy="0"/>
          </a:xfrm>
          <a:prstGeom prst="line">
            <a:avLst/>
          </a:prstGeom>
          <a:ln w="19050">
            <a:solidFill>
              <a:srgbClr val="657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5B94"/>
                </a:solidFill>
                <a:latin typeface="Aptos"/>
              </a:rPr>
              <a:t>17 • SO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036"/>
                </a:solidFill>
                <a:latin typeface="Aptos"/>
              </a:rPr>
              <a:t>Executive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182"/>
                </a:solidFill>
                <a:latin typeface="Aptos"/>
              </a:rPr>
              <a:t>A high-quality credit risk model is a governed decision system — not merely a predictive algorithm.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57182"/>
                </a:solidFill>
                <a:latin typeface="Aptos"/>
              </a:rPr>
              <a:t>18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270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65392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182"/>
                </a:solidFill>
                <a:latin typeface="Aptos"/>
              </a:rPr>
              <a:t>Credit Risk Model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57182"/>
                </a:solidFill>
                <a:latin typeface="Aptos"/>
              </a:rPr>
              <a:t>Illustrative training material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947672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B5B94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92024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036"/>
                </a:solidFill>
                <a:latin typeface="Aptos"/>
              </a:rPr>
              <a:t>Start with the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1911095"/>
            <a:ext cx="7132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182"/>
                </a:solidFill>
                <a:latin typeface="Aptos"/>
              </a:rPr>
              <a:t>Define population, target, horizon and action before choosing algorithms.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624328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788920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37E87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2761488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036"/>
                </a:solidFill>
                <a:latin typeface="Aptos"/>
              </a:rPr>
              <a:t>Treat data as a 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2752344"/>
            <a:ext cx="7132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182"/>
                </a:solidFill>
                <a:latin typeface="Aptos"/>
              </a:rPr>
              <a:t>Lineage, quality, leakage controls and time windows determine credibility.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465576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630168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4973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360273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036"/>
                </a:solidFill>
                <a:latin typeface="Aptos"/>
              </a:rPr>
              <a:t>Optimise for the real objective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3593592"/>
            <a:ext cx="7132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182"/>
                </a:solidFill>
                <a:latin typeface="Aptos"/>
              </a:rPr>
              <a:t>Predictive power must connect to pricing, approval, ECL, capital or collections.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306824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4471416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14343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443984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036"/>
                </a:solidFill>
                <a:latin typeface="Aptos"/>
              </a:rPr>
              <a:t>Validate beyond AUC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4434840"/>
            <a:ext cx="7132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182"/>
                </a:solidFill>
                <a:latin typeface="Aptos"/>
              </a:rPr>
              <a:t>Calibration, stability, segmentation, implementation equivalence and outcomes matter.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148072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312664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B5B94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528523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036"/>
                </a:solidFill>
                <a:latin typeface="Aptos"/>
              </a:rPr>
              <a:t>Design for change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5276088"/>
            <a:ext cx="7132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182"/>
                </a:solidFill>
                <a:latin typeface="Aptos"/>
              </a:rPr>
              <a:t>Monitoring should detect drift, regime shifts and deteriorating performance early.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" y="6144768"/>
            <a:ext cx="10241280" cy="292608"/>
          </a:xfrm>
          <a:prstGeom prst="roundRect">
            <a:avLst>
              <a:gd name="adj" fmla="val 8000"/>
            </a:avLst>
          </a:prstGeom>
          <a:solidFill>
            <a:srgbClr val="142036"/>
          </a:solidFill>
          <a:ln>
            <a:solidFill>
              <a:srgbClr val="14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THE END-TO-END MINDSET:  BUSINESS PROBLEM → DATA → MODEL → DECISION → OUTCOME → LEARNING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5B94"/>
                </a:solidFill>
                <a:latin typeface="Aptos"/>
              </a:rPr>
              <a:t>18 • MASTER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036"/>
                </a:solidFill>
                <a:latin typeface="Aptos"/>
              </a:rPr>
              <a:t>The Credit Risk Model Operating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182"/>
                </a:solidFill>
                <a:latin typeface="Aptos"/>
              </a:rPr>
              <a:t>Use this one-page framework as the mental model for development, review and governance.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57182"/>
                </a:solidFill>
                <a:latin typeface="Aptos"/>
              </a:rPr>
              <a:t>19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2700">
            <a:solidFill>
              <a:srgbClr val="DC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65392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182"/>
                </a:solidFill>
                <a:latin typeface="Aptos"/>
              </a:rPr>
              <a:t>Credit Risk Model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57182"/>
                </a:solidFill>
                <a:latin typeface="Aptos"/>
              </a:rPr>
              <a:t>Illustrative training material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3774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142036"/>
          </a:solidFill>
          <a:ln>
            <a:solidFill>
              <a:srgbClr val="14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615184"/>
            <a:ext cx="3200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CREDIT RISK</a:t>
            </a:r>
            <a:br/>
            <a:r>
              <a:t>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91640"/>
            <a:ext cx="3246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847088"/>
            <a:ext cx="2834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B5B94"/>
                </a:solidFill>
                <a:latin typeface="Aptos"/>
              </a:rPr>
              <a:t>BUSINESS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76272"/>
            <a:ext cx="2834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2036"/>
                </a:solidFill>
                <a:latin typeface="Aptos"/>
              </a:rPr>
              <a:t>Decision • target • economics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691640"/>
            <a:ext cx="3246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5904" y="1847088"/>
            <a:ext cx="2834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37E87"/>
                </a:solidFill>
                <a:latin typeface="Aptos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176272"/>
            <a:ext cx="2834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2036"/>
                </a:solidFill>
                <a:latin typeface="Aptos"/>
              </a:rPr>
              <a:t>Quality • lineage • windows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60520"/>
            <a:ext cx="3246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4315968"/>
            <a:ext cx="2834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49734"/>
                </a:solidFill>
                <a:latin typeface="Aptos"/>
              </a:rP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645152"/>
            <a:ext cx="2834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2036"/>
                </a:solidFill>
                <a:latin typeface="Aptos"/>
              </a:rPr>
              <a:t>Development • validation • calibration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160520"/>
            <a:ext cx="3246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5904" y="4315968"/>
            <a:ext cx="2834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14343"/>
                </a:solidFill>
                <a:latin typeface="Aptos"/>
              </a:rPr>
              <a:t>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4645152"/>
            <a:ext cx="2834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2036"/>
                </a:solidFill>
                <a:latin typeface="Aptos"/>
              </a:rPr>
              <a:t>Implementation • monitoring • change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886200" y="2212848"/>
            <a:ext cx="411480" cy="548640"/>
          </a:xfrm>
          <a:prstGeom prst="line">
            <a:avLst/>
          </a:prstGeom>
          <a:ln w="17780">
            <a:solidFill>
              <a:srgbClr val="657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863840" y="2212848"/>
            <a:ext cx="365760" cy="548640"/>
          </a:xfrm>
          <a:prstGeom prst="line">
            <a:avLst/>
          </a:prstGeom>
          <a:ln w="17780">
            <a:solidFill>
              <a:srgbClr val="657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886200" y="3182112"/>
            <a:ext cx="411480" cy="1499616"/>
          </a:xfrm>
          <a:prstGeom prst="line">
            <a:avLst/>
          </a:prstGeom>
          <a:ln w="17780">
            <a:solidFill>
              <a:srgbClr val="657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7863840" y="3182112"/>
            <a:ext cx="365760" cy="1499616"/>
          </a:xfrm>
          <a:prstGeom prst="line">
            <a:avLst/>
          </a:prstGeom>
          <a:ln w="17780">
            <a:solidFill>
              <a:srgbClr val="657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60120" y="5715000"/>
            <a:ext cx="10241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42036"/>
                </a:solidFill>
                <a:latin typeface="Aptos"/>
              </a:rPr>
              <a:t>If any one pillar is weak, model risk rises — even when predictive performance looks strong.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