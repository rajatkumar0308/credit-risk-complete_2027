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Default Risk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CDDCEB"/>
                </a:solidFill>
              </a:defRPr>
            </a:pPr>
            <a:r>
              <a:t>Price Risk • Interest Rate Risk • Credit Risk vs Market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C3D2"/>
                </a:solidFill>
              </a:defRPr>
            </a:pPr>
            <a:r>
              <a:t>MIT-level conceptual depth | Real-world banking &amp; markets perspective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A Simple Loan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Translate the definition into a cash-flow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Bank lends ₹10 lakh to a borrower.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Contract says: interest payments + principal repayment on schedule.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If the borrower stops paying and meets the contractual definition of default, the lender faces default risk.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The loss depends on exposure, collateral, recoveries and timing—not merely on whether default occurs.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Default Is Not the Same as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A critical distinction in credit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Default is an event/state; loss is an economic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A borrower can default and the lender may still recover most of the exposure.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Loss can be framed conceptually as Exposure × Severity of Loss, with recovery and timing embedded in the severity.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This distinction is why PD and LGD are separate building blocks.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What Drives Default Risk?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A borrower’s capacity and willingness to 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Cash-flow capacity: income, margins, liquidity and debt burden.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Leverage: more debt can amplify stress when earnings fall.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Refinancing risk: obligations may become difficult to roll over.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Macro conditions: unemployment, growth, rates and sector shocks.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Behavioral factors: payment history, utilization and changing incentives.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Probability of Default (PD)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From a binary event to a measurable probability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PD estimates the likelihood that an obligor will default over a defined horizon.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PD is conditional on a population, definition of default, time horizon and information 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Example: a 1-year PD of 3% means that, for a comparable risk pool and definition, the modeled probability of default over one year is 3%.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PD is not a prediction that exactly 3 out of 100 specific borrowers will default.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Price Risk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When the market value of an asset moves against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Price risk is the risk of loss caused by changes in an asset’s market price.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It appears in equities, commodities, bonds and other traded instruments.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Unlike default risk, the asset may be perfectly sound—the market price can still fall.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Core question: “What happens to my position if the market reprices this asset?”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A Real-Life Price Risk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Equity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Suppose an investor buys a stock at ₹1,000.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The company does not default or miss a payment—but sentiment changes and the stock falls to ₹800.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The investor now has an unrealized ₹200 loss per share.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The risk came from market repricing, not from contractual non-payment.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Interest Rate Risk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The price of money changes—and assets react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Interest rate risk is the risk that changes in interest rates affect the value, income or funding cost of a position.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For fixed-rate bonds, market prices generally move inversely with yields.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For borrowers, higher rates can increase interest expense on floating-rate debt.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So the same rate shock can hurt one position and benefit another.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Bond Example: Why Duration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A compact intuition for fixed-income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A 10-year fixed-rate bond paying a fixed coupon becomes less attractive when new bonds offer higher yields.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Its market price must generally fall to make its existing cash flows competitive with the new market yield.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Duration gives a first-order sensitivity of bond price to yield changes.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Rule of thumb: longer duration usually means greater price sensitivity to rates.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Credit Risk vs Market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Different mechanisms, different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Credit risk: a borrower/counterparty may fail to perform.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Market risk: market variables—prices, rates, FX, spreads or commodities—move against a position.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Credit risk can create an actual cash-flow shortfall.</a:t>
            </a:r>
          </a:p>
          <a:p>
            <a:pPr>
              <a:spcAft>
                <a:spcPts val="1200"/>
              </a:spcAft>
              <a:defRPr sz="2000">
                <a:solidFill>
                  <a:srgbClr val="1E232A"/>
                </a:solidFill>
              </a:defRPr>
            </a:pPr>
            <a:r>
              <a:t>• Market risk can create a mark-to-market loss even when every contractual payment is still made.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Same Bank, Two Different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One institution can face both at the same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Loan portfolio: a weak borrower stops paying → credit/default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Treasury bond portfolio: yields rise → bond prices fall → market/interest-rate risk.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Corporate bond: issuer credit quality deteriorates → credit spread widens → market value falls.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The last case shows the boundary can interact: credit fundamentals can transmit into market prices.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Stress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Put the concepts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Scenario: policy rates rise sharply, economic growth slows, and a leveraged borrower’s sales decline.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Market channel: bond yields and asset prices reprice.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Credit channel: borrower cash flow weakens and default probability can rise.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Second-round effect: weaker credit quality can widen spreads and further reduce market values.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3212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53212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9048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Risk management requires looking at both direct and interaction effects.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How Risk Managers Think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A practical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Identify the exposure: loan, bond, equity, derivative or counterparty.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Identify the risk driver: default, price, rate, spread, FX, liquidity, etc.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Measure sensitivity/probability: PD, LGD, duration, DV01, VaR or stress loss as appropriate.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Stress the portfolio: ask what happens under plausible but severe scenarios.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3212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53212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9048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Monitor indicators and define limits, triggers and escalation actions.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Four ideas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Default risk asks whether a contractual obligation may fail.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Price risk asks how market value can move against the position.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Interest-rate risk is a major market-risk channel affecting prices, income and funding costs.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Credit risk and market risk can interact—especially through credit spreads and valuation.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3212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53212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19048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Good risk management starts by identifying the mechanism of loss, not just assigning a label.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Discussion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Final challenge for the audience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A bank holds a corporate bond with a ₹10 crore face 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00200"/>
            <a:ext cx="73152" cy="1600200"/>
          </a:xfrm>
          <a:prstGeom prst="rect">
            <a:avLst/>
          </a:prstGeom>
          <a:solidFill>
            <a:srgbClr val="238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5856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The issuer remains current on every coupon, but market yields rise and the bond price falls 7%.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566160"/>
            <a:ext cx="73152" cy="1600200"/>
          </a:xfrm>
          <a:prstGeom prst="rect">
            <a:avLst/>
          </a:prstGeom>
          <a:solidFill>
            <a:srgbClr val="E17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At the same time, the issuer’s financial statements deteriorate and its credit spread widens.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566160"/>
            <a:ext cx="5212080" cy="16002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73152" cy="1600200"/>
          </a:xfrm>
          <a:prstGeom prst="rect">
            <a:avLst/>
          </a:prstGeom>
          <a:solidFill>
            <a:srgbClr val="2D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39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21E30"/>
                </a:solidFill>
              </a:defRPr>
            </a:pPr>
            <a:r>
              <a:t>Point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800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232A"/>
                </a:solidFill>
              </a:defRPr>
            </a:pPr>
            <a:r>
              <a:t>Question: which part is market risk, which part is credit risk, and where do the two overlap?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E30"/>
                </a:solidFill>
              </a:defRPr>
            </a:pPr>
            <a:r>
              <a:t>Selected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F6C7D"/>
                </a:solidFill>
              </a:defRPr>
            </a:pPr>
            <a:r>
              <a:t>Use these for deeper academic / professional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• Basel Committee on Banking Supervision — Principles for the Management of Credit Risk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• Basel Committee on Banking Supervision — Minimum capital requirements for market risk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• IFRS Foundation — IFRS 9 Financial Instruments (impairment and expected credit loss)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• John C. Hull — Risk Management and Financial Institutions</a:t>
            </a:r>
          </a:p>
          <a:p>
            <a:pPr>
              <a:spcAft>
                <a:spcPts val="1200"/>
              </a:spcAft>
              <a:defRPr sz="1700">
                <a:solidFill>
                  <a:srgbClr val="1E232A"/>
                </a:solidFill>
              </a:defRPr>
            </a:pPr>
            <a:r>
              <a:t>• Philippe Jorion — Value at Risk: The New Benchmark for Managing Financial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F6C7D"/>
                </a:solidFill>
              </a:defRPr>
            </a:pPr>
            <a:r>
              <a:t>Financial Risk |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