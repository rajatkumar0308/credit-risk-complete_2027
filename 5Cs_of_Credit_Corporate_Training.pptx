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4572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81928"/>
            <a:ext cx="12191695" cy="457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36208"/>
            <a:ext cx="12191695" cy="45720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190488"/>
            <a:ext cx="12191695" cy="4572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45720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5 C’s OF CREDIT</a:t>
            </a:r>
          </a:p>
          <a:p>
            <a:pPr>
              <a:defRPr sz="2000">
                <a:solidFill>
                  <a:srgbClr val="CDDAE8"/>
                </a:solidFill>
              </a:defRPr>
            </a:pPr>
            <a:r>
              <a:t>A practical framework for disciplined credit assessment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46120"/>
            <a:ext cx="1051560" cy="1051560"/>
          </a:xfrm>
          <a:prstGeom prst="ellipse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Character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3246120"/>
            <a:ext cx="1051560" cy="105156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4348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246120"/>
            <a:ext cx="1051560" cy="105156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4348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Capital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3246120"/>
            <a:ext cx="1051560" cy="1051560"/>
          </a:xfrm>
          <a:prstGeom prst="ellipse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4348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Collateral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0" y="3246120"/>
            <a:ext cx="1051560" cy="1051560"/>
          </a:xfrm>
          <a:prstGeom prst="ellipse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4348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CCADB"/>
                </a:solidFill>
              </a:defRPr>
            </a:pPr>
            <a:r>
              <a:t>Corporate Training Deck | Concepts • Evidence • Red Flags • Complete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Move from a checklist mindset to a structured credit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2064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78308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01  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4736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What each C means and why it matters in lending.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12064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64008" cy="17830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581912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02  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11680"/>
            <a:ext cx="4736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Translate borrower information into evidence and risk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12064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64008" cy="178308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22191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03 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51960"/>
            <a:ext cx="4736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Identify inconsistencies, weak evidence and hidden risks.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657600"/>
            <a:ext cx="5120640" cy="17830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657600"/>
            <a:ext cx="64008" cy="1783080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822191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04 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251960"/>
            <a:ext cx="47365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Combine the five Cs into a defensible credit recommendation.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The 5 Cs: five lenses, one credit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No single C should be viewed in isolation.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FRAMEWORK</a:t>
            </a:r>
          </a:p>
        </p:txBody>
      </p:sp>
      <p:sp>
        <p:nvSpPr>
          <p:cNvPr id="6" name="Oval 5"/>
          <p:cNvSpPr/>
          <p:nvPr/>
        </p:nvSpPr>
        <p:spPr>
          <a:xfrm>
            <a:off x="5166360" y="2331720"/>
            <a:ext cx="1874519" cy="1874519"/>
          </a:xfrm>
          <a:prstGeom prst="ellipse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CREDIT</a:t>
            </a:r>
            <a:br/>
            <a:r>
              <a:t>DECISION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325880"/>
            <a:ext cx="914400" cy="914400"/>
          </a:xfrm>
          <a:prstGeom prst="ellipse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344168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CHARACTER</a:t>
            </a:r>
          </a:p>
          <a:p>
            <a:pPr>
              <a:defRPr sz="1050">
                <a:solidFill>
                  <a:srgbClr val="687484"/>
                </a:solidFill>
              </a:defRPr>
            </a:pPr>
            <a:r>
              <a:t>Will they repay?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1783080"/>
            <a:ext cx="4709160" cy="1490472"/>
          </a:xfrm>
          <a:prstGeom prst="line">
            <a:avLst/>
          </a:prstGeom>
          <a:ln w="17780">
            <a:solidFill>
              <a:srgbClr val="2C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732520" y="1325880"/>
            <a:ext cx="914400" cy="91440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344168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CAPACITY</a:t>
            </a:r>
          </a:p>
          <a:p>
            <a:pPr>
              <a:defRPr sz="1050">
                <a:solidFill>
                  <a:srgbClr val="687484"/>
                </a:solidFill>
              </a:defRPr>
            </a:pPr>
            <a:r>
              <a:t>Can they repay?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80760" y="1783080"/>
            <a:ext cx="2651760" cy="1490472"/>
          </a:xfrm>
          <a:prstGeom prst="line">
            <a:avLst/>
          </a:prstGeom>
          <a:ln w="17780">
            <a:solidFill>
              <a:srgbClr val="008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14400" y="4160520"/>
            <a:ext cx="914400" cy="9144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4178807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CAPITAL</a:t>
            </a:r>
          </a:p>
          <a:p>
            <a:pPr>
              <a:defRPr sz="1050">
                <a:solidFill>
                  <a:srgbClr val="687484"/>
                </a:solidFill>
              </a:defRPr>
            </a:pPr>
            <a:r>
              <a:t>What is their own stake?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371600" y="3273552"/>
            <a:ext cx="4709160" cy="886968"/>
          </a:xfrm>
          <a:prstGeom prst="line">
            <a:avLst/>
          </a:prstGeom>
          <a:ln w="17780">
            <a:solidFill>
              <a:srgbClr val="2A8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732520" y="4160520"/>
            <a:ext cx="914400" cy="914400"/>
          </a:xfrm>
          <a:prstGeom prst="ellipse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178807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COLLATERAL</a:t>
            </a:r>
          </a:p>
          <a:p>
            <a:pPr>
              <a:defRPr sz="1050">
                <a:solidFill>
                  <a:srgbClr val="687484"/>
                </a:solidFill>
              </a:defRPr>
            </a:pPr>
            <a:r>
              <a:t>What protects downside?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6080760" y="3273552"/>
            <a:ext cx="2651760" cy="886968"/>
          </a:xfrm>
          <a:prstGeom prst="line">
            <a:avLst/>
          </a:prstGeom>
          <a:ln w="17780">
            <a:solidFill>
              <a:srgbClr val="DE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617720" y="5166360"/>
            <a:ext cx="914400" cy="914400"/>
          </a:xfrm>
          <a:prstGeom prst="ellipse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84648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CONDITIONS</a:t>
            </a:r>
          </a:p>
          <a:p>
            <a:pPr>
              <a:defRPr sz="1050">
                <a:solidFill>
                  <a:srgbClr val="687484"/>
                </a:solidFill>
              </a:defRPr>
            </a:pPr>
            <a:r>
              <a:t>What external forces matter?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617720" y="3273552"/>
            <a:ext cx="1463040" cy="1892808"/>
          </a:xfrm>
          <a:prstGeom prst="line">
            <a:avLst/>
          </a:prstGeom>
          <a:ln w="17780">
            <a:solidFill>
              <a:srgbClr val="BE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1 | Character in Credit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The borrower’s willingness and reliability to honor obligations.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CHARACTER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4434840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3484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0"/>
                </a:solidFill>
              </a:defRPr>
            </a:pPr>
            <a:r>
              <a:t>What to 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6"/>
                </a:solidFill>
              </a:defRPr>
            </a:pPr>
            <a:r>
              <a:t>• Integrity and transparency</a:t>
            </a:r>
            <a:br/>
            <a:r>
              <a:t>• Track record with lenders, suppliers and taxes</a:t>
            </a:r>
            <a:br/>
            <a:r>
              <a:t>• Governance and quality of management</a:t>
            </a:r>
            <a:br/>
            <a:r>
              <a:t>• Stability of ownership / key people</a:t>
            </a:r>
            <a:br/>
            <a:r>
              <a:t>• Behavior when business is under stress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4434840"/>
          </a:xfrm>
          <a:prstGeom prst="roundRect">
            <a:avLst/>
          </a:prstGeom>
          <a:solidFill>
            <a:srgbClr val="E9F6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44348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0"/>
                </a:solidFill>
              </a:defRPr>
            </a:pPr>
            <a:r>
              <a:t>Evidence to seek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6"/>
                </a:solidFill>
              </a:defRPr>
            </a:pPr>
            <a:r>
              <a:t>• Credit bureau / repayment history</a:t>
            </a:r>
            <a:br/>
            <a:r>
              <a:t>• Bank conduct and cheque returns</a:t>
            </a:r>
            <a:br/>
            <a:r>
              <a:t>• Audited financials vs. management claims</a:t>
            </a:r>
            <a:br/>
            <a:r>
              <a:t>• GST / tax filings and statutory compliance</a:t>
            </a:r>
            <a:br/>
            <a:r>
              <a:t>• Reference checks and litigation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29000" cy="4434840"/>
          </a:xfrm>
          <a:prstGeom prst="roundRect">
            <a:avLst/>
          </a:prstGeom>
          <a:solidFill>
            <a:srgbClr val="F9E8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4434840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0"/>
                </a:solidFill>
              </a:defRPr>
            </a:pPr>
            <a:r>
              <a:t>Red 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20240"/>
            <a:ext cx="30449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6"/>
                </a:solidFill>
              </a:defRPr>
            </a:pPr>
            <a:r>
              <a:t>• Frequent unexplained related-party transactions</a:t>
            </a:r>
            <a:br/>
            <a:r>
              <a:t>• Sudden auditor changes</a:t>
            </a:r>
            <a:br/>
            <a:r>
              <a:t>• Delayed statutory filings</a:t>
            </a:r>
            <a:br/>
            <a:r>
              <a:t>• Aggressive or inconsistent explanations</a:t>
            </a:r>
            <a:br/>
            <a:r>
              <a:t>• “Too good to be true” projections</a:t>
            </a:r>
            <a:br/>
            <a:r>
              <a:t>• Concealed liabilities or contingent claims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2 | Capacity in Credit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The core question: does operating cash flow support debt service?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868680"/>
          </a:xfrm>
          <a:prstGeom prst="round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Debt Service Coverage Ratio (DSCR)  =  Cash available for debt service  ÷  Debt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383280" cy="2606040"/>
          </a:xfrm>
          <a:prstGeom prst="roundRect">
            <a:avLst/>
          </a:prstGeom>
          <a:solidFill>
            <a:srgbClr val="E9F6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64008" cy="26060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877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Cash-flow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17520"/>
            <a:ext cx="299923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6"/>
                </a:solidFill>
              </a:defRPr>
            </a:pPr>
            <a:r>
              <a:t>• Is EBITDA converting into cash?</a:t>
            </a:r>
            <a:br/>
            <a:r>
              <a:t>• Are receivables stretching?</a:t>
            </a:r>
            <a:br/>
            <a:r>
              <a:t>• Is working capital absorbing cash?</a:t>
            </a:r>
            <a:br/>
            <a:r>
              <a:t>• What happens if sales fall 10–20%?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383280" cy="2606040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423160"/>
            <a:ext cx="64008" cy="260604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5877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Practical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17520"/>
            <a:ext cx="299923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6"/>
                </a:solidFill>
              </a:defRPr>
            </a:pPr>
            <a:r>
              <a:t>• DSCR / interest coverage</a:t>
            </a:r>
            <a:br/>
            <a:r>
              <a:t>• Debt-to-EBITDA</a:t>
            </a:r>
            <a:br/>
            <a:r>
              <a:t>• Current ratio &amp; liquidity</a:t>
            </a:r>
            <a:br/>
            <a:r>
              <a:t>• Receivable / inventory days</a:t>
            </a:r>
            <a:br/>
            <a:r>
              <a:t>• Operating cash flow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23160"/>
            <a:ext cx="3383280" cy="2606040"/>
          </a:xfrm>
          <a:prstGeom prst="roundRect">
            <a:avLst/>
          </a:prstGeom>
          <a:solidFill>
            <a:srgbClr val="FAF2E1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423160"/>
            <a:ext cx="64008" cy="260604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5877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Stress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17520"/>
            <a:ext cx="299923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6"/>
                </a:solidFill>
              </a:defRPr>
            </a:pPr>
            <a:r>
              <a:t>Base case → slower collections → margin compression → higher interest → lower DSCR. A strong borrower should retain repayment headroom.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3 | Capital in Credit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Capital measures the borrower’s financial commitment and loss-absorption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CAPITAL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554480"/>
            <a:ext cx="3840480" cy="105156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Debt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₹60 Cr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554480"/>
            <a:ext cx="2011680" cy="1051560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Equity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₹40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87484"/>
                </a:solidFill>
              </a:defRPr>
            </a:pPr>
            <a:r>
              <a:t>Capital structure example: Debt ₹60 Cr + Equity ₹40 Cr = Total capital ₹100 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417320"/>
            <a:ext cx="3840480" cy="2148840"/>
          </a:xfrm>
          <a:prstGeom prst="roundRect">
            <a:avLst/>
          </a:prstGeom>
          <a:solidFill>
            <a:srgbClr val="E7F5E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417320"/>
            <a:ext cx="64008" cy="2148840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58191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Why lenders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011680"/>
            <a:ext cx="34564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Higher genuine equity generally provides a larger cushion before lender losses begin. But capital quality matters: retained earnings and promoter funds are stronger than short-term borrowed “equity.”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4892040" cy="1600200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703320"/>
            <a:ext cx="64008" cy="160020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867911"/>
            <a:ext cx="4526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0"/>
                </a:solidFill>
              </a:defRPr>
            </a:pPr>
            <a:r>
              <a:t>Look beyond net worth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297680"/>
            <a:ext cx="4507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Check leverage, tangible net worth, subordinated debt, contingent liabilities and promoter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4892040" cy="1600200"/>
          </a:xfrm>
          <a:prstGeom prst="roundRect">
            <a:avLst/>
          </a:prstGeom>
          <a:solidFill>
            <a:srgbClr val="FAF2E1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03320"/>
            <a:ext cx="64008" cy="160020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867911"/>
            <a:ext cx="4526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0"/>
                </a:solidFill>
              </a:defRPr>
            </a:pPr>
            <a:r>
              <a:t>Real-world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297680"/>
            <a:ext cx="45079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Would the owners inject more money if the project faces a 15% cost overrun or 20% revenue decline?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4 | Collateral in Credit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Collateral reduces loss severity; it does not create repayment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COLLATERAL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6400800" cy="777240"/>
          </a:xfrm>
          <a:prstGeom prst="roundRect">
            <a:avLst/>
          </a:prstGeom>
          <a:solidFill>
            <a:srgbClr val="E5EFF9"/>
          </a:solidFill>
          <a:ln>
            <a:solidFill>
              <a:srgbClr val="2C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Asset value   |   ₹10.0 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39"/>
            <a:ext cx="6400800" cy="777240"/>
          </a:xfrm>
          <a:prstGeom prst="roundRect">
            <a:avLst/>
          </a:prstGeom>
          <a:solidFill>
            <a:srgbClr val="E5EFF9"/>
          </a:solidFill>
          <a:ln>
            <a:solidFill>
              <a:srgbClr val="DE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Haircut / marketability   |   −₹2.0 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29000"/>
            <a:ext cx="6400800" cy="777240"/>
          </a:xfrm>
          <a:prstGeom prst="roundRect">
            <a:avLst/>
          </a:prstGeom>
          <a:solidFill>
            <a:srgbClr val="F9E8E8"/>
          </a:solidFill>
          <a:ln>
            <a:solidFill>
              <a:srgbClr val="BE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Realisation costs   |   −₹0.5 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59"/>
            <a:ext cx="6400800" cy="777240"/>
          </a:xfrm>
          <a:prstGeom prst="roundRect">
            <a:avLst/>
          </a:prstGeom>
          <a:solidFill>
            <a:srgbClr val="E7F5ED"/>
          </a:solidFill>
          <a:ln>
            <a:solidFill>
              <a:srgbClr val="2A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740"/>
                </a:solidFill>
              </a:defRPr>
            </a:pPr>
            <a:r>
              <a:t>Net recoverable   |   ₹7.5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325880"/>
            <a:ext cx="3383280" cy="4434840"/>
          </a:xfrm>
          <a:prstGeom prst="roundRect">
            <a:avLst/>
          </a:prstGeom>
          <a:solidFill>
            <a:srgbClr val="FAF2E1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325880"/>
            <a:ext cx="64008" cy="443484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Collateral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920240"/>
            <a:ext cx="299923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• Ownership and title clarity</a:t>
            </a:r>
            <a:br/>
            <a:r>
              <a:t>• Valuation quality and recency</a:t>
            </a:r>
            <a:br/>
            <a:r>
              <a:t>• Liquidity / time to sell</a:t>
            </a:r>
            <a:br/>
            <a:r>
              <a:t>• Existing encumbrances</a:t>
            </a:r>
            <a:br/>
            <a:r>
              <a:t>• Insurance and maintenance</a:t>
            </a:r>
            <a:br/>
            <a:r>
              <a:t>• Legal enforceability</a:t>
            </a:r>
            <a:br/>
            <a:r>
              <a:t>• Margin / haircut policy</a:t>
            </a:r>
            <a:br/>
            <a:br/>
            <a:r>
              <a:t>Key principle: collateral is a second line of defense—not a substitute for cash flow.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5 | Conditions in Credit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External factors can change the risk profile even when the borrower looks strong.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CONDITIONS</a:t>
            </a:r>
          </a:p>
        </p:txBody>
      </p:sp>
      <p:sp>
        <p:nvSpPr>
          <p:cNvPr id="6" name="Oval 5"/>
          <p:cNvSpPr/>
          <p:nvPr/>
        </p:nvSpPr>
        <p:spPr>
          <a:xfrm>
            <a:off x="4800600" y="2148840"/>
            <a:ext cx="2468880" cy="2468880"/>
          </a:xfrm>
          <a:prstGeom prst="ellipse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BORROWER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26060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325880"/>
            <a:ext cx="64008" cy="141732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4904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Industry 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920240"/>
            <a:ext cx="2221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Monitor leading indicators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2743200"/>
            <a:ext cx="3822192" cy="640080"/>
          </a:xfrm>
          <a:prstGeom prst="line">
            <a:avLst/>
          </a:prstGeom>
          <a:ln w="16510">
            <a:solidFill>
              <a:srgbClr val="2C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3960" y="1325880"/>
            <a:ext cx="26060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325880"/>
            <a:ext cx="64008" cy="14173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14904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Interest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920240"/>
            <a:ext cx="2221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Monitor leading indicators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35040" y="2743200"/>
            <a:ext cx="4087368" cy="640080"/>
          </a:xfrm>
          <a:prstGeom prst="line">
            <a:avLst/>
          </a:prstGeom>
          <a:ln w="16510">
            <a:solidFill>
              <a:srgbClr val="008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4389120"/>
            <a:ext cx="26060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89120"/>
            <a:ext cx="64008" cy="141732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5537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Regulation /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983480"/>
            <a:ext cx="2221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Monitor leading indicators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212848" y="3383280"/>
            <a:ext cx="3822192" cy="2423160"/>
          </a:xfrm>
          <a:prstGeom prst="line">
            <a:avLst/>
          </a:prstGeom>
          <a:ln w="16510">
            <a:solidFill>
              <a:srgbClr val="DE97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23960" y="4389120"/>
            <a:ext cx="26060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4389120"/>
            <a:ext cx="64008" cy="1417320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455371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Competition /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4983480"/>
            <a:ext cx="2221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Monitor leading indicators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6035040" y="3383280"/>
            <a:ext cx="4087368" cy="2423160"/>
          </a:xfrm>
          <a:prstGeom prst="line">
            <a:avLst/>
          </a:prstGeom>
          <a:ln w="16510">
            <a:solidFill>
              <a:srgbClr val="BE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069080" y="4983480"/>
            <a:ext cx="4069080" cy="914400"/>
          </a:xfrm>
          <a:prstGeom prst="roundRect">
            <a:avLst/>
          </a:prstGeom>
          <a:solidFill>
            <a:srgbClr val="E7F5E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69080" y="4983480"/>
            <a:ext cx="64008" cy="914400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5148072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740"/>
                </a:solidFill>
              </a:defRPr>
            </a:pPr>
            <a:r>
              <a:t>Training lens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5577840"/>
            <a:ext cx="368503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Ask: “What can go wrong outside the borrower’s control—and how quickly would it hit cash flow?”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From documents to decision: the credit assessment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A repeatable process improves consistency, challenge and auditability.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PROCESS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2011680"/>
            <a:ext cx="658368" cy="658368"/>
          </a:xfrm>
          <a:prstGeom prst="ellipse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283464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0"/>
                </a:solidFill>
              </a:defRPr>
            </a:pPr>
            <a:r>
              <a:t>Understand</a:t>
            </a:r>
            <a:br/>
            <a: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78992" y="2340864"/>
            <a:ext cx="1179576" cy="0"/>
          </a:xfrm>
          <a:prstGeom prst="line">
            <a:avLst/>
          </a:prstGeom>
          <a:ln w="1905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350008" y="2011680"/>
            <a:ext cx="658368" cy="65836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83464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0"/>
                </a:solidFill>
              </a:defRPr>
            </a:pPr>
            <a:r>
              <a:t>Gather</a:t>
            </a:r>
            <a:br/>
            <a:r>
              <a:t>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340864"/>
            <a:ext cx="1179576" cy="0"/>
          </a:xfrm>
          <a:prstGeom prst="line">
            <a:avLst/>
          </a:prstGeom>
          <a:ln w="1905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288536" y="2011680"/>
            <a:ext cx="658368" cy="658368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83464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0"/>
                </a:solidFill>
              </a:defRPr>
            </a:pPr>
            <a:r>
              <a:t>Assess</a:t>
            </a:r>
            <a:br/>
            <a:r>
              <a:t>5 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56048" y="2340864"/>
            <a:ext cx="1179576" cy="0"/>
          </a:xfrm>
          <a:prstGeom prst="line">
            <a:avLst/>
          </a:prstGeom>
          <a:ln w="1905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227064" y="2011680"/>
            <a:ext cx="658368" cy="658368"/>
          </a:xfrm>
          <a:prstGeom prst="ellipse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83464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0"/>
                </a:solidFill>
              </a:defRPr>
            </a:pPr>
            <a:r>
              <a:t>Stress-test</a:t>
            </a:r>
            <a:br/>
            <a:r>
              <a:t>Risks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94576" y="2340864"/>
            <a:ext cx="1179576" cy="0"/>
          </a:xfrm>
          <a:prstGeom prst="line">
            <a:avLst/>
          </a:prstGeom>
          <a:ln w="1905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165592" y="2011680"/>
            <a:ext cx="658368" cy="658368"/>
          </a:xfrm>
          <a:prstGeom prst="ellipse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83464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0"/>
                </a:solidFill>
              </a:defRPr>
            </a:pPr>
            <a:r>
              <a:t>Structure</a:t>
            </a:r>
            <a:br/>
            <a:r>
              <a:t>Mitigants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33104" y="2340864"/>
            <a:ext cx="1179576" cy="0"/>
          </a:xfrm>
          <a:prstGeom prst="line">
            <a:avLst/>
          </a:prstGeom>
          <a:ln w="1905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104120" y="2011680"/>
            <a:ext cx="658368" cy="658368"/>
          </a:xfrm>
          <a:prstGeom prst="ellipse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34640"/>
            <a:ext cx="1325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740"/>
                </a:solidFill>
              </a:defRPr>
            </a:pPr>
            <a:r>
              <a:t>Recommend</a:t>
            </a:r>
            <a:br/>
            <a:r>
              <a:t>&amp; Monitor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343400"/>
            <a:ext cx="99669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343400"/>
            <a:ext cx="64008" cy="114300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450799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0"/>
                </a:solidFill>
              </a:defRPr>
            </a:pPr>
            <a:r>
              <a:t>Decision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937760"/>
            <a:ext cx="958291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Approve when repayment capacity is credible, evidence is consistent, risks are understood, and mitigants are proportionate. Decline / defer when critical evidence is missing or downside cannot be contained.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Complete Case Study | Orion Precision Components Pvt.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Illustrative corporate lending case for training purposes.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383280" cy="4480560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4480560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4475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0"/>
                </a:solidFill>
              </a:defRPr>
            </a:pPr>
            <a:r>
              <a:t>Borrower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74519"/>
            <a:ext cx="299923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6"/>
                </a:solidFill>
              </a:defRPr>
            </a:pPr>
            <a:r>
              <a:t>Industry: Auto-component manufacturing</a:t>
            </a:r>
            <a:br/>
            <a:r>
              <a:t>Location: India</a:t>
            </a:r>
            <a:br/>
            <a:r>
              <a:t>Vintage: 9 years</a:t>
            </a:r>
            <a:br/>
            <a:r>
              <a:t>Request: ₹25 Cr term loan</a:t>
            </a:r>
            <a:br/>
            <a:r>
              <a:t>Purpose: New machining line + plant expansion</a:t>
            </a:r>
            <a:br/>
            <a:r>
              <a:t>Existing debt: ₹38 Cr</a:t>
            </a:r>
            <a:br/>
            <a:r>
              <a:t>Promoter equity proposed: ₹10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480560"/>
          </a:xfrm>
          <a:prstGeom prst="roundRect">
            <a:avLst/>
          </a:prstGeom>
          <a:solidFill>
            <a:srgbClr val="E9F6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4008" cy="44805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4475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0"/>
                </a:solidFill>
              </a:defRPr>
            </a:pPr>
            <a:r>
              <a:t>Financial picture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74519"/>
            <a:ext cx="299923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6"/>
                </a:solidFill>
              </a:defRPr>
            </a:pPr>
            <a:r>
              <a:t>Revenue: ₹120 Cr → ₹142 Cr → ₹155 Cr</a:t>
            </a:r>
            <a:br/>
            <a:r>
              <a:t>EBITDA margin: 14.5%</a:t>
            </a:r>
            <a:br/>
            <a:r>
              <a:t>Current DSCR: 1.48x</a:t>
            </a:r>
            <a:br/>
            <a:r>
              <a:t>Debt / EBITDA: 2.9x</a:t>
            </a:r>
            <a:br/>
            <a:r>
              <a:t>Receivable days: 68</a:t>
            </a:r>
            <a:br/>
            <a:r>
              <a:t>Customer concentration: Top 2 = 54%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383280" cy="4480560"/>
          </a:xfrm>
          <a:prstGeom prst="roundRect">
            <a:avLst/>
          </a:prstGeom>
          <a:solidFill>
            <a:srgbClr val="FAF2E1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64008" cy="448056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44475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0"/>
                </a:solidFill>
              </a:defRPr>
            </a:pPr>
            <a:r>
              <a:t>External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874519"/>
            <a:ext cx="299923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36"/>
                </a:solidFill>
              </a:defRPr>
            </a:pPr>
            <a:r>
              <a:t>Demand outlook is positive, but:</a:t>
            </a:r>
            <a:br/>
            <a:r>
              <a:t>• Raw-material prices volatile</a:t>
            </a:r>
            <a:br/>
            <a:r>
              <a:t>• One large customer is renegotiating pricing</a:t>
            </a:r>
            <a:br/>
            <a:r>
              <a:t>• Expansion depends on timely commissioning</a:t>
            </a:r>
            <a:br/>
            <a:r>
              <a:t>• Interest rates may remain elevated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Case Study | 5 Cs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Use evidence to distinguish strengths, concerns and mitigants.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828800" cy="658368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Character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34440"/>
            <a:ext cx="1417320" cy="658368"/>
          </a:xfrm>
          <a:prstGeom prst="roundRect">
            <a:avLst/>
          </a:prstGeom>
          <a:solidFill>
            <a:srgbClr val="E7F5E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Strong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72694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2B36"/>
                </a:solidFill>
              </a:defRPr>
            </a:pPr>
            <a:r>
              <a:t>Clean repayment history; transparent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54864" cy="658368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828800" cy="658368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194560"/>
            <a:ext cx="1417320" cy="658368"/>
          </a:xfrm>
          <a:prstGeom prst="roundRect">
            <a:avLst/>
          </a:prstGeom>
          <a:solidFill>
            <a:srgbClr val="FAF2E1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Moderate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194560"/>
            <a:ext cx="72694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2B36"/>
                </a:solidFill>
              </a:defRPr>
            </a:pPr>
            <a:r>
              <a:t>DSCR 1.48x; sensitive to receivable stretch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54864" cy="658368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1828800" cy="658368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Capital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154680"/>
            <a:ext cx="1417320" cy="658368"/>
          </a:xfrm>
          <a:prstGeom prst="roundRect">
            <a:avLst/>
          </a:prstGeom>
          <a:solidFill>
            <a:srgbClr val="FAF2E1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Moderate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3154680"/>
            <a:ext cx="72694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2B36"/>
                </a:solidFill>
              </a:defRPr>
            </a:pPr>
            <a:r>
              <a:t>₹10 Cr fresh equity; leverage still meaningful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54864" cy="658368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1828800" cy="658368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Collateral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4114800"/>
            <a:ext cx="1417320" cy="658368"/>
          </a:xfrm>
          <a:prstGeom prst="roundRect">
            <a:avLst/>
          </a:prstGeom>
          <a:solidFill>
            <a:srgbClr val="E7F5E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Strong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4114800"/>
            <a:ext cx="72694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2B36"/>
                </a:solidFill>
              </a:defRPr>
            </a:pPr>
            <a:r>
              <a:t>Plant + land; conservative haircut assumed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14800"/>
            <a:ext cx="54864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828800" cy="658368"/>
          </a:xfrm>
          <a:prstGeom prst="roundRect">
            <a:avLst/>
          </a:prstGeom>
          <a:solidFill>
            <a:srgbClr val="E5EF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Conditions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5074920"/>
            <a:ext cx="1417320" cy="658368"/>
          </a:xfrm>
          <a:prstGeom prst="roundRect">
            <a:avLst/>
          </a:prstGeom>
          <a:solidFill>
            <a:srgbClr val="F9E8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82740"/>
                </a:solidFill>
              </a:defRPr>
            </a:pPr>
            <a:r>
              <a:t>Watch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5074920"/>
            <a:ext cx="72694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32B36"/>
                </a:solidFill>
              </a:defRPr>
            </a:pPr>
            <a:r>
              <a:t>Customer concentration + input-cost volatility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74920"/>
            <a:ext cx="54864" cy="658368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Case Study | Stress test the repayment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The decision should survive a plausible downside—not only the base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2926080"/>
          </a:xfrm>
          <a:prstGeom prst="roundRect">
            <a:avLst/>
          </a:prstGeom>
          <a:solidFill>
            <a:srgbClr val="E7F5E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2926080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Base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29535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6"/>
                </a:solidFill>
              </a:defRPr>
            </a:pPr>
            <a:r>
              <a:t>Revenue ₹155 Cr</a:t>
            </a:r>
            <a:br/>
            <a:r>
              <a:t>DSCR 1.48x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337560" cy="2926080"/>
          </a:xfrm>
          <a:prstGeom prst="roundRect">
            <a:avLst/>
          </a:prstGeom>
          <a:solidFill>
            <a:srgbClr val="FAF2E1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417320"/>
            <a:ext cx="64008" cy="2926080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Moderate stress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80"/>
            <a:ext cx="29535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6"/>
                </a:solidFill>
              </a:defRPr>
            </a:pPr>
            <a:r>
              <a:t>Revenue −10%</a:t>
            </a:r>
            <a:br/>
            <a:r>
              <a:t>Margin −150 bps</a:t>
            </a:r>
            <a:br/>
            <a:r>
              <a:t>DSCR ~1.18x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337560" cy="2926080"/>
          </a:xfrm>
          <a:prstGeom prst="roundRect">
            <a:avLst/>
          </a:prstGeom>
          <a:solidFill>
            <a:srgbClr val="F9E8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64008" cy="2926080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740"/>
                </a:solidFill>
              </a:defRPr>
            </a:pPr>
            <a:r>
              <a:t>Severe stress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011680"/>
            <a:ext cx="29535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B36"/>
                </a:solidFill>
              </a:defRPr>
            </a:pPr>
            <a:r>
              <a:t>Revenue −20%</a:t>
            </a:r>
            <a:br/>
            <a:r>
              <a:t>Receivables +15 days</a:t>
            </a:r>
            <a:br/>
            <a:r>
              <a:t>DSCR &lt;1.0x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7440" y="4526280"/>
            <a:ext cx="3703320" cy="0"/>
          </a:xfrm>
          <a:prstGeom prst="line">
            <a:avLst/>
          </a:prstGeom>
          <a:ln w="1905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72200" y="4526280"/>
            <a:ext cx="3703320" cy="0"/>
          </a:xfrm>
          <a:prstGeom prst="line">
            <a:avLst/>
          </a:prstGeom>
          <a:ln w="19050">
            <a:solidFill>
              <a:srgbClr val="68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4892040"/>
            <a:ext cx="1014984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4892040"/>
            <a:ext cx="64008" cy="100584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056631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486400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Base case is serviceable, but the moderate-stress case consumes most repayment headroom. Approval therefore needs structural mitigants—not just collateral.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Case Study | Convert risks into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Good credit structuring addresses the specific weakness identified in the 5 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CASE STUDY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34440"/>
            <a:ext cx="594360" cy="59436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234440"/>
            <a:ext cx="99669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1234440"/>
            <a:ext cx="64008" cy="658368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9928" y="139903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740"/>
                </a:solidFill>
              </a:defRPr>
            </a:pPr>
            <a:r>
              <a:t>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1828800"/>
            <a:ext cx="958291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Minimum DSCR covenant; quarterly cash-flow monitoring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2148840"/>
            <a:ext cx="99669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8760" y="2148840"/>
            <a:ext cx="64008" cy="658368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9928" y="231343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740"/>
                </a:solidFill>
              </a:defRPr>
            </a:pPr>
            <a:r>
              <a:t>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2743200"/>
            <a:ext cx="958291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Promoter equity ₹10 Cr to be brought in before major lender drawdown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3063240"/>
            <a:ext cx="99669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08760" y="3063240"/>
            <a:ext cx="64008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9928" y="3227832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740"/>
                </a:solidFill>
              </a:defRPr>
            </a:pPr>
            <a:r>
              <a:t>Collateral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3657600"/>
            <a:ext cx="958291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First-ranking charge; valuation &amp; legal due diligence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977639"/>
            <a:ext cx="594360" cy="594360"/>
          </a:xfrm>
          <a:prstGeom prst="ellipse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3977639"/>
            <a:ext cx="99669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08760" y="3977639"/>
            <a:ext cx="64008" cy="658368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09928" y="4142231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740"/>
                </a:solidFill>
              </a:defRPr>
            </a:pPr>
            <a:r>
              <a:t>Conditions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4572000"/>
            <a:ext cx="958291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Customer concentration reporting; sensitivity to raw-material prices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892040"/>
            <a:ext cx="594360" cy="594360"/>
          </a:xfrm>
          <a:prstGeom prst="ellipse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4892040"/>
            <a:ext cx="996696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08760" y="4892040"/>
            <a:ext cx="64008" cy="658368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9928" y="5056631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2740"/>
                </a:solidFill>
              </a:defRPr>
            </a:pPr>
            <a:r>
              <a:t>Character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09928" y="5486400"/>
            <a:ext cx="958291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B36"/>
                </a:solidFill>
              </a:defRPr>
            </a:pPr>
            <a:r>
              <a:t>Information undertakings; audited financials; no undisclosed related-party debt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Case Study | Credit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Illustrative recommendation based on the evidence presented.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652760" cy="1051560"/>
          </a:xfrm>
          <a:prstGeom prst="roundRect">
            <a:avLst/>
          </a:prstGeom>
          <a:solidFill>
            <a:srgbClr val="E7F5ED"/>
          </a:solidFill>
          <a:ln>
            <a:solidFill>
              <a:srgbClr val="2A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A8B5C"/>
                </a:solidFill>
              </a:defRPr>
            </a:pPr>
            <a:r>
              <a:t>RECOMMEND: APPROVE WITH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120640" cy="2423160"/>
          </a:xfrm>
          <a:prstGeom prst="roundRect">
            <a:avLst/>
          </a:prstGeom>
          <a:solidFill>
            <a:srgbClr val="E7F5ED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64008" cy="2423160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770632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Why 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200400"/>
            <a:ext cx="4736592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• Strong character and repayment track record</a:t>
            </a:r>
            <a:br/>
            <a:r>
              <a:t>• Positive operating trajectory</a:t>
            </a:r>
            <a:br/>
            <a:r>
              <a:t>• Adequate base-case debt service</a:t>
            </a:r>
            <a:br/>
            <a:r>
              <a:t>• Meaningful promoter contribution</a:t>
            </a:r>
            <a:br/>
            <a:r>
              <a:t>• Tangible collateral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06040"/>
            <a:ext cx="5120640" cy="2423160"/>
          </a:xfrm>
          <a:prstGeom prst="roundRect">
            <a:avLst/>
          </a:prstGeom>
          <a:solidFill>
            <a:srgbClr val="F9E8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606040"/>
            <a:ext cx="64008" cy="2423160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770632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740"/>
                </a:solidFill>
              </a:defRPr>
            </a:pPr>
            <a:r>
              <a:t>Why not unconditional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3200400"/>
            <a:ext cx="4736592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B36"/>
                </a:solidFill>
              </a:defRPr>
            </a:pPr>
            <a:r>
              <a:t>• Moderate stress weakens DSCR materially</a:t>
            </a:r>
            <a:br/>
            <a:r>
              <a:t>• Customer concentration is high</a:t>
            </a:r>
            <a:br/>
            <a:r>
              <a:t>• Working-capital stretch can absorb cash</a:t>
            </a:r>
            <a:br/>
            <a:r>
              <a:t>• Expansion execution risk remains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349240"/>
            <a:ext cx="941832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5349240"/>
            <a:ext cx="64008" cy="64008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5513831"/>
            <a:ext cx="9052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Decision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943600"/>
            <a:ext cx="9034272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6"/>
                </a:solidFill>
              </a:defRPr>
            </a:pPr>
            <a:r>
              <a:t>Structure the facility so the lender is protected before—not after—the downside occurs.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Decision matrix | How the 5 Cs interact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Think in combinations, not isolated scores.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8862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658368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Strong capacity + strong 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28800"/>
            <a:ext cx="35021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709160" y="1234440"/>
            <a:ext cx="18288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234440"/>
            <a:ext cx="64008" cy="658368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39903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Favorable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828800"/>
            <a:ext cx="14447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720840" y="1234440"/>
            <a:ext cx="47548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234440"/>
            <a:ext cx="64008" cy="658368"/>
          </a:xfrm>
          <a:prstGeom prst="rect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7" y="1399032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Primary repayment case is credible.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1828800"/>
            <a:ext cx="437083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85800" y="2130552"/>
            <a:ext cx="38862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130552"/>
            <a:ext cx="64008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295144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Strong capacity + weak character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2724912"/>
            <a:ext cx="35021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4709160" y="2130552"/>
            <a:ext cx="18288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2130552"/>
            <a:ext cx="64008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2295144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Caution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2724912"/>
            <a:ext cx="14447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6720840" y="2130552"/>
            <a:ext cx="47548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2130552"/>
            <a:ext cx="64008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22007" y="2295144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Cash may exist, but willingness / transparency is uncertain.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2724912"/>
            <a:ext cx="437083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85800" y="3026664"/>
            <a:ext cx="38862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026664"/>
            <a:ext cx="64008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191256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Weak capacity + strong collateral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621024"/>
            <a:ext cx="35021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4709160" y="3026664"/>
            <a:ext cx="18288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3026664"/>
            <a:ext cx="64008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0328" y="3191256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Caution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0328" y="3621024"/>
            <a:ext cx="14447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6720840" y="3026664"/>
            <a:ext cx="47548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3026664"/>
            <a:ext cx="64008" cy="658368"/>
          </a:xfrm>
          <a:prstGeom prst="rect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2007" y="3191256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Collateral may reduce loss severity but cannot create cash flow.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7" y="3621024"/>
            <a:ext cx="437083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685800" y="3922776"/>
            <a:ext cx="38862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922776"/>
            <a:ext cx="64008" cy="658368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4087368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Weak capacity + weak character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4517136"/>
            <a:ext cx="35021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4709160" y="3922776"/>
            <a:ext cx="18288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09160" y="3922776"/>
            <a:ext cx="64008" cy="658368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0328" y="408736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Decline / defer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0328" y="4517136"/>
            <a:ext cx="14447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50" name="Rounded Rectangle 49"/>
          <p:cNvSpPr/>
          <p:nvPr/>
        </p:nvSpPr>
        <p:spPr>
          <a:xfrm>
            <a:off x="6720840" y="3922776"/>
            <a:ext cx="47548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0840" y="3922776"/>
            <a:ext cx="64008" cy="658368"/>
          </a:xfrm>
          <a:prstGeom prst="rect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22007" y="408736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Both willingness and ability concerns are elevated.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22007" y="4517136"/>
            <a:ext cx="437083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54" name="Rounded Rectangle 53"/>
          <p:cNvSpPr/>
          <p:nvPr/>
        </p:nvSpPr>
        <p:spPr>
          <a:xfrm>
            <a:off x="685800" y="4818888"/>
            <a:ext cx="38862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" y="4818888"/>
            <a:ext cx="64008" cy="658368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" y="4983479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Strong 5 Cs + adverse conditions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" y="5413248"/>
            <a:ext cx="35021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58" name="Rounded Rectangle 57"/>
          <p:cNvSpPr/>
          <p:nvPr/>
        </p:nvSpPr>
        <p:spPr>
          <a:xfrm>
            <a:off x="4709160" y="4818888"/>
            <a:ext cx="182880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09160" y="4818888"/>
            <a:ext cx="64008" cy="658368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10328" y="498347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Structure &amp; monitor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0328" y="5413248"/>
            <a:ext cx="144475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62" name="Rounded Rectangle 61"/>
          <p:cNvSpPr/>
          <p:nvPr/>
        </p:nvSpPr>
        <p:spPr>
          <a:xfrm>
            <a:off x="6720840" y="4818888"/>
            <a:ext cx="475488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720840" y="4818888"/>
            <a:ext cx="64008" cy="658368"/>
          </a:xfrm>
          <a:prstGeom prst="rect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22007" y="4983479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740"/>
                </a:solidFill>
              </a:defRPr>
            </a:pPr>
            <a:r>
              <a:t>External shocks can still change the risk profile.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22007" y="5413248"/>
            <a:ext cx="4370832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B36"/>
                </a:solidFill>
              </a:defRPr>
            </a:pPr>
          </a:p>
        </p:txBody>
      </p:sp>
      <p:sp>
        <p:nvSpPr>
          <p:cNvPr id="66" name="Rectangle 65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740"/>
                </a:solidFill>
              </a:defRPr>
            </a:pPr>
            <a:r>
              <a:t>Credit analyst checklist | Before you recommend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4"/>
                </a:solidFill>
              </a:defRPr>
            </a:pPr>
            <a:r>
              <a:t>Use the 5 Cs as a challenge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310896"/>
            <a:ext cx="960120" cy="329184"/>
          </a:xfrm>
          <a:prstGeom prst="round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5C91"/>
                </a:solidFill>
              </a:defRPr>
            </a:pPr>
            <a:r>
              <a:t>TAKEAWAY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1615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Can I explain exactly how the borrower will repay?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123444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21615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Have I independently validated the key claims?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3911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Which C is the weakest—and why?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205740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03911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What happens under a realistic downside scenario?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6207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Does collateral meaningfully reduce loss severity?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288036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6207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Are promoter / management incentives aligned?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8503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What external conditions could change within 12–24 months?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370332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68503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Are the proposed covenants and conditions targeted to the actual risks?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07992"/>
            <a:ext cx="4709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36"/>
                </a:solidFill>
              </a:defRPr>
            </a:pPr>
            <a:r>
              <a:t>Would another credit professional reach the same conclusion from my evidence?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486400"/>
            <a:ext cx="813816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0" y="5486400"/>
            <a:ext cx="64008" cy="68580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565099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740"/>
                </a:solidFill>
              </a:defRPr>
            </a:pPr>
            <a:r>
              <a:t>Remember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6080760"/>
            <a:ext cx="7754112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B36"/>
                </a:solidFill>
              </a:defRPr>
            </a:pPr>
            <a:r>
              <a:t>The 5 Cs do not replace judgment—they make judgment more disciplined, transparent and repeatable.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484"/>
                </a:solidFill>
              </a:defRPr>
            </a:pPr>
            <a:r>
              <a:t>Credit Risk Training • 5 Cs of Credit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48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THE 5 C’s IN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4241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>
                <a:solidFill>
                  <a:srgbClr val="DDE7F1"/>
                </a:solidFill>
              </a:defRPr>
            </a:pPr>
            <a:r>
              <a:t>“Who is the borrower, can they repay, what is their own stake, what protects the downside, and what could change the outcome?”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886200"/>
            <a:ext cx="960120" cy="960120"/>
          </a:xfrm>
          <a:prstGeom prst="ellipse">
            <a:avLst/>
          </a:prstGeom>
          <a:solidFill>
            <a:srgbClr val="2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Character</a:t>
            </a:r>
          </a:p>
        </p:txBody>
      </p:sp>
      <p:sp>
        <p:nvSpPr>
          <p:cNvPr id="7" name="Oval 6"/>
          <p:cNvSpPr/>
          <p:nvPr/>
        </p:nvSpPr>
        <p:spPr>
          <a:xfrm>
            <a:off x="3063240" y="3886200"/>
            <a:ext cx="960120" cy="96012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502920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3886200"/>
            <a:ext cx="960120" cy="960120"/>
          </a:xfrm>
          <a:prstGeom prst="ellipse">
            <a:avLst/>
          </a:prstGeom>
          <a:solidFill>
            <a:srgbClr val="2A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502920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Capital</a:t>
            </a:r>
          </a:p>
        </p:txBody>
      </p:sp>
      <p:sp>
        <p:nvSpPr>
          <p:cNvPr id="11" name="Oval 10"/>
          <p:cNvSpPr/>
          <p:nvPr/>
        </p:nvSpPr>
        <p:spPr>
          <a:xfrm>
            <a:off x="7360920" y="3886200"/>
            <a:ext cx="960120" cy="960120"/>
          </a:xfrm>
          <a:prstGeom prst="ellipse">
            <a:avLst/>
          </a:prstGeom>
          <a:solidFill>
            <a:srgbClr val="DE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02920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Collateral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0" y="3886200"/>
            <a:ext cx="960120" cy="960120"/>
          </a:xfrm>
          <a:prstGeom prst="ellipse">
            <a:avLst/>
          </a:prstGeom>
          <a:solidFill>
            <a:srgbClr val="B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502920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9C9D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