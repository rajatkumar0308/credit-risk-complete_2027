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 / EBITDA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-10%</c:v>
                </c:pt>
                <c:pt idx="2">
                  <c:v>-20%</c:v>
                </c:pt>
                <c:pt idx="3">
                  <c:v>-30%</c:v>
                </c:pt>
                <c:pt idx="4">
                  <c:v>-40%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3.33</c:v>
                </c:pt>
                <c:pt idx="2">
                  <c:v>3.75</c:v>
                </c:pt>
                <c:pt idx="3">
                  <c:v>4.29</c:v>
                </c:pt>
                <c:pt idx="4">
                  <c:v>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Interest cover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-10%</c:v>
                </c:pt>
                <c:pt idx="2">
                  <c:v>-20%</c:v>
                </c:pt>
                <c:pt idx="3">
                  <c:v>-30%</c:v>
                </c:pt>
                <c:pt idx="4">
                  <c:v>-40%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4.0</c:v>
                </c:pt>
                <c:pt idx="1">
                  <c:v>3.6</c:v>
                </c:pt>
                <c:pt idx="2">
                  <c:v>3.2</c:v>
                </c:pt>
                <c:pt idx="3">
                  <c:v>2.8</c:v>
                </c:pt>
                <c:pt idx="4">
                  <c:v>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8BEDC"/>
                </a:solidFill>
                <a:latin typeface="Aptos"/>
              </a:rPr>
              <a:t>CORPORATE CREDIT &amp;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Financial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5915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DFEC"/>
                </a:solidFill>
                <a:latin typeface="Aptos"/>
              </a:rPr>
              <a:t>Debt-to-Equity • Debt-to-EBITDA • Leverage vs Solvency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657600"/>
            <a:ext cx="3474720" cy="411480"/>
          </a:xfrm>
          <a:prstGeom prst="round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307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37307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₹100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251960"/>
            <a:ext cx="3474720" cy="411480"/>
          </a:xfrm>
          <a:prstGeom prst="round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3251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43251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₹200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846320"/>
            <a:ext cx="3474720" cy="411480"/>
          </a:xfrm>
          <a:prstGeom prst="round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9194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Total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9194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₹300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8BEDC"/>
                </a:solidFill>
                <a:latin typeface="Aptos"/>
              </a:rPr>
              <a:t>Premium corporate training deck | Practical, decision-oriented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01 |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Leverage is a choice: use debt to amplify returns — 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The same debt that lifts ROE in good times can compress equity value rapidly when cash flows weaken.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315468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5798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78608"/>
            <a:ext cx="313639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Aptos"/>
              </a:rPr>
              <a:t>Financial leverage = the use of fixed financial obligations, primarily debt, to fund assets and operations.
It changes the distribution of business risk between lenders and shareholders.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50292" cy="315468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5798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78608"/>
            <a:ext cx="313639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Aptos"/>
              </a:rPr>
              <a:t>Debt can be cheaper than equity and may create a tax shield. But interest and principal obligations remain even when earnings fall.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50292" cy="315468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5798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SO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78608"/>
            <a:ext cx="313639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Aptos"/>
              </a:rPr>
              <a:t>Leverage is not “good” or “bad” in isolation. The question is whether recurring cash generation is strong enough to service the fixed claims across a downside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02 |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How leverage changes shareholder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Fixed interest creates operating leverage at the capital-structure level: EBIT changes flow disproportionately into earnings available to equity.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600200" cy="96012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761488"/>
            <a:ext cx="502920" cy="0"/>
          </a:xfrm>
          <a:prstGeom prst="line">
            <a:avLst/>
          </a:prstGeom>
          <a:ln w="1905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286000"/>
            <a:ext cx="1600200" cy="96012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45059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EBIT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770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20% margin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2761488"/>
            <a:ext cx="502920" cy="0"/>
          </a:xfrm>
          <a:prstGeom prst="line">
            <a:avLst/>
          </a:prstGeom>
          <a:ln w="1905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2286000"/>
            <a:ext cx="1600200" cy="96012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245059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Interest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770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Fixed ₹20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2761488"/>
            <a:ext cx="502920" cy="0"/>
          </a:xfrm>
          <a:prstGeom prst="line">
            <a:avLst/>
          </a:prstGeom>
          <a:ln w="1905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49440" y="2286000"/>
            <a:ext cx="1600200" cy="96012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245059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Earnings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770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EBT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761488"/>
            <a:ext cx="594360" cy="0"/>
          </a:xfrm>
          <a:prstGeom prst="line">
            <a:avLst/>
          </a:prstGeom>
          <a:ln w="19050">
            <a:solidFill>
              <a:srgbClr val="5C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2286000"/>
            <a:ext cx="1600200" cy="96012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45059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Equity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70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ROE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77639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8736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NO DEBT | EBIT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36168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8589"/>
                </a:solidFill>
                <a:latin typeface="Aptos"/>
              </a:rPr>
              <a:t>₹40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977639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408736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DEBT | INTEREST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36168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A5DA8"/>
                </a:solidFill>
                <a:latin typeface="Aptos"/>
              </a:rPr>
              <a:t>₹20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977639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08736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EBT AFTER DEBT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436168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C69636"/>
                </a:solidFill>
                <a:latin typeface="Aptos"/>
              </a:rPr>
              <a:t>₹20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977639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408736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INTEREST 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36168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BE443F"/>
                </a:solidFill>
                <a:latin typeface="Aptos"/>
              </a:rPr>
              <a:t>2.0×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Key insight: leverage magnifies equity returns when asset returns exceed the after-tax cost of debt — but magnifies downside when they do not.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03 | LEVERAGE METRIC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Debt-to-Equity (D/E): the capital-structure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D/E answers: “How many units of creditor funding sit behind each unit of book equity?”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572000" cy="114300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D/E  =  Total Debt  ÷  Shareholders’ Equity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538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TOTAL 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1304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A5DA8"/>
                </a:solidFill>
                <a:latin typeface="Aptos"/>
              </a:rPr>
              <a:t>₹300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42900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3538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81304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8589"/>
                </a:solidFill>
                <a:latin typeface="Aptos"/>
              </a:rPr>
              <a:t>₹150 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2900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538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D/E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C69636"/>
                </a:solidFill>
                <a:latin typeface="Aptos"/>
              </a:rPr>
              <a:t>2.0×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965960"/>
            <a:ext cx="2468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965960"/>
            <a:ext cx="50292" cy="2514600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11226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532888"/>
            <a:ext cx="20848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2.0× means ₹2 of debt for every ₹1 of book equity.
Higher D/E = greater fixed-claim intensity.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00600"/>
            <a:ext cx="50292" cy="114300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469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ANALYST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367528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Compare with peers, history, covenants and asset-risk profile.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8006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800600"/>
            <a:ext cx="50292" cy="114300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9469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CFO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5367528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Balance cost of capital against refinancing and downside capacity.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8006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800600"/>
            <a:ext cx="50292" cy="114300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9469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INVESTOR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5367528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Assess equity sensitivity to earnings and valuation shocks.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04 | LEVERAGE METRIC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Debt-to-EBITDA: the earnings-capacity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D/EBITDA approximates how many years of current EBITDA would be required to repay debt — ignoring taxes, capex, working capital and financing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663440" cy="109728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D / EBITDA  =  Total Debt ÷ EBITDA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3756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4472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A5DA8"/>
                </a:solidFill>
                <a:latin typeface="Aptos"/>
              </a:rPr>
              <a:t>₹600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33756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34472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72160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8589"/>
                </a:solidFill>
                <a:latin typeface="Aptos"/>
              </a:rPr>
              <a:t>₹150 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2468880" cy="105156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4472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878"/>
                </a:solidFill>
                <a:latin typeface="Aptos"/>
              </a:rPr>
              <a:t>D/EBITDA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721608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C69636"/>
                </a:solidFill>
                <a:latin typeface="Aptos"/>
              </a:rPr>
              <a:t>4.0×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659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F34"/>
                </a:solidFill>
                <a:latin typeface="Aptos"/>
              </a:rPr>
              <a:t>Illustrative risk ladder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423160"/>
            <a:ext cx="2240280" cy="457200"/>
          </a:xfrm>
          <a:prstGeom prst="roundRect">
            <a:avLst/>
          </a:prstGeom>
          <a:solidFill>
            <a:srgbClr val="37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51460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&lt;2×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146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Low leverage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063239"/>
            <a:ext cx="2240280" cy="457200"/>
          </a:xfrm>
          <a:prstGeom prst="round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54679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2–3×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15467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Moderate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703320"/>
            <a:ext cx="2240280" cy="457200"/>
          </a:xfrm>
          <a:prstGeom prst="round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794759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3–4×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79475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Elevated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4343400"/>
            <a:ext cx="2240280" cy="457200"/>
          </a:xfrm>
          <a:prstGeom prst="round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4348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&gt;4×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43484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High / 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Critical caveat: EBITDA is not cash flow. A capital-intensive company can show an acceptable D/EBITDA while still having weak debt-service capacity after capex, taxes and working-capital needs.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05 |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Leverage ≠ solvency: stock vs flow, structure vs survival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A company can be highly leveraged yet liquid today — or lightly leveraged but distressed because cash generation is collapsing.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50292" cy="333756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LEVERAGE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304495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Capital structure
• Debt / Equity
• Debt / EBITDA
• Net Debt / EBITDA
Focus: how much fixed financing exists relative to capital or earnings.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50292" cy="333756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SOLVENCY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32888"/>
            <a:ext cx="304495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Ability to meet obligations over time
• Interest coverage
• DSCR
• Free cash flow
• Maturity profile
Focus: whether future cash generation can sustain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65960"/>
            <a:ext cx="50292" cy="333756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CREDIT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32888"/>
            <a:ext cx="304495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Bring both together
High leverage + strong recurring FCF can be manageable.
Low leverage + severe cash burn can still become a liquidity event.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1F34"/>
                </a:solidFill>
                <a:latin typeface="Aptos"/>
              </a:rPr>
              <a:t>Think: “How much debt?” is leverage. “Can they keep paying it?” is solvency.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06 |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Leverage analysis —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Illustrative company: Apex Components Ltd. | ₹ crore | Data is intentionally simplified for 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965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04288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048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180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43200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EBIT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4378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120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82112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8269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Interest expense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28269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21024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Total debt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7216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540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59936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605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160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270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98848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99431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Cash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99431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21F34"/>
                </a:solidFill>
                <a:latin typeface="Aptos"/>
              </a:rPr>
              <a:t>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37759"/>
            <a:ext cx="3200400" cy="9144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43400" y="196596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1965960"/>
            <a:ext cx="50292" cy="114300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211226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1 | D/E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2532888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8"/>
                </a:solidFill>
                <a:latin typeface="Aptos"/>
              </a:rPr>
              <a:t>₹540 ÷ ₹270 = 2.0×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310128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310128"/>
            <a:ext cx="50292" cy="114300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34564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2 | D/EBITDA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3877056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8"/>
                </a:solidFill>
                <a:latin typeface="Aptos"/>
              </a:rPr>
              <a:t>₹540 ÷ ₹180 = 3.0×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654296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4654296"/>
            <a:ext cx="50292" cy="114300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4800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3 | Interest cover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5221224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8"/>
                </a:solidFill>
                <a:latin typeface="Aptos"/>
              </a:rPr>
              <a:t>₹120 ÷ ₹30 = 4.0×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79" y="1965960"/>
            <a:ext cx="3429000" cy="3831336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9" y="1965960"/>
            <a:ext cx="50292" cy="3831336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CREDIT READ-OUT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2532888"/>
            <a:ext cx="3044952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• 2.0× D/E: meaningful debt dependence
• 3.0× D/EBITDA: elevated but not automatically distressed
• 4.0× interest cover: reasonable current cushion
• Net debt = ₹480 cr → Net D/EBITDA = 2.7×
Decision question: does the business retain this coverage under a downturn?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07 | DOWNSIDE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The real test: what happens when EBITDA falls?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Using the Apex example: debt stays ₹540 cr; interest stays ₹30 cr. Only EBITDA declines.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965960"/>
          <a:ext cx="68580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96596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65960"/>
            <a:ext cx="50292" cy="114300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211226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53288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D/EBITDA 3.0× | Coverage 4.0×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310128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310128"/>
            <a:ext cx="50292" cy="114300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34564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−30%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87705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D/EBITDA 4.3× | Coverage 2.8×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654296"/>
            <a:ext cx="356616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4654296"/>
            <a:ext cx="50292" cy="1197864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4800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−40% EBITDA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5221224"/>
            <a:ext cx="318211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D/EBITDA 5.0× | Coverage 2.4×
Refinancing risk rises materially.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08 | CASE STUDY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RetailCo: leverage can create ROE — until margins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Illustrative case | Designed to show the transmission from operating performance → interest → equity returns.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50292" cy="352044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SCENARIO A | Healthy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73752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Revenue ₹1,000 cr
EBITDA ₹180 cr
EBIT ₹120 cr
Interest ₹30 cr
EBT = ₹90 cr
Assume tax = ₹27 cr → Net income = ₹63 cr
Equity = ₹270 cr
ROE = 63 ÷ 270 = 23.3%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0292" cy="3520440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1226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SCENARIO B | Margin shock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32888"/>
            <a:ext cx="4873752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8"/>
                </a:solidFill>
                <a:latin typeface="Aptos"/>
              </a:rPr>
              <a:t>Revenue ₹1,000 cr
EBITDA falls 30% → ₹126 cr
Assume EBIT falls to ₹66 cr
Interest remains ₹30 cr
EBT = ₹36 cr
Tax = ₹11 cr → Net income ≈ ₹25 cr
Equity = ₹270 cr
ROE ≈ 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Same debt. Same equity. A 30% EBITDA shock cuts illustrative ROE by ~14 percentage 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09 | CASE STUDY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Acquisition financing: when “good leverage” becomes execution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Illustrative M&amp;A underwriting case | Assume a buyer funds an acquisition with debt and expects synergies.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8288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Acquire target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514600"/>
            <a:ext cx="411480" cy="0"/>
          </a:xfrm>
          <a:prstGeom prst="line">
            <a:avLst/>
          </a:prstGeom>
          <a:ln w="25400">
            <a:solidFill>
              <a:srgbClr val="C69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057400"/>
            <a:ext cx="18288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212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420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Debt funds 60%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514600"/>
            <a:ext cx="411480" cy="0"/>
          </a:xfrm>
          <a:prstGeom prst="line">
            <a:avLst/>
          </a:prstGeom>
          <a:ln w="25400">
            <a:solidFill>
              <a:srgbClr val="C69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057400"/>
            <a:ext cx="18288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12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Synergy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420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EBITDA +15%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2514600"/>
            <a:ext cx="411480" cy="0"/>
          </a:xfrm>
          <a:prstGeom prst="line">
            <a:avLst/>
          </a:prstGeom>
          <a:ln w="25400">
            <a:solidFill>
              <a:srgbClr val="C69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057400"/>
            <a:ext cx="18288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212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Delever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5420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FCF repays debt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40" y="2514600"/>
            <a:ext cx="411480" cy="0"/>
          </a:xfrm>
          <a:prstGeom prst="line">
            <a:avLst/>
          </a:prstGeom>
          <a:ln w="25400">
            <a:solidFill>
              <a:srgbClr val="C69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2057400"/>
            <a:ext cx="18288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2128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4"/>
                </a:solidFill>
                <a:latin typeface="Aptos"/>
              </a:rPr>
              <a:t>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54203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C6878"/>
                </a:solidFill>
                <a:latin typeface="Aptos"/>
              </a:rPr>
              <a:t>Multiple + earnings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74720"/>
            <a:ext cx="50292" cy="182880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6210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UNDERWRITE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041648"/>
            <a:ext cx="28620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Entry EBITDA ₹100 cr
Debt ₹300 cr → 3.0×
Synergy target: +₹15 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4747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474720"/>
            <a:ext cx="50292" cy="182880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7" y="36210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STRESS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4041648"/>
            <a:ext cx="28620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Synergies delayed
EBITDA stays ₹100 cr
Debt remains ₹300 cr → 3.0×
Interest cover deteriorates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4747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3474720"/>
            <a:ext cx="50292" cy="1828800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8" y="36210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RED FLAG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8" y="4041648"/>
            <a:ext cx="28620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8"/>
                </a:solidFill>
                <a:latin typeface="Aptos"/>
              </a:rPr>
              <a:t>If EBITDA falls to ₹80 cr:
D/EBITDA = 3.75×
If covenant = 3.5× → breach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1F34"/>
                </a:solidFill>
                <a:latin typeface="Aptos"/>
              </a:rPr>
              <a:t>Banker lesson: leverage is forward-looking. Underwrite the post-transaction capital structure under realistic integration and downside assumptions.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10 |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How different stakeholders read the same leverage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The ratio is only the starting point; decision quality comes from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Peer benchmark and trend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Covenant headroom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Maturity / refinancing wall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Cash conversion and FCF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Downside leverage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CFO / TREASURY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8716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WACC and funding mix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Liquidity buffer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Refinancing concentration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Fixed vs floating debt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Acquisition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8716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ROE amplification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Equity downside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Capital allocation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Earnings volatility</a:t>
            </a:r>
          </a:p>
          <a:p>
            <a:pPr>
              <a:spcAft>
                <a:spcPts val="700"/>
              </a:spcAft>
              <a:defRPr sz="1200">
                <a:solidFill>
                  <a:srgbClr val="232B38"/>
                </a:solidFill>
                <a:latin typeface="Aptos"/>
              </a:defRPr>
            </a:pPr>
            <a:r>
              <a:t>• Valuation under 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Best practice: never approve a leverage level from a single ratio.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11 |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Five leverage traps that can fool a headline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8"/>
                </a:solidFill>
                <a:latin typeface="Aptos"/>
              </a:rPr>
              <a:t>A strong analyst looks through the denominator, the debt definition and the timing.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50292" cy="1325880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EBITDA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Aggressive add-backs / one-offs inflate EBITDA.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50292" cy="1325880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Debt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53288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Off-balance-sheet leases, guarantees or preferred claims may be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659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965960"/>
            <a:ext cx="50292" cy="1325880"/>
          </a:xfrm>
          <a:prstGeom prst="rect">
            <a:avLst/>
          </a:prstGeom>
          <a:solidFill>
            <a:srgbClr val="2A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1122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Cash illusion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53288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Large cash balance may be trapped, restricted or operationally necessary.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66160"/>
            <a:ext cx="50292" cy="1325880"/>
          </a:xfrm>
          <a:prstGeom prst="rect">
            <a:avLst/>
          </a:prstGeom>
          <a:solidFill>
            <a:srgbClr val="188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712463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Maturity 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33087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Low leverage today does not solve a refinancing cliff next year.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661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566160"/>
            <a:ext cx="50292" cy="1325880"/>
          </a:xfrm>
          <a:prstGeom prst="rect">
            <a:avLst/>
          </a:prstGeom>
          <a:solidFill>
            <a:srgbClr val="BE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712463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F34"/>
                </a:solidFill>
                <a:latin typeface="Aptos"/>
              </a:rPr>
              <a:t>Cycle blindness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133087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B38"/>
                </a:solidFill>
                <a:latin typeface="Aptos"/>
              </a:rPr>
              <a:t>Peak EBITDA can make leverage look artificially 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DA8"/>
                </a:solidFill>
                <a:latin typeface="Aptos"/>
              </a:rPr>
              <a:t>12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4"/>
                </a:solidFill>
                <a:latin typeface="Aptos"/>
              </a:rPr>
              <a:t>The five questions that make leverage analysis decision-grade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502920" cy="41148"/>
          </a:xfrm>
          <a:prstGeom prst="rect">
            <a:avLst/>
          </a:prstGeom>
          <a:solidFill>
            <a:srgbClr val="C69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963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How much debt exists?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82880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6E6"/>
                </a:solidFill>
                <a:latin typeface="Aptos"/>
              </a:rPr>
              <a:t>D/E, gross debt, net debt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963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5176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How large is the earnings cushion?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65176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6E6"/>
                </a:solidFill>
                <a:latin typeface="Aptos"/>
              </a:rPr>
              <a:t>D/EBITDA,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963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7472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Can cash actually service debt?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47472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6E6"/>
                </a:solidFill>
                <a:latin typeface="Aptos"/>
              </a:rPr>
              <a:t>Interest cover, DSCR, FCF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963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9768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happens in a downside?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29768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6E6"/>
                </a:solidFill>
                <a:latin typeface="Aptos"/>
              </a:rPr>
              <a:t>Stress EBITDA, rates, working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9636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12064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When must debt be repaid or refinanced?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5120640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6E6"/>
                </a:solidFill>
                <a:latin typeface="Aptos"/>
              </a:rPr>
              <a:t>Maturity profile, covenants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Bottom line: leverage is a multiplier. The quality of the underlying cash flow determines whether it multiplies value — or distress.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C6878"/>
                </a:solidFill>
                <a:latin typeface="Aptos"/>
              </a:rPr>
              <a:t>FINANCIAL LEVERAGE | CORPORATE CREDIT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C68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