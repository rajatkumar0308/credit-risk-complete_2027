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CET1 %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Bank A</c:v>
                </c:pt>
                <c:pt idx="1">
                  <c:v>Bank B</c:v>
                </c:pt>
                <c:pt idx="2">
                  <c:v>Bank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13.2</c:v>
                </c:pt>
                <c:pt idx="1">
                  <c:v>10.1</c:v>
                </c:pt>
                <c:pt idx="2">
                  <c:v>8.9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BASEL III</a:t>
            </a:r>
          </a:p>
          <a:p>
            <a:r>
              <a:rPr sz="3000">
                <a:solidFill>
                  <a:srgbClr val="BE9137"/>
                </a:solidFill>
              </a:rPr>
              <a:t>Capital, Buffers &amp; Leverage</a:t>
            </a:r>
          </a:p>
          <a:p>
            <a:r>
              <a:rPr sz="1600">
                <a:solidFill>
                  <a:srgbClr val="CDD6E1"/>
                </a:solidFill>
              </a:rPr>
              <a:t>A practical framework for bankers, credit analysts, CFOs &amp; investors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60520"/>
            <a:ext cx="3246120" cy="1234440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27024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CORE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6360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How much loss-absorbing capacity should a bank hold before growth becomes unsafe?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160520"/>
            <a:ext cx="3246120" cy="1234440"/>
          </a:xfrm>
          <a:prstGeom prst="roundRect">
            <a:avLst/>
          </a:prstGeom>
          <a:solidFill>
            <a:srgbClr val="233147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427024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CAPITAL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46360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CET1 → Additional Tier 1 → Tier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160520"/>
            <a:ext cx="3246120" cy="1234440"/>
          </a:xfrm>
          <a:prstGeom prst="roundRect">
            <a:avLst/>
          </a:prstGeom>
          <a:solidFill>
            <a:srgbClr val="233147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427024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CONTROL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46360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Capital ratios + buffers + leverage ratio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Why Basel III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From bank failure transmission to resilient balance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B1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13E3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9280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Thin capital + high leverage + liquidity stress can turn asset losses into solvency crises.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270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THE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9280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Basel III strengthened the quality and quantity of capital, introduced buffers, and constrained leverage.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7472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2704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Absorb unexpected losses while keeping critical banking functions operating.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21E31"/>
                </a:solidFill>
                <a:latin typeface="Aptos"/>
              </a:defRPr>
            </a:pPr>
            <a:r>
              <a:t>Capital is the shock absorber; liquidity is the ability to meet cash obligations.</a:t>
            </a:r>
          </a:p>
          <a:p>
            <a:pPr>
              <a:spcAft>
                <a:spcPts val="900"/>
              </a:spcAft>
              <a:defRPr sz="1600">
                <a:solidFill>
                  <a:srgbClr val="121E31"/>
                </a:solidFill>
                <a:latin typeface="Aptos"/>
              </a:defRPr>
            </a:pPr>
            <a:r>
              <a:t>Basel III is a minimum prudential framework; jurisdictions may impose stricter requirements.</a:t>
            </a:r>
          </a:p>
          <a:p>
            <a:pPr>
              <a:spcAft>
                <a:spcPts val="900"/>
              </a:spcAft>
              <a:defRPr sz="1600">
                <a:solidFill>
                  <a:srgbClr val="121E31"/>
                </a:solidFill>
                <a:latin typeface="Aptos"/>
              </a:defRPr>
            </a:pPr>
            <a:r>
              <a:t>Credit analysis implication: regulatory capital is a solvency signal, not a substitute for underwriting.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Basel III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Think of the framework as three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1 | CAPITAL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8"/>
            <a:ext cx="30540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
Highest loss-absorption quality
AT1
Going-concern capital beyond CET1
Tier 2
Gone-concern / subordinated loss absorption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270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2 | CAPITAL BUFFERS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8"/>
            <a:ext cx="30540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Capital Conservation Buffer
Countercyclical Buffer
Systemically Important Bank buffers
Buffers sit above minimum requirements and constrain distributions when depleted.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270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3 | LEVERAGE BACKSTOP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92808"/>
            <a:ext cx="30540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Risk-weighted ratios can be improved by changing asset mix.
Leverage ratio uses a broad exposure measure and limits excessive balance-sheet leverage.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Basel III capital stack &amp; headline minima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Illustrative Basel framework thresholds; local implementation can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6743700" cy="566928"/>
          </a:xfrm>
          <a:prstGeom prst="rect">
            <a:avLst/>
          </a:prstGeom>
          <a:solidFill>
            <a:srgbClr val="3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1790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CET1: 4.5% minimum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223759" cy="566928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Tier 1: 6.0% minimum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54680"/>
            <a:ext cx="7863840" cy="5669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5526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Total Capital: 8.0% minimum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17320"/>
            <a:ext cx="3977639" cy="246888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527048"/>
            <a:ext cx="3648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892808"/>
            <a:ext cx="36484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The minimum ratios are not the full practical requirement.
A bank must generally maintain buffers above the minimums; management may also target an internal capital management buffer.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160520"/>
            <a:ext cx="3977639" cy="123444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4270248"/>
            <a:ext cx="3648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ANALYST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636008"/>
            <a:ext cx="3648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Ask: What is the bank's actual CET1 ratio, requirement including buffers, and headroom?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What is CET1 Capital?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Common Equity Tier 1 = the core loss-absorbing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WHAT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14553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Primarily common shares, qualifying share premium, retained earnings and accumulated other comprehensive income, subject to regulatory adjustments.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35607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01368"/>
            <a:ext cx="314553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absorbs losses while the bank remains a going concern. It is the highest-quality capital measure in Basel III.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B1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35607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13E3E"/>
                </a:solidFill>
              </a:rPr>
              <a:t>IMPORTANT DEDUCTIONS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01368"/>
            <a:ext cx="314553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Goodwill and certain intangibles, some deferred tax assets and other regulatory adjustments reduce CET1.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What is Tier 1 Capital?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Going-concern capital = CET1 + qualifying Additional Tier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84632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CET1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92808"/>
            <a:ext cx="4517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Common equity and retained earnings after regulatory adjustments.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4846320" cy="141732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26440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ADDITIONAL 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30168"/>
            <a:ext cx="4517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Qualifying perpetual instruments with features designed to absorb losses while the bank is a going concern.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4846320" cy="292608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1E31"/>
                </a:solidFill>
              </a:defRPr>
            </a:pPr>
            <a:r>
              <a:t>TIER 1</a:t>
            </a:r>
          </a:p>
          <a:p>
            <a:pPr algn="ctr">
              <a:defRPr sz="2000" b="1">
                <a:solidFill>
                  <a:srgbClr val="121E31"/>
                </a:solidFill>
              </a:defRPr>
            </a:pPr>
            <a:r>
              <a:t>=</a:t>
            </a:r>
          </a:p>
          <a:p>
            <a:pPr algn="ctr">
              <a:defRPr sz="2000" b="1">
                <a:solidFill>
                  <a:srgbClr val="121E31"/>
                </a:solidFill>
              </a:defRPr>
            </a:pPr>
            <a:r>
              <a:t>CET1</a:t>
            </a:r>
          </a:p>
          <a:p>
            <a:pPr algn="ctr">
              <a:defRPr sz="2000" b="1">
                <a:solidFill>
                  <a:srgbClr val="121E31"/>
                </a:solidFill>
              </a:defRPr>
            </a:pPr>
            <a:r>
              <a:t> + </a:t>
            </a:r>
          </a:p>
          <a:p>
            <a:pPr algn="ctr">
              <a:defRPr sz="2000" b="1">
                <a:solidFill>
                  <a:srgbClr val="121E31"/>
                </a:solidFill>
              </a:defRPr>
            </a:pPr>
            <a:r>
              <a:t>AT1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What is Tier 2 Capital?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Additional loss-absorbing capacity, generally with lower quality than Tier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TYPICAL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Qualifying subordinated instruments and certain eligible loan-loss provisions, subject to Basel rules and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8132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WHEN IT ABSORBS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Primarily relevant in a gone-concern / resolution or liquidation context, depending on instrument and jurisdiction.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B1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8132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13E3E"/>
                </a:solidFill>
              </a:rPr>
              <a:t>ANALYST 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47088"/>
            <a:ext cx="30540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 high total-capital ratio driven by Tier 2 is not equivalent to the same ratio driven by CET1.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The three core capital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Same denominator; different quality of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306324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184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CET1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÷ RWA
Core solvency strength
Higher headroom generally means more capacity to absorb losses before breaching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474720" cy="306324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184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TIER 1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98424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Tier 1 ÷ RWA
Going-concern capital
Higher headroom generally means more capacity to absorb losses before breaching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474720" cy="306324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618488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TOTAL CAPITAL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98424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Total Capital ÷ RWA
Broader regulatory capital
Higher headroom generally means more capacity to absorb losses before breaching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983480"/>
            <a:ext cx="9144000" cy="77724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5093208"/>
            <a:ext cx="8814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RWA = Risk-Weighted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458968"/>
            <a:ext cx="88148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The denominator reflects regulatory risk weights rather than simply total assets.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Basel III capital buffers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Buffers are designed to be built in good times and used in stress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813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CAPITAL CONSERVATION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309981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Generally 2.5% of RWA in CET1 above the minimum.
Purpose: provide a cushion and discourage distributions when capital is under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813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COUNTERCYCLICAL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09981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Typically 0–2.5% depending on authorities and credit-cycle conditions.
Purpose: increase resilience during excessive credit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2900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81328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SYSTEMIC BUFFERS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47088"/>
            <a:ext cx="309981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Additional requirements can apply to systemically important institutions and other domestic prudential measures.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Leverage Ratio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A simple, non-risk-weighted backstop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75488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81328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44256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Leverage Ratio = Tier 1 Capital ÷ Leverage Exposure Measure
Unlike CET1 / RWA, the denominator is broad and does not rely on risk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371600"/>
            <a:ext cx="4754880" cy="347472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6752" y="1481328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WHY IT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1847088"/>
            <a:ext cx="442569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 bank can show a strong risk-weighted capital ratio while still carrying substantial balance-sheet leverage.
The leverage ratio provides a separate constraint on excessive leverage.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166360"/>
            <a:ext cx="841248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5276088"/>
            <a:ext cx="8083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ILLUSTRATIVE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5641848"/>
            <a:ext cx="808329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Basel III introduced a 3.0% minimum leverage ratio; local rules may add buffers or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Numerical example: calculate CET1, Tier 1 &amp; Total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Illustrative bank — figures in ₹ crore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9184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29626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= 8,000
AT1 = 1,000
Tier 2 = 1,500
RWA = 75,000
Leverage exposure = 250,000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29184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435607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STEP 1 |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1801368"/>
            <a:ext cx="29626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= 8,000 / 75,000 = 10.67%
Tier 1 = 9,000 / 75,000 = 12.00%
Total = 10,500 / 75,000 = 14.00%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25880"/>
            <a:ext cx="329184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435607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STEP 2 |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1801368"/>
            <a:ext cx="29626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Tier 1 = 9,000
Leverage exposure = 250,000
Leverage ratio = 9,000 / 250,000
= 3.60%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Stress test: what happens after a loss?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Illustrative shock to the same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3756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8132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300837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= 8,000
RWA = 75,000
CET1 ratio = 10.67%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3756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B1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8132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13E3E"/>
                </a:solidFill>
              </a:rPr>
              <a:t>₹1,500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47088"/>
            <a:ext cx="300837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Assume loss reduces retained earnings/CET1 by ₹1,500.
New CET1 = ₹6,500
CET1 ratio = 6,500 / 75,000 = 8.67%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37560" cy="356616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8132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MANAGEMENT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47088"/>
            <a:ext cx="300837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How much buffer remains?
Do not look only at the minimum. Compare actual capital with the applicable minimum + buffers + internal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Case study 1 — illustrative bank capital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Illustrative data, not a real bank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371600"/>
            <a:ext cx="5029200" cy="132588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481328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READ-THROUGH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847088"/>
            <a:ext cx="47000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CET1 ratio alone does not establish overall risk. Compare against each bank's applicable requirement, RWA composition and stress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029200" cy="256032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3035808"/>
            <a:ext cx="4700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CREDIT / INVESTOR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3401568"/>
            <a:ext cx="470001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• Is capital headroom stable or declining?
• Is growth consuming capital faster than earnings replenish it?
• How much capital is CET1 versus AT1/Tier 2?
• Are RWA changes driven by business mix or modelling effects?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Case study 2 — RWA optimisation vs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Illustrative strategic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SCENARIO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0540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Bank reduces high-risk lending.
RWA falls from ₹100,000 to ₹85,000.
CET1 stays ₹10,000.
CET1 ratio rises from 10.0% → 11.76%.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356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SCENARIO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01368"/>
            <a:ext cx="30540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Bank expands low-risk assets.
RWA rises modestly, but total assets and leverage exposure rise materially.
Risk-weighted ratios may look comfortable while leverage tightens.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65760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35607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SO WHAT?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01368"/>
            <a:ext cx="30540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Capital management is a portfolio problem:
Profitability + RWA density + leverage + liquidity + stress resilience must be considered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Credit analyst / banker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What to investigate beyond the headline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3611880"/>
          </a:xfrm>
          <a:prstGeom prst="roundRect">
            <a:avLst/>
          </a:prstGeom>
          <a:solidFill>
            <a:srgbClr val="F4F6F8"/>
          </a:solidFill>
          <a:ln>
            <a:solidFill>
              <a:srgbClr val="B1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13E3E"/>
                </a:solidFill>
              </a:rPr>
              <a:t>CAPITAL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0998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• CET1 falling while total capital is stable
• Increasing reliance on AT1/Tier 2
• Large regulatory deductions
• Weak retained earnings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361188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35607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RWA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01368"/>
            <a:ext cx="30998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• Rapid RWA decline without clear portfolio change
• RWA density materially below peers
• Large model-driven movements
• Concentrated exposures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29000" cy="361188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35607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HEADROOM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01368"/>
            <a:ext cx="30998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• Small buffer above requirements
• Rapid balance-sheet growth
• Capital distributions during weakening profitability
• Stress losses that consume buffer quickly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Four perspectives on Basel III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06040" cy="3886200"/>
          </a:xfrm>
          <a:prstGeom prst="roundRect">
            <a:avLst/>
          </a:prstGeom>
          <a:solidFill>
            <a:srgbClr val="F4F6F8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5B91"/>
                </a:solidFill>
              </a:rPr>
              <a:t>CREDIT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22768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Focus on
capital headroom
loss absorption
RWA quality
stress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606040" cy="3886200"/>
          </a:xfrm>
          <a:prstGeom prst="roundRect">
            <a:avLst/>
          </a:prstGeom>
          <a:solidFill>
            <a:srgbClr val="F4F6F8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35607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8285"/>
                </a:solidFill>
              </a:rPr>
              <a:t>BANKER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1801368"/>
            <a:ext cx="22768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Focus on
pricing
capital allocation
RWA efficiency
limit setting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2606040" cy="3886200"/>
          </a:xfrm>
          <a:prstGeom prst="roundRect">
            <a:avLst/>
          </a:prstGeom>
          <a:solidFill>
            <a:srgbClr val="F4F6F8"/>
          </a:solidFill>
          <a:ln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35607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CFO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01368"/>
            <a:ext cx="22768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Focus on
capital planning
ROE / RAROC
distributions
growth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325880"/>
            <a:ext cx="2606040" cy="3886200"/>
          </a:xfrm>
          <a:prstGeom prst="roundRect">
            <a:avLst/>
          </a:prstGeom>
          <a:solidFill>
            <a:srgbClr val="F4F6F8"/>
          </a:solidFill>
          <a:ln>
            <a:solidFill>
              <a:srgbClr val="3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435607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7E53"/>
                </a:solidFill>
              </a:rPr>
              <a:t>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801368"/>
            <a:ext cx="22768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21E31"/>
                </a:solidFill>
              </a:rPr>
              <a:t>Focus on
capital quality
returns on capital
stress capacity
future dilution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E9137"/>
                </a:solidFill>
                <a:latin typeface="Aptos"/>
              </a:rPr>
              <a:t>Five ideas to retain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9137"/>
                </a:solidFill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280160"/>
            <a:ext cx="9601200" cy="658368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64792" y="1389888"/>
            <a:ext cx="9272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CET1 is the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" y="1755648"/>
            <a:ext cx="927201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It is the primary high-quality loss absorber.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9137"/>
                </a:solidFill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194560"/>
            <a:ext cx="9601200" cy="658368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2304288"/>
            <a:ext cx="9272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Tier 1 ≠ CET1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670048"/>
            <a:ext cx="927201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Tier 1 includes CET1 plus qualifying AT1.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9137"/>
                </a:solidFill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3108960"/>
            <a:ext cx="9601200" cy="658368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64792" y="3218688"/>
            <a:ext cx="9272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Total capital is broader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584448"/>
            <a:ext cx="927201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Tier 2 adds another layer, but quality differs.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9137"/>
                </a:solidFill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4023360"/>
            <a:ext cx="9601200" cy="658368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64792" y="4133088"/>
            <a:ext cx="9272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Buffers matter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498848"/>
            <a:ext cx="927201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A bank can be above minimum and still have limited management headroom.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9137"/>
                </a:solidFill>
              </a:rPr>
              <a:t>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4937760"/>
            <a:ext cx="9601200" cy="658368"/>
          </a:xfrm>
          <a:prstGeom prst="roundRect">
            <a:avLst/>
          </a:prstGeom>
          <a:solidFill>
            <a:srgbClr val="233147"/>
          </a:solidFill>
          <a:ln>
            <a:solidFill>
              <a:srgbClr val="278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64792" y="5047488"/>
            <a:ext cx="9272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E9137"/>
                </a:solidFill>
              </a:rPr>
              <a:t>Leverage is the backstop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5413248"/>
            <a:ext cx="927201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Always pair risk-weighted ratios with the leverage ratio.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E31"/>
                </a:solidFill>
                <a:latin typeface="Aptos Display"/>
              </a:rPr>
              <a:t>Technical notes &amp; reference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482"/>
                </a:solidFill>
                <a:latin typeface="Aptos"/>
              </a:rPr>
              <a:t>For training use — always check the applicable jurisdictional rulebook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21E31"/>
                </a:solidFill>
                <a:latin typeface="Aptos"/>
              </a:defRPr>
            </a:pPr>
            <a:r>
              <a:t>Basel III is developed by the Basel Committee on Banking Supervision (BCBS) and implemented through national/regional regulation.</a:t>
            </a:r>
          </a:p>
          <a:p>
            <a:pPr>
              <a:spcAft>
                <a:spcPts val="900"/>
              </a:spcAft>
              <a:defRPr sz="1500">
                <a:solidFill>
                  <a:srgbClr val="121E31"/>
                </a:solidFill>
                <a:latin typeface="Aptos"/>
              </a:defRPr>
            </a:pPr>
            <a:r>
              <a:t>Headline Basel minimums commonly taught: CET1 4.5%, Tier 1 6.0%, Total Capital 8.0%, plus the 2.5% Capital Conservation Buffer. Countercyclical and systemic buffers can increase requirements.</a:t>
            </a:r>
          </a:p>
          <a:p>
            <a:pPr>
              <a:spcAft>
                <a:spcPts val="900"/>
              </a:spcAft>
              <a:defRPr sz="1500">
                <a:solidFill>
                  <a:srgbClr val="121E31"/>
                </a:solidFill>
                <a:latin typeface="Aptos"/>
              </a:defRPr>
            </a:pPr>
            <a:r>
              <a:t>The leverage ratio is a Tier 1 capital measure divided by a broad leverage exposure measure, with a Basel minimum of 3.0%.</a:t>
            </a:r>
          </a:p>
          <a:p>
            <a:pPr>
              <a:spcAft>
                <a:spcPts val="900"/>
              </a:spcAft>
              <a:defRPr sz="1500">
                <a:solidFill>
                  <a:srgbClr val="121E31"/>
                </a:solidFill>
                <a:latin typeface="Aptos"/>
              </a:defRPr>
            </a:pPr>
            <a:r>
              <a:t>Capital definitions, transitional arrangements, buffers and implementation dates can differ by jurisdiction and bank category.</a:t>
            </a:r>
          </a:p>
          <a:p>
            <a:pPr>
              <a:spcAft>
                <a:spcPts val="900"/>
              </a:spcAft>
              <a:defRPr sz="1500">
                <a:solidFill>
                  <a:srgbClr val="121E31"/>
                </a:solidFill>
                <a:latin typeface="Aptos"/>
              </a:defRPr>
            </a:pPr>
            <a:r>
              <a:t>Training convention: all numerical cases in this deck are illustrative unless explicitly labelled otherwise.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2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