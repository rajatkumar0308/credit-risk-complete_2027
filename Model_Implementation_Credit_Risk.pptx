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MODEL IMPLEMENTATION</a:t>
            </a:r>
          </a:p>
          <a:p>
            <a:pPr>
              <a:spcBef>
                <a:spcPts val="1000"/>
              </a:spcBef>
              <a:defRPr sz="2100">
                <a:solidFill>
                  <a:srgbClr val="BED2E6"/>
                </a:solidFill>
                <a:latin typeface="Aptos"/>
              </a:defRPr>
            </a:pPr>
            <a:r>
              <a:t>From Credit Model Development to Production Decisioning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80360"/>
            <a:ext cx="3246120" cy="1325880"/>
          </a:xfrm>
          <a:prstGeom prst="roundRect">
            <a:avLst/>
          </a:prstGeom>
          <a:solidFill>
            <a:srgbClr val="1F304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800" b="1">
                <a:solidFill>
                  <a:srgbClr val="121F34"/>
                </a:solidFill>
                <a:latin typeface="Aptos"/>
              </a:defRPr>
            </a:pPr>
            <a:r>
              <a:t>MODEL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Validated PD / scorecard</a:t>
            </a:r>
            <a:br/>
            <a:r>
              <a:t>ready for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80360"/>
            <a:ext cx="54864" cy="132588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2880360"/>
            <a:ext cx="3246120" cy="1325880"/>
          </a:xfrm>
          <a:prstGeom prst="roundRect">
            <a:avLst/>
          </a:prstGeom>
          <a:solidFill>
            <a:srgbClr val="1F304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800" b="1">
                <a:solidFill>
                  <a:srgbClr val="121F34"/>
                </a:solidFill>
                <a:latin typeface="Aptos"/>
              </a:defRPr>
            </a:pPr>
            <a:r>
              <a:t>ENGINE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Score + policy + affordability</a:t>
            </a:r>
            <a:br/>
            <a:r>
              <a:t>+ eligibility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880360"/>
            <a:ext cx="54864" cy="132588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2880360"/>
            <a:ext cx="3246120" cy="1325880"/>
          </a:xfrm>
          <a:prstGeom prst="roundRect">
            <a:avLst/>
          </a:prstGeom>
          <a:solidFill>
            <a:srgbClr val="1F304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800" b="1">
                <a:solidFill>
                  <a:srgbClr val="121F34"/>
                </a:solidFill>
                <a:latin typeface="Aptos"/>
              </a:defRPr>
            </a:pPr>
            <a:r>
              <a:t>DECISION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Approve / refer / decline</a:t>
            </a:r>
            <a:br/>
            <a:r>
              <a:t>with audit trail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880360"/>
            <a:ext cx="54864" cy="132588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005072" y="3547872"/>
            <a:ext cx="42976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54112" y="3547872"/>
            <a:ext cx="429767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4892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Core idea: a good model creates value only when its predictions are reliably converted into consistent, controlled business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1. What is Model Implementation?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Turning a statistically validated model into a controlled, repeatable production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WHAT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Model implementation is the process of operationalising a developed model so that live customer/application data can be transformed into a score, PD or risk grade and consumed by the credit decision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4864" cy="438912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WHY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Development proves predictive performance on historical data.</a:t>
            </a:r>
            <a:br/>
            <a:br/>
            <a:r>
              <a:t>Implementation answers a different question:</a:t>
            </a:r>
            <a:br/>
            <a:br/>
            <a:r>
              <a:t>Can the bank generate the same result reliably, quickly, securely and consistently for every eligible application?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54864" cy="438912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47472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SO WHAT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Implementation creates the bridge between:</a:t>
            </a:r>
            <a:br/>
            <a:br/>
            <a:r>
              <a:t>Data → Model → Score/PD → Decision Engine → Booking / Monitoring</a:t>
            </a:r>
            <a:br/>
            <a:br/>
            <a:r>
              <a:t>It also introduces controls for versioning, latency, validation, logging, security and model governance.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325880"/>
            <a:ext cx="54864" cy="438912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2. Score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How live application data becomes a credit score or probability of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400" b="1">
                <a:solidFill>
                  <a:srgbClr val="121F34"/>
                </a:solidFill>
                <a:latin typeface="Aptos"/>
              </a:defRPr>
            </a:pPr>
            <a:r>
              <a:t>1. INPUT</a:t>
            </a:r>
          </a:p>
          <a:p>
            <a:pPr>
              <a:spcBef>
                <a:spcPts val="600"/>
              </a:spcBef>
              <a:defRPr sz="1100">
                <a:solidFill>
                  <a:srgbClr val="28303C"/>
                </a:solidFill>
                <a:latin typeface="Aptos"/>
              </a:defRPr>
            </a:pPr>
            <a:r>
              <a:t>Application + bureau + behavioural + financial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4864" cy="182880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172968" y="2423160"/>
            <a:ext cx="301752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508760"/>
            <a:ext cx="25603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400" b="1">
                <a:solidFill>
                  <a:srgbClr val="121F34"/>
                </a:solidFill>
                <a:latin typeface="Aptos"/>
              </a:defRPr>
            </a:pPr>
            <a:r>
              <a:t>2. PREPARE</a:t>
            </a:r>
          </a:p>
          <a:p>
            <a:pPr>
              <a:spcBef>
                <a:spcPts val="600"/>
              </a:spcBef>
              <a:defRPr sz="1100">
                <a:solidFill>
                  <a:srgbClr val="28303C"/>
                </a:solidFill>
                <a:latin typeface="Aptos"/>
              </a:defRPr>
            </a:pPr>
            <a:r>
              <a:t>Validation, missing-value handling, binning / transformations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08760"/>
            <a:ext cx="54864" cy="182880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053327" y="2423160"/>
            <a:ext cx="301752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79" y="1508760"/>
            <a:ext cx="25603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400" b="1">
                <a:solidFill>
                  <a:srgbClr val="121F34"/>
                </a:solidFill>
                <a:latin typeface="Aptos"/>
              </a:defRPr>
            </a:pPr>
            <a:r>
              <a:t>3. MODEL</a:t>
            </a:r>
          </a:p>
          <a:p>
            <a:pPr>
              <a:spcBef>
                <a:spcPts val="600"/>
              </a:spcBef>
              <a:defRPr sz="1100">
                <a:solidFill>
                  <a:srgbClr val="28303C"/>
                </a:solidFill>
                <a:latin typeface="Aptos"/>
              </a:defRPr>
            </a:pPr>
            <a:r>
              <a:t>Production model applies coefficients / scorecard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1508760"/>
            <a:ext cx="54864" cy="1828800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933688" y="2423160"/>
            <a:ext cx="301752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35440" y="1508760"/>
            <a:ext cx="25603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400" b="1">
                <a:solidFill>
                  <a:srgbClr val="121F34"/>
                </a:solidFill>
                <a:latin typeface="Aptos"/>
              </a:defRPr>
            </a:pPr>
            <a:r>
              <a:t>4. OUTPUT</a:t>
            </a:r>
          </a:p>
          <a:p>
            <a:pPr>
              <a:spcBef>
                <a:spcPts val="600"/>
              </a:spcBef>
              <a:defRPr sz="1100">
                <a:solidFill>
                  <a:srgbClr val="28303C"/>
                </a:solidFill>
                <a:latin typeface="Aptos"/>
              </a:defRPr>
            </a:pPr>
            <a:r>
              <a:t>PD, score, grade or risk band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508760"/>
            <a:ext cx="54864" cy="182880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102412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ILLUSTRATIVE SCORE GENERATION</a:t>
            </a:r>
          </a:p>
          <a:p>
            <a:pPr>
              <a:spcBef>
                <a:spcPts val="600"/>
              </a:spcBef>
              <a:defRPr sz="1300">
                <a:solidFill>
                  <a:srgbClr val="28303C"/>
                </a:solidFill>
                <a:latin typeface="Aptos"/>
              </a:defRPr>
            </a:pPr>
            <a:r>
              <a:t>Example: a live application produces PD = 4.2% → internal risk grade = B → score = 712. The model output is not automatically the final decision; policy rules and credit strategy still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77639"/>
            <a:ext cx="54864" cy="141732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3. Score Generation —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Illustrative scorecard transformation from model output to decision-ready risk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8328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MODEL VARIABLES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Monthly income: ₹80,000</a:t>
            </a:r>
            <a:br/>
            <a:r>
              <a:t>Debt-to-income: 32%</a:t>
            </a:r>
            <a:br/>
            <a:r>
              <a:t>Bureau score: 742</a:t>
            </a:r>
            <a:br/>
            <a:r>
              <a:t>Recent DPD: 0</a:t>
            </a:r>
            <a:br/>
            <a:r>
              <a:t>Employment: 5 years</a:t>
            </a:r>
            <a:br/>
            <a:r>
              <a:t>Loan amount: ₹6 lakh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4864" cy="452628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38328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MODEL OUTPUT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Illustrative logistic model:</a:t>
            </a:r>
            <a:br/>
            <a:br/>
            <a:r>
              <a:t>Log-odds = β₀ + ΣβᵢXᵢ</a:t>
            </a:r>
            <a:br/>
            <a:br/>
            <a:r>
              <a:t>PD = 1 / (1 + e⁻ᶻ)</a:t>
            </a:r>
            <a:br/>
            <a:br/>
            <a:r>
              <a:t>Assume z = −2.35</a:t>
            </a:r>
            <a:br/>
            <a:br/>
            <a:r>
              <a:t>PD ≈ 8.7%</a:t>
            </a:r>
            <a:br/>
            <a:br/>
            <a:r>
              <a:t>Risk band: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325880"/>
            <a:ext cx="54864" cy="452628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325880"/>
            <a:ext cx="338328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BUSINESS INTERPRETATION</a:t>
            </a:r>
          </a:p>
          <a:p>
            <a:pPr>
              <a:spcBef>
                <a:spcPts val="600"/>
              </a:spcBef>
              <a:defRPr sz="1150">
                <a:solidFill>
                  <a:srgbClr val="28303C"/>
                </a:solidFill>
                <a:latin typeface="Aptos"/>
              </a:defRPr>
            </a:pPr>
            <a:r>
              <a:t>The 8.7% PD is a risk signal—not a final approval.</a:t>
            </a:r>
            <a:br/>
            <a:br/>
            <a:r>
              <a:t>The decision engine may additionally test:</a:t>
            </a:r>
            <a:br/>
            <a:r>
              <a:t>• minimum bureau score</a:t>
            </a:r>
            <a:br/>
            <a:r>
              <a:t>• DTI limit</a:t>
            </a:r>
            <a:br/>
            <a:r>
              <a:t>• product eligibility</a:t>
            </a:r>
            <a:br/>
            <a:r>
              <a:t>• fraud checks</a:t>
            </a:r>
            <a:br/>
            <a:r>
              <a:t>• exposure limits</a:t>
            </a:r>
            <a:br/>
            <a:r>
              <a:t>• affordability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325880"/>
            <a:ext cx="54864" cy="4526280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4. Credit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The layer that combines model risk with credit policy and operational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1965960" cy="2423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MODEL SIGNAL</a:t>
            </a:r>
          </a:p>
          <a:p>
            <a:pPr>
              <a:spcBef>
                <a:spcPts val="600"/>
              </a:spcBef>
              <a:defRPr sz="1050">
                <a:solidFill>
                  <a:srgbClr val="28303C"/>
                </a:solidFill>
                <a:latin typeface="Aptos"/>
              </a:defRPr>
            </a:pPr>
            <a:r>
              <a:t>PD / score / 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54864" cy="242316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404872" y="3090672"/>
            <a:ext cx="246888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97480" y="1874519"/>
            <a:ext cx="1965960" cy="2423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POLICY RULES</a:t>
            </a:r>
          </a:p>
          <a:p>
            <a:pPr>
              <a:spcBef>
                <a:spcPts val="600"/>
              </a:spcBef>
              <a:defRPr sz="1050">
                <a:solidFill>
                  <a:srgbClr val="28303C"/>
                </a:solidFill>
                <a:latin typeface="Aptos"/>
              </a:defRPr>
            </a:pPr>
            <a:r>
              <a:t>Eligibility, DTI, bureau, exposure, product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874519"/>
            <a:ext cx="54864" cy="242316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690872" y="3090672"/>
            <a:ext cx="246888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1874519"/>
            <a:ext cx="1965960" cy="2423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STRATEGY</a:t>
            </a:r>
          </a:p>
          <a:p>
            <a:pPr>
              <a:spcBef>
                <a:spcPts val="600"/>
              </a:spcBef>
              <a:defRPr sz="1050">
                <a:solidFill>
                  <a:srgbClr val="28303C"/>
                </a:solidFill>
                <a:latin typeface="Aptos"/>
              </a:defRPr>
            </a:pPr>
            <a:r>
              <a:t>Risk appetite, pricing, limits, cut-offs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874519"/>
            <a:ext cx="54864" cy="2423160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976872" y="3090672"/>
            <a:ext cx="246888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1874519"/>
            <a:ext cx="1965960" cy="2423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CONTROL CHECKS</a:t>
            </a:r>
          </a:p>
          <a:p>
            <a:pPr>
              <a:spcBef>
                <a:spcPts val="600"/>
              </a:spcBef>
              <a:defRPr sz="1050">
                <a:solidFill>
                  <a:srgbClr val="28303C"/>
                </a:solidFill>
                <a:latin typeface="Aptos"/>
              </a:defRPr>
            </a:pPr>
            <a:r>
              <a:t>Fraud, sanctions, data quality, duplicate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874519"/>
            <a:ext cx="54864" cy="242316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262872" y="3090672"/>
            <a:ext cx="246887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55480" y="1874519"/>
            <a:ext cx="1965960" cy="24231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DECISION</a:t>
            </a:r>
          </a:p>
          <a:p>
            <a:pPr>
              <a:spcBef>
                <a:spcPts val="600"/>
              </a:spcBef>
              <a:defRPr sz="1050">
                <a:solidFill>
                  <a:srgbClr val="28303C"/>
                </a:solidFill>
                <a:latin typeface="Aptos"/>
              </a:defRPr>
            </a:pPr>
            <a:r>
              <a:t>Approve / Refer / Decline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1874519"/>
            <a:ext cx="54864" cy="242316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754880"/>
            <a:ext cx="996696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KEY PRINCIPLE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Model = risk estimation | Decision engine = risk estimation + policy + strategy + controls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754880"/>
            <a:ext cx="54864" cy="9144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5. Credit Decision Engine —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A production decision can be transparent even when multiple rules interact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5603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MODEL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PD = 3.8%</a:t>
            </a:r>
            <a:br/>
            <a:r>
              <a:t>Score = 748</a:t>
            </a:r>
            <a:br/>
            <a:r>
              <a:t>Risk Grade = A-</a:t>
            </a:r>
            <a:br/>
            <a:br/>
            <a:r>
              <a:t>Model says:</a:t>
            </a:r>
            <a:br/>
            <a:r>
              <a:t>LOWER RELATIVE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54864" cy="448056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5603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POLICY</a:t>
            </a:r>
          </a:p>
          <a:p>
            <a:pPr>
              <a:spcBef>
                <a:spcPts val="600"/>
              </a:spcBef>
              <a:defRPr sz="1150">
                <a:solidFill>
                  <a:srgbClr val="28303C"/>
                </a:solidFill>
                <a:latin typeface="Aptos"/>
              </a:defRPr>
            </a:pPr>
            <a:r>
              <a:t>Bureau score ≥ 700 ✓</a:t>
            </a:r>
            <a:br/>
            <a:r>
              <a:t>DTI ≤ 40% ✓</a:t>
            </a:r>
            <a:br/>
            <a:r>
              <a:t>Age / tenure ✓</a:t>
            </a:r>
            <a:br/>
            <a:r>
              <a:t>Product eligible ✓</a:t>
            </a:r>
            <a:br/>
            <a:r>
              <a:t>Exposure within limit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280160"/>
            <a:ext cx="54864" cy="448056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256032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STRATEGY</a:t>
            </a:r>
          </a:p>
          <a:p>
            <a:pPr>
              <a:spcBef>
                <a:spcPts val="600"/>
              </a:spcBef>
              <a:defRPr sz="1150">
                <a:solidFill>
                  <a:srgbClr val="28303C"/>
                </a:solidFill>
                <a:latin typeface="Aptos"/>
              </a:defRPr>
            </a:pPr>
            <a:r>
              <a:t>Risk appetite: within range</a:t>
            </a:r>
            <a:br/>
            <a:r>
              <a:t>Pricing grid: Grade A-</a:t>
            </a:r>
            <a:br/>
            <a:r>
              <a:t>Limit: ₹7 lakh</a:t>
            </a:r>
            <a:br/>
            <a:r>
              <a:t>Fraud status: Clear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" cy="4480560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98280" y="1280160"/>
            <a:ext cx="2560320" cy="4480560"/>
          </a:xfrm>
          <a:prstGeom prst="roundRect">
            <a:avLst/>
          </a:prstGeom>
          <a:solidFill>
            <a:srgbClr val="F2F8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121F34"/>
                </a:solidFill>
                <a:latin typeface="Aptos"/>
              </a:defRPr>
            </a:pPr>
            <a:r>
              <a:t>DECISION</a:t>
            </a:r>
          </a:p>
          <a:p>
            <a:pPr>
              <a:spcBef>
                <a:spcPts val="600"/>
              </a:spcBef>
              <a:defRPr sz="1200">
                <a:solidFill>
                  <a:srgbClr val="28303C"/>
                </a:solidFill>
                <a:latin typeface="Aptos"/>
              </a:defRPr>
            </a:pPr>
            <a:r>
              <a:t>APPROVE</a:t>
            </a:r>
            <a:br/>
            <a:br/>
            <a:r>
              <a:t>Limit: ₹7 lakh</a:t>
            </a:r>
            <a:br/>
            <a:r>
              <a:t>Pricing: policy-based</a:t>
            </a:r>
            <a:br/>
            <a:br/>
            <a:r>
              <a:t>Decision reason codes</a:t>
            </a:r>
            <a:br/>
            <a:r>
              <a:t>stored for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280160"/>
            <a:ext cx="54864" cy="448056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6. Production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What changes when a model moves from notebook to live banking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2412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MODEL ARTEFACT</a:t>
            </a:r>
          </a:p>
          <a:p>
            <a:pPr>
              <a:spcBef>
                <a:spcPts val="600"/>
              </a:spcBef>
              <a:defRPr sz="950">
                <a:solidFill>
                  <a:srgbClr val="28303C"/>
                </a:solidFill>
                <a:latin typeface="Aptos"/>
              </a:defRPr>
            </a:pPr>
            <a:r>
              <a:t>Coefficients / bins / transformations / cut-offs /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54864" cy="82296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76272"/>
            <a:ext cx="102412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SCORING SERVICE</a:t>
            </a:r>
          </a:p>
          <a:p>
            <a:pPr>
              <a:spcBef>
                <a:spcPts val="600"/>
              </a:spcBef>
              <a:defRPr sz="950">
                <a:solidFill>
                  <a:srgbClr val="28303C"/>
                </a:solidFill>
                <a:latin typeface="Aptos"/>
              </a:defRPr>
            </a:pPr>
            <a:r>
              <a:t>API, batch job or embedded scoring 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76272"/>
            <a:ext cx="54864" cy="82296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118104"/>
            <a:ext cx="102412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DATA LAYER</a:t>
            </a:r>
          </a:p>
          <a:p>
            <a:pPr>
              <a:spcBef>
                <a:spcPts val="600"/>
              </a:spcBef>
              <a:defRPr sz="950">
                <a:solidFill>
                  <a:srgbClr val="28303C"/>
                </a:solidFill>
                <a:latin typeface="Aptos"/>
              </a:defRPr>
            </a:pPr>
            <a:r>
              <a:t>Application, bureau, core banking, transaction and external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18104"/>
            <a:ext cx="54864" cy="822960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059936"/>
            <a:ext cx="102412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DECISION LAYER</a:t>
            </a:r>
          </a:p>
          <a:p>
            <a:pPr>
              <a:spcBef>
                <a:spcPts val="600"/>
              </a:spcBef>
              <a:defRPr sz="950">
                <a:solidFill>
                  <a:srgbClr val="28303C"/>
                </a:solidFill>
                <a:latin typeface="Aptos"/>
              </a:defRPr>
            </a:pPr>
            <a:r>
              <a:t>Policy rules, strategy, workflow and decision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59936"/>
            <a:ext cx="54864" cy="82296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5001768"/>
            <a:ext cx="102412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300" b="1">
                <a:solidFill>
                  <a:srgbClr val="121F34"/>
                </a:solidFill>
                <a:latin typeface="Aptos"/>
              </a:defRPr>
            </a:pPr>
            <a:r>
              <a:t>MONITORING</a:t>
            </a:r>
          </a:p>
          <a:p>
            <a:pPr>
              <a:spcBef>
                <a:spcPts val="600"/>
              </a:spcBef>
              <a:defRPr sz="950">
                <a:solidFill>
                  <a:srgbClr val="28303C"/>
                </a:solidFill>
                <a:latin typeface="Aptos"/>
              </a:defRPr>
            </a:pPr>
            <a:r>
              <a:t>Performance, drift, stability, overrides, exceptions and alerts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01768"/>
            <a:ext cx="54864" cy="82296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7. Production Controls — What Can Go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Implementation risk is broader than statistical model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331720" cy="658368"/>
          </a:xfrm>
          <a:prstGeom prst="roundRect">
            <a:avLst/>
          </a:prstGeom>
          <a:solidFill>
            <a:srgbClr val="FAF7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Data mismatch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4864" cy="658368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40" y="1234440"/>
            <a:ext cx="3977639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Development variable definition differs from production 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234440"/>
            <a:ext cx="54864" cy="658368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234440"/>
            <a:ext cx="4343400" cy="658368"/>
          </a:xfrm>
          <a:prstGeom prst="roundRect">
            <a:avLst/>
          </a:prstGeom>
          <a:solidFill>
            <a:srgbClr val="F6F9F7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Input validation + data contracts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234440"/>
            <a:ext cx="54864" cy="658368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039112"/>
            <a:ext cx="2331720" cy="658368"/>
          </a:xfrm>
          <a:prstGeom prst="roundRect">
            <a:avLst/>
          </a:prstGeom>
          <a:solidFill>
            <a:srgbClr val="FAF7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Model version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39112"/>
            <a:ext cx="54864" cy="658368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40" y="2039112"/>
            <a:ext cx="3977639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Old or wrong model version is deployed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039112"/>
            <a:ext cx="54864" cy="658368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2039112"/>
            <a:ext cx="4343400" cy="658368"/>
          </a:xfrm>
          <a:prstGeom prst="roundRect">
            <a:avLst/>
          </a:prstGeom>
          <a:solidFill>
            <a:srgbClr val="F6F9F7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Version control + release approval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039112"/>
            <a:ext cx="54864" cy="658368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843784"/>
            <a:ext cx="2331720" cy="658368"/>
          </a:xfrm>
          <a:prstGeom prst="roundRect">
            <a:avLst/>
          </a:prstGeom>
          <a:solidFill>
            <a:srgbClr val="FAF7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Transformation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43784"/>
            <a:ext cx="54864" cy="658368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63240" y="2843784"/>
            <a:ext cx="3977639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Production WOE/binning/scaling differs from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2843784"/>
            <a:ext cx="54864" cy="658368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2843784"/>
            <a:ext cx="4343400" cy="658368"/>
          </a:xfrm>
          <a:prstGeom prst="roundRect">
            <a:avLst/>
          </a:prstGeom>
          <a:solidFill>
            <a:srgbClr val="F6F9F7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Independent reconciliation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843784"/>
            <a:ext cx="54864" cy="658368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648456"/>
            <a:ext cx="2331720" cy="658368"/>
          </a:xfrm>
          <a:prstGeom prst="roundRect">
            <a:avLst/>
          </a:prstGeom>
          <a:solidFill>
            <a:srgbClr val="FAF7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Latency / outage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648456"/>
            <a:ext cx="54864" cy="658368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63240" y="3648456"/>
            <a:ext cx="3977639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Score cannot be generated within SLA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3648456"/>
            <a:ext cx="54864" cy="658368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0" y="3648456"/>
            <a:ext cx="4343400" cy="658368"/>
          </a:xfrm>
          <a:prstGeom prst="roundRect">
            <a:avLst/>
          </a:prstGeom>
          <a:solidFill>
            <a:srgbClr val="F6F9F7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Fallback / queue / availability controls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648456"/>
            <a:ext cx="54864" cy="658368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453128"/>
            <a:ext cx="2331720" cy="658368"/>
          </a:xfrm>
          <a:prstGeom prst="roundRect">
            <a:avLst/>
          </a:prstGeom>
          <a:solidFill>
            <a:srgbClr val="FAF7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453128"/>
            <a:ext cx="54864" cy="658368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63240" y="4453128"/>
            <a:ext cx="3977639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Live population changes over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4453128"/>
            <a:ext cx="54864" cy="658368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23760" y="4453128"/>
            <a:ext cx="4343400" cy="658368"/>
          </a:xfrm>
          <a:prstGeom prst="roundRect">
            <a:avLst/>
          </a:prstGeom>
          <a:solidFill>
            <a:srgbClr val="F6F9F7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PSI, stability and performance monitoring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453128"/>
            <a:ext cx="54864" cy="658368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5257800"/>
            <a:ext cx="2331720" cy="658368"/>
          </a:xfrm>
          <a:prstGeom prst="roundRect">
            <a:avLst/>
          </a:prstGeom>
          <a:solidFill>
            <a:srgbClr val="FAF7F4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100" b="1">
                <a:solidFill>
                  <a:srgbClr val="121F34"/>
                </a:solidFill>
                <a:latin typeface="Aptos"/>
              </a:defRPr>
            </a:pPr>
            <a:r>
              <a:t>Decision inconsistency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257800"/>
            <a:ext cx="54864" cy="658368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63240" y="5257800"/>
            <a:ext cx="3977639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Manual overrides bypass intended strategy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5257800"/>
            <a:ext cx="54864" cy="658368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223760" y="5257800"/>
            <a:ext cx="4343400" cy="658368"/>
          </a:xfrm>
          <a:prstGeom prst="roundRect">
            <a:avLst/>
          </a:prstGeom>
          <a:solidFill>
            <a:srgbClr val="F6F9F7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050" b="1">
                <a:solidFill>
                  <a:srgbClr val="121F34"/>
                </a:solidFill>
                <a:latin typeface="Aptos"/>
              </a:defRPr>
            </a:pPr>
            <a:r>
              <a:t>Reason codes + override governance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257800"/>
            <a:ext cx="54864" cy="658368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4"/>
                </a:solidFill>
                <a:latin typeface="Aptos Display"/>
              </a:defRPr>
            </a:pPr>
            <a:r>
              <a:t>8. From Model Development to Production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A controlled lifecycle, not a one-time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600200"/>
            <a:ext cx="178308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200" b="1">
                <a:solidFill>
                  <a:srgbClr val="121F34"/>
                </a:solidFill>
                <a:latin typeface="Aptos"/>
              </a:defRPr>
            </a:pPr>
            <a:r>
              <a:t>01  DEVELOP</a:t>
            </a:r>
          </a:p>
          <a:p>
            <a:pPr>
              <a:spcBef>
                <a:spcPts val="600"/>
              </a:spcBef>
              <a:defRPr sz="1000">
                <a:solidFill>
                  <a:srgbClr val="28303C"/>
                </a:solidFill>
                <a:latin typeface="Aptos"/>
              </a:defRPr>
            </a:pPr>
            <a:r>
              <a:t>Define target</a:t>
            </a:r>
            <a:br/>
            <a:r>
              <a:t>Build features</a:t>
            </a:r>
            <a:br/>
            <a:r>
              <a:t>Train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4864" cy="2971800"/>
          </a:xfrm>
          <a:prstGeom prst="rect">
            <a:avLst/>
          </a:prstGeom>
          <a:solidFill>
            <a:srgbClr val="2B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30552" y="3063240"/>
            <a:ext cx="128016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58568" y="1600200"/>
            <a:ext cx="178308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200" b="1">
                <a:solidFill>
                  <a:srgbClr val="121F34"/>
                </a:solidFill>
                <a:latin typeface="Aptos"/>
              </a:defRPr>
            </a:pPr>
            <a:r>
              <a:t>02  VALIDATE</a:t>
            </a:r>
          </a:p>
          <a:p>
            <a:pPr>
              <a:spcBef>
                <a:spcPts val="600"/>
              </a:spcBef>
              <a:defRPr sz="1000">
                <a:solidFill>
                  <a:srgbClr val="28303C"/>
                </a:solidFill>
                <a:latin typeface="Aptos"/>
              </a:defRPr>
            </a:pPr>
            <a:r>
              <a:t>Discrimination</a:t>
            </a:r>
            <a:br/>
            <a:r>
              <a:t>Calibration</a:t>
            </a:r>
            <a:br/>
            <a:r>
              <a:t>Stability</a:t>
            </a:r>
            <a:br/>
            <a:r>
              <a:t>Bias / policy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600200"/>
            <a:ext cx="54864" cy="297180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069080" y="3063240"/>
            <a:ext cx="128016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97096" y="1600200"/>
            <a:ext cx="178308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200" b="1">
                <a:solidFill>
                  <a:srgbClr val="121F34"/>
                </a:solidFill>
                <a:latin typeface="Aptos"/>
              </a:defRPr>
            </a:pPr>
            <a:r>
              <a:t>03  PACKAGE</a:t>
            </a:r>
          </a:p>
          <a:p>
            <a:pPr>
              <a:spcBef>
                <a:spcPts val="600"/>
              </a:spcBef>
              <a:defRPr sz="1000">
                <a:solidFill>
                  <a:srgbClr val="28303C"/>
                </a:solidFill>
                <a:latin typeface="Aptos"/>
              </a:defRPr>
            </a:pPr>
            <a:r>
              <a:t>Freeze model</a:t>
            </a:r>
            <a:br/>
            <a:r>
              <a:t>Transformations</a:t>
            </a:r>
            <a:br/>
            <a:r>
              <a:t>Version +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600200"/>
            <a:ext cx="54864" cy="2971800"/>
          </a:xfrm>
          <a:prstGeom prst="rect">
            <a:avLst/>
          </a:prstGeom>
          <a:solidFill>
            <a:srgbClr val="C9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007608" y="3063240"/>
            <a:ext cx="128016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35624" y="1600200"/>
            <a:ext cx="178308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200" b="1">
                <a:solidFill>
                  <a:srgbClr val="121F34"/>
                </a:solidFill>
                <a:latin typeface="Aptos"/>
              </a:defRPr>
            </a:pPr>
            <a:r>
              <a:t>04  TEST</a:t>
            </a:r>
          </a:p>
          <a:p>
            <a:pPr>
              <a:spcBef>
                <a:spcPts val="600"/>
              </a:spcBef>
              <a:defRPr sz="1000">
                <a:solidFill>
                  <a:srgbClr val="28303C"/>
                </a:solidFill>
                <a:latin typeface="Aptos"/>
              </a:defRPr>
            </a:pPr>
            <a:r>
              <a:t>Back-testing</a:t>
            </a:r>
            <a:br/>
            <a:r>
              <a:t>Parallel run</a:t>
            </a:r>
            <a:br/>
            <a:r>
              <a:t>UAT</a:t>
            </a:r>
            <a:br/>
            <a:r>
              <a:t>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600200"/>
            <a:ext cx="54864" cy="29718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946136" y="3063240"/>
            <a:ext cx="128016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74152" y="1600200"/>
            <a:ext cx="178308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200" b="1">
                <a:solidFill>
                  <a:srgbClr val="121F34"/>
                </a:solidFill>
                <a:latin typeface="Aptos"/>
              </a:defRPr>
            </a:pPr>
            <a:r>
              <a:t>05  DEPLOY</a:t>
            </a:r>
          </a:p>
          <a:p>
            <a:pPr>
              <a:spcBef>
                <a:spcPts val="600"/>
              </a:spcBef>
              <a:defRPr sz="1000">
                <a:solidFill>
                  <a:srgbClr val="28303C"/>
                </a:solidFill>
                <a:latin typeface="Aptos"/>
              </a:defRPr>
            </a:pPr>
            <a:r>
              <a:t>API / batch</a:t>
            </a:r>
            <a:br/>
            <a:r>
              <a:t>Release approval</a:t>
            </a:r>
            <a:br/>
            <a:r>
              <a:t>Rollback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1600200"/>
            <a:ext cx="54864" cy="2971800"/>
          </a:xfrm>
          <a:prstGeom prst="rect">
            <a:avLst/>
          </a:prstGeom>
          <a:solidFill>
            <a:srgbClr val="36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884664" y="3063240"/>
            <a:ext cx="128016" cy="0"/>
          </a:xfrm>
          <a:prstGeom prst="line">
            <a:avLst/>
          </a:prstGeom>
          <a:ln w="25400">
            <a:solidFill>
              <a:srgbClr val="2B5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1600200"/>
            <a:ext cx="178308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200" b="1">
                <a:solidFill>
                  <a:srgbClr val="121F34"/>
                </a:solidFill>
                <a:latin typeface="Aptos"/>
              </a:defRPr>
            </a:pPr>
            <a:r>
              <a:t>06  MONITOR</a:t>
            </a:r>
          </a:p>
          <a:p>
            <a:pPr>
              <a:spcBef>
                <a:spcPts val="600"/>
              </a:spcBef>
              <a:defRPr sz="1000">
                <a:solidFill>
                  <a:srgbClr val="28303C"/>
                </a:solidFill>
                <a:latin typeface="Aptos"/>
              </a:defRPr>
            </a:pPr>
            <a:r>
              <a:t>Drift</a:t>
            </a:r>
            <a:br/>
            <a:r>
              <a:t>Performance</a:t>
            </a:r>
            <a:br/>
            <a:r>
              <a:t>Overrides</a:t>
            </a:r>
            <a:br/>
            <a:r>
              <a:t>Recalibration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600200"/>
            <a:ext cx="54864" cy="2971800"/>
          </a:xfrm>
          <a:prstGeom prst="rect">
            <a:avLst/>
          </a:prstGeom>
          <a:solidFill>
            <a:srgbClr val="AD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3000" y="4983480"/>
            <a:ext cx="987552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400" b="1">
                <a:solidFill>
                  <a:srgbClr val="121F34"/>
                </a:solidFill>
                <a:latin typeface="Aptos"/>
              </a:defRPr>
            </a:pPr>
            <a:r>
              <a:t>GOVERNANCE LOOP</a:t>
            </a:r>
          </a:p>
          <a:p>
            <a:pPr>
              <a:spcBef>
                <a:spcPts val="600"/>
              </a:spcBef>
              <a:defRPr sz="1050">
                <a:solidFill>
                  <a:srgbClr val="28303C"/>
                </a:solidFill>
                <a:latin typeface="Aptos"/>
              </a:defRPr>
            </a:pPr>
            <a:r>
              <a:t>Monitor → investigate → approve change → redeploy → validate again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983480"/>
            <a:ext cx="54864" cy="73152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9.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80"/>
                </a:solidFill>
                <a:latin typeface="Aptos"/>
              </a:defRPr>
            </a:pPr>
            <a:r>
              <a:t>What a credit analyst, model risk team and technology team should remember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99032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A model is not production-ready just because it is statistically strong.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Score generation must reproduce development logic exactly.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99816"/>
            <a:ext cx="502920" cy="502920"/>
          </a:xfrm>
          <a:prstGeom prst="ellipse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The decision engine combines model output with policy, strategy and controls.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22776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Production requires versioning, testing, monitoring, auditability and rollback.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82312"/>
            <a:ext cx="502920" cy="502920"/>
          </a:xfrm>
          <a:prstGeom prst="ellipse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764024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Implementation closes the loop: model → decision → outcome → monitoring →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80"/>
                </a:solidFill>
              </a:defRPr>
            </a:pPr>
            <a:r>
              <a:t>CREDIT RISK MODEL IMPLEMENTATION | CORPORATE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