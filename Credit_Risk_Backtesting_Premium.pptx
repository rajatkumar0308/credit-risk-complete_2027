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8E4F0"/>
                </a:solidFill>
                <a:latin typeface="Aptos"/>
              </a:defRPr>
            </a:pPr>
            <a:r>
              <a:t>Forecast vs Actual Defaults  •  Statistical Tests  •  Practical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3C6D3"/>
                </a:solidFill>
                <a:latin typeface="Aptos"/>
              </a:defRPr>
            </a:pPr>
            <a:r>
              <a:t>9.4  |  MODEL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93392"/>
            <a:ext cx="1508760" cy="182880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2331720"/>
            <a:ext cx="1508760" cy="1490472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0608" y="230428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8" y="261518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1605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AFC1D3"/>
                </a:solidFill>
                <a:latin typeface="Aptos"/>
              </a:defRPr>
            </a:pPr>
            <a:r>
              <a:t>PD / ECL / DEFAULT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5715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Backtesting asks a simple but powerful question: did the model perform as expected when reality arrived?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FC1D3"/>
                </a:solidFill>
                <a:latin typeface="Aptos"/>
              </a:defRPr>
            </a:pPr>
            <a:r>
              <a:t>Premium Corporate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What Is Backtesting?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54864" cy="1874519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17319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20040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Compare model forecasts made using information available at the time with outcomes that subsequently occurred.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54864" cy="1874519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17319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755648"/>
            <a:ext cx="320040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It tests whether model forecasts remain credible in realized conditions — not merely whether the model fit historical development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54864" cy="1874519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417319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755648"/>
            <a:ext cx="320040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Freeze the forecast vintage → define outcome horizon → observe actual defaults → compare → test statistical significance → investigate exceptions.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20440"/>
            <a:ext cx="1101852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7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43E"/>
                </a:solidFill>
                <a:latin typeface="Aptos"/>
              </a:defRPr>
            </a:pPr>
            <a:r>
              <a:t>A model that looks good in development can fail in live portfolios. Backtesting converts historical predictions into evidence about realized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Forecast vs Actual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43E"/>
                </a:solidFill>
                <a:latin typeface="Aptos"/>
              </a:defRPr>
            </a:pPr>
            <a:r>
              <a:t>The comparison must be like-for-like: same population, forecast vintage, horizon and default definition.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385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9796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385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FORECAST VINTAGE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PD forecast made at time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2402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19385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199796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385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PERFORMANCE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146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Observe defaults over t → t+12m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402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73736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19385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199796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385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ACTUAL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146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Count realized defaults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886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8678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769AA"/>
                </a:solidFill>
                <a:latin typeface="Aptos"/>
              </a:defRPr>
            </a:pPr>
            <a:r>
              <a:t>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5312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Forecast default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886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398678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94C4C"/>
                </a:solidFill>
                <a:latin typeface="Aptos"/>
              </a:defRPr>
            </a:pPr>
            <a:r>
              <a:t>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45312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Actual default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86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8678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49A2A"/>
                </a:solidFill>
                <a:latin typeface="Aptos"/>
              </a:defRPr>
            </a:pPr>
            <a:r>
              <a:t>+0.8 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5312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Absolute gap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886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986784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94C4C"/>
                </a:solidFill>
                <a:latin typeface="Aptos"/>
              </a:defRPr>
            </a:pPr>
            <a:r>
              <a:t>16.0%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4531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Relative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BUSINESS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Why Do We Backtest?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" cy="178308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17319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MODEL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55648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Detect deterioration, bias and instability before they affect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" cy="178308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17319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CREDIT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55648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Check whether risk segmentation remains meaningful for underwriting and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54864" cy="17830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56616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ECL / PROVISIONING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904487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Assess whether PD or loss forecasts systematically diverge from realized outcomes.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54864" cy="178308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56616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CAPITAL &amp; RISK APPETITE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904487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Provide evidence for model use, overlays, monitoring and governance.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43E"/>
                </a:solidFill>
                <a:latin typeface="Aptos"/>
              </a:defRPr>
            </a:pPr>
            <a:r>
              <a:t>Backtesting is a feedback loop — forecast → observe → compare → explain → remediate → monitor.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62763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6870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Forecast vintage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0574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46304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53512" y="162763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16870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031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Target &amp;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20574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46304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73752" y="162763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16870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031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Actual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20574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46304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93992" y="162763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8856" y="16870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031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Forecast vs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20574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146304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14232" y="162763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16870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1031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Statistical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20574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146304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634472" y="162763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89336" y="16870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1031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Remediation / monitoring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657600"/>
            <a:ext cx="10789920" cy="13716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8862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C95"/>
                </a:solidFill>
                <a:latin typeface="Aptos"/>
              </a:defRPr>
            </a:pPr>
            <a:r>
              <a:t>CONTROL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379476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Aptos"/>
              </a:defRPr>
            </a:pPr>
            <a:r>
              <a:t>Do not move the goalposts after observing outcomes. The forecast vintage, target definition, horizon and data cut must be documented before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— Step-by-Step Numerical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Illustrative PD backtest: 10,000 loans with a 12-month performance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5506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769AA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Loans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5448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5506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8C95"/>
                </a:solidFill>
                <a:latin typeface="Aptos"/>
              </a:defRPr>
            </a:pPr>
            <a:r>
              <a:t>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2140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Forecast PD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55448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165506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49A2A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212140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Expected defaults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55448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65506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94C4C"/>
                </a:solidFill>
                <a:latin typeface="Aptos"/>
              </a:defRPr>
            </a:pPr>
            <a:r>
              <a:t>580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12140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Actual defaults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34640"/>
            <a:ext cx="5166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834640"/>
            <a:ext cx="54864" cy="2057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297180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STEP 1 —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310128"/>
            <a:ext cx="484632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Expected defaults = 10,000 × 5.0%</a:t>
            </a:r>
            <a:br/>
            <a:r>
              <a:t>= 500 defaults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834640"/>
            <a:ext cx="5166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2834640"/>
            <a:ext cx="54864" cy="205740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97180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STEP 2 — 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310128"/>
            <a:ext cx="484632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Actual default rate = 580 / 10,000</a:t>
            </a:r>
            <a:br/>
            <a:r>
              <a:t>= 5.8%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243E"/>
                </a:solidFill>
                <a:latin typeface="Aptos"/>
              </a:defRPr>
            </a:pPr>
            <a:r>
              <a:t>Absolute forecast error = 5.8% − 5.0% = +0.8 percentage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STATISTICAL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Statistical Tests in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78308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BINOMIAL / PROPORTION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Is observed default rate consistent with the forecast PD?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7830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7160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POISSON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Useful for count-based events when defaults are relatively infrequent.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83280"/>
            <a:ext cx="54864" cy="178308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52044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CHI-SQUARE / GOODNESS-OF-FIT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858768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Compare observed and expected counts across groups or buckets.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4864" cy="178308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52044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CALIBRATION / ERROR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858768"/>
            <a:ext cx="49377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Quantify forecast accuracy using gaps, Brier-type measures or calibration diagnostics.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No single test is sufficient. Test choice depends on forecast type, sample size, event frequency, horizon and model purpose.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Statistical Test — Binomial Approximation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Illustrative test: expected PD p = 5.0%; n = 10,000; observed defaults = 580.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30352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Expected defaults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830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0243E"/>
                </a:solidFill>
                <a:latin typeface="Aptos"/>
              </a:defRPr>
            </a:pPr>
            <a:r>
              <a:t>n × p = 10,000 × 0.05 = 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530352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Standard deviation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24612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0243E"/>
                </a:solidFill>
                <a:latin typeface="Aptos"/>
              </a:defRPr>
            </a:pPr>
            <a:r>
              <a:t>√[n p (1−p)] ≈ 21.8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00200"/>
            <a:ext cx="498348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19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Z-SCORE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317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0243E"/>
                </a:solidFill>
                <a:latin typeface="Aptos"/>
              </a:defRPr>
            </a:pPr>
            <a:r>
              <a:t>(580 − 500) / 21.8 ≈ 3.67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67085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7472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Aptos"/>
              </a:defRPr>
            </a:pPr>
            <a:r>
              <a:t>The observed count is materially above the simple forecast benchmark under this illustrative approximation.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434840"/>
            <a:ext cx="39319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3" y="4494276"/>
            <a:ext cx="38221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Investigate — do not jump straight to redevelopment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PORTFOLIO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Across Risk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43E"/>
                </a:solidFill>
                <a:latin typeface="Aptos"/>
              </a:defRPr>
            </a:pPr>
            <a:r>
              <a:t>0–2%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357116"/>
            <a:ext cx="411480" cy="123444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4365345"/>
            <a:ext cx="411480" cy="115214"/>
          </a:xfrm>
          <a:prstGeom prst="round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94C4C"/>
                </a:solidFill>
                <a:latin typeface="Aptos"/>
              </a:defRPr>
            </a:pPr>
            <a:r>
              <a:t>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188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43E"/>
                </a:solidFill>
                <a:latin typeface="Aptos"/>
              </a:defRPr>
            </a:pPr>
            <a:r>
              <a:t>2–5%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192524"/>
            <a:ext cx="411480" cy="28803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0" y="4151376"/>
            <a:ext cx="411480" cy="329184"/>
          </a:xfrm>
          <a:prstGeom prst="round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3.5%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94C4C"/>
                </a:solidFill>
                <a:latin typeface="Aptos"/>
              </a:defRPr>
            </a:pPr>
            <a:r>
              <a:t>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188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43E"/>
                </a:solidFill>
                <a:latin typeface="Aptos"/>
              </a:defRPr>
            </a:pPr>
            <a:r>
              <a:t>5–10%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3863340"/>
            <a:ext cx="411480" cy="6172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0" y="3698748"/>
            <a:ext cx="411480" cy="781812"/>
          </a:xfrm>
          <a:prstGeom prst="round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94C4C"/>
                </a:solidFill>
                <a:latin typeface="Aptos"/>
              </a:defRPr>
            </a:pPr>
            <a:r>
              <a:t>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188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43E"/>
                </a:solidFill>
                <a:latin typeface="Aptos"/>
              </a:defRPr>
            </a:pPr>
            <a:r>
              <a:t>10–20%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328416"/>
            <a:ext cx="411480" cy="1152144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3081528"/>
            <a:ext cx="411480" cy="1399032"/>
          </a:xfrm>
          <a:prstGeom prst="round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14.0%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94C4C"/>
                </a:solidFill>
                <a:latin typeface="Aptos"/>
              </a:defRPr>
            </a:pPr>
            <a:r>
              <a:t>17.0%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1188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43E"/>
                </a:solidFill>
                <a:latin typeface="Aptos"/>
              </a:defRPr>
            </a:pPr>
            <a:r>
              <a:t>20%+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423160"/>
            <a:ext cx="411480" cy="205740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69880" y="2011680"/>
            <a:ext cx="411480" cy="2468880"/>
          </a:xfrm>
          <a:prstGeom prst="round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769AA"/>
                </a:solidFill>
                <a:latin typeface="Aptos"/>
              </a:defRPr>
            </a:pPr>
            <a:r>
              <a:t>25.0%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94C4C"/>
                </a:solidFill>
                <a:latin typeface="Aptos"/>
              </a:defRPr>
            </a:pPr>
            <a:r>
              <a:t>30.0%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7492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07492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C94C4C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02920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243E"/>
                </a:solidFill>
                <a:latin typeface="Aptos"/>
              </a:defRPr>
            </a:pPr>
            <a:r>
              <a:t>Pattern: actual defaults exceed forecast progressively in higher-risk bands — a potential calibration / segmentation issue.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ILLUSTRATIVE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Case Study — Retail PD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335024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769AA"/>
                </a:solidFill>
                <a:latin typeface="Aptos"/>
              </a:defRPr>
            </a:pPr>
            <a:r>
              <a:t>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80136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335024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8C95"/>
                </a:solidFill>
                <a:latin typeface="Aptos"/>
              </a:defRPr>
            </a:pPr>
            <a:r>
              <a:t>4.5%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80136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Forecast 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1335024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49A2A"/>
                </a:solidFill>
                <a:latin typeface="Aptos"/>
              </a:defRPr>
            </a:pPr>
            <a:r>
              <a:t>2,250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80136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Expected defaults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335024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94C4C"/>
                </a:solidFill>
                <a:latin typeface="Aptos"/>
              </a:defRPr>
            </a:pPr>
            <a:r>
              <a:t>2,520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80136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Actual defaults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23444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335024"/>
            <a:ext cx="1691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94C4C"/>
                </a:solidFill>
                <a:latin typeface="Aptos"/>
              </a:defRPr>
            </a:pPr>
            <a:r>
              <a:t>+0.54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801368"/>
            <a:ext cx="1691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60604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606040"/>
            <a:ext cx="54864" cy="21488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274320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WHAT THE NUMBERS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3081528"/>
            <a:ext cx="48463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Actual default rate = 2,520 / 50,000 = 5.04%</a:t>
            </a:r>
            <a:br/>
            <a:br/>
            <a:r>
              <a:t>Forecast = 4.50%</a:t>
            </a:r>
            <a:br/>
            <a:br/>
            <a:r>
              <a:t>Absolute gap = +0.54 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60604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2606040"/>
            <a:ext cx="54864" cy="21488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274320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VALIDATOR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3081528"/>
            <a:ext cx="48463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1. Check vintage and performance maturity</a:t>
            </a:r>
            <a:br/>
            <a:r>
              <a:t>2. Investigate portfolio mix / macro conditions</a:t>
            </a:r>
            <a:br/>
            <a:r>
              <a:t>3. Test statistical significance</a:t>
            </a:r>
            <a:br/>
            <a:r>
              <a:t>4. Check implementation</a:t>
            </a:r>
            <a:br/>
            <a:r>
              <a:t>5. Set monitoring / remediation 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349240"/>
            <a:ext cx="585216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5264" y="5408676"/>
            <a:ext cx="57424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67085"/>
                </a:solidFill>
                <a:latin typeface="Aptos"/>
              </a:defRPr>
            </a:pPr>
            <a:r>
              <a:t>Illustrative — not a claim about any specific bank or portfolio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DIAGNOSTIC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Case Study — Why a Backtest Miss Can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44168" y="1691640"/>
            <a:ext cx="82296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1751076"/>
            <a:ext cx="7132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43E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PD = 4.5%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78808" y="1691640"/>
            <a:ext cx="82296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1751076"/>
            <a:ext cx="7132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T+3m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14884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43E"/>
                </a:solidFill>
                <a:latin typeface="Aptos"/>
              </a:defRPr>
            </a:pPr>
            <a:r>
              <a:t>Portfolio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54203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Higher-risk mix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13448" y="1691640"/>
            <a:ext cx="82296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1751076"/>
            <a:ext cx="7132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T+6m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43E"/>
                </a:solidFill>
                <a:latin typeface="Aptos"/>
              </a:defRPr>
            </a:pPr>
            <a:r>
              <a:t>Macro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4203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Stress increases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48088" y="1691640"/>
            <a:ext cx="82296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1751076"/>
            <a:ext cx="7132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T+12m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4884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43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54203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Actual = 5.04%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657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657600"/>
            <a:ext cx="54864" cy="14630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947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MODEL ISSUE?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4133087"/>
            <a:ext cx="306324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Possible systematic under-prediction.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657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657600"/>
            <a:ext cx="54864" cy="14630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37947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ENVIRONMENT?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133087"/>
            <a:ext cx="306324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Macro / mix / vintage effect.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3657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9" y="3657600"/>
            <a:ext cx="54864" cy="14630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37947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DATA / IMPLEMENTATION?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4133087"/>
            <a:ext cx="306324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Outcome or production-score mismatch.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08C95"/>
                </a:solidFill>
                <a:latin typeface="Aptos"/>
              </a:defRPr>
            </a:pPr>
            <a:r>
              <a:t>Backtesting identifies the signal; diagnosis determines the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Red Flags &amp; 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691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MOVING THE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Changing horizon after seeing outcomes</a:t>
            </a:r>
            <a:br/>
            <a:r>
              <a:t>→ Biased conclusion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691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71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DATA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09928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Using information unavailable at forecast date</a:t>
            </a:r>
            <a:br/>
            <a:r>
              <a:t>→ Artificially good backtest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234440"/>
            <a:ext cx="54864" cy="16916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371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IMMATURE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1709928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Not enough time for defaults to emerge</a:t>
            </a:r>
            <a:br/>
            <a:r>
              <a:t>→ False comfort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54864" cy="16916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3832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SAMPLE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721608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Only successful / surviving accounts</a:t>
            </a:r>
            <a:br/>
            <a:r>
              <a:t>→ Selection bias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246120"/>
            <a:ext cx="54864" cy="16916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3832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FORECAST VINTAGE MIX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721608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Mixing forecasts made at different dates</a:t>
            </a:r>
            <a:br/>
            <a:r>
              <a:t>→ Invalid comparison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2461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3246120"/>
            <a:ext cx="54864" cy="16916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33832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NO DIAGNOSTIC 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3721608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Gap reported but not explained</a:t>
            </a:r>
            <a:br/>
            <a:r>
              <a:t>→ Weak governance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BUSINESS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— Decision-Maker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6916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CREDIT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49377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Is risk segmentation still behaving as expected?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6916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7160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BANKER / 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49377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Do portfolio forecasts support current risk appetite and controls?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54864" cy="16916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42900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767328"/>
            <a:ext cx="49377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Are expected losses and planning assumptions tracking realized outcomes?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9184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4864" cy="1691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42900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INVESTOR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767328"/>
            <a:ext cx="49377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Are disclosed risk assumptions consistent with realized portfolio behaviour?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The same backtest can support different decisions — but the forecast definition and evidence must remain consistent.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92024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380744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234440"/>
            <a:ext cx="438912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380744"/>
            <a:ext cx="42428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Possible 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234440"/>
            <a:ext cx="420624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380744"/>
            <a:ext cx="405993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Typical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916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847088"/>
            <a:ext cx="17007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Forecast ≈ 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691640"/>
            <a:ext cx="4389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2928" y="1847088"/>
            <a:ext cx="416966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No material aggregate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91640"/>
            <a:ext cx="4206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1847088"/>
            <a:ext cx="398678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Continue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060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761488"/>
            <a:ext cx="17007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Forecast &lt; Actual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606040"/>
            <a:ext cx="4389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2761488"/>
            <a:ext cx="416966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Potential under-prediction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606040"/>
            <a:ext cx="4206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7" y="2761488"/>
            <a:ext cx="398678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Investigate calibration, mix, macro, implementation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204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675888"/>
            <a:ext cx="17007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Forecast &gt; Actual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520440"/>
            <a:ext cx="4389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3675888"/>
            <a:ext cx="416966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Potential over-prediction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520440"/>
            <a:ext cx="4206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3675888"/>
            <a:ext cx="398678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Investigate conservatism, portfolio change,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4348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590288"/>
            <a:ext cx="17007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Aggregate OK; bands fail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434840"/>
            <a:ext cx="4389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4590288"/>
            <a:ext cx="416966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Offsetting errors / segmentation issue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4434840"/>
            <a:ext cx="4206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4927" y="4590288"/>
            <a:ext cx="3986783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Segment-level diagnostics and recalibration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5623560"/>
            <a:ext cx="630936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80944" y="5682996"/>
            <a:ext cx="61996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Do not treat a backtest exception as automatic proof of model failure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End-to-End Backtesting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FREEZE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105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2536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9736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DEFINE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8105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85032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42232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MATCH POPULATION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18105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67528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24728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9592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OBSERVE ACTUAL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8105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0024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07224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TEST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18105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20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18105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15016" y="1417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872216" y="158191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7080" y="164134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1993392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ACT &amp; MONITOR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246120"/>
            <a:ext cx="10972800" cy="14173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49300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C95"/>
                </a:solidFill>
                <a:latin typeface="Aptos"/>
              </a:defRPr>
            </a:pPr>
            <a:r>
              <a:t>EVIDENCE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3383280"/>
            <a:ext cx="8778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243E"/>
                </a:solidFill>
                <a:latin typeface="Aptos"/>
              </a:defRPr>
            </a:pPr>
            <a:r>
              <a:t>Forecast vintage • data cut • target / horizon • expected outcomes • actual outcomes • statistical tests • exceptions • root cause • remediation • monitoring trigger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3035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Closed-loop governance: material deterioration, portfolio change or model change can trigger deeper review / revalidation.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Executive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 |  MODEL VALIDATION &amp; RISK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202436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12471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Backtesting is a reality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115568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Compare forecasts made at the time with subsequent realized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7568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13512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0574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Like-for-like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48256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Freeze vintage, target, population and horizon before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8376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067812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9008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A gap is a signal — not a 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980944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Statistical evidence and diagnostic analysis are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41064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000500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22776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Aggregate accuracy can hide segment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913632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Test risk bands, vintages, products and economic periods.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7375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93318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5546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Backtesting should change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84632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Translate findings into monitoring, remediation, overlays or model review where appropriate.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806440"/>
            <a:ext cx="10789920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943600"/>
            <a:ext cx="10424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BOTTOM LINE  →  A model earns trust not when it predicts well in development, but when its forecasts stand up to realized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