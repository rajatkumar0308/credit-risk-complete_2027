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EXECUTIVE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Basel II: the architecture behind risk-sensitive bank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25880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F31"/>
                </a:solidFill>
                <a:latin typeface="Aptos"/>
              </a:defRPr>
            </a:pPr>
            <a:r>
              <a:t>From a simple capital ratio to a risk-sensitive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901952"/>
            <a:ext cx="6309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B6978"/>
                </a:solidFill>
                <a:latin typeface="Aptos"/>
              </a:defRPr>
            </a:pPr>
            <a:r>
              <a:t>Basel II links regulatory capital to the riskiness of exposures—and adds supervisory review and market discipline.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6400800" cy="960120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E7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62072"/>
            <a:ext cx="5897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1F31"/>
                </a:solidFill>
                <a:latin typeface="Aptos"/>
              </a:defRPr>
            </a:pPr>
            <a:r>
              <a:t>Capital Adequacy Ratio  =  Eligible Regulatory Capital  ÷  Risk-Weighted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55264"/>
            <a:ext cx="5897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B6978"/>
                </a:solidFill>
                <a:latin typeface="Aptos"/>
              </a:defRPr>
            </a:pPr>
            <a:r>
              <a:t>Basel II minimum total capital ratio: 8% of RWA (subject to implementation rules / buffers).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389888"/>
            <a:ext cx="1325880" cy="1143000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1536192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Pillar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1984248"/>
            <a:ext cx="1106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Minimum capital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1389888"/>
            <a:ext cx="1325880" cy="1143000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536192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Pillar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984248"/>
            <a:ext cx="1106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Supervision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23576" y="1389888"/>
            <a:ext cx="1325880" cy="1143000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3303" y="1536192"/>
            <a:ext cx="11064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Pillar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3303" y="1984248"/>
            <a:ext cx="11064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Disclosure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88036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The economic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273552"/>
            <a:ext cx="914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3273552"/>
            <a:ext cx="64008" cy="107899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34015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749039"/>
            <a:ext cx="6400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42B34"/>
                </a:solidFill>
                <a:latin typeface="Aptos"/>
              </a:defRPr>
            </a:pPr>
            <a:r>
              <a:t>Loan / bond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3273552"/>
            <a:ext cx="914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9640" y="3273552"/>
            <a:ext cx="64008" cy="107899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4232" y="34015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3749039"/>
            <a:ext cx="6400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42B34"/>
                </a:solidFill>
                <a:latin typeface="Aptos"/>
              </a:defRPr>
            </a:pPr>
            <a:r>
              <a:t>PD • LGD • EAD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3273552"/>
            <a:ext cx="914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3273552"/>
            <a:ext cx="64008" cy="107899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34015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RWA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749039"/>
            <a:ext cx="6400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42B34"/>
                </a:solidFill>
                <a:latin typeface="Aptos"/>
              </a:defRPr>
            </a:pPr>
            <a:r>
              <a:t>Risk weight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52760" y="3273552"/>
            <a:ext cx="9144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52760" y="3273552"/>
            <a:ext cx="64008" cy="107899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17352" y="340156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Capital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3749039"/>
            <a:ext cx="6400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42B34"/>
                </a:solidFill>
                <a:latin typeface="Aptos"/>
              </a:defRPr>
            </a:pPr>
            <a:r>
              <a:t>8%+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0" y="3813048"/>
            <a:ext cx="109727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64040" y="3813048"/>
            <a:ext cx="109727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515600" y="3813048"/>
            <a:ext cx="109728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4041648"/>
            <a:ext cx="3063240" cy="1417320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041648"/>
            <a:ext cx="64008" cy="141732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169663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BANKER LENS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517136"/>
            <a:ext cx="2788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42B34"/>
                </a:solidFill>
                <a:latin typeface="Aptos"/>
              </a:defRPr>
            </a:pPr>
            <a:r>
              <a:t>“How much capital does this exposure consume?”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22191" y="4041648"/>
            <a:ext cx="3063240" cy="1417320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22191" y="4041648"/>
            <a:ext cx="64008" cy="1417320"/>
          </a:xfrm>
          <a:prstGeom prst="rect">
            <a:avLst/>
          </a:prstGeom>
          <a:solidFill>
            <a:srgbClr val="B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6783" y="4169663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CFO LENS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6783" y="4517136"/>
            <a:ext cx="278892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42B34"/>
                </a:solidFill>
                <a:latin typeface="Aptos"/>
              </a:defRPr>
            </a:pPr>
            <a:r>
              <a:t>“What does risk-adjusted capital mean for returns and growth?”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77456" y="4498848"/>
            <a:ext cx="4462272" cy="960120"/>
          </a:xfrm>
          <a:prstGeom prst="roundRect">
            <a:avLst/>
          </a:prstGeom>
          <a:solidFill>
            <a:srgbClr val="F8E9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77456" y="4498848"/>
            <a:ext cx="64008" cy="960120"/>
          </a:xfrm>
          <a:prstGeom prst="rect">
            <a:avLst/>
          </a:prstGeom>
          <a:solidFill>
            <a:srgbClr val="AE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42048" y="4626864"/>
            <a:ext cx="4187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INVESTOR / SUPERVISOR LENS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42048" y="4974336"/>
            <a:ext cx="418795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Is capital resilient, risk-sensitive and transparently disclosed?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1 • WHAT → WHY → HOW → 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What is Basel 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3429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F31"/>
                </a:solidFill>
                <a:latin typeface="Aptos"/>
              </a:defRPr>
            </a:pPr>
            <a:r>
              <a:t>A global banking framework that makes capital requirements more sensitive to credit, operational and market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120700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527048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F31"/>
                </a:solidFill>
                <a:latin typeface="Aptos"/>
              </a:defRPr>
            </a:pPr>
            <a:r>
              <a:t>The objective was to align regulatory capital more closely with underlying risk and strengthen risk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20700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527048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F31"/>
                </a:solidFill>
                <a:latin typeface="Aptos"/>
              </a:defRPr>
            </a:pPr>
            <a:r>
              <a:t>Three pillars: minimum capital, supervisory review, and market discipline.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1800"/>
            <a:ext cx="10972800" cy="205740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Basel I → Basel II 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639312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639312"/>
            <a:ext cx="64008" cy="960120"/>
          </a:xfrm>
          <a:prstGeom prst="rect">
            <a:avLst/>
          </a:prstGeom>
          <a:solidFill>
            <a:srgbClr val="3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7673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BASEL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21945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42B34"/>
                </a:solidFill>
                <a:latin typeface="Aptos"/>
              </a:defRPr>
            </a:pPr>
            <a:r>
              <a:t>Broad risk buckets; limited sensitivity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01568" y="4114800"/>
            <a:ext cx="576071" cy="0"/>
          </a:xfrm>
          <a:prstGeom prst="line">
            <a:avLst/>
          </a:prstGeom>
          <a:ln w="27940">
            <a:solidFill>
              <a:srgbClr val="BE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96512" y="3639312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96512" y="3639312"/>
            <a:ext cx="64008" cy="96012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376732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BASEL 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114800"/>
            <a:ext cx="24688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42B34"/>
                </a:solidFill>
                <a:latin typeface="Aptos"/>
              </a:defRPr>
            </a:pPr>
            <a:r>
              <a:t>Risk-sensitive credit approaches + Pillars 2/3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8" y="4114800"/>
            <a:ext cx="576072" cy="0"/>
          </a:xfrm>
          <a:prstGeom prst="line">
            <a:avLst/>
          </a:prstGeom>
          <a:ln w="27940">
            <a:solidFill>
              <a:srgbClr val="BE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62672" y="3639312"/>
            <a:ext cx="3337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62672" y="3639312"/>
            <a:ext cx="64008" cy="960120"/>
          </a:xfrm>
          <a:prstGeom prst="rect">
            <a:avLst/>
          </a:prstGeom>
          <a:solidFill>
            <a:srgbClr val="AE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27264" y="376732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4114800"/>
            <a:ext cx="30632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42B34"/>
                </a:solidFill>
                <a:latin typeface="Aptos"/>
              </a:defRPr>
            </a:pPr>
            <a:r>
              <a:t>Capital allocation becomes a risk-adjusted business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85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So what?  A loan is no longer “just ₹100 of exposure.” Its regulatory capital footprint depends on counterparty risk, collateral / guarantees, methodology and supervisory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10972800" cy="804672"/>
          </a:xfrm>
          <a:prstGeom prst="roundRect">
            <a:avLst/>
          </a:prstGeom>
          <a:solidFill>
            <a:srgbClr val="14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85816"/>
            <a:ext cx="10515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So what?  A loan is no longer “just ₹100 of exposure.” Its regulatory capital footprint depends on counterparty risk, collateral / guarantees, methodology and supervisory rules.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2 •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The Three Pillars: capital, supervision,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3401568" cy="4315968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PILLAR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1F31"/>
                </a:solidFill>
                <a:latin typeface="Aptos"/>
              </a:defRPr>
            </a:pPr>
            <a:r>
              <a:t>Minimum Capital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Quantify credit, market and operational risk; translate risk into regulatory capital.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096512"/>
            <a:ext cx="2971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07E8A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Banker: capital consumption</a:t>
            </a:r>
            <a:br/>
            <a:r>
              <a:t>CFO: pricing / growth</a:t>
            </a:r>
            <a:br/>
            <a:r>
              <a:t>Risk: model &amp; data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325880"/>
            <a:ext cx="3401568" cy="4315968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55448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05C91"/>
                </a:solidFill>
                <a:latin typeface="Aptos"/>
              </a:defRPr>
            </a:pPr>
            <a:r>
              <a:t>PILLAR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1920240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1F31"/>
                </a:solidFill>
                <a:latin typeface="Aptos"/>
              </a:defRPr>
            </a:pPr>
            <a:r>
              <a:t>Supervisory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97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Banks assess overall capital adequacy; supervisors challenge governance, risk appetite and ICAAP.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4096512"/>
            <a:ext cx="2971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42793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05C91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590288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Supervisor: challenge</a:t>
            </a:r>
            <a:br/>
            <a:r>
              <a:t>Board: risk appetite</a:t>
            </a:r>
            <a:br/>
            <a:r>
              <a:t>Management: remediation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325880"/>
            <a:ext cx="3401568" cy="4315968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1554480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8E37"/>
                </a:solidFill>
                <a:latin typeface="Aptos"/>
              </a:defRPr>
            </a:pPr>
            <a:r>
              <a:t>PILLAR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1920240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1F31"/>
                </a:solidFill>
                <a:latin typeface="Aptos"/>
              </a:defRPr>
            </a:pPr>
            <a:r>
              <a:t>Market Discipline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697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Disclosure gives investors and counterparties information to evaluate risk, capital and exposures.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4096512"/>
            <a:ext cx="2971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4279392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8E37"/>
                </a:solidFill>
                <a:latin typeface="Aptos"/>
              </a:defRPr>
            </a:pPr>
            <a:r>
              <a:t>SO WHAT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590288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F31"/>
                </a:solidFill>
                <a:latin typeface="Aptos"/>
              </a:defRPr>
            </a:pPr>
            <a:r>
              <a:t>Investor: transparency</a:t>
            </a:r>
            <a:br/>
            <a:r>
              <a:t>Treasury: confidence</a:t>
            </a:r>
            <a:br/>
            <a:r>
              <a:t>Market: discipline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13632" y="5806440"/>
            <a:ext cx="402336" cy="0"/>
          </a:xfrm>
          <a:prstGeom prst="line">
            <a:avLst/>
          </a:prstGeom>
          <a:ln w="1778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07808" y="5806440"/>
            <a:ext cx="402336" cy="0"/>
          </a:xfrm>
          <a:prstGeom prst="line">
            <a:avLst/>
          </a:prstGeom>
          <a:ln w="1778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59893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B6978"/>
                </a:solidFill>
                <a:latin typeface="Aptos"/>
              </a:defRPr>
            </a:pPr>
            <a:r>
              <a:t>Together: minimum capital + internal risk assessment + external transparency → a more complete prudential framework.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2 •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Pillars in action: one corporate loan, three lines of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417320"/>
            <a:ext cx="2788920" cy="960120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609344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₹100m CORPORATE LOAN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08192" y="2395728"/>
            <a:ext cx="0" cy="210312"/>
          </a:xfrm>
          <a:prstGeom prst="line">
            <a:avLst/>
          </a:prstGeom>
          <a:ln w="25400">
            <a:solidFill>
              <a:srgbClr val="007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743200"/>
            <a:ext cx="10332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077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PILLAR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880360"/>
            <a:ext cx="8229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Calculate RWA → minimum capital requirement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8192" y="2395728"/>
            <a:ext cx="0" cy="1353311"/>
          </a:xfrm>
          <a:prstGeom prst="line">
            <a:avLst/>
          </a:prstGeom>
          <a:ln w="25400">
            <a:solidFill>
              <a:srgbClr val="30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886200"/>
            <a:ext cx="10332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50791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05C91"/>
                </a:solidFill>
                <a:latin typeface="Aptos"/>
              </a:defRPr>
            </a:pPr>
            <a:r>
              <a:t>PILLAR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023360"/>
            <a:ext cx="8229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Challenge concentration, stress losses, governance and capital adequacy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08192" y="2395728"/>
            <a:ext cx="0" cy="2496312"/>
          </a:xfrm>
          <a:prstGeom prst="line">
            <a:avLst/>
          </a:prstGeom>
          <a:ln w="25400">
            <a:solidFill>
              <a:srgbClr val="BE8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5029200"/>
            <a:ext cx="103327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9379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8E37"/>
                </a:solidFill>
                <a:latin typeface="Aptos"/>
              </a:defRPr>
            </a:pPr>
            <a:r>
              <a:t>PILLAR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166360"/>
            <a:ext cx="8229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Disclose material risk / capital information to the market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6016752"/>
            <a:ext cx="10332720" cy="384048"/>
          </a:xfrm>
          <a:prstGeom prst="roundRect">
            <a:avLst/>
          </a:prstGeom>
          <a:solidFill>
            <a:srgbClr val="F8E9E8"/>
          </a:solidFill>
          <a:ln w="10160">
            <a:solidFill>
              <a:srgbClr val="F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99048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E4643"/>
                </a:solidFill>
                <a:latin typeface="Aptos"/>
              </a:defRPr>
            </a:pPr>
            <a:r>
              <a:t>Red flag: treating Pillar 1 as the whole Basel II framework misses governance, concentration, stress and disclosure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3 •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Basel II Standardized Approach: risk weights translate exposure into RWA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F31"/>
                </a:solidFill>
                <a:latin typeface="Aptos"/>
              </a:defRPr>
            </a:pPr>
            <a:r>
              <a:t>A prescribed, relatively simple method using supervisory risk weights—often linked to external ratings / exposure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6771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78608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F31"/>
                </a:solidFill>
                <a:latin typeface="Aptos"/>
              </a:defRPr>
            </a:pPr>
            <a:r>
              <a:t>Provides a consistent regulatory floor without requiring a bank to build its own PD/LGD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80160"/>
            <a:ext cx="6903720" cy="841248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E7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481328"/>
            <a:ext cx="6446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41F31"/>
                </a:solidFill>
                <a:latin typeface="Aptos"/>
              </a:defRPr>
            </a:pPr>
            <a:r>
              <a:t>RWA  =  Exposure × Regulatory Risk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B6978"/>
                </a:solidFill>
                <a:latin typeface="Aptos"/>
              </a:defRPr>
            </a:pPr>
            <a:r>
              <a:t>Illustrative example — risk weights are simplified for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788920"/>
            <a:ext cx="1965960" cy="438912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898648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788920"/>
            <a:ext cx="1325880" cy="438912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898648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788920"/>
            <a:ext cx="1554480" cy="438912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2898648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Illustrative RW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788920"/>
            <a:ext cx="1325880" cy="438912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898648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RWA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227832"/>
            <a:ext cx="196596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3374136"/>
            <a:ext cx="18562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42B34"/>
                </a:solidFill>
                <a:latin typeface="Aptos"/>
              </a:defRPr>
            </a:pPr>
            <a:r>
              <a:t>Sovereign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227832"/>
            <a:ext cx="13258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374136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₹100m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3227832"/>
            <a:ext cx="15544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18704" y="3374136"/>
            <a:ext cx="14447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227832"/>
            <a:ext cx="13258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3184" y="3374136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₹0m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758183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904487"/>
            <a:ext cx="18562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42B34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758183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3904487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₹100m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58183"/>
            <a:ext cx="15544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3904487"/>
            <a:ext cx="14447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3758183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3904487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₹20m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288536"/>
            <a:ext cx="196596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4434840"/>
            <a:ext cx="18562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42B34"/>
                </a:solidFill>
                <a:latin typeface="Aptos"/>
              </a:defRPr>
            </a:pPr>
            <a:r>
              <a:t>Corporate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288536"/>
            <a:ext cx="13258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2824" y="4434840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₹100m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4288536"/>
            <a:ext cx="15544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18704" y="4434840"/>
            <a:ext cx="14447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4288536"/>
            <a:ext cx="1325880" cy="53035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73184" y="4434840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₹100m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818888"/>
            <a:ext cx="19659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965192"/>
            <a:ext cx="185623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42B34"/>
                </a:solidFill>
                <a:latin typeface="Aptos"/>
              </a:defRPr>
            </a:pPr>
            <a:r>
              <a:t>Higher-risk corporate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4818888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92824" y="4965192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₹100m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4818888"/>
            <a:ext cx="15544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18704" y="4965192"/>
            <a:ext cx="14447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150%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818888"/>
            <a:ext cx="13258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73184" y="4965192"/>
            <a:ext cx="121615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42B34"/>
                </a:solidFill>
                <a:latin typeface="Aptos"/>
              </a:defRPr>
            </a:pPr>
            <a:r>
              <a:t>₹150m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3703320"/>
            <a:ext cx="3657600" cy="1920240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F8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" y="3913632"/>
            <a:ext cx="3246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8E37"/>
                </a:solidFill>
                <a:latin typeface="Aptos"/>
              </a:defRPr>
            </a:pPr>
            <a:r>
              <a:t>NUMERICAL LOGIC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4251960"/>
            <a:ext cx="3246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₹100m × 100% = ₹100m RWA</a:t>
            </a:r>
            <a:br/>
            <a:r>
              <a:t>₹100m × 20% = ₹20m RWA</a:t>
            </a:r>
            <a:br/>
            <a:br/>
            <a:r>
              <a:t>If minimum total capital = 8%:</a:t>
            </a:r>
            <a:br/>
            <a:r>
              <a:t>₹100m RWA → ₹8m capital.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5102352"/>
            <a:ext cx="2377440" cy="521207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5239512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Capital = RWA × 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3 •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Standardized Approach: what the credit analyst should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24231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E8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44475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7647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Exposure class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1856231"/>
            <a:ext cx="274320" cy="0"/>
          </a:xfrm>
          <a:prstGeom prst="line">
            <a:avLst/>
          </a:prstGeom>
          <a:ln w="2032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47287" y="1298448"/>
            <a:ext cx="24231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472184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E8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44475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7647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Rating / eligibility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1856231"/>
            <a:ext cx="274321" cy="0"/>
          </a:xfrm>
          <a:prstGeom prst="line">
            <a:avLst/>
          </a:prstGeom>
          <a:ln w="2032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7" y="1298448"/>
            <a:ext cx="24231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1472184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E8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44475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7647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Risk weight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1856231"/>
            <a:ext cx="274319" cy="0"/>
          </a:xfrm>
          <a:prstGeom prst="line">
            <a:avLst/>
          </a:prstGeom>
          <a:ln w="2032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25128" y="1298448"/>
            <a:ext cx="24231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1472184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7E8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44475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17647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RWA &amp; capital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788920"/>
            <a:ext cx="3456432" cy="2377440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2788920"/>
            <a:ext cx="64008" cy="237744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2916936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264408"/>
            <a:ext cx="3182112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Easier to implement</a:t>
            </a:r>
            <a:br/>
            <a:r>
              <a:t>• Better comparability across banks</a:t>
            </a:r>
            <a:br/>
            <a:r>
              <a:t>• Lower model-risk burden</a:t>
            </a:r>
            <a:br/>
            <a:r>
              <a:t>• Useful for smaller / less complex portfolios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1688" y="2788920"/>
            <a:ext cx="3456432" cy="2377440"/>
          </a:xfrm>
          <a:prstGeom prst="roundRect">
            <a:avLst/>
          </a:prstGeom>
          <a:solidFill>
            <a:srgbClr val="F8E9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61688" y="2788920"/>
            <a:ext cx="64008" cy="2377440"/>
          </a:xfrm>
          <a:prstGeom prst="rect">
            <a:avLst/>
          </a:prstGeom>
          <a:solidFill>
            <a:srgbClr val="AE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2916936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3264408"/>
            <a:ext cx="3182112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Coarse risk differentiation</a:t>
            </a:r>
            <a:br/>
            <a:r>
              <a:t>• Rating dependence can create cliff effects</a:t>
            </a:r>
            <a:br/>
            <a:r>
              <a:t>• May not reflect a bank’s own granular risk view</a:t>
            </a:r>
            <a:br/>
            <a:r>
              <a:t>• Regulatory treatment ≠ economic risk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2788920"/>
            <a:ext cx="3456432" cy="2377440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2788920"/>
            <a:ext cx="64008" cy="2377440"/>
          </a:xfrm>
          <a:prstGeom prst="rect">
            <a:avLst/>
          </a:prstGeom>
          <a:solidFill>
            <a:srgbClr val="B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916936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CREDIT ANALYST RED 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264408"/>
            <a:ext cx="3182112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Weak financials but favourable classification</a:t>
            </a:r>
            <a:br/>
            <a:r>
              <a:t>• Rating migration</a:t>
            </a:r>
            <a:br/>
            <a:r>
              <a:t>• Concentration in one sector / obligor</a:t>
            </a:r>
            <a:br/>
            <a:r>
              <a:t>• Collateral eligibility &amp;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321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F31"/>
                </a:solidFill>
                <a:latin typeface="Aptos"/>
              </a:defRPr>
            </a:pPr>
            <a:r>
              <a:t>Decision implication: a low regulatory risk weight does not automatically mean low expected loss, low concentration risk or attractive risk-adjusted return.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4 •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Basel II IRB Approach: internal risk estimates drive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88720"/>
            <a:ext cx="3840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07E8A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99616"/>
            <a:ext cx="36576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F31"/>
                </a:solidFill>
                <a:latin typeface="Aptos"/>
              </a:defRPr>
            </a:pPr>
            <a:r>
              <a:t>The Internal Ratings-Based approach allows qualifying banks to use internal estimates of key credit-risk parameters, subject to regulatory requirements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61872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41732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07E8A"/>
                </a:solidFill>
                <a:latin typeface="Aptos"/>
              </a:defRPr>
            </a:pPr>
            <a:r>
              <a:t>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8105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41F31"/>
                </a:solidFill>
                <a:latin typeface="Aptos"/>
              </a:defRPr>
            </a:pPr>
            <a:r>
              <a:t>Probability of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305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B6978"/>
                </a:solidFill>
                <a:latin typeface="Aptos"/>
              </a:defRPr>
            </a:pPr>
            <a:r>
              <a:t>Chance of default over the relevant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261872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0296" y="141732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305C91"/>
                </a:solidFill>
                <a:latin typeface="Aptos"/>
              </a:defRPr>
            </a:pPr>
            <a:r>
              <a:t>LGD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8105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41F31"/>
                </a:solidFill>
                <a:latin typeface="Aptos"/>
              </a:defRPr>
            </a:pPr>
            <a:r>
              <a:t>Loss Given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1305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B6978"/>
                </a:solidFill>
                <a:latin typeface="Aptos"/>
              </a:defRPr>
            </a:pPr>
            <a:r>
              <a:t>Economic loss severity after recoveries / costs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261872"/>
            <a:ext cx="2057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4584" y="1417320"/>
            <a:ext cx="1828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BE8E37"/>
                </a:solidFill>
                <a:latin typeface="Aptos"/>
              </a:defRPr>
            </a:pPr>
            <a:r>
              <a:t>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18105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41F31"/>
                </a:solidFill>
                <a:latin typeface="Aptos"/>
              </a:defRPr>
            </a:pPr>
            <a:r>
              <a:t>Exposure at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13055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5B6978"/>
                </a:solidFill>
                <a:latin typeface="Aptos"/>
              </a:defRPr>
            </a:pPr>
            <a:r>
              <a:t>Exposure expected to be outstanding at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99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Conceptual capital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29000"/>
            <a:ext cx="1508760" cy="1005840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57530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07E8A"/>
                </a:solidFill>
                <a:latin typeface="Aptos"/>
              </a:defRPr>
            </a:pPr>
            <a:r>
              <a:t>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88620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1F31"/>
                </a:solidFill>
                <a:latin typeface="Aptos"/>
              </a:defRPr>
            </a:pPr>
            <a:r>
              <a:t>2.0%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94560" y="3931920"/>
            <a:ext cx="219455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487168" y="3429000"/>
            <a:ext cx="1508760" cy="1005840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357530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05C91"/>
                </a:solidFill>
                <a:latin typeface="Aptos"/>
              </a:defRPr>
            </a:pPr>
            <a:r>
              <a:t>LGD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388620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1F31"/>
                </a:solidFill>
                <a:latin typeface="Aptos"/>
              </a:defRPr>
            </a:pPr>
            <a:r>
              <a:t>45%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59" y="3931920"/>
            <a:ext cx="219457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15968" y="3429000"/>
            <a:ext cx="1508760" cy="1005840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357530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BE8E37"/>
                </a:solidFill>
                <a:latin typeface="Aptos"/>
              </a:defRPr>
            </a:pPr>
            <a:r>
              <a:t>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388620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1F31"/>
                </a:solidFill>
                <a:latin typeface="Aptos"/>
              </a:defRPr>
            </a:pPr>
            <a:r>
              <a:t>₹100m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72200" y="3931920"/>
            <a:ext cx="365760" cy="0"/>
          </a:xfrm>
          <a:prstGeom prst="line">
            <a:avLst/>
          </a:prstGeom>
          <a:ln w="1905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56832" y="3429000"/>
            <a:ext cx="2148840" cy="1005840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5753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EXPECTED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≈ ₹0.90m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35204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F31"/>
                </a:solidFill>
                <a:latin typeface="Aptos"/>
              </a:defRPr>
            </a:pPr>
            <a:r>
              <a:t>2% × 45% × ₹100m</a:t>
            </a:r>
            <a:br/>
            <a:r>
              <a:t>= ₹0.90m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744200" cy="822960"/>
          </a:xfrm>
          <a:prstGeom prst="roundRect">
            <a:avLst/>
          </a:prstGeom>
          <a:solidFill>
            <a:srgbClr val="F8E9E8"/>
          </a:solidFill>
          <a:ln w="10160">
            <a:solidFill>
              <a:srgbClr val="F8E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093208"/>
            <a:ext cx="10287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AE4643"/>
                </a:solidFill>
                <a:latin typeface="Aptos"/>
              </a:defRPr>
            </a:pPr>
            <a:r>
              <a:t>Important: IRB is not “just a formula.” Governance, data quality, model validation, conservatism, use test and supervisory approval matter.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TOPIC 4 •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IRB: Foundation vs Advanced — more risk sensitivity, more model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257800" cy="2971800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80160"/>
            <a:ext cx="64008" cy="2971800"/>
          </a:xfrm>
          <a:prstGeom prst="rect">
            <a:avLst/>
          </a:prstGeom>
          <a:solidFill>
            <a:srgbClr val="3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08176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FOUNDATION IRB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498348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Bank estimates selected risk parameters—most importantly PD—while other parameters are supplied / constrained by regulatory rules.</a:t>
            </a:r>
            <a:br/>
            <a:br/>
            <a:r>
              <a:t>Best understood as: “internal risk differentiation with more regulatory prescription.”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80160"/>
            <a:ext cx="5257800" cy="2971800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280160"/>
            <a:ext cx="64008" cy="29718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08176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ADVANCED IRB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4983480" cy="2404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Subject to eligibility and supervisory approval, the bank uses a broader set of internal estimates such as PD, LGD and EAD.</a:t>
            </a:r>
            <a:br/>
            <a:br/>
            <a:r>
              <a:t>Best understood as: “deeper internal risk measurement, with heavier governance and validation.”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26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8E37"/>
                </a:solidFill>
                <a:latin typeface="Aptos"/>
              </a:defRPr>
            </a:pPr>
            <a:r>
              <a:t>Illustrative case study — corporate portfolio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19472"/>
            <a:ext cx="10835640" cy="107899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023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Bank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10235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2B34"/>
                </a:solidFill>
                <a:latin typeface="Aptos"/>
              </a:defRPr>
            </a:pPr>
            <a:r>
              <a:t>₹1bn EAD • PD 1.5% • LGD 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10235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F31"/>
                </a:solidFill>
                <a:latin typeface="Aptos"/>
              </a:defRPr>
            </a:pPr>
            <a:r>
              <a:t>Illustrative EL = 1.5% × 40% × ₹1bn = ₹6m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10235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B6978"/>
                </a:solidFill>
                <a:latin typeface="Aptos"/>
              </a:defRPr>
            </a:pPr>
            <a:r>
              <a:t>Capital is driven by the IRB risk-weight function—not simply by 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E4643"/>
                </a:solidFill>
                <a:latin typeface="Aptos"/>
              </a:defRPr>
            </a:pPr>
            <a:r>
              <a:t>Model-risk lens: optimistic PD/LGD/EAD, weak downturn data, poor overrides, or inadequate validation can understate risk.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CROSS-TOPIC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Standardized vs IRB: compare the mechanics, not just the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2240280" cy="475488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5389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325880"/>
            <a:ext cx="4206240" cy="475488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453896"/>
            <a:ext cx="40233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Standardized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325880"/>
            <a:ext cx="4251960" cy="475488"/>
          </a:xfrm>
          <a:prstGeom prst="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453896"/>
            <a:ext cx="4069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IRB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01368"/>
            <a:ext cx="22402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956816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F31"/>
                </a:solidFill>
                <a:latin typeface="Aptos"/>
              </a:defRPr>
            </a:pPr>
            <a:r>
              <a:t>Risk differentiation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1801368"/>
            <a:ext cx="42062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956816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Prescribed risk weights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801368"/>
            <a:ext cx="4251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956816"/>
            <a:ext cx="4032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Internal risk estimates + regulatory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514600"/>
            <a:ext cx="224028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670048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F31"/>
                </a:solidFill>
                <a:latin typeface="Aptos"/>
              </a:defRPr>
            </a:pPr>
            <a:r>
              <a:t>Data / model burden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514600"/>
            <a:ext cx="420624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1528" y="2670048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Lower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2514600"/>
            <a:ext cx="425196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670048"/>
            <a:ext cx="4032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Higher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227832"/>
            <a:ext cx="22402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383280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F31"/>
                </a:solidFill>
                <a:latin typeface="Aptos"/>
              </a:defRPr>
            </a:pPr>
            <a:r>
              <a:t>Granularity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227832"/>
            <a:ext cx="42062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81528" y="3383280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Coarser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227832"/>
            <a:ext cx="4251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3383280"/>
            <a:ext cx="4032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More granular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941063"/>
            <a:ext cx="224028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096511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F31"/>
                </a:solidFill>
                <a:latin typeface="Aptos"/>
              </a:defRPr>
            </a:pPr>
            <a:r>
              <a:t>Key dependency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71800" y="3941063"/>
            <a:ext cx="420624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1528" y="4096511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Eligibility / rating treatment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3941063"/>
            <a:ext cx="425196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4096511"/>
            <a:ext cx="4032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PD, LGD, EAD + validation / governance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654296"/>
            <a:ext cx="22402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809744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41F31"/>
                </a:solidFill>
                <a:latin typeface="Aptos"/>
              </a:defRPr>
            </a:pPr>
            <a:r>
              <a:t>Management question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654296"/>
            <a:ext cx="420624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81528" y="4809744"/>
            <a:ext cx="39867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“What weight applies?”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4654296"/>
            <a:ext cx="425196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0648" y="4809744"/>
            <a:ext cx="4032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“What does our data say—and can we defend it?”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559552"/>
            <a:ext cx="11018520" cy="576072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F8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15000"/>
            <a:ext cx="10561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41F31"/>
                </a:solidFill>
                <a:latin typeface="Aptos"/>
              </a:defRPr>
            </a:pPr>
            <a:r>
              <a:t>CFO / Credit Committee lens: capital intensity affects pricing, limits, portfolio mix and return-on-capital analysis—but capital efficiency must not be confused with low credit risk.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CASE STUDY • ILLUSTRATIVE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Executive case: ₹500m corporate facility under two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8E37"/>
                </a:solidFill>
                <a:latin typeface="Aptos"/>
              </a:defRPr>
            </a:pPr>
            <a:r>
              <a:t>ILLUSTRATIVE ONLY — simplified training assumptions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965960" cy="841248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₹500m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54480"/>
            <a:ext cx="1965960" cy="841248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00784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Corporate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148840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Counterparty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554480"/>
            <a:ext cx="1965960" cy="841248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700784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148840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Standardized RW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554480"/>
            <a:ext cx="1965960" cy="841248"/>
          </a:xfrm>
          <a:prstGeom prst="roundRect">
            <a:avLst/>
          </a:prstGeom>
          <a:solidFill>
            <a:srgbClr val="007E8A"/>
          </a:solidFill>
          <a:ln w="1016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700784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148840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IRB PD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554480"/>
            <a:ext cx="1965960" cy="841248"/>
          </a:xfrm>
          <a:prstGeom prst="roundRect">
            <a:avLst/>
          </a:prstGeom>
          <a:solidFill>
            <a:srgbClr val="007E8A"/>
          </a:solidFill>
          <a:ln w="1016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1700784"/>
            <a:ext cx="17465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2148840"/>
            <a:ext cx="1746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IRB LGD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88920"/>
            <a:ext cx="5166360" cy="2468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99923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05C91"/>
                </a:solidFill>
                <a:latin typeface="Aptos"/>
              </a:defRPr>
            </a:pPr>
            <a:r>
              <a:t>STANDARDIZED — simplified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401568"/>
            <a:ext cx="4663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41F31"/>
                </a:solidFill>
                <a:latin typeface="Aptos"/>
              </a:defRPr>
            </a:pPr>
            <a:r>
              <a:t>RWA = ₹500m × 100% = ₹500m</a:t>
            </a:r>
            <a:br/>
            <a:r>
              <a:t>Minimum total capital @ 8% = ₹500m × 8%</a:t>
            </a:r>
            <a:br/>
            <a:r>
              <a:t>→ ₹40m capital requirement</a:t>
            </a:r>
            <a:br/>
            <a:br/>
            <a:r>
              <a:t>Capital intensity = 8% of exposure under this simplified example.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4768" y="2788920"/>
            <a:ext cx="5166360" cy="2468880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999232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07E8A"/>
                </a:solidFill>
                <a:latin typeface="Aptos"/>
              </a:defRPr>
            </a:pPr>
            <a:r>
              <a:t>IRB — simplified risk economics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401568"/>
            <a:ext cx="4663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F31"/>
                </a:solidFill>
                <a:latin typeface="Aptos"/>
              </a:defRPr>
            </a:pPr>
            <a:r>
              <a:t>Illustrative Expected Loss = PD × LGD × EAD</a:t>
            </a:r>
            <a:br/>
            <a:r>
              <a:t>= 1.5% × 40% × ₹500m</a:t>
            </a:r>
            <a:br/>
            <a:r>
              <a:t>→ ₹3m expected loss</a:t>
            </a:r>
            <a:br/>
            <a:br/>
            <a:r>
              <a:t>Regulatory capital is NOT simply ₹3m: IRB capital uses a regulatory risk-weight function plus parameter floors / constraints and other rules.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652760" cy="603504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4243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Key insight: EL informs loss economics; regulatory capital protects against unexpected loss. The two measures answer different questions.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PRACTICAL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What Basel II changes in day-to-day credit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257800" cy="1874519"/>
          </a:xfrm>
          <a:prstGeom prst="roundRect">
            <a:avLst/>
          </a:prstGeom>
          <a:solidFill>
            <a:srgbClr val="E7EEF7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64008" cy="1874519"/>
          </a:xfrm>
          <a:prstGeom prst="rect">
            <a:avLst/>
          </a:prstGeom>
          <a:solidFill>
            <a:srgbClr val="30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26464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73936"/>
            <a:ext cx="498348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Understand exposure class / methodology</a:t>
            </a:r>
            <a:br/>
            <a:r>
              <a:t>• Challenge risk migration and concentration</a:t>
            </a:r>
            <a:br/>
            <a:r>
              <a:t>• Validate PD/LGD/EAD assumptions where IRB is used</a:t>
            </a:r>
            <a:br/>
            <a:r>
              <a:t>• Separate regulatory capital from economic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298448"/>
            <a:ext cx="5257800" cy="1874519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298448"/>
            <a:ext cx="64008" cy="1874519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26464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BANKER / 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73936"/>
            <a:ext cx="498348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Price for capital usage, not just funding cost</a:t>
            </a:r>
            <a:br/>
            <a:r>
              <a:t>• Structure collateral / guarantees within eligibility rules</a:t>
            </a:r>
            <a:br/>
            <a:r>
              <a:t>• Monitor rating and risk-grade migration</a:t>
            </a:r>
            <a:br/>
            <a:r>
              <a:t>• Avoid “capital-light” structures that hide economic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56432"/>
            <a:ext cx="5257800" cy="1874519"/>
          </a:xfrm>
          <a:prstGeom prst="roundRect">
            <a:avLst/>
          </a:prstGeom>
          <a:solidFill>
            <a:srgbClr val="F8F0E0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456432"/>
            <a:ext cx="64008" cy="1874519"/>
          </a:xfrm>
          <a:prstGeom prst="rect">
            <a:avLst/>
          </a:prstGeom>
          <a:solidFill>
            <a:srgbClr val="B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84448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CFO / TREASURY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931920"/>
            <a:ext cx="498348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Capital allocation constrains growth</a:t>
            </a:r>
            <a:br/>
            <a:r>
              <a:t>• Compare businesses on risk-adjusted returns</a:t>
            </a:r>
            <a:br/>
            <a:r>
              <a:t>• Stress capital under deterioration scenarios</a:t>
            </a:r>
            <a:br/>
            <a:r>
              <a:t>• Track regulatory vs management capital 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456432"/>
            <a:ext cx="5257800" cy="1874519"/>
          </a:xfrm>
          <a:prstGeom prst="roundRect">
            <a:avLst/>
          </a:prstGeom>
          <a:solidFill>
            <a:srgbClr val="F8E9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456432"/>
            <a:ext cx="64008" cy="1874519"/>
          </a:xfrm>
          <a:prstGeom prst="rect">
            <a:avLst/>
          </a:prstGeom>
          <a:solidFill>
            <a:srgbClr val="AE4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84448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F31"/>
                </a:solidFill>
                <a:latin typeface="Aptos"/>
              </a:defRPr>
            </a:pPr>
            <a:r>
              <a:t>RISK /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31920"/>
            <a:ext cx="4983480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42B34"/>
                </a:solidFill>
                <a:latin typeface="Aptos"/>
              </a:defRPr>
            </a:pPr>
            <a:r>
              <a:t>• Model governance and validation</a:t>
            </a:r>
            <a:br/>
            <a:r>
              <a:t>• Data lineage and override controls</a:t>
            </a:r>
            <a:br/>
            <a:r>
              <a:t>• Pillar 2 challenge and stress testing</a:t>
            </a:r>
            <a:br/>
            <a:r>
              <a:t>• Pillar 3 disclosure consistency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23560"/>
            <a:ext cx="10835640" cy="530352"/>
          </a:xfrm>
          <a:prstGeom prst="roundRect">
            <a:avLst/>
          </a:prstGeom>
          <a:solidFill>
            <a:srgbClr val="141F31"/>
          </a:solidFill>
          <a:ln w="10160">
            <a:solidFill>
              <a:srgbClr val="14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69864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Red flags: weak data, unsupported overrides, rating cliffs, collateral assumptions, concentration, and treating regulatory compliance as a substitute for risk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E8A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F31"/>
                </a:solidFill>
                <a:latin typeface="Aptos Display"/>
              </a:defRPr>
            </a:pPr>
            <a:r>
              <a:t>Executive takeaways: five ideas to 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B69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2344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Risk-sensitive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234440"/>
            <a:ext cx="7452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Basel II moves from broad risk buckets toward more differentiated measurement.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892808"/>
            <a:ext cx="9966960" cy="9144"/>
          </a:xfrm>
          <a:prstGeom prst="rect">
            <a:avLst/>
          </a:prstGeom>
          <a:solidFill>
            <a:srgbClr val="DAE1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6712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6712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Three pillars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67128"/>
            <a:ext cx="7452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Capital alone is insufficient: supervision and disclosure complete the framework.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825496"/>
            <a:ext cx="9966960" cy="9144"/>
          </a:xfrm>
          <a:prstGeom prst="rect">
            <a:avLst/>
          </a:prstGeom>
          <a:solidFill>
            <a:srgbClr val="DAE1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9981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998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Standardized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99816"/>
            <a:ext cx="7452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Prescribed risk weights make implementation simpler, but can be coarse.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758184"/>
            <a:ext cx="9966960" cy="9144"/>
          </a:xfrm>
          <a:prstGeom prst="rect">
            <a:avLst/>
          </a:prstGeom>
          <a:solidFill>
            <a:srgbClr val="DAE1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3250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3250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IRB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032504"/>
            <a:ext cx="7452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Internal risk estimates can improve granularity—but increase model, data and governance burden.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4690872"/>
            <a:ext cx="9966960" cy="9144"/>
          </a:xfrm>
          <a:prstGeom prst="rect">
            <a:avLst/>
          </a:prstGeom>
          <a:solidFill>
            <a:srgbClr val="DAE1E8"/>
          </a:solidFill>
          <a:ln w="1016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65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07E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6519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F31"/>
                </a:solidFill>
                <a:latin typeface="Aptos"/>
              </a:defRPr>
            </a:pPr>
            <a:r>
              <a:t>Management 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965192"/>
            <a:ext cx="7452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42B34"/>
                </a:solidFill>
                <a:latin typeface="Aptos"/>
              </a:defRPr>
            </a:pPr>
            <a:r>
              <a:t>Regulatory capital, expected loss and economic value answer different questions.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989320"/>
            <a:ext cx="10835640" cy="384048"/>
          </a:xfrm>
          <a:prstGeom prst="roundRect">
            <a:avLst/>
          </a:prstGeom>
          <a:solidFill>
            <a:srgbClr val="E4F2F3"/>
          </a:solidFill>
          <a:ln w="10160">
            <a:solidFill>
              <a:srgbClr val="E4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080760"/>
            <a:ext cx="10378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41F31"/>
                </a:solidFill>
                <a:latin typeface="Aptos"/>
              </a:defRPr>
            </a:pPr>
            <a:r>
              <a:t>Basel II is best understood as a capital-and-risk architecture—not a single ratio.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B6978"/>
                </a:solidFill>
                <a:latin typeface="Aptos"/>
              </a:defRPr>
            </a:pPr>
            <a:r>
              <a:t>Basel II • Credit Risk &amp; 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