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ECL (₹m)</c:v>
                </c:pt>
              </c:strCache>
            </c:strRef>
          </c:tx>
          <c:spPr>
            <a:solidFill>
              <a:srgbClr val="255BA8"/>
            </a:solidFill>
          </c:spPr>
          <c:cat>
            <c:strRef>
              <c:f>Sheet1!$A$2:$A$4</c:f>
              <c:strCache>
                <c:ptCount val="3"/>
                <c:pt idx="0">
                  <c:v>Stage 1</c:v>
                </c:pt>
                <c:pt idx="1">
                  <c:v>Stage 2</c:v>
                </c:pt>
                <c:pt idx="2">
                  <c:v>Stage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1.6</c:v>
                </c:pt>
                <c:pt idx="1">
                  <c:v>4.1</c:v>
                </c:pt>
                <c:pt idx="2">
                  <c:v>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97280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1">
                <a:solidFill>
                  <a:srgbClr val="77BEFF"/>
                </a:solidFill>
                <a:latin typeface="Aptos"/>
              </a:rPr>
              <a:t>CREDIT RISK • IFRS 9 • EXPECTED CREDIT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698480" cy="12344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Significant Increase</a:t>
            </a:r>
            <a:br/>
            <a:r>
              <a:t>in Credit Risk (SICR)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788920"/>
            <a:ext cx="100584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800" b="0">
                <a:solidFill>
                  <a:srgbClr val="D6E0EB"/>
                </a:solidFill>
                <a:latin typeface="Aptos"/>
              </a:rPr>
              <a:t>What is SICR?  |  How SICR works  |  SICR &amp; IFRS 9 Staging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09160"/>
            <a:ext cx="2971800" cy="713232"/>
          </a:xfrm>
          <a:prstGeom prst="roundRect">
            <a:avLst/>
          </a:prstGeom>
          <a:solidFill>
            <a:srgbClr val="25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901184"/>
            <a:ext cx="297180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STAGE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4709160"/>
            <a:ext cx="2971800" cy="713232"/>
          </a:xfrm>
          <a:prstGeom prst="roundRect">
            <a:avLst/>
          </a:prstGeom>
          <a:solidFill>
            <a:srgbClr val="C99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4901184"/>
            <a:ext cx="297180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STAGE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4709160"/>
            <a:ext cx="2971800" cy="713232"/>
          </a:xfrm>
          <a:prstGeom prst="round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4901184"/>
            <a:ext cx="297180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STAGE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15000"/>
            <a:ext cx="1051560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0">
                <a:solidFill>
                  <a:srgbClr val="AAB8CA"/>
                </a:solidFill>
                <a:latin typeface="Aptos"/>
              </a:rPr>
              <a:t>Premium corporate training deck • Practical banking examples • Illustrative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0584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800" b="0">
                <a:solidFill>
                  <a:srgbClr val="677382"/>
                </a:solidFill>
                <a:latin typeface="Aptos"/>
              </a:rPr>
              <a:t>SICR • IFRS 9 • Credit Risk &amp; ECL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4572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1">
                <a:solidFill>
                  <a:srgbClr val="677382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1">
                <a:solidFill>
                  <a:srgbClr val="255BA8"/>
                </a:solidFill>
                <a:latin typeface="Aptos"/>
              </a:rPr>
              <a:t>01 • WHAT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What is SICR?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97864"/>
            <a:ext cx="10972800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677382"/>
                </a:solidFill>
                <a:latin typeface="Aptos"/>
              </a:rPr>
              <a:t>A relative, forward-looking assessment of whether credit risk has increased materially since initial recognition.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34290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64008" cy="3337560"/>
          </a:xfrm>
          <a:prstGeom prst="rect">
            <a:avLst/>
          </a:prstGeom>
          <a:solidFill>
            <a:srgbClr val="25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310896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121C2D"/>
                </a:solidFill>
                <a:latin typeface="Aptos"/>
              </a:rPr>
              <a:t>Core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59152"/>
            <a:ext cx="3108960" cy="2697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300" b="0">
                <a:solidFill>
                  <a:srgbClr val="262D37"/>
                </a:solidFill>
                <a:latin typeface="Aptos"/>
              </a:rPr>
              <a:t>SICR asks one question:</a:t>
            </a:r>
            <a:br/>
            <a:br/>
            <a:r>
              <a:t>“Has the risk of default over the expected life increased significantly since origination?”</a:t>
            </a:r>
            <a:br/>
            <a:br/>
            <a:r>
              <a:t>It is about deterioration in credit risk — not simply whether the borrower is already in default.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4290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828800"/>
            <a:ext cx="64008" cy="33375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965960"/>
            <a:ext cx="310896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121C2D"/>
                </a:solidFill>
                <a:latin typeface="Aptos"/>
              </a:rPr>
              <a:t>What IFRS 9 compares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359152"/>
            <a:ext cx="3108960" cy="2697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300" b="0">
                <a:solidFill>
                  <a:srgbClr val="262D37"/>
                </a:solidFill>
                <a:latin typeface="Aptos"/>
              </a:rPr>
              <a:t>At initial recognition</a:t>
            </a:r>
            <a:br/>
            <a:r>
              <a:t>→ baseline credit risk</a:t>
            </a:r>
            <a:br/>
            <a:br/>
            <a:r>
              <a:t>versus</a:t>
            </a:r>
            <a:br/>
            <a:br/>
            <a:r>
              <a:t>At reporting date</a:t>
            </a:r>
            <a:br/>
            <a:r>
              <a:t>→ current credit risk</a:t>
            </a:r>
            <a:br/>
            <a:br/>
            <a:r>
              <a:t>Use reasonable, supportable and forward-looking information.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28800"/>
            <a:ext cx="34290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828800"/>
            <a:ext cx="64008" cy="333756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1965960"/>
            <a:ext cx="310896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121C2D"/>
                </a:solidFill>
                <a:latin typeface="Aptos"/>
              </a:rPr>
              <a:t>What SICR is NOT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359152"/>
            <a:ext cx="3108960" cy="2697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300" b="0">
                <a:solidFill>
                  <a:srgbClr val="262D37"/>
                </a:solidFill>
                <a:latin typeface="Aptos"/>
              </a:rPr>
              <a:t>✕ Not the same as default</a:t>
            </a:r>
            <a:br/>
            <a:r>
              <a:t>✕ Not simply “30 days past due”</a:t>
            </a:r>
            <a:br/>
            <a:r>
              <a:t>✕ Not based on ECL movement alone</a:t>
            </a:r>
            <a:br/>
            <a:r>
              <a:t>✕ Not a collateral-value test</a:t>
            </a:r>
            <a:br/>
            <a:br/>
            <a:r>
              <a:t>SICR normally precedes credit impairment.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532120"/>
            <a:ext cx="10789920" cy="5486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300" b="1">
                <a:solidFill>
                  <a:srgbClr val="121C2D"/>
                </a:solidFill>
                <a:latin typeface="Aptos"/>
              </a:rPr>
              <a:t>Key principle: IFRS 9 focuses on the change in the risk of default since initial recognition, rather than the change in the ECL amount.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0584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800" b="0">
                <a:solidFill>
                  <a:srgbClr val="677382"/>
                </a:solidFill>
                <a:latin typeface="Aptos"/>
              </a:rPr>
              <a:t>SICR • IFRS 9 • Credit Risk &amp; ECL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55664"/>
            <a:ext cx="4572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1">
                <a:solidFill>
                  <a:srgbClr val="677382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1">
                <a:solidFill>
                  <a:srgbClr val="255BA8"/>
                </a:solidFill>
                <a:latin typeface="Aptos"/>
              </a:rPr>
              <a:t>02 •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Why does SICR matter?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97864"/>
            <a:ext cx="10972800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677382"/>
                </a:solidFill>
                <a:latin typeface="Aptos"/>
              </a:rPr>
              <a:t>SICR is the bridge between credit deterioration and the recognition of lifetime expected credit losses.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38328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1">
                <a:solidFill>
                  <a:srgbClr val="255BA8"/>
                </a:solidFill>
                <a:latin typeface="Aptos"/>
              </a:rPr>
              <a:t>ACCOUNTING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700784"/>
            <a:ext cx="8595360" cy="6400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900" b="1">
                <a:solidFill>
                  <a:srgbClr val="121C2D"/>
                </a:solidFill>
                <a:latin typeface="Aptos"/>
              </a:rPr>
              <a:t>Recognise lifetime losses earlier when credit risk has materially worsened — before actual default.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63040" y="2834640"/>
            <a:ext cx="9235440" cy="0"/>
          </a:xfrm>
          <a:prstGeom prst="line">
            <a:avLst/>
          </a:prstGeom>
          <a:ln w="38100">
            <a:solidFill>
              <a:srgbClr val="BEC6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371600" y="2487168"/>
            <a:ext cx="685800" cy="685800"/>
          </a:xfrm>
          <a:prstGeom prst="ellipse">
            <a:avLst/>
          </a:prstGeom>
          <a:solidFill>
            <a:srgbClr val="25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1874519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400" b="1">
                <a:solidFill>
                  <a:srgbClr val="121C2D"/>
                </a:solidFill>
                <a:latin typeface="Aptos"/>
              </a:rPr>
              <a:t>Origination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2514600" cy="5943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100" b="0">
                <a:solidFill>
                  <a:srgbClr val="262D37"/>
                </a:solidFill>
                <a:latin typeface="Aptos"/>
              </a:rPr>
              <a:t>12-month ECL</a:t>
            </a:r>
            <a:br/>
            <a:r>
              <a:t>if no significant deterioration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0" y="2487168"/>
            <a:ext cx="685800" cy="685800"/>
          </a:xfrm>
          <a:prstGeom prst="ellipse">
            <a:avLst/>
          </a:prstGeom>
          <a:solidFill>
            <a:srgbClr val="C99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39" y="3337560"/>
            <a:ext cx="1874519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400" b="1">
                <a:solidFill>
                  <a:srgbClr val="121C2D"/>
                </a:solidFill>
                <a:latin typeface="Aptos"/>
              </a:rPr>
              <a:t>SICR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749039"/>
            <a:ext cx="2514600" cy="5943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100" b="0">
                <a:solidFill>
                  <a:srgbClr val="262D37"/>
                </a:solidFill>
                <a:latin typeface="Aptos"/>
              </a:rPr>
              <a:t>Lifetime ECL</a:t>
            </a:r>
            <a:br/>
            <a:r>
              <a:t>Stage 2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2487168"/>
            <a:ext cx="685800" cy="685800"/>
          </a:xfrm>
          <a:prstGeom prst="ellipse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3337560"/>
            <a:ext cx="1874519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400" b="1">
                <a:solidFill>
                  <a:srgbClr val="121C2D"/>
                </a:solidFill>
                <a:latin typeface="Aptos"/>
              </a:rPr>
              <a:t>Credit-impaired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749039"/>
            <a:ext cx="2514600" cy="5943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100" b="0">
                <a:solidFill>
                  <a:srgbClr val="262D37"/>
                </a:solidFill>
                <a:latin typeface="Aptos"/>
              </a:rPr>
              <a:t>Lifetime ECL</a:t>
            </a:r>
            <a:br/>
            <a:r>
              <a:t>Stage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74920"/>
            <a:ext cx="10698480" cy="7315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400" b="1">
                <a:solidFill>
                  <a:srgbClr val="262D37"/>
                </a:solidFill>
                <a:latin typeface="Aptos"/>
              </a:rPr>
              <a:t>Business implication: staging can move the allowance, P&amp;L impairment charge, portfolio monitoring intensity and management attention before a loan becomes non-performing.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0584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800" b="0">
                <a:solidFill>
                  <a:srgbClr val="677382"/>
                </a:solidFill>
                <a:latin typeface="Aptos"/>
              </a:rPr>
              <a:t>SICR • IFRS 9 • Credit Risk &amp; ECL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55664"/>
            <a:ext cx="4572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1">
                <a:solidFill>
                  <a:srgbClr val="677382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1">
                <a:solidFill>
                  <a:srgbClr val="255BA8"/>
                </a:solidFill>
                <a:latin typeface="Aptos"/>
              </a:rPr>
              <a:t>03 • 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How Significant Increase in Credit Risk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97864"/>
            <a:ext cx="10972800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677382"/>
                </a:solidFill>
                <a:latin typeface="Aptos"/>
              </a:rPr>
              <a:t>A robust SICR framework combines quantitative deterioration, qualitative indicators and backstop indicators.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57400"/>
            <a:ext cx="20574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16152" y="1572768"/>
            <a:ext cx="640080" cy="640080"/>
          </a:xfrm>
          <a:prstGeom prst="ellipse">
            <a:avLst/>
          </a:prstGeom>
          <a:solidFill>
            <a:srgbClr val="25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6152" y="1746504"/>
            <a:ext cx="64008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95728"/>
            <a:ext cx="169164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400" b="1">
                <a:solidFill>
                  <a:srgbClr val="121C2D"/>
                </a:solidFill>
                <a:latin typeface="Aptos"/>
              </a:rPr>
              <a:t>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63240"/>
            <a:ext cx="1664208" cy="1417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100" b="0">
                <a:solidFill>
                  <a:srgbClr val="262D37"/>
                </a:solidFill>
                <a:latin typeface="Aptos"/>
              </a:rPr>
              <a:t>Origination PD / risk grade</a:t>
            </a:r>
            <a:br/>
            <a:r>
              <a:t>Expected life &amp; tenor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3566160"/>
            <a:ext cx="228600" cy="0"/>
          </a:xfrm>
          <a:prstGeom prst="line">
            <a:avLst/>
          </a:prstGeom>
          <a:ln w="25400">
            <a:solidFill>
              <a:srgbClr val="AA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39" y="2057400"/>
            <a:ext cx="20574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47872" y="1572768"/>
            <a:ext cx="640080" cy="64008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1746504"/>
            <a:ext cx="64008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395728"/>
            <a:ext cx="169164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400" b="1">
                <a:solidFill>
                  <a:srgbClr val="121C2D"/>
                </a:solidFill>
                <a:latin typeface="Aptos"/>
              </a:rPr>
              <a:t>Measure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3063240"/>
            <a:ext cx="1664208" cy="1417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100" b="0">
                <a:solidFill>
                  <a:srgbClr val="262D37"/>
                </a:solidFill>
                <a:latin typeface="Aptos"/>
              </a:rPr>
              <a:t>Current lifetime PD / risk grade</a:t>
            </a:r>
            <a:br/>
            <a:r>
              <a:t>Compare with origination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92040" y="3566160"/>
            <a:ext cx="228600" cy="0"/>
          </a:xfrm>
          <a:prstGeom prst="line">
            <a:avLst/>
          </a:prstGeom>
          <a:ln w="25400">
            <a:solidFill>
              <a:srgbClr val="AA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66359" y="2057400"/>
            <a:ext cx="20574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79592" y="1572768"/>
            <a:ext cx="640080" cy="640080"/>
          </a:xfrm>
          <a:prstGeom prst="ellipse">
            <a:avLst/>
          </a:prstGeom>
          <a:solidFill>
            <a:srgbClr val="C99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79592" y="1746504"/>
            <a:ext cx="64008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395728"/>
            <a:ext cx="169164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400" b="1">
                <a:solidFill>
                  <a:srgbClr val="121C2D"/>
                </a:solidFill>
                <a:latin typeface="Aptos"/>
              </a:rPr>
              <a:t>Apply thresholds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67527" y="3063240"/>
            <a:ext cx="1664208" cy="1417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100" b="0">
                <a:solidFill>
                  <a:srgbClr val="262D37"/>
                </a:solidFill>
                <a:latin typeface="Aptos"/>
              </a:rPr>
              <a:t>Relative &amp; absolute deterioration</a:t>
            </a:r>
            <a:br/>
            <a:r>
              <a:t>Portfolio-specific calibrated rules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223759" y="3566160"/>
            <a:ext cx="228600" cy="0"/>
          </a:xfrm>
          <a:prstGeom prst="line">
            <a:avLst/>
          </a:prstGeom>
          <a:ln w="25400">
            <a:solidFill>
              <a:srgbClr val="AA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98079" y="2057400"/>
            <a:ext cx="20574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1311" y="1572768"/>
            <a:ext cx="640080" cy="640080"/>
          </a:xfrm>
          <a:prstGeom prst="ellipse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1" y="1746504"/>
            <a:ext cx="64008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59" y="2395728"/>
            <a:ext cx="169164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400" b="1">
                <a:solidFill>
                  <a:srgbClr val="121C2D"/>
                </a:solidFill>
                <a:latin typeface="Aptos"/>
              </a:rPr>
              <a:t>Overlay information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9248" y="3063240"/>
            <a:ext cx="1664208" cy="1417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100" b="0">
                <a:solidFill>
                  <a:srgbClr val="262D37"/>
                </a:solidFill>
                <a:latin typeface="Aptos"/>
              </a:rPr>
              <a:t>Watchlists, restructuring, forbearance,</a:t>
            </a:r>
            <a:br/>
            <a:r>
              <a:t>macroeconomic outlook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555480" y="3566160"/>
            <a:ext cx="228600" cy="0"/>
          </a:xfrm>
          <a:prstGeom prst="line">
            <a:avLst/>
          </a:prstGeom>
          <a:ln w="25400">
            <a:solidFill>
              <a:srgbClr val="AA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829800" y="2057400"/>
            <a:ext cx="20574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543032" y="1572768"/>
            <a:ext cx="640080" cy="640080"/>
          </a:xfrm>
          <a:prstGeom prst="ellipse">
            <a:avLst/>
          </a:prstGeom>
          <a:solidFill>
            <a:srgbClr val="12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43032" y="1746504"/>
            <a:ext cx="64008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2395728"/>
            <a:ext cx="169164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400" b="1">
                <a:solidFill>
                  <a:srgbClr val="121C2D"/>
                </a:solidFill>
                <a:latin typeface="Aptos"/>
              </a:rPr>
              <a:t>Stage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30968" y="3063240"/>
            <a:ext cx="1664208" cy="1417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100" b="0">
                <a:solidFill>
                  <a:srgbClr val="262D37"/>
                </a:solidFill>
                <a:latin typeface="Aptos"/>
              </a:rPr>
              <a:t>No SICR → Stage 1</a:t>
            </a:r>
            <a:br/>
            <a:r>
              <a:t>SICR → Stage 2</a:t>
            </a:r>
            <a:br/>
            <a:r>
              <a:t>Credit-impaired → Stage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532120"/>
            <a:ext cx="1069848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200" b="1">
                <a:solidFill>
                  <a:srgbClr val="121C2D"/>
                </a:solidFill>
                <a:latin typeface="Aptos"/>
              </a:rPr>
              <a:t>Important: IFRS 9 does not prescribe one universal numerical SICR threshold; methodologies must reflect instrument and portfolio characteristics.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473952"/>
            <a:ext cx="100584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800" b="0">
                <a:solidFill>
                  <a:srgbClr val="677382"/>
                </a:solidFill>
                <a:latin typeface="Aptos"/>
              </a:rPr>
              <a:t>SICR • IFRS 9 • Credit Risk &amp; ECL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55664"/>
            <a:ext cx="4572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1">
                <a:solidFill>
                  <a:srgbClr val="677382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1">
                <a:solidFill>
                  <a:srgbClr val="255BA8"/>
                </a:solidFill>
                <a:latin typeface="Aptos"/>
              </a:rPr>
              <a:t>04 • QUANTITATIVE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Quantitative SICR triggers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97864"/>
            <a:ext cx="10972800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677382"/>
                </a:solidFill>
                <a:latin typeface="Aptos"/>
              </a:rPr>
              <a:t>The common architecture compares current credit-risk measures with the origination baseline.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64008" cy="3474720"/>
          </a:xfrm>
          <a:prstGeom prst="rect">
            <a:avLst/>
          </a:prstGeom>
          <a:solidFill>
            <a:srgbClr val="25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920240"/>
            <a:ext cx="306324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121C2D"/>
                </a:solidFill>
                <a:latin typeface="Aptos"/>
              </a:rPr>
              <a:t>Relative PD deterioration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13432"/>
            <a:ext cx="3063240" cy="2834639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300" b="0">
                <a:solidFill>
                  <a:srgbClr val="262D37"/>
                </a:solidFill>
                <a:latin typeface="Aptos"/>
              </a:rPr>
              <a:t>Example:</a:t>
            </a:r>
            <a:br/>
            <a:r>
              <a:t>Origination lifetime PD = 4%</a:t>
            </a:r>
            <a:br/>
            <a:r>
              <a:t>Current lifetime PD = 10%</a:t>
            </a:r>
            <a:br/>
            <a:br/>
            <a:r>
              <a:t>PD ratio = 10% ÷ 4% = 2.5×</a:t>
            </a:r>
            <a:br/>
            <a:br/>
            <a:r>
              <a:t>If calibrated threshold = 2.0× → SICR flag.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78308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783080"/>
            <a:ext cx="64008" cy="34747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920240"/>
            <a:ext cx="306324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121C2D"/>
                </a:solidFill>
                <a:latin typeface="Aptos"/>
              </a:rPr>
              <a:t>Absolute PD movement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313432"/>
            <a:ext cx="3063240" cy="2834639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300" b="0">
                <a:solidFill>
                  <a:srgbClr val="262D37"/>
                </a:solidFill>
                <a:latin typeface="Aptos"/>
              </a:rPr>
              <a:t>Example:</a:t>
            </a:r>
            <a:br/>
            <a:r>
              <a:t>Origination PD = 2%</a:t>
            </a:r>
            <a:br/>
            <a:r>
              <a:t>Current PD = 6%</a:t>
            </a:r>
            <a:br/>
            <a:br/>
            <a:r>
              <a:t>Increase = +4 percentage points</a:t>
            </a:r>
            <a:br/>
            <a:br/>
            <a:r>
              <a:t>Policies may combine relative and absolute thresholds.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4736" y="178308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74736" y="1783080"/>
            <a:ext cx="64008" cy="3474720"/>
          </a:xfrm>
          <a:prstGeom prst="rect">
            <a:avLst/>
          </a:prstGeom>
          <a:solidFill>
            <a:srgbClr val="C99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5" y="1920240"/>
            <a:ext cx="306324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121C2D"/>
                </a:solidFill>
                <a:latin typeface="Aptos"/>
              </a:rPr>
              <a:t>Risk-grade migration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5" y="2313432"/>
            <a:ext cx="3063240" cy="2834639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300" b="0">
                <a:solidFill>
                  <a:srgbClr val="262D37"/>
                </a:solidFill>
                <a:latin typeface="Aptos"/>
              </a:rPr>
              <a:t>Example:</a:t>
            </a:r>
            <a:br/>
            <a:r>
              <a:t>Origination grade = BBB</a:t>
            </a:r>
            <a:br/>
            <a:r>
              <a:t>Current grade = BB</a:t>
            </a:r>
            <a:br/>
            <a:br/>
            <a:r>
              <a:t>A two-notch deterioration can be a strong signal — especially with supporting model or market evidence.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32120"/>
            <a:ext cx="1069848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200" b="1">
                <a:solidFill>
                  <a:srgbClr val="121C2D"/>
                </a:solidFill>
                <a:latin typeface="Aptos"/>
              </a:rPr>
              <a:t>Design principle: “significant” depends on starting risk, expected life and default experience — not one universal number.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0584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800" b="0">
                <a:solidFill>
                  <a:srgbClr val="677382"/>
                </a:solidFill>
                <a:latin typeface="Aptos"/>
              </a:rPr>
              <a:t>SICR • IFRS 9 • Credit Risk &amp; ECL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55664"/>
            <a:ext cx="4572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1">
                <a:solidFill>
                  <a:srgbClr val="677382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1">
                <a:solidFill>
                  <a:srgbClr val="255BA8"/>
                </a:solidFill>
                <a:latin typeface="Aptos"/>
              </a:rPr>
              <a:t>05 • QUALITATIVE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Qualitative indicators &amp; backstops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97864"/>
            <a:ext cx="10972800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677382"/>
                </a:solidFill>
                <a:latin typeface="Aptos"/>
              </a:rPr>
              <a:t>A model-only SICR process can miss emerging deterioration; qualitative information is therefore critical.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55648"/>
            <a:ext cx="10835640" cy="621792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246888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1">
                <a:solidFill>
                  <a:srgbClr val="255BA8"/>
                </a:solidFill>
                <a:latin typeface="Aptos"/>
              </a:rPr>
              <a:t>Watchlist / early warning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874519"/>
            <a:ext cx="7726679" cy="29260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0">
                <a:solidFill>
                  <a:srgbClr val="262D37"/>
                </a:solidFill>
                <a:latin typeface="Aptos"/>
              </a:rPr>
              <a:t>Material adverse change in financial or operating profile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78608"/>
            <a:ext cx="10835640" cy="621792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97479"/>
            <a:ext cx="246888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1">
                <a:solidFill>
                  <a:srgbClr val="C99A37"/>
                </a:solidFill>
                <a:latin typeface="Aptos"/>
              </a:rPr>
              <a:t>Forbearance / restructuring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697479"/>
            <a:ext cx="7726679" cy="29260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0">
                <a:solidFill>
                  <a:srgbClr val="262D37"/>
                </a:solidFill>
                <a:latin typeface="Aptos"/>
              </a:rPr>
              <a:t>Concessions linked to borrower financial difficulty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401568"/>
            <a:ext cx="10835640" cy="621792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20439"/>
            <a:ext cx="246888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1">
                <a:solidFill>
                  <a:srgbClr val="00897B"/>
                </a:solidFill>
                <a:latin typeface="Aptos"/>
              </a:rPr>
              <a:t>Payment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520439"/>
            <a:ext cx="7726679" cy="29260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0">
                <a:solidFill>
                  <a:srgbClr val="262D37"/>
                </a:solidFill>
                <a:latin typeface="Aptos"/>
              </a:rPr>
              <a:t>Arrears, missed payments, utilisation stress or repeated excesses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224528"/>
            <a:ext cx="10835640" cy="621792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246888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1">
                <a:solidFill>
                  <a:srgbClr val="BE3737"/>
                </a:solidFill>
                <a:latin typeface="Aptos"/>
              </a:rPr>
              <a:t>External information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4343400"/>
            <a:ext cx="7726679" cy="29260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0">
                <a:solidFill>
                  <a:srgbClr val="262D37"/>
                </a:solidFill>
                <a:latin typeface="Aptos"/>
              </a:rPr>
              <a:t>Credit-rating actions, adverse sector conditions, legal or market signals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047488"/>
            <a:ext cx="10835640" cy="621792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66359"/>
            <a:ext cx="246888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1">
                <a:solidFill>
                  <a:srgbClr val="121C2D"/>
                </a:solidFill>
                <a:latin typeface="Aptos"/>
              </a:rPr>
              <a:t>30-days-past-due presumption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5166359"/>
            <a:ext cx="7726679" cy="29260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0">
                <a:solidFill>
                  <a:srgbClr val="262D37"/>
                </a:solidFill>
                <a:latin typeface="Aptos"/>
              </a:rPr>
              <a:t>IFRS 9 includes a rebuttable presumption of SICR at 30 DPD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100" b="1">
                <a:solidFill>
                  <a:srgbClr val="121C2D"/>
                </a:solidFill>
                <a:latin typeface="Aptos"/>
              </a:rPr>
              <a:t>30 DPD is a backstop / rebuttable presumption — not a substitute for forward-looking SICR assessment.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0584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800" b="0">
                <a:solidFill>
                  <a:srgbClr val="677382"/>
                </a:solidFill>
                <a:latin typeface="Aptos"/>
              </a:rPr>
              <a:t>SICR • IFRS 9 • Credit Risk &amp; ECL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55664"/>
            <a:ext cx="4572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1">
                <a:solidFill>
                  <a:srgbClr val="677382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1">
                <a:solidFill>
                  <a:srgbClr val="255BA8"/>
                </a:solidFill>
                <a:latin typeface="Aptos"/>
              </a:rPr>
              <a:t>06 • STAGING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SICR and IFRS 9 Staging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97864"/>
            <a:ext cx="10972800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677382"/>
                </a:solidFill>
                <a:latin typeface="Aptos"/>
              </a:rPr>
              <a:t>Three stages connect credit deterioration to the measurement horizon of expected credit losses.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34290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37360"/>
            <a:ext cx="3429000" cy="594360"/>
          </a:xfrm>
          <a:prstGeom prst="rect">
            <a:avLst/>
          </a:prstGeom>
          <a:solidFill>
            <a:srgbClr val="25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01952"/>
            <a:ext cx="3429000" cy="2286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Stage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2971800" cy="5943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400" b="1">
                <a:solidFill>
                  <a:srgbClr val="121C2D"/>
                </a:solidFill>
                <a:latin typeface="Aptos"/>
              </a:rPr>
              <a:t>No significant increase</a:t>
            </a:r>
            <a:br/>
            <a:r>
              <a:t>in credit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2971800" cy="5943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700" b="1">
                <a:solidFill>
                  <a:srgbClr val="255BA8"/>
                </a:solidFill>
                <a:latin typeface="Aptos"/>
              </a:rPr>
              <a:t>12-month ECL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2971800" cy="5943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100" b="0">
                <a:solidFill>
                  <a:srgbClr val="262D37"/>
                </a:solidFill>
                <a:latin typeface="Aptos"/>
              </a:rPr>
              <a:t>Interest on gross</a:t>
            </a:r>
            <a:br/>
            <a:r>
              <a:t>carrying amount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737360"/>
            <a:ext cx="34290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737360"/>
            <a:ext cx="3429000" cy="594360"/>
          </a:xfrm>
          <a:prstGeom prst="rect">
            <a:avLst/>
          </a:prstGeom>
          <a:solidFill>
            <a:srgbClr val="C99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901952"/>
            <a:ext cx="3429000" cy="2286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Stage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651760"/>
            <a:ext cx="2971800" cy="5943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400" b="1">
                <a:solidFill>
                  <a:srgbClr val="121C2D"/>
                </a:solidFill>
                <a:latin typeface="Aptos"/>
              </a:rPr>
              <a:t>Significant increase</a:t>
            </a:r>
            <a:br/>
            <a:r>
              <a:t>in credit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657600"/>
            <a:ext cx="2971800" cy="5943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700" b="1">
                <a:solidFill>
                  <a:srgbClr val="C99A37"/>
                </a:solidFill>
                <a:latin typeface="Aptos"/>
              </a:rPr>
              <a:t>Lifetime ECL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572000"/>
            <a:ext cx="2971800" cy="5943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100" b="0">
                <a:solidFill>
                  <a:srgbClr val="262D37"/>
                </a:solidFill>
                <a:latin typeface="Aptos"/>
              </a:rPr>
              <a:t>Interest on gross</a:t>
            </a:r>
            <a:br/>
            <a:r>
              <a:t>carrying amount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737360"/>
            <a:ext cx="34290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1737360"/>
            <a:ext cx="3429000" cy="59436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901952"/>
            <a:ext cx="3429000" cy="2286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Stage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651760"/>
            <a:ext cx="2971800" cy="5943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400" b="1">
                <a:solidFill>
                  <a:srgbClr val="121C2D"/>
                </a:solidFill>
                <a:latin typeface="Aptos"/>
              </a:rPr>
              <a:t>Credit-impaired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657600"/>
            <a:ext cx="2971800" cy="5943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700" b="1">
                <a:solidFill>
                  <a:srgbClr val="BE3737"/>
                </a:solidFill>
                <a:latin typeface="Aptos"/>
              </a:rPr>
              <a:t>Lifetime ECL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72000"/>
            <a:ext cx="2971800" cy="5943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100" b="0">
                <a:solidFill>
                  <a:srgbClr val="262D37"/>
                </a:solidFill>
                <a:latin typeface="Aptos"/>
              </a:rPr>
              <a:t>Interest on net carrying</a:t>
            </a:r>
            <a:br/>
            <a:r>
              <a:t>amount (generally)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925312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100" b="1">
                <a:solidFill>
                  <a:srgbClr val="121C2D"/>
                </a:solidFill>
                <a:latin typeface="Aptos"/>
              </a:rPr>
              <a:t>Stage movement is not necessarily one-way: if SICR is no longer present, an exposure can move back toward Stage 1, subject to the applicable assessment.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100584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800" b="0">
                <a:solidFill>
                  <a:srgbClr val="677382"/>
                </a:solidFill>
                <a:latin typeface="Aptos"/>
              </a:rPr>
              <a:t>SICR • IFRS 9 • Credit Risk &amp; ECL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55664"/>
            <a:ext cx="4572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1">
                <a:solidFill>
                  <a:srgbClr val="677382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1">
                <a:solidFill>
                  <a:srgbClr val="255BA8"/>
                </a:solidFill>
                <a:latin typeface="Aptos"/>
              </a:rPr>
              <a:t>07 • NUMERICAL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SICR → Stage 2 → lifetime ECL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97864"/>
            <a:ext cx="10972800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677382"/>
                </a:solidFill>
                <a:latin typeface="Aptos"/>
              </a:rPr>
              <a:t>Illustrative example: same exposure, different staging outcome.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3657600" cy="530352"/>
          </a:xfrm>
          <a:prstGeom prst="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01952"/>
            <a:ext cx="3438144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1">
                <a:solidFill>
                  <a:srgbClr val="121C2D"/>
                </a:solidFill>
                <a:latin typeface="Aptos"/>
              </a:rPr>
              <a:t>Loan balance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783080"/>
            <a:ext cx="2743200" cy="530352"/>
          </a:xfrm>
          <a:prstGeom prst="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07408" y="1901952"/>
            <a:ext cx="2523744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0">
                <a:solidFill>
                  <a:srgbClr val="262D37"/>
                </a:solidFill>
                <a:latin typeface="Aptos"/>
              </a:rPr>
              <a:t>₹10.0m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0" y="1783080"/>
            <a:ext cx="4480560" cy="530352"/>
          </a:xfrm>
          <a:prstGeom prst="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8" y="1901952"/>
            <a:ext cx="4261104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0">
                <a:solidFill>
                  <a:srgbClr val="262D37"/>
                </a:solidFill>
                <a:latin typeface="Aptos"/>
              </a:rPr>
              <a:t>₹10.0m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50008"/>
            <a:ext cx="36576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68879"/>
            <a:ext cx="3438144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1">
                <a:solidFill>
                  <a:srgbClr val="121C2D"/>
                </a:solidFill>
                <a:latin typeface="Aptos"/>
              </a:rPr>
              <a:t>Origination lifetime PD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350008"/>
            <a:ext cx="27432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2468879"/>
            <a:ext cx="2523744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0">
                <a:solidFill>
                  <a:srgbClr val="262D37"/>
                </a:solidFill>
                <a:latin typeface="Aptos"/>
              </a:rPr>
              <a:t>4%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2350008"/>
            <a:ext cx="44805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0608" y="2468879"/>
            <a:ext cx="4261104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0">
                <a:solidFill>
                  <a:srgbClr val="262D37"/>
                </a:solidFill>
                <a:latin typeface="Aptos"/>
              </a:rPr>
              <a:t>4%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916936"/>
            <a:ext cx="3657600" cy="530352"/>
          </a:xfrm>
          <a:prstGeom prst="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035808"/>
            <a:ext cx="3438144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1">
                <a:solidFill>
                  <a:srgbClr val="121C2D"/>
                </a:solidFill>
                <a:latin typeface="Aptos"/>
              </a:rPr>
              <a:t>Current lifetime PD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2916936"/>
            <a:ext cx="2743200" cy="530352"/>
          </a:xfrm>
          <a:prstGeom prst="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7408" y="3035808"/>
            <a:ext cx="2523744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0">
                <a:solidFill>
                  <a:srgbClr val="262D37"/>
                </a:solidFill>
                <a:latin typeface="Aptos"/>
              </a:rPr>
              <a:t>6%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2916936"/>
            <a:ext cx="4480560" cy="530352"/>
          </a:xfrm>
          <a:prstGeom prst="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50608" y="3035808"/>
            <a:ext cx="4261104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0">
                <a:solidFill>
                  <a:srgbClr val="262D37"/>
                </a:solidFill>
                <a:latin typeface="Aptos"/>
              </a:rPr>
              <a:t>10%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483863"/>
            <a:ext cx="36576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602735"/>
            <a:ext cx="3438144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1">
                <a:solidFill>
                  <a:srgbClr val="121C2D"/>
                </a:solidFill>
                <a:latin typeface="Aptos"/>
              </a:rPr>
              <a:t>LGD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483863"/>
            <a:ext cx="27432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7408" y="3602735"/>
            <a:ext cx="2523744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0">
                <a:solidFill>
                  <a:srgbClr val="262D37"/>
                </a:solidFill>
                <a:latin typeface="Aptos"/>
              </a:rPr>
              <a:t>40%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3483863"/>
            <a:ext cx="44805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50608" y="3602735"/>
            <a:ext cx="4261104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0">
                <a:solidFill>
                  <a:srgbClr val="262D37"/>
                </a:solidFill>
                <a:latin typeface="Aptos"/>
              </a:rPr>
              <a:t>40%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050791"/>
            <a:ext cx="3657600" cy="530352"/>
          </a:xfrm>
          <a:prstGeom prst="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4169663"/>
            <a:ext cx="3438144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1">
                <a:solidFill>
                  <a:srgbClr val="121C2D"/>
                </a:solidFill>
                <a:latin typeface="Aptos"/>
              </a:rPr>
              <a:t>Assessment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4050791"/>
            <a:ext cx="2743200" cy="530352"/>
          </a:xfrm>
          <a:prstGeom prst="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07408" y="4169663"/>
            <a:ext cx="2523744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0">
                <a:solidFill>
                  <a:srgbClr val="262D37"/>
                </a:solidFill>
                <a:latin typeface="Aptos"/>
              </a:rPr>
              <a:t>No SICR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40880" y="4050791"/>
            <a:ext cx="4480560" cy="530352"/>
          </a:xfrm>
          <a:prstGeom prst="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50608" y="4169663"/>
            <a:ext cx="4261104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0">
                <a:solidFill>
                  <a:srgbClr val="262D37"/>
                </a:solidFill>
                <a:latin typeface="Aptos"/>
              </a:rPr>
              <a:t>SICR (2.5× PD)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800600"/>
            <a:ext cx="498348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300" b="1">
                <a:solidFill>
                  <a:srgbClr val="255BA8"/>
                </a:solidFill>
                <a:latin typeface="Aptos"/>
              </a:rPr>
              <a:t>Illustrative Stage 1 allowance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303520"/>
            <a:ext cx="4983480" cy="5943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600" b="1">
                <a:solidFill>
                  <a:srgbClr val="121C2D"/>
                </a:solidFill>
                <a:latin typeface="Aptos"/>
              </a:rPr>
              <a:t>12-month ECL = 10.0m × 4% × 40%</a:t>
            </a:r>
            <a:br/>
            <a:r>
              <a:t>= ₹0.16m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4800600"/>
            <a:ext cx="507492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300" b="1">
                <a:solidFill>
                  <a:srgbClr val="C99A37"/>
                </a:solidFill>
                <a:latin typeface="Aptos"/>
              </a:rPr>
              <a:t>Illustrative Stage 2 allowance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5303520"/>
            <a:ext cx="5074920" cy="5943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600" b="1">
                <a:solidFill>
                  <a:srgbClr val="121C2D"/>
                </a:solidFill>
                <a:latin typeface="Aptos"/>
              </a:rPr>
              <a:t>Lifetime ECL = 10.0m × 10% × 40%</a:t>
            </a:r>
            <a:br/>
            <a:r>
              <a:t>= ₹0.40m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053328"/>
            <a:ext cx="1060704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000" b="0">
                <a:solidFill>
                  <a:srgbClr val="677382"/>
                </a:solidFill>
                <a:latin typeface="Aptos"/>
              </a:rPr>
              <a:t>Incremental allowance = ₹0.24m in this simplified example. Real IFRS 9 ECL is probability-weighted, discounted and may use multiple scenarios and time-varying PD/LGD/EAD.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473952"/>
            <a:ext cx="100584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800" b="0">
                <a:solidFill>
                  <a:srgbClr val="677382"/>
                </a:solidFill>
                <a:latin typeface="Aptos"/>
              </a:rPr>
              <a:t>SICR • IFRS 9 • Credit Risk &amp; ECL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55664"/>
            <a:ext cx="4572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1">
                <a:solidFill>
                  <a:srgbClr val="677382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1">
                <a:solidFill>
                  <a:srgbClr val="255BA8"/>
                </a:solidFill>
                <a:latin typeface="Aptos"/>
              </a:rPr>
              <a:t>08 •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Corporate borrower: early deterioration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97864"/>
            <a:ext cx="10972800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677382"/>
                </a:solidFill>
                <a:latin typeface="Aptos"/>
              </a:rPr>
              <a:t>Illustrative banking case — why SICR should be detected before default.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37360"/>
            <a:ext cx="64008" cy="4023360"/>
          </a:xfrm>
          <a:prstGeom prst="rect">
            <a:avLst/>
          </a:prstGeom>
          <a:solidFill>
            <a:srgbClr val="25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306324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121C2D"/>
                </a:solidFill>
                <a:latin typeface="Aptos"/>
              </a:rPr>
              <a:t>At origination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67712"/>
            <a:ext cx="3063240" cy="33832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262D37"/>
                </a:solidFill>
                <a:latin typeface="Aptos"/>
              </a:rPr>
              <a:t>Exposure: ₹250m</a:t>
            </a:r>
            <a:br/>
            <a:r>
              <a:t>Lifetime PD: 3%</a:t>
            </a:r>
            <a:br/>
            <a:r>
              <a:t>Grade: BBB</a:t>
            </a:r>
            <a:br/>
            <a:r>
              <a:t>DSCR: 1.8×</a:t>
            </a:r>
            <a:br/>
            <a:r>
              <a:t>Stage: 1</a:t>
            </a:r>
            <a:br/>
            <a:br/>
            <a:r>
              <a:t>Pricing reflected the initial risk profile.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73736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737360"/>
            <a:ext cx="64008" cy="4023360"/>
          </a:xfrm>
          <a:prstGeom prst="rect">
            <a:avLst/>
          </a:prstGeom>
          <a:solidFill>
            <a:srgbClr val="C99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874519"/>
            <a:ext cx="306324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121C2D"/>
                </a:solidFill>
                <a:latin typeface="Aptos"/>
              </a:rPr>
              <a:t>12 months later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267712"/>
            <a:ext cx="3063240" cy="33832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262D37"/>
                </a:solidFill>
                <a:latin typeface="Aptos"/>
              </a:rPr>
              <a:t>Revenue: −15%</a:t>
            </a:r>
            <a:br/>
            <a:r>
              <a:t>EBITDA margin: −300 bps</a:t>
            </a:r>
            <a:br/>
            <a:r>
              <a:t>DSCR: 1.2×</a:t>
            </a:r>
            <a:br/>
            <a:r>
              <a:t>Lifetime PD: 7.5%</a:t>
            </a:r>
            <a:br/>
            <a:r>
              <a:t>Grade: BB</a:t>
            </a:r>
            <a:br/>
            <a:br/>
            <a:r>
              <a:t>PD = 2.5× origination.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0456" y="173736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0456" y="1737360"/>
            <a:ext cx="64008" cy="402336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3336" y="1874519"/>
            <a:ext cx="306324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121C2D"/>
                </a:solidFill>
                <a:latin typeface="Aptos"/>
              </a:rPr>
              <a:t>Risk 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3336" y="2267712"/>
            <a:ext cx="3063240" cy="33832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262D37"/>
                </a:solidFill>
                <a:latin typeface="Aptos"/>
              </a:rPr>
              <a:t>Quantitative: SICR signal</a:t>
            </a:r>
            <a:br/>
            <a:r>
              <a:t>Qualitative: sector pressure + weaker cash flow</a:t>
            </a:r>
            <a:br/>
            <a:br/>
            <a:r>
              <a:t>Result:</a:t>
            </a:r>
            <a:br/>
            <a:r>
              <a:t>Stage 2 → lifetime ECL</a:t>
            </a:r>
            <a:br/>
            <a:r>
              <a:t>Enhanced monitoring</a:t>
            </a:r>
            <a:br/>
            <a:r>
              <a:t>Management attention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100" b="1">
                <a:solidFill>
                  <a:srgbClr val="121C2D"/>
                </a:solidFill>
                <a:latin typeface="Aptos"/>
              </a:rPr>
              <a:t>Credit-analyst lesson: SICR is an early-warning accounting signal — it should connect with broader watchlist, risk appetite and portfolio monitoring processes.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0584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800" b="0">
                <a:solidFill>
                  <a:srgbClr val="677382"/>
                </a:solidFill>
                <a:latin typeface="Aptos"/>
              </a:rPr>
              <a:t>SICR • IFRS 9 • Credit Risk &amp; ECL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55664"/>
            <a:ext cx="4572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1">
                <a:solidFill>
                  <a:srgbClr val="677382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1">
                <a:solidFill>
                  <a:srgbClr val="255BA8"/>
                </a:solidFill>
                <a:latin typeface="Aptos"/>
              </a:rPr>
              <a:t>09 • SO WHAT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From SICR to financial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97864"/>
            <a:ext cx="10972800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677382"/>
                </a:solidFill>
                <a:latin typeface="Aptos"/>
              </a:rPr>
              <a:t>Stage migration changes the measurement horizon — which can materially change the allowance and reported impairment.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783080"/>
          <a:ext cx="649224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43800" y="1874519"/>
            <a:ext cx="384048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121C2D"/>
                </a:solidFill>
                <a:latin typeface="Aptos"/>
              </a:rPr>
              <a:t>Illustrative 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2514600"/>
            <a:ext cx="3886200" cy="21031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300" b="0">
                <a:solidFill>
                  <a:srgbClr val="262D37"/>
                </a:solidFill>
                <a:latin typeface="Aptos"/>
              </a:rPr>
              <a:t>Origination</a:t>
            </a:r>
            <a:br/>
            <a:r>
              <a:t>↓</a:t>
            </a:r>
            <a:br/>
            <a:r>
              <a:t>No material deterioration → 12-month ECL</a:t>
            </a:r>
            <a:br/>
            <a:br/>
            <a:r>
              <a:t>SICR</a:t>
            </a:r>
            <a:br/>
            <a:r>
              <a:t>↓</a:t>
            </a:r>
            <a:br/>
            <a:r>
              <a:t>Lifetime ECL → allowance increases</a:t>
            </a:r>
            <a:br/>
            <a:br/>
            <a:r>
              <a:t>Credit-impaired</a:t>
            </a:r>
            <a:br/>
            <a:r>
              <a:t>↓</a:t>
            </a:r>
            <a:br/>
            <a:r>
              <a:t>Lifetime ECL + different interest recognition mechanics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4983480"/>
            <a:ext cx="3886200" cy="6858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1">
                <a:solidFill>
                  <a:srgbClr val="BE3737"/>
                </a:solidFill>
                <a:latin typeface="Aptos"/>
              </a:rPr>
              <a:t>The accounting effect is a consequence of credit-risk deterioration; staging itself is not an independent “loss event.”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0584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800" b="0">
                <a:solidFill>
                  <a:srgbClr val="677382"/>
                </a:solidFill>
                <a:latin typeface="Aptos"/>
              </a:rPr>
              <a:t>SICR • IFRS 9 • Credit Risk &amp; ECL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55664"/>
            <a:ext cx="4572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1">
                <a:solidFill>
                  <a:srgbClr val="67738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1">
                <a:solidFill>
                  <a:srgbClr val="255BA8"/>
                </a:solidFill>
                <a:latin typeface="Aptos"/>
              </a:rPr>
              <a:t>10 •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SICR model governance &amp; control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97864"/>
            <a:ext cx="10972800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677382"/>
                </a:solidFill>
                <a:latin typeface="Aptos"/>
              </a:rPr>
              <a:t>A defensible SICR framework needs more than a PD threshold.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64008" cy="1051560"/>
          </a:xfrm>
          <a:prstGeom prst="rect">
            <a:avLst/>
          </a:prstGeom>
          <a:solidFill>
            <a:srgbClr val="25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74519"/>
            <a:ext cx="48463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121C2D"/>
                </a:solidFill>
                <a:latin typeface="Aptos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67712"/>
            <a:ext cx="4846320" cy="411479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50" b="0">
                <a:solidFill>
                  <a:srgbClr val="262D37"/>
                </a:solidFill>
                <a:latin typeface="Aptos"/>
              </a:rPr>
              <a:t>Origination risk captured reliably; current borrower and portfolio information refreshed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737360"/>
            <a:ext cx="64008" cy="10515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48463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121C2D"/>
                </a:solidFill>
                <a:latin typeface="Aptos"/>
              </a:rPr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67712"/>
            <a:ext cx="4846320" cy="411479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50" b="0">
                <a:solidFill>
                  <a:srgbClr val="262D37"/>
                </a:solidFill>
                <a:latin typeface="Aptos"/>
              </a:rPr>
              <a:t>PD / risk-grade performance, calibration, segmentation and override logic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63239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063239"/>
            <a:ext cx="64008" cy="1051560"/>
          </a:xfrm>
          <a:prstGeom prst="rect">
            <a:avLst/>
          </a:prstGeom>
          <a:solidFill>
            <a:srgbClr val="C99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200399"/>
            <a:ext cx="48463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121C2D"/>
                </a:solidFill>
                <a:latin typeface="Aptos"/>
              </a:rPr>
              <a:t>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593591"/>
            <a:ext cx="4846320" cy="411479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50" b="0">
                <a:solidFill>
                  <a:srgbClr val="262D37"/>
                </a:solidFill>
                <a:latin typeface="Aptos"/>
              </a:rPr>
              <a:t>Documented thresholds, qualitative triggers, backstops and rebuttal criteria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063239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063239"/>
            <a:ext cx="64008" cy="105156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200399"/>
            <a:ext cx="48463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121C2D"/>
                </a:solidFill>
                <a:latin typeface="Aptos"/>
              </a:rPr>
              <a:t>Forward-looking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93591"/>
            <a:ext cx="4846320" cy="411479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50" b="0">
                <a:solidFill>
                  <a:srgbClr val="262D37"/>
                </a:solidFill>
                <a:latin typeface="Aptos"/>
              </a:rPr>
              <a:t>Macro scenarios and reasonable/supportable information incorporated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38912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389120"/>
            <a:ext cx="64008" cy="1051560"/>
          </a:xfrm>
          <a:prstGeom prst="rect">
            <a:avLst/>
          </a:prstGeom>
          <a:solidFill>
            <a:srgbClr val="12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4526280"/>
            <a:ext cx="48463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121C2D"/>
                </a:solidFill>
                <a:latin typeface="Aptos"/>
              </a:rPr>
              <a:t>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4919472"/>
            <a:ext cx="4846320" cy="411479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50" b="0">
                <a:solidFill>
                  <a:srgbClr val="262D37"/>
                </a:solidFill>
                <a:latin typeface="Aptos"/>
              </a:rPr>
              <a:t>Back-testing, staging migration analysis, false positives/negatives and sensitivity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38912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389120"/>
            <a:ext cx="64008" cy="1051560"/>
          </a:xfrm>
          <a:prstGeom prst="rect">
            <a:avLst/>
          </a:prstGeom>
          <a:solidFill>
            <a:srgbClr val="25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526280"/>
            <a:ext cx="48463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121C2D"/>
                </a:solidFill>
                <a:latin typeface="Aptos"/>
              </a:rPr>
              <a:t>Governance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919472"/>
            <a:ext cx="4846320" cy="411479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50" b="0">
                <a:solidFill>
                  <a:srgbClr val="262D37"/>
                </a:solidFill>
                <a:latin typeface="Aptos"/>
              </a:rPr>
              <a:t>Independent challenge, audit trail, approvals and periodic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925312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100" b="1">
                <a:solidFill>
                  <a:srgbClr val="BE3737"/>
                </a:solidFill>
                <a:latin typeface="Aptos"/>
              </a:rPr>
              <a:t>Red flag: a SICR framework that is mechanically fixed, ignores forward-looking information or lacks documented overrides can create inconsistent staging decisions.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100584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800" b="0">
                <a:solidFill>
                  <a:srgbClr val="677382"/>
                </a:solidFill>
                <a:latin typeface="Aptos"/>
              </a:rPr>
              <a:t>SICR • IFRS 9 • Credit Risk &amp; ECL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55664"/>
            <a:ext cx="4572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1">
                <a:solidFill>
                  <a:srgbClr val="677382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1">
                <a:solidFill>
                  <a:srgbClr val="77BEFF"/>
                </a:solidFill>
                <a:latin typeface="Aptos"/>
              </a:rPr>
              <a:t>11 • EXECUTIVE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What should a banker remember?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502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200" b="1">
                <a:solidFill>
                  <a:srgbClr val="C99A37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600200"/>
            <a:ext cx="219456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SICR is relative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600200"/>
            <a:ext cx="758952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D7E0EA"/>
                </a:solidFill>
                <a:latin typeface="Aptos"/>
              </a:rPr>
              <a:t>Compare current default risk with the risk at initial recognition.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502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200" b="1">
                <a:solidFill>
                  <a:srgbClr val="C99A37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423160"/>
            <a:ext cx="219456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Stage 2 is earlier than default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423160"/>
            <a:ext cx="758952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D7E0EA"/>
                </a:solidFill>
                <a:latin typeface="Aptos"/>
              </a:rPr>
              <a:t>Lifetime ECL can be required before a loan becomes credit-impaired.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502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200" b="1">
                <a:solidFill>
                  <a:srgbClr val="C99A37"/>
                </a:solidFill>
                <a:latin typeface="Apto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246120"/>
            <a:ext cx="219456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Use multiple signals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246120"/>
            <a:ext cx="758952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D7E0EA"/>
                </a:solidFill>
                <a:latin typeface="Aptos"/>
              </a:rPr>
              <a:t>Quantitative deterioration + qualitative evidence + backstops.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69080"/>
            <a:ext cx="502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200" b="1">
                <a:solidFill>
                  <a:srgbClr val="C99A37"/>
                </a:solidFill>
                <a:latin typeface="Aptos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69080"/>
            <a:ext cx="219456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Think forward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069080"/>
            <a:ext cx="758952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D7E0EA"/>
                </a:solidFill>
                <a:latin typeface="Aptos"/>
              </a:rPr>
              <a:t>Reasonable, supportable forecasts matter — not just past-due history.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92040"/>
            <a:ext cx="502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200" b="1">
                <a:solidFill>
                  <a:srgbClr val="C99A37"/>
                </a:solidFill>
                <a:latin typeface="Aptos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892040"/>
            <a:ext cx="219456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Govern the judgment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892040"/>
            <a:ext cx="758952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D7E0EA"/>
                </a:solidFill>
                <a:latin typeface="Aptos"/>
              </a:rPr>
              <a:t>Thresholds, overrides, validation and documentation determine consistency.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97880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200" b="1">
                <a:solidFill>
                  <a:srgbClr val="91C7FF"/>
                </a:solidFill>
                <a:latin typeface="Aptos"/>
              </a:rPr>
              <a:t>SICR is where credit-risk measurement becomes an accounting decision — and where early risk signals can translate into real P&amp;L impact.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100584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800" b="0">
                <a:solidFill>
                  <a:srgbClr val="677382"/>
                </a:solidFill>
                <a:latin typeface="Aptos"/>
              </a:rPr>
              <a:t>SICR • IFRS 9 • Credit Risk &amp; ECL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55664"/>
            <a:ext cx="4572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1">
                <a:solidFill>
                  <a:srgbClr val="677382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1">
                <a:solidFill>
                  <a:srgbClr val="255BA8"/>
                </a:solidFill>
                <a:latin typeface="Aptos"/>
              </a:rPr>
              <a:t>REFERENCE NOTE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Technical basis &amp; terminology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97864"/>
            <a:ext cx="10972800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677382"/>
                </a:solidFill>
                <a:latin typeface="Aptos"/>
              </a:rPr>
              <a:t>Core points aligned to IFRS 9 impairment requirements; examples are illustrative.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35661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0">
                <a:solidFill>
                  <a:srgbClr val="262D37"/>
                </a:solidFill>
                <a:latin typeface="Aptos"/>
              </a:rPr>
              <a:t>Key reference points:</a:t>
            </a:r>
            <a:br/>
            <a:br/>
            <a:r>
              <a:t>• Lifetime ECL is recognised when credit risk has increased significantly since initial recognition.</a:t>
            </a:r>
            <a:br/>
            <a:r>
              <a:t>• SICR focuses on the change in risk of default over the expected life, not simply the change in ECL.</a:t>
            </a:r>
            <a:br/>
            <a:r>
              <a:t>• Reasonable and supportable information, including forward-looking information, is considered.</a:t>
            </a:r>
            <a:br/>
            <a:r>
              <a:t>• Stage 1 generally uses 12-month ECL; Stage 2 and Stage 3 use lifetime ECL.</a:t>
            </a:r>
            <a:br/>
            <a:r>
              <a:t>• IFRS 9 includes a rebuttable presumption around 30 days past due.</a:t>
            </a:r>
            <a:br/>
            <a:br/>
            <a:r>
              <a:t>Sources: IFRS Foundation / IFRS 9 materials; EUR-Lex IFRS 9 text; EBA IFRS 9 monitoring material; Basel Committee guidance.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100" b="1">
                <a:solidFill>
                  <a:srgbClr val="BE3737"/>
                </a:solidFill>
                <a:latin typeface="Aptos"/>
              </a:rPr>
              <a:t>Illustrative calculations are teaching examples, not a substitute for an institution’s approved IFRS 9 methodology.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0584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800" b="0">
                <a:solidFill>
                  <a:srgbClr val="677382"/>
                </a:solidFill>
                <a:latin typeface="Aptos"/>
              </a:rPr>
              <a:t>SICR • IFRS 9 • Credit Risk &amp; ECL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4572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1">
                <a:solidFill>
                  <a:srgbClr val="677382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