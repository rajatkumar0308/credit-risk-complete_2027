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Good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&lt;40k</c:v>
                </c:pt>
                <c:pt idx="1">
                  <c:v>40–70k</c:v>
                </c:pt>
                <c:pt idx="2">
                  <c:v>&gt;70k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Bad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&lt;40k</c:v>
                </c:pt>
                <c:pt idx="1">
                  <c:v>40–70k</c:v>
                </c:pt>
                <c:pt idx="2">
                  <c:v>&gt;70k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8992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D9A037"/>
                </a:solidFill>
                <a:latin typeface="Aptos"/>
              </a:rPr>
              <a:t>CREDIT 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10058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WOE &amp; BINNING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987552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000" b="0">
                <a:solidFill>
                  <a:srgbClr val="DCE4EE"/>
                </a:solidFill>
                <a:latin typeface="Aptos"/>
              </a:rPr>
              <a:t>Turning raw borrower variables into interpretable, monotonic risk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77639"/>
            <a:ext cx="1828800" cy="731520"/>
          </a:xfrm>
          <a:prstGeom prst="roundRect">
            <a:avLst/>
          </a:prstGeom>
          <a:solidFill>
            <a:srgbClr val="121F35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51376"/>
            <a:ext cx="18288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6352" y="4133087"/>
            <a:ext cx="6858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977639"/>
            <a:ext cx="1828800" cy="731520"/>
          </a:xfrm>
          <a:prstGeom prst="roundRect">
            <a:avLst/>
          </a:prstGeom>
          <a:solidFill>
            <a:srgbClr val="121F3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151376"/>
            <a:ext cx="18288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Aptos"/>
              </a:rPr>
              <a:t>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4133087"/>
            <a:ext cx="6858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77639"/>
            <a:ext cx="1828800" cy="731520"/>
          </a:xfrm>
          <a:prstGeom prst="roundRect">
            <a:avLst/>
          </a:prstGeom>
          <a:solidFill>
            <a:srgbClr val="121F35"/>
          </a:solidFill>
          <a:ln w="25400">
            <a:solidFill>
              <a:srgbClr val="D9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51376"/>
            <a:ext cx="18288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D9A037"/>
                </a:solidFill>
                <a:latin typeface="Aptos"/>
              </a:rPr>
              <a:t>WOE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133087"/>
            <a:ext cx="6858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977639"/>
            <a:ext cx="1828800" cy="731520"/>
          </a:xfrm>
          <a:prstGeom prst="roundRect">
            <a:avLst/>
          </a:prstGeom>
          <a:solidFill>
            <a:srgbClr val="121F3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4151376"/>
            <a:ext cx="18288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RISK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89320"/>
            <a:ext cx="100584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B4C2D2"/>
                </a:solidFill>
                <a:latin typeface="Aptos"/>
              </a:rPr>
              <a:t>Premium corporate training module  |  Banking • Finance • Credit 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What is WOE?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Weight of Evidence converts a bin into a directional measure of “good vs bad” separation.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64207"/>
            <a:ext cx="309981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93391"/>
            <a:ext cx="3099816" cy="1371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WOE = ln(% Good in bin / % Bad in bin)</a:t>
            </a:r>
            <a:br/>
            <a:br/>
            <a:r>
              <a:t>Positive WOE → bin is relatively safer</a:t>
            </a:r>
            <a:br/>
            <a:r>
              <a:t>Negative WOE → bin is relatively riskier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7"/>
            <a:ext cx="309981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93391"/>
            <a:ext cx="3099816" cy="1371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• Makes variables comparable</a:t>
            </a:r>
            <a:br/>
            <a:r>
              <a:t>• Captures risk ordering</a:t>
            </a:r>
            <a:br/>
            <a:r>
              <a:t>• Handles non-linear relationships</a:t>
            </a:r>
            <a:br/>
            <a:r>
              <a:t>• Works naturally with logistic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7"/>
            <a:ext cx="309981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D9A037"/>
                </a:solidFill>
                <a:latin typeface="Aptos"/>
              </a:rPr>
              <a:t>SO WHAT?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93391"/>
            <a:ext cx="3099816" cy="1371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A credit analyst can move from:</a:t>
            </a:r>
            <a:br/>
            <a:br/>
            <a:r>
              <a:t>“Income = ₹65k”</a:t>
            </a:r>
            <a:br/>
            <a:r>
              <a:t>→ “Income band has materially lower bad rate”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10789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Core intuition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789920" cy="9144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232B34"/>
                </a:solidFill>
                <a:latin typeface="Aptos"/>
              </a:rPr>
              <a:t>WOE asks one question: “Compared with the overall portfolio, is this bin disproportionately populated by good borrowers or bad borrowers?”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Binning in Credit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Group continuous or categorical values into risk-homogeneous segments before calculating WOE.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01168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667382"/>
                </a:solidFill>
                <a:latin typeface="Aptos"/>
              </a:rPr>
              <a:t>RAW 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29968"/>
            <a:ext cx="123444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₹18k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9202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029968"/>
            <a:ext cx="123444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₹27k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9202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29968"/>
            <a:ext cx="123444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₹34k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9" y="19202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2029968"/>
            <a:ext cx="123444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₹46k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9202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029968"/>
            <a:ext cx="123444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₹58k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9202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29968"/>
            <a:ext cx="123444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₹72k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59" y="19202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59" y="2029968"/>
            <a:ext cx="123444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₹91k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651760"/>
            <a:ext cx="201168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BINNING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154680"/>
            <a:ext cx="265176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55848"/>
            <a:ext cx="265176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1F35"/>
                </a:solidFill>
                <a:latin typeface="Aptos"/>
              </a:rPr>
              <a:t>&lt; ₹40k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3154680"/>
            <a:ext cx="265176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3355848"/>
            <a:ext cx="265176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1F35"/>
                </a:solidFill>
                <a:latin typeface="Aptos"/>
              </a:rPr>
              <a:t>₹40–70k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154680"/>
            <a:ext cx="274320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355848"/>
            <a:ext cx="274320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1F35"/>
                </a:solidFill>
                <a:latin typeface="Aptos"/>
              </a:rPr>
              <a:t>&gt; ₹70k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51960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121F35"/>
                </a:solidFill>
                <a:latin typeface="Aptos"/>
              </a:rPr>
              <a:t>Common approaches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09160"/>
            <a:ext cx="3383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818888"/>
            <a:ext cx="305409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EQUAL-WIDTH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148072"/>
            <a:ext cx="3054096" cy="5943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Fixed numeric ranges; simple but can create sparse bins.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709160"/>
            <a:ext cx="3383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4818888"/>
            <a:ext cx="305409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EQUAL-FREQUENCY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5148072"/>
            <a:ext cx="3054096" cy="5943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Similar observations per bin; useful for scorecard development.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709160"/>
            <a:ext cx="3383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4818888"/>
            <a:ext cx="305409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D9A037"/>
                </a:solidFill>
                <a:latin typeface="Aptos"/>
              </a:rPr>
              <a:t>SUPERVISED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5148072"/>
            <a:ext cx="3054096" cy="5943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Bins chosen using bad-rate / WOE patterns and business logic.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Good vs Bad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WOE is driven by the distribution of good and bad accounts—not by raw counts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6492240" cy="301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40"/>
                <a:gridCol w="1082040"/>
                <a:gridCol w="1082040"/>
                <a:gridCol w="1082040"/>
                <a:gridCol w="1082040"/>
                <a:gridCol w="1082040"/>
              </a:tblGrid>
              <a:tr h="6035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Income Bin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Good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Bad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% Good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% Bad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Bad Rate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&lt; ₹40k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30.0%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40.0%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28.6%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₹40–70k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450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45.0%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40.0%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21.1%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&gt; ₹70k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250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25.0%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19.4%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1000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23.1%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52360" y="1554480"/>
          <a:ext cx="406908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892040"/>
            <a:ext cx="10515600" cy="6858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Aptos"/>
              </a:rPr>
              <a:t>Signal: &lt; ₹40k holds 40% of all bads but only 30% of goods → this bin is riskier than the portfolio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WOE Calculation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Illustrative portfolio: 1,000 Goods and 300 Bads.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423160" cy="14630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17556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737360"/>
            <a:ext cx="155448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121F35"/>
                </a:solidFill>
                <a:latin typeface="Aptos"/>
              </a:rPr>
              <a:t>Calculate % Good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148840"/>
            <a:ext cx="1554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Good in bin ÷ Total Good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00200"/>
            <a:ext cx="2423160" cy="14630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719072"/>
            <a:ext cx="41148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730752" y="17556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737360"/>
            <a:ext cx="155448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121F35"/>
                </a:solidFill>
                <a:latin typeface="Aptos"/>
              </a:rPr>
              <a:t>Calculate % Bad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148840"/>
            <a:ext cx="1554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Bad in bin ÷ Total Bad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00200"/>
            <a:ext cx="2423160" cy="14630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19072"/>
            <a:ext cx="41148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1755648"/>
            <a:ext cx="384048" cy="384048"/>
          </a:xfrm>
          <a:prstGeom prst="ellipse">
            <a:avLst/>
          </a:prstGeom>
          <a:solidFill>
            <a:srgbClr val="D9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1737360"/>
            <a:ext cx="155448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121F35"/>
                </a:solidFill>
                <a:latin typeface="Aptos"/>
              </a:rPr>
              <a:t>Take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148840"/>
            <a:ext cx="1554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% Good ÷ % Bad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600200"/>
            <a:ext cx="2423160" cy="14630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719072"/>
            <a:ext cx="41148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9400032" y="1755648"/>
            <a:ext cx="384048" cy="384048"/>
          </a:xfrm>
          <a:prstGeom prst="ellipse">
            <a:avLst/>
          </a:prstGeom>
          <a:solidFill>
            <a:srgbClr val="D9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1737360"/>
            <a:ext cx="155448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121F35"/>
                </a:solidFill>
                <a:latin typeface="Aptos"/>
              </a:rPr>
              <a:t>Apply ln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2148840"/>
            <a:ext cx="1554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WOE = ln(% Good / % Bad)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121F35"/>
                </a:solidFill>
                <a:latin typeface="Aptos"/>
              </a:rPr>
              <a:t>Example: bin “&lt; ₹40k”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914400" y="3977639"/>
          <a:ext cx="4937760" cy="1828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Good in bin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Bad in bin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% Good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% Bad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0.4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Ratio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0.7499999999999999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WOE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-0.28768207245178107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217920" y="4160520"/>
            <a:ext cx="4663440" cy="10972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300" b="1">
                <a:solidFill>
                  <a:srgbClr val="BE3737"/>
                </a:solidFill>
                <a:latin typeface="Aptos"/>
              </a:rPr>
              <a:t>WOE = ln(0.30 ÷ 0.40)</a:t>
            </a:r>
            <a:br/>
            <a:r>
              <a:t>= ln(0.75)</a:t>
            </a:r>
            <a:br/>
            <a:r>
              <a:t>= −0.288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94960"/>
            <a:ext cx="466344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BE3737"/>
                </a:solidFill>
                <a:latin typeface="Aptos"/>
              </a:rPr>
              <a:t>Negative WOE → relatively higher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WOE — 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Three income bins show how risk ordering emerges from the same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7406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481328"/>
                <a:gridCol w="1481328"/>
                <a:gridCol w="1481328"/>
                <a:gridCol w="1481328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Bin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% Good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% Bad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WOE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&lt; ₹40k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30%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−0.288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Higher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₹40–70k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45%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+0.118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Slightly safer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&gt; ₹70k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+0.223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Safer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0.000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Portfolio 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58200" y="1554480"/>
            <a:ext cx="292608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1F35"/>
                </a:solidFill>
                <a:latin typeface="Aptos"/>
              </a:rPr>
              <a:t>WOE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232B34"/>
                </a:solidFill>
                <a:latin typeface="Aptos"/>
              </a:rPr>
              <a:t>&lt;40k</a:t>
            </a:r>
          </a:p>
        </p:txBody>
      </p:sp>
      <p:sp>
        <p:nvSpPr>
          <p:cNvPr id="9" name="Rectangle 8"/>
          <p:cNvSpPr/>
          <p:nvPr/>
        </p:nvSpPr>
        <p:spPr>
          <a:xfrm>
            <a:off x="10" y="2"/>
            <a:ext cx="2" cy="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" y="2"/>
            <a:ext cx="1" cy="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2148840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232B34"/>
                </a:solidFill>
                <a:latin typeface="Aptos"/>
              </a:rPr>
              <a:t>-0.288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880360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232B34"/>
                </a:solidFill>
                <a:latin typeface="Aptos"/>
              </a:rPr>
              <a:t>40–70k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" y="3"/>
            <a:ext cx="2" cy="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" y="3"/>
            <a:ext cx="0" cy="0"/>
          </a:xfrm>
          <a:prstGeom prst="rect">
            <a:avLst/>
          </a:prstGeom>
          <a:solidFill>
            <a:srgbClr val="23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09960" y="2880360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232B34"/>
                </a:solidFill>
                <a:latin typeface="Aptos"/>
              </a:rPr>
              <a:t>+0.118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11880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232B34"/>
                </a:solidFill>
                <a:latin typeface="Aptos"/>
              </a:rPr>
              <a:t>&gt;70k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" y="4"/>
            <a:ext cx="2" cy="0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" y="3"/>
            <a:ext cx="1" cy="0"/>
          </a:xfrm>
          <a:prstGeom prst="rect">
            <a:avLst/>
          </a:prstGeom>
          <a:solidFill>
            <a:srgbClr val="23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09960" y="3611880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232B34"/>
                </a:solidFill>
                <a:latin typeface="Aptos"/>
              </a:rPr>
              <a:t>+0.223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607040" cy="6858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121F35"/>
                </a:solidFill>
                <a:latin typeface="Aptos"/>
              </a:rPr>
              <a:t>Modeling insight: a well-designed binning scheme often seeks a stable, economically sensible and preferably monotonic WOE pattern.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How WOE Enters a Credit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WOE is not the final score—it is an engineered risk signal that can feed logistic regression / scorecards.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202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173736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Raw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737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21F35"/>
                </a:solidFill>
                <a:latin typeface="Aptos"/>
              </a:rPr>
              <a:t>Income = ₹52k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176272"/>
            <a:ext cx="41148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000" b="1">
                <a:solidFill>
                  <a:srgbClr val="66738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19202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1993392"/>
            <a:ext cx="173736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359152"/>
            <a:ext cx="1737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21F35"/>
                </a:solidFill>
                <a:latin typeface="Aptos"/>
              </a:rPr>
              <a:t>₹40–70k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176272"/>
            <a:ext cx="41148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000" b="1">
                <a:solidFill>
                  <a:srgbClr val="66738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28800"/>
            <a:ext cx="19202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799" y="1993392"/>
            <a:ext cx="173736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D9A037"/>
                </a:solidFill>
                <a:latin typeface="Aptos"/>
              </a:rPr>
              <a:t>WOE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799" y="2359152"/>
            <a:ext cx="1737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21F35"/>
                </a:solidFill>
                <a:latin typeface="Aptos"/>
              </a:rPr>
              <a:t>+0.118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176272"/>
            <a:ext cx="41148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000" b="1">
                <a:solidFill>
                  <a:srgbClr val="66738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19202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1993392"/>
            <a:ext cx="173736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BE3737"/>
                </a:solidFill>
                <a:latin typeface="Aptos"/>
              </a:rPr>
              <a:t>Model coefficient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359152"/>
            <a:ext cx="1737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21F35"/>
                </a:solidFill>
                <a:latin typeface="Aptos"/>
              </a:rPr>
              <a:t>β = −0.90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76272"/>
            <a:ext cx="41148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000" b="1">
                <a:solidFill>
                  <a:srgbClr val="667382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828800"/>
            <a:ext cx="192024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993392"/>
            <a:ext cx="173736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38252"/>
                </a:solidFill>
                <a:latin typeface="Aptos"/>
              </a:rPr>
              <a:t>Risk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359152"/>
            <a:ext cx="1737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21F35"/>
                </a:solidFill>
                <a:latin typeface="Aptos"/>
              </a:rPr>
              <a:t>β × WOE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49039"/>
            <a:ext cx="996696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21F35"/>
                </a:solidFill>
                <a:latin typeface="Aptos"/>
              </a:rPr>
              <a:t>WOE transformation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1033272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232B34"/>
                </a:solidFill>
                <a:latin typeface="Aptos"/>
              </a:rPr>
              <a:t>Raw X  →  Bin(X)  →  WOE(X)  →  β·WOE(X)  →  log-odds /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486400"/>
            <a:ext cx="310896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596128"/>
            <a:ext cx="277977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BANKER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925312"/>
            <a:ext cx="2779776" cy="1371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Interpretability &amp; policy alignment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5486400"/>
            <a:ext cx="310896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5596128"/>
            <a:ext cx="277977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BE3737"/>
                </a:solidFill>
                <a:latin typeface="Aptos"/>
              </a:rPr>
              <a:t>MODEL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5925312"/>
            <a:ext cx="2779776" cy="1371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Stability, leakage &amp; bin robustness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5486400"/>
            <a:ext cx="310896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5596128"/>
            <a:ext cx="277977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D9A037"/>
                </a:solidFill>
                <a:latin typeface="Aptos"/>
              </a:rPr>
              <a:t>CFO / INVESTOR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925312"/>
            <a:ext cx="2779776" cy="1371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Portfolio risk 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Case Study — Retail Credit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Illustrative data: 10,000 unsecured personal-loan applicants.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Variable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Risk pattern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Decision use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Lower income → negative WOE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Pricing / approval cut-offs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Utilization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Higher utilization → negative WOE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Limit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Delinquencies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More past due → strongly negative WOE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Decline / manual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Tenure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Short tenure → modestly negative WOE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B34"/>
                          </a:solidFill>
                          <a:latin typeface="Aptos"/>
                        </a:rPr>
                        <a:t>Stability signal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0" y="150876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1618488"/>
            <a:ext cx="296265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1. 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2" y="1947672"/>
            <a:ext cx="2962656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Find variables that separate goods from bads.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88036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990088"/>
            <a:ext cx="296265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2. BIN + WOE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3319272"/>
            <a:ext cx="2962656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Create stable, interpretable risk bands.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25196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4361688"/>
            <a:ext cx="2962656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D9A037"/>
                </a:solidFill>
                <a:latin typeface="Aptos"/>
              </a:rPr>
              <a:t>3.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4690872"/>
            <a:ext cx="2962656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Check monotonicity, IV, stability and out-of-time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722376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BE3737"/>
                </a:solidFill>
                <a:latin typeface="Aptos"/>
              </a:rPr>
              <a:t>Illustrative result</a:t>
            </a:r>
            <a:br/>
            <a:r>
              <a:t>A bin with WOE = −0.80 is materially more bad-heavy than the portfolio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Risks, Red Flags &amp;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Good WOE is not simply “high WOE.” The objective is robust predictive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Issue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54864" marR="54864" marT="27432" marB="27432" anchor="ctr">
                    <a:solidFill>
                      <a:srgbClr val="121F3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Too many bins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Overfitting / unstable estimates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Collapse sparse bins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Zero goods or bads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WOE → ±∞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Use smoothing / combine bins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Non-monotonic WOE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Weak business logic / instability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Review binning or variable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Data leakage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Artificially strong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Use only information available at decision 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Population drift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WOE changes over 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Monitor PSI / WOE stability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Ignoring missing values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Hidden risk segment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Treat missingness explicitly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BE3737"/>
                </a:solidFill>
                <a:latin typeface="Aptos"/>
              </a:rPr>
              <a:t>Red flag: a spectacular development-sample WOE pattern that collapses out-of-time is usually a model-risk problem, not a modeling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D9A037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07040" cy="5943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WOE turns segmentation into an interpretable risk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57400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Bin intelligently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57400"/>
            <a:ext cx="7772400" cy="3474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Risk-homogeneous groups beat arbitrary cuts.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0632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70632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Compare distributions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70632"/>
            <a:ext cx="7772400" cy="3474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WOE is about relative good-vs-bad concentration.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83864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Read the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483864"/>
            <a:ext cx="7772400" cy="3474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Positive = relatively safer; negative = relatively riskier.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97096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97096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Demand 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197096"/>
            <a:ext cx="7772400" cy="3474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Validate across time, segments and policy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10328"/>
            <a:ext cx="50292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10328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Connect to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910328"/>
            <a:ext cx="7772400" cy="3474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Use WOE to support approval, pricing, limits and monitoring.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AABCD0"/>
                </a:solidFill>
                <a:latin typeface="Aptos"/>
              </a:rPr>
              <a:t>WHAT → WHY → HOW → SO WHAT  |  From raw borrower data to defensible credit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WOE &amp; BINNING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