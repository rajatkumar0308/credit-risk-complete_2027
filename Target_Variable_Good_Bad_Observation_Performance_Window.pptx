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Target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Good</c:v>
                </c:pt>
                <c:pt idx="1">
                  <c:v>Bad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9200</c:v>
                </c:pt>
                <c:pt idx="1">
                  <c:v>800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TARGET VARIABLE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DDCF0"/>
                </a:solidFill>
                <a:latin typeface="Aptos"/>
              </a:rPr>
              <a:t>Good / Bad • Observation Window • Performance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Turning borrower behaviour into a measurable outcome for credit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943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ED7"/>
                </a:solidFill>
                <a:latin typeface="Aptos"/>
              </a:rPr>
              <a:t>Premium Corporate Credit Risk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1. What Is a Target Variable?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The outcome a credit model is trained to predict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83280" cy="356616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3566160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01952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Target = future borrower outcome.</a:t>
            </a:r>
            <a:br/>
            <a:br/>
            <a:r>
              <a:t>Example:</a:t>
            </a:r>
            <a:br/>
            <a:r>
              <a:t>1 = Bad / default event</a:t>
            </a:r>
            <a:br/>
            <a:r>
              <a:t>0 = Good / no defined bad event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356616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3566160"/>
          </a:xfrm>
          <a:prstGeom prst="rect">
            <a:avLst/>
          </a:prstGeom>
          <a:solidFill>
            <a:srgbClr val="2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Features describe the borrower at the decision point.</a:t>
            </a:r>
            <a:br/>
            <a:br/>
            <a:r>
              <a:t>The target tells the model what happened afterwards.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383280" cy="356616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73152" cy="356616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SO 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01952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Bad target design can create:</a:t>
            </a:r>
            <a:br/>
            <a:r>
              <a:t>• leakage</a:t>
            </a:r>
            <a:br/>
            <a:r>
              <a:t>• biased PD</a:t>
            </a:r>
            <a:br/>
            <a:r>
              <a:t>• unstable models</a:t>
            </a:r>
            <a:br/>
            <a:r>
              <a:t>• wrong credit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037"/>
                </a:solidFill>
                <a:latin typeface="Aptos"/>
              </a:rPr>
              <a:t>X = information available today  →  Y = outcome observed 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CREDIT RISK MODELING • TARGET VARIABLE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2. Good vs Bad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The policy rule behind the label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20624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206240"/>
          </a:xfrm>
          <a:prstGeom prst="rect">
            <a:avLst/>
          </a:prstGeom>
          <a:solidFill>
            <a:srgbClr val="2D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63039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GOOD — 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56231"/>
            <a:ext cx="3154679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No material adverse event during the performance window.</a:t>
            </a:r>
            <a:br/>
            <a:br/>
            <a:r>
              <a:t>Possible rule:</a:t>
            </a:r>
            <a:br/>
            <a:r>
              <a:t>• no default</a:t>
            </a:r>
            <a:br/>
            <a:r>
              <a:t>• no write-off</a:t>
            </a:r>
            <a:br/>
            <a:r>
              <a:t>• remains performing</a:t>
            </a:r>
            <a:br/>
            <a:r>
              <a:t>• delinquency below defined threshold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20624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420624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63039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BAD — ILLUSTRATIVE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1"/>
            <a:ext cx="3154679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A predefined adverse event occurs.</a:t>
            </a:r>
            <a:br/>
            <a:br/>
            <a:r>
              <a:t>Possible rule:</a:t>
            </a:r>
            <a:br/>
            <a:r>
              <a:t>• 90+ DPD</a:t>
            </a:r>
            <a:br/>
            <a:r>
              <a:t>• default</a:t>
            </a:r>
            <a:br/>
            <a:r>
              <a:t>• write-off / charge-off</a:t>
            </a:r>
            <a:br/>
            <a:r>
              <a:t>• distress-driven restructuring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420624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4206240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63039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DESIGN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1"/>
            <a:ext cx="3154679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Definition must be:</a:t>
            </a:r>
            <a:br/>
            <a:r>
              <a:t>• objective</a:t>
            </a:r>
            <a:br/>
            <a:r>
              <a:t>• observable</a:t>
            </a:r>
            <a:br/>
            <a:r>
              <a:t>• consistent</a:t>
            </a:r>
            <a:br/>
            <a:r>
              <a:t>• product-appropriate</a:t>
            </a:r>
            <a:br/>
            <a:r>
              <a:t>• frozen before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037"/>
                </a:solidFill>
                <a:latin typeface="Aptos"/>
              </a:rPr>
              <a:t>Key question: “Bad according to which policy, for which product, over which horizon?”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CREDIT RISK MODELING • TARGET VARIABLE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3. Observation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What the model is allowed to know at the decision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74519"/>
            <a:ext cx="9875520" cy="36576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746504"/>
            <a:ext cx="256032" cy="25603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19" y="2148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037"/>
                </a:solidFill>
                <a:latin typeface="Aptos"/>
              </a:rPr>
              <a:t>Historical data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1746504"/>
            <a:ext cx="256032" cy="256032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39" y="2148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037"/>
                </a:solidFill>
                <a:latin typeface="Aptos"/>
              </a:rPr>
              <a:t>Observation date</a:t>
            </a:r>
          </a:p>
        </p:txBody>
      </p:sp>
      <p:sp>
        <p:nvSpPr>
          <p:cNvPr id="10" name="Oval 9"/>
          <p:cNvSpPr/>
          <p:nvPr/>
        </p:nvSpPr>
        <p:spPr>
          <a:xfrm>
            <a:off x="7955279" y="1746504"/>
            <a:ext cx="256032" cy="256032"/>
          </a:xfrm>
          <a:prstGeom prst="ellipse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19" y="2148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037"/>
                </a:solidFill>
                <a:latin typeface="Aptos"/>
              </a:rPr>
              <a:t>Future data</a:t>
            </a:r>
          </a:p>
        </p:txBody>
      </p:sp>
      <p:sp>
        <p:nvSpPr>
          <p:cNvPr id="12" name="Oval 11"/>
          <p:cNvSpPr/>
          <p:nvPr/>
        </p:nvSpPr>
        <p:spPr>
          <a:xfrm>
            <a:off x="10241280" y="1746504"/>
            <a:ext cx="256032" cy="256032"/>
          </a:xfrm>
          <a:prstGeom prst="ellipse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19" y="2148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037"/>
                </a:solidFill>
                <a:latin typeface="Aptos"/>
              </a:rPr>
              <a:t>Target outcome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88920"/>
            <a:ext cx="3246120" cy="228600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788920"/>
            <a:ext cx="73152" cy="2286000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2926079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319272"/>
            <a:ext cx="2926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Decision date = 01-Jan-2026</a:t>
            </a:r>
            <a:br/>
            <a:r>
              <a:t>Use bureau, income, transactions and behavioural data available by this cut-off.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2788920"/>
            <a:ext cx="3246120" cy="228600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2788920"/>
            <a:ext cx="73152" cy="228600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2926079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POINT-IN-TIME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319272"/>
            <a:ext cx="2926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No information created after the decision date may enter the feature 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788920"/>
            <a:ext cx="3246120" cy="228600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2788920"/>
            <a:ext cx="73152" cy="2286000"/>
          </a:xfrm>
          <a:prstGeom prst="rect">
            <a:avLst/>
          </a:prstGeom>
          <a:solidFill>
            <a:srgbClr val="2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926079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3319272"/>
            <a:ext cx="2926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Prevents look-ahead bias and makes model performance realistic in production.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CREDIT RISK MODELING • TARGET VARIABLE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4. Performance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The future period used to determine Good or Bad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02336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4023360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12-MONTH PD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Observation date</a:t>
            </a:r>
            <a:br/>
            <a:r>
              <a:t>01-Jan-2026</a:t>
            </a:r>
            <a:br/>
            <a:br/>
            <a:r>
              <a:t>Performance window</a:t>
            </a:r>
            <a:br/>
            <a:r>
              <a:t>01-Jan-2026 → 31-Dec-2026</a:t>
            </a:r>
            <a:br/>
            <a:br/>
            <a:r>
              <a:t>Bad if a defined event occurs within the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02336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4023360"/>
          </a:xfrm>
          <a:prstGeom prst="rect">
            <a:avLst/>
          </a:prstGeom>
          <a:solidFill>
            <a:srgbClr val="2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WHY THE HORIZON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Short horizon:</a:t>
            </a:r>
            <a:br/>
            <a:r>
              <a:t>• fewer observed events</a:t>
            </a:r>
            <a:br/>
            <a:r>
              <a:t>• operationally focused</a:t>
            </a:r>
            <a:br/>
            <a:br/>
            <a:r>
              <a:t>Long horizon:</a:t>
            </a:r>
            <a:br/>
            <a:r>
              <a:t>• more events</a:t>
            </a:r>
            <a:br/>
            <a:r>
              <a:t>• more economic / policy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402336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73152" cy="4023360"/>
          </a:xfrm>
          <a:prstGeom prst="rect">
            <a:avLst/>
          </a:prstGeom>
          <a:solidFill>
            <a:srgbClr val="CD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SO 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The model is not predicting “default someday.”</a:t>
            </a:r>
            <a:br/>
            <a:br/>
            <a:r>
              <a:t>It predicts an outcome over a specific future horizon.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CREDIT RISK MODELING • TARGET VARIABLE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5. Complete Target-Construction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1572768" cy="14173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1051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DA0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212848"/>
            <a:ext cx="14264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22037"/>
                </a:solidFill>
                <a:latin typeface="Aptos"/>
              </a:rPr>
              <a:t>Define decision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645920"/>
            <a:ext cx="1572768" cy="14173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81051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DA0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2" y="2212848"/>
            <a:ext cx="14264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22037"/>
                </a:solidFill>
                <a:latin typeface="Aptos"/>
              </a:rPr>
              <a:t>Freeze information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1572768" cy="14173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1051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DA0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12848"/>
            <a:ext cx="14264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22037"/>
                </a:solidFill>
                <a:latin typeface="Aptos"/>
              </a:rPr>
              <a:t>Set Good/Bad rule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45920"/>
            <a:ext cx="1572768" cy="14173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81051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DA0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212848"/>
            <a:ext cx="14264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22037"/>
                </a:solidFill>
                <a:latin typeface="Aptos"/>
              </a:rPr>
              <a:t>Observe future 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645920"/>
            <a:ext cx="1572768" cy="14173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81051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DA0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212848"/>
            <a:ext cx="14264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22037"/>
                </a:solidFill>
                <a:latin typeface="Aptos"/>
              </a:rPr>
              <a:t>Assign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60" y="1645920"/>
            <a:ext cx="1572768" cy="14173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181051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5DA0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68712" y="2212848"/>
            <a:ext cx="14264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22037"/>
                </a:solidFill>
                <a:latin typeface="Aptos"/>
              </a:rPr>
              <a:t>Validate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862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037"/>
                </a:solidFill>
                <a:latin typeface="Aptos"/>
              </a:rPr>
              <a:t>FINAL LABEL  →  Target = 1 (Bad)  /  0 (Good)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6E7D"/>
                </a:solidFill>
                <a:latin typeface="Aptos"/>
              </a:rPr>
              <a:t>Governance: document source fields, cut-off, exclusions, overrides and rule version.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CREDIT RISK MODELING • TARGET VARIABLE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6. Target Variable — Practical Numerical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Illustrative retail-loan sample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645920" cy="502920"/>
          </a:xfrm>
          <a:prstGeom prst="rect">
            <a:avLst/>
          </a:prstGeom>
          <a:solidFill>
            <a:srgbClr val="12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325880"/>
            <a:ext cx="1645920" cy="502920"/>
          </a:xfrm>
          <a:prstGeom prst="rect">
            <a:avLst/>
          </a:prstGeom>
          <a:solidFill>
            <a:srgbClr val="12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3258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Observation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25880"/>
            <a:ext cx="3200400" cy="502920"/>
          </a:xfrm>
          <a:prstGeom prst="rect">
            <a:avLst/>
          </a:prstGeom>
          <a:solidFill>
            <a:srgbClr val="12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12-mo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325880"/>
            <a:ext cx="1554480" cy="502920"/>
          </a:xfrm>
          <a:prstGeom prst="rect">
            <a:avLst/>
          </a:prstGeom>
          <a:solidFill>
            <a:srgbClr val="12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3258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Class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325880"/>
            <a:ext cx="914400" cy="502920"/>
          </a:xfrm>
          <a:prstGeom prst="rect">
            <a:avLst/>
          </a:prstGeom>
          <a:solidFill>
            <a:srgbClr val="12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3258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Target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1892807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892807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1892807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1892807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01-Jan-26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892807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1892807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No 90+ DPD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892807"/>
            <a:ext cx="1554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892807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GOOD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1892807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1892807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2606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606039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2606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2606039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01-Jan-26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606039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26060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90+ DPD in month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2606039"/>
            <a:ext cx="1554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2606039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BAD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2606039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2606039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3319272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3192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3319272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68880" y="33192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01-Jan-26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3319272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33192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30 DPD only*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3319272"/>
            <a:ext cx="1554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331927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GOOD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3319272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0" y="33192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4032504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03250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4032504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68880" y="403250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01-Jan-26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4032504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0" y="403250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Write-off in month 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4032504"/>
            <a:ext cx="1554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0" y="403250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BAD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80" y="4032504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69680" y="4032504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32830"/>
                </a:solidFill>
                <a:latin typeface="Aptos"/>
              </a:rPr>
              <a:t>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4892040"/>
            <a:ext cx="10241280" cy="91440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0" y="4892040"/>
            <a:ext cx="73152" cy="914400"/>
          </a:xfrm>
          <a:prstGeom prst="rect">
            <a:avLst/>
          </a:prstGeom>
          <a:solidFill>
            <a:srgbClr val="2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15568" y="5029200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LABEL LOGIC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5422392"/>
            <a:ext cx="9921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Target = 1 when any policy-defined bad event occurs in the 12-month performance window; otherwise 0. *Treatment of 30 DPD depends on policy.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CREDIT RISK MODELING • TARGET VARIABLE DESIGN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7. Step-by-Step Label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A production-style logic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234440"/>
            <a:ext cx="457200" cy="457200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22037"/>
                </a:solidFill>
                <a:latin typeface="Aptos"/>
              </a:rPr>
              <a:t>Choose observation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2344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830"/>
                </a:solidFill>
                <a:latin typeface="Aptos"/>
              </a:rPr>
              <a:t>2026-01-01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130552"/>
            <a:ext cx="457200" cy="457200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30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305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22037"/>
                </a:solidFill>
                <a:latin typeface="Aptos"/>
              </a:rPr>
              <a:t>Freeze eligible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13055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830"/>
                </a:solidFill>
                <a:latin typeface="Aptos"/>
              </a:rPr>
              <a:t>Data available ≤ cut-off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26664"/>
            <a:ext cx="457200" cy="457200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266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02666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22037"/>
                </a:solidFill>
                <a:latin typeface="Aptos"/>
              </a:rPr>
              <a:t>Observe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026664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830"/>
                </a:solidFill>
                <a:latin typeface="Aptos"/>
              </a:rPr>
              <a:t>Next 12 months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922776"/>
            <a:ext cx="457200" cy="457200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22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227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22037"/>
                </a:solidFill>
                <a:latin typeface="Aptos"/>
              </a:rPr>
              <a:t>Apply bad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92277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830"/>
                </a:solidFill>
                <a:latin typeface="Aptos"/>
              </a:rPr>
              <a:t>90+ DPD OR default OR write-off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818888"/>
            <a:ext cx="457200" cy="457200"/>
          </a:xfrm>
          <a:prstGeom prst="ellipse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18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188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22037"/>
                </a:solidFill>
                <a:latin typeface="Aptos"/>
              </a:rPr>
              <a:t>Assign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81888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830"/>
                </a:solidFill>
                <a:latin typeface="Aptos"/>
              </a:rPr>
              <a:t>Bad = 1; Good =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807D"/>
                </a:solidFill>
                <a:latin typeface="Aptos"/>
              </a:rPr>
              <a:t>Output: exactly one validated target per eligible observation record.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CREDIT RISK MODELING • TARGET VARIABLE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8. Case Study — Retail Credit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Illustrative: 10,000 accounts observed at origination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0" y="1371600"/>
            <a:ext cx="512064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0" y="1371600"/>
            <a:ext cx="73152" cy="114300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50876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OBSERVED BAD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901952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800 / 10,000 = 8.0%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743200"/>
            <a:ext cx="512064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2743200"/>
            <a:ext cx="73152" cy="1234440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88036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MODEL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3273552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Bureau score • utilization • income • enquiries • payment behaviour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251960"/>
            <a:ext cx="512064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4251960"/>
            <a:ext cx="73152" cy="1234440"/>
          </a:xfrm>
          <a:prstGeom prst="rect">
            <a:avLst/>
          </a:prstGeom>
          <a:solidFill>
            <a:srgbClr val="2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438912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MODEL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782312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12-month bad outcome. The label determines what “risk” means statistically.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CREDIT RISK MODELING • TARGET VARIABLE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9. Case Study — Corporate Loan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Illustrative example: defining a meaningful corporate “bad”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29768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297680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63039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BORROWER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56231"/>
            <a:ext cx="31546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Revenue: ₹500 Cr</a:t>
            </a:r>
            <a:br/>
            <a:r>
              <a:t>EBITDA: ₹75 Cr</a:t>
            </a:r>
            <a:br/>
            <a:r>
              <a:t>Debt: ₹300 Cr</a:t>
            </a:r>
            <a:br/>
            <a:r>
              <a:t>Observation: 31-Mar-2026</a:t>
            </a:r>
            <a:br/>
            <a:br/>
            <a:r>
              <a:t>Use only financial information available at cut-off.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29768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429768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63039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PERFORMANCE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1"/>
            <a:ext cx="31546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12 months after cut-off.</a:t>
            </a:r>
            <a:br/>
            <a:br/>
            <a:r>
              <a:t>Potential bad events:</a:t>
            </a:r>
            <a:br/>
            <a:r>
              <a:t>• 90+ DPD</a:t>
            </a:r>
            <a:br/>
            <a:r>
              <a:t>• default</a:t>
            </a:r>
            <a:br/>
            <a:r>
              <a:t>• distress-driven restructuring</a:t>
            </a:r>
            <a:br/>
            <a:r>
              <a:t>• insolvency / write-off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429768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4297680"/>
          </a:xfrm>
          <a:prstGeom prst="rect">
            <a:avLst/>
          </a:prstGeom>
          <a:solidFill>
            <a:srgbClr val="2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63039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1"/>
            <a:ext cx="31546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Any policy-defined bad event → 1</a:t>
            </a:r>
            <a:br/>
            <a:br/>
            <a:r>
              <a:t>Otherwise → 0</a:t>
            </a:r>
            <a:br/>
            <a:br/>
            <a:r>
              <a:t>Corporate definitions often require explicit cure, refinance and restructuring treatment.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CREDIT RISK MODELING • TARGET VARIABLE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10. Biggest Modeling Risk — Target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Using future information to explain the past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166360" cy="429768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29768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630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BAD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56231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Observation: 01-Jan-26</a:t>
            </a:r>
            <a:br/>
            <a:br/>
            <a:r>
              <a:t>Feature uses March/June 2026 delinquency or a future restructuring flag.</a:t>
            </a:r>
            <a:br/>
            <a:br/>
            <a:r>
              <a:t>Result: artificially high accuracy because the model has future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166360" cy="429768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73152" cy="4297680"/>
          </a:xfrm>
          <a:prstGeom prst="rect">
            <a:avLst/>
          </a:prstGeom>
          <a:solidFill>
            <a:srgbClr val="2D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4630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GOOD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856231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Observation: 01-Jan-26</a:t>
            </a:r>
            <a:br/>
            <a:br/>
            <a:r>
              <a:t>Features: information available by 01-Jan-26.</a:t>
            </a:r>
            <a:br/>
            <a:br/>
            <a:r>
              <a:t>Future data is used only to construct the target.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2037"/>
                </a:solidFill>
                <a:latin typeface="Aptos"/>
              </a:rPr>
              <a:t>Golden rule: FEATURES come from the past; TARGET comes from the future.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CREDIT RISK MODELING • TARGET VARIABLE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11. Edge Cases &amp; Exclusions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Where target construction becomes a governance issue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74720" cy="443484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4434840"/>
          </a:xfrm>
          <a:prstGeom prst="rect">
            <a:avLst/>
          </a:prstGeom>
          <a:solidFill>
            <a:srgbClr val="CD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17319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RIGHT-CENSORING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3154679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Recently originated loans may not have completed the performance window.</a:t>
            </a:r>
            <a:br/>
            <a:br/>
            <a:r>
              <a:t>Do not label them Good simply because no bad event has happened yet.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443484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73152" cy="443484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17319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CURES / RESTRUCTURES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3154679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Define treatment explicitly:</a:t>
            </a:r>
            <a:br/>
            <a:r>
              <a:t>• cured delinquency</a:t>
            </a:r>
            <a:br/>
            <a:r>
              <a:t>• restructuring</a:t>
            </a:r>
            <a:br/>
            <a:r>
              <a:t>• refinance</a:t>
            </a:r>
            <a:br/>
            <a:r>
              <a:t>• hardship program</a:t>
            </a:r>
            <a:br/>
            <a:br/>
            <a:r>
              <a:t>The policy must say when each is Bad.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474720" cy="443484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73152" cy="4434840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17319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DATA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154679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Missing payment history is not automatically Good.</a:t>
            </a:r>
            <a:br/>
            <a:br/>
            <a:r>
              <a:t>Track outcome availability and exclude/censor records where the outcome cannot be reliably observed.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CREDIT RISK MODELING • TARGET VARIABLE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12. Why Target Design Matters to Decision-Makers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606040" cy="420624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4206240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63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CREDIT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56231"/>
            <a:ext cx="228600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Is the borrower genuinely risky?</a:t>
            </a:r>
            <a:br/>
            <a:br/>
            <a:r>
              <a:t>Target quality affects risk ranking and overrides.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606040" cy="420624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325880"/>
            <a:ext cx="73152" cy="4206240"/>
          </a:xfrm>
          <a:prstGeom prst="rect">
            <a:avLst/>
          </a:prstGeom>
          <a:solidFill>
            <a:srgbClr val="2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463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RISK /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1856231"/>
            <a:ext cx="228600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Are PD estimates valid and stable?</a:t>
            </a:r>
            <a:br/>
            <a:br/>
            <a:r>
              <a:t>Target consistency matters across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2606040" cy="420624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73152" cy="4206240"/>
          </a:xfrm>
          <a:prstGeom prst="rect">
            <a:avLst/>
          </a:prstGeom>
          <a:solidFill>
            <a:srgbClr val="2D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63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CFO / 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56231"/>
            <a:ext cx="228600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Does the model optimize profitable growth rather than simply reject customers?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325880"/>
            <a:ext cx="2606040" cy="420624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1325880"/>
            <a:ext cx="73152" cy="420624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8" y="1463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1856231"/>
            <a:ext cx="228600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Can the label be explained, reproduced and audited?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CREDIT RISK MODELING • TARGET VARIABLE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13. Target Variable Quality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Before training any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0749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960120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7647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Good/Bad objectively defined?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234440"/>
            <a:ext cx="50749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79" y="1234440"/>
            <a:ext cx="73152" cy="960120"/>
          </a:xfrm>
          <a:prstGeom prst="rect">
            <a:avLst/>
          </a:prstGeom>
          <a:solidFill>
            <a:srgbClr val="2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7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Timing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7" y="17647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Observation cut-off fixed?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68880"/>
            <a:ext cx="50749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468880"/>
            <a:ext cx="73152" cy="960120"/>
          </a:xfrm>
          <a:prstGeom prst="rect">
            <a:avLst/>
          </a:prstGeom>
          <a:solidFill>
            <a:srgbClr val="2D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2606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Horizon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992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Performance window explicit?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2468880"/>
            <a:ext cx="50749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79" y="2468880"/>
            <a:ext cx="73152" cy="960120"/>
          </a:xfrm>
          <a:prstGeom prst="rect">
            <a:avLst/>
          </a:prstGeom>
          <a:solidFill>
            <a:srgbClr val="CD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7" y="2606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Point-in-time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7" y="29992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All features available at cut-off?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03320"/>
            <a:ext cx="50749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703320"/>
            <a:ext cx="73152" cy="9601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3840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233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Outcomes observable?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79" y="3703320"/>
            <a:ext cx="50749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79" y="3703320"/>
            <a:ext cx="73152" cy="960120"/>
          </a:xfrm>
          <a:prstGeom prst="rect">
            <a:avLst/>
          </a:prstGeom>
          <a:solidFill>
            <a:srgbClr val="2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7" y="3840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Stability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7" y="4233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Comparable over time?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937760"/>
            <a:ext cx="50749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937760"/>
            <a:ext cx="73152" cy="960120"/>
          </a:xfrm>
          <a:prstGeom prst="rect">
            <a:avLst/>
          </a:prstGeom>
          <a:solidFill>
            <a:srgbClr val="2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" y="5074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7"/>
                </a:solidFill>
                <a:latin typeface="Aptos"/>
              </a:rPr>
              <a:t>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54681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830"/>
                </a:solidFill>
                <a:latin typeface="Aptos"/>
              </a:rPr>
              <a:t>Documented and version-controlled?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CREDIT RISK MODELING • TARGET VARIABLE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1  Target = the future outcome the model learns to predict.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2  Good / Bad must be explicit, objective and policy-aligned.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9806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3  Observation window defines what information the model may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1129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4  Performance window defines the future horizon for default.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5  Target leakage can create false model accuracy.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6  Strong target governance → reliable PD, scorecards and credit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ED2EB"/>
                </a:solidFill>
                <a:latin typeface="Aptos"/>
              </a:rPr>
              <a:t>NEXT STEP → Build point-in-time features, then train against the validated target.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