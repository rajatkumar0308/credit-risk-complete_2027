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What Is Default?</a:t>
            </a:r>
          </a:p>
          <a:p>
            <a:pPr>
              <a:defRPr sz="2100">
                <a:solidFill>
                  <a:srgbClr val="CAD7E5"/>
                </a:solidFill>
              </a:defRPr>
            </a:pPr>
            <a:r>
              <a:t>DPD • Delinquency • NPA • Good vs Bad</a:t>
            </a: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731520" y="2788920"/>
            <a:ext cx="3246120" cy="141732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Core idea</a:t>
            </a: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Default is not a single moment—it is a credit deterioration journey that lenders monitor, classify and act on.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>
            <p:custDataLst>
              <p:tags r:id="rId2"/>
            </p:custDataLst>
          </p:nvPr>
        </p:nvSpPr>
        <p:spPr>
          <a:xfrm>
            <a:off x="731520" y="2788920"/>
            <a:ext cx="50292" cy="141732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4251960" y="2788920"/>
            <a:ext cx="3246120" cy="141732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Banker lens</a:t>
            </a: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Move from payment behaviour → risk signal → classification → provisioning → recovery.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4251960" y="2788920"/>
            <a:ext cx="50292" cy="141732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7772400" y="2788920"/>
            <a:ext cx="3246120" cy="141732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Decision lens</a:t>
            </a: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The earlier the signal is identified, the wider the set of viable risk actions.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>
            <p:custDataLst>
              <p:tags r:id="rId6"/>
            </p:custDataLst>
          </p:nvPr>
        </p:nvSpPr>
        <p:spPr>
          <a:xfrm>
            <a:off x="7772400" y="278892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2D3"/>
                </a:solidFill>
              </a:defRPr>
            </a:pPr>
            <a:r>
              <a:t>Corporate Credit Training | Premium practitioner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Executive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Default is the outcome; DPD and delinquency are the observable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C5B8C"/>
                </a:solidFill>
              </a:defRPr>
            </a:pPr>
            <a:r>
              <a:t>1–30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Early arrears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CC8F2E"/>
                </a:solidFill>
              </a:defRPr>
            </a:pPr>
            <a:r>
              <a:t>31–60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Escalating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B73E3E"/>
                </a:solidFill>
              </a:defRPr>
            </a:pPr>
            <a:r>
              <a:t>61–90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High-risk watch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42238"/>
                </a:solidFill>
              </a:defRPr>
            </a:pPr>
            <a:r>
              <a:t>90+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Regulatory / policy threshold*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C1F23"/>
                </a:solidFill>
                <a:latin typeface="Aptos"/>
              </a:defRPr>
            </a:pPr>
            <a:r>
              <a:t>• DPD = days past due; a behavioural clock, not by itself a universal definition of default.</a:t>
            </a:r>
          </a:p>
          <a:p>
            <a:pPr>
              <a:spcAft>
                <a:spcPts val="800"/>
              </a:spcAft>
              <a:defRPr sz="1150">
                <a:solidFill>
                  <a:srgbClr val="1C1F23"/>
                </a:solidFill>
                <a:latin typeface="Aptos"/>
              </a:defRPr>
            </a:pPr>
            <a:r>
              <a:t>• Delinquency describes missed/late obligations; severity depends on ageing, materiality and borrower context.</a:t>
            </a:r>
          </a:p>
          <a:p>
            <a:pPr>
              <a:spcAft>
                <a:spcPts val="800"/>
              </a:spcAft>
              <a:defRPr sz="1150">
                <a:solidFill>
                  <a:srgbClr val="1C1F23"/>
                </a:solidFill>
                <a:latin typeface="Aptos"/>
              </a:defRPr>
            </a:pPr>
            <a:r>
              <a:t>• NPA is a regulatory asset-classification concept; exact criteria vary by jurisdiction and product.</a:t>
            </a:r>
          </a:p>
          <a:p>
            <a:pPr>
              <a:spcAft>
                <a:spcPts val="800"/>
              </a:spcAft>
              <a:defRPr sz="1150">
                <a:solidFill>
                  <a:srgbClr val="1C1F23"/>
                </a:solidFill>
                <a:latin typeface="Aptos"/>
              </a:defRPr>
            </a:pPr>
            <a:r>
              <a:t>• Credit decisions should use both payment status and forward-looking capacity, cash flow and collateral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80360"/>
            <a:ext cx="4572000" cy="23317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So what?</a:t>
            </a:r>
          </a:p>
          <a:p>
            <a:pPr>
              <a:spcBef>
                <a:spcPts val="500"/>
              </a:spcBef>
              <a:defRPr sz="1200">
                <a:solidFill>
                  <a:srgbClr val="1C1F23"/>
                </a:solidFill>
                <a:latin typeface="Aptos"/>
              </a:defRPr>
            </a:pPr>
            <a:r>
              <a:t>Do not wait for a formal default label to start risk management. Early arrears are an intervention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80360"/>
            <a:ext cx="50292" cy="233172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1 | What is Default?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A practical definition separates contractual breach, credit deterioration and regulatory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Contractual default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The borrower fails to meet an obligation under the loan contract—e.g., scheduled principal or interest is not paid when due.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0292" cy="196596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8328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Credit-risk default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A broader risk concept: the lender concludes the borrower is unlikely to pay in full, or a defined default trigger is met.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417320"/>
            <a:ext cx="50292" cy="196596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74736" y="1417320"/>
            <a:ext cx="338328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Regulatory classification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A supervisory framework may impose a specific threshold or classification such as NPA, depending on country/product rules.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1417320"/>
            <a:ext cx="50292" cy="196596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Due date</a:t>
            </a:r>
          </a:p>
          <a:p>
            <a:pPr>
              <a:spcBef>
                <a:spcPts val="500"/>
              </a:spcBef>
              <a:defRPr sz="850">
                <a:solidFill>
                  <a:srgbClr val="1C1F23"/>
                </a:solidFill>
                <a:latin typeface="Aptos"/>
              </a:defRPr>
            </a:pPr>
            <a:r>
              <a:t>Obligation expected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50292" cy="105156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560320" y="4498848"/>
            <a:ext cx="41148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3977639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Missed</a:t>
            </a:r>
          </a:p>
          <a:p>
            <a:pPr>
              <a:spcBef>
                <a:spcPts val="500"/>
              </a:spcBef>
              <a:defRPr sz="850">
                <a:solidFill>
                  <a:srgbClr val="1C1F23"/>
                </a:solidFill>
                <a:latin typeface="Aptos"/>
              </a:defRPr>
            </a:pPr>
            <a:r>
              <a:t>Payment not received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977639"/>
            <a:ext cx="50292" cy="105156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709160" y="4498848"/>
            <a:ext cx="41148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0640" y="3977639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Delinquent</a:t>
            </a:r>
          </a:p>
          <a:p>
            <a:pPr>
              <a:spcBef>
                <a:spcPts val="500"/>
              </a:spcBef>
              <a:defRPr sz="850">
                <a:solidFill>
                  <a:srgbClr val="1C1F23"/>
                </a:solidFill>
                <a:latin typeface="Aptos"/>
              </a:defRPr>
            </a:pPr>
            <a:r>
              <a:t>Arrears 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977639"/>
            <a:ext cx="50292" cy="105156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858000" y="4498848"/>
            <a:ext cx="41148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69480" y="3977639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Default</a:t>
            </a:r>
          </a:p>
          <a:p>
            <a:pPr>
              <a:spcBef>
                <a:spcPts val="500"/>
              </a:spcBef>
              <a:defRPr sz="850">
                <a:solidFill>
                  <a:srgbClr val="1C1F23"/>
                </a:solidFill>
                <a:latin typeface="Aptos"/>
              </a:defRPr>
            </a:pPr>
            <a:r>
              <a:t>Defined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977639"/>
            <a:ext cx="50292" cy="105156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006840" y="4498848"/>
            <a:ext cx="41148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18320" y="3977639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Loss / NPA</a:t>
            </a:r>
          </a:p>
          <a:p>
            <a:pPr>
              <a:spcBef>
                <a:spcPts val="500"/>
              </a:spcBef>
              <a:defRPr sz="850">
                <a:solidFill>
                  <a:srgbClr val="1C1F23"/>
                </a:solidFill>
                <a:latin typeface="Aptos"/>
              </a:defRPr>
            </a:pPr>
            <a:r>
              <a:t>Classification &amp;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977639"/>
            <a:ext cx="50292" cy="105156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2 | DPD — Days Past 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The simplest arrears metric: how many days an amount has remained unpaid after its contractual due date.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6576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Formula</a:t>
            </a:r>
          </a:p>
          <a:p>
            <a:pPr>
              <a:spcBef>
                <a:spcPts val="500"/>
              </a:spcBef>
              <a:defRPr sz="1400">
                <a:solidFill>
                  <a:srgbClr val="1C1F23"/>
                </a:solidFill>
                <a:latin typeface="Aptos"/>
              </a:defRPr>
            </a:pPr>
            <a:r>
              <a:t>DPD = Current date − contractual due date (for the unpaid amount)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0292" cy="141732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09160" y="1325880"/>
            <a:ext cx="301752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Example</a:t>
            </a:r>
          </a:p>
          <a:p>
            <a:pPr>
              <a:spcBef>
                <a:spcPts val="500"/>
              </a:spcBef>
              <a:defRPr sz="1400">
                <a:solidFill>
                  <a:srgbClr val="1C1F23"/>
                </a:solidFill>
                <a:latin typeface="Aptos"/>
              </a:defRPr>
            </a:pPr>
            <a:r>
              <a:t>EMI due 5 Sep; payment received 12 Sep → 7 DPD.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325880"/>
            <a:ext cx="50292" cy="141732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383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Important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DPD resets only when the relevant overdue amount is fully cured under the applicable policy.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2588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154680"/>
            <a:ext cx="8961120" cy="393192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 DPD   |   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3721608"/>
            <a:ext cx="8631936" cy="393192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1–30 DPD   |   Early arrears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5024" y="4288536"/>
            <a:ext cx="8302752" cy="393192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31–60 DPD   |   Watch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9616" y="4855464"/>
            <a:ext cx="7973568" cy="393192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61–90 DPD   |   High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4208" y="5422392"/>
            <a:ext cx="7644384" cy="393192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90+ DPD   |   Severe / classification trigger*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772"/>
                </a:solidFill>
              </a:defRPr>
            </a:pPr>
            <a:r>
              <a:t>*Illustrative training ladder. Regulatory and contractual definitions must be applied for the relevant jurisdiction/product.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3 | Delinquency: More Than a Missed 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Delinquency is a state of arrears; the risk meaning comes from duration, frequency, cure behaviour and underlying capacity.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Frequency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One-off administrative delay ≠ repeated missed payments. Recurrence is a powerful behavioural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0292" cy="182880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Velocity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How quickly DPD increases matters. 0→30→60 is materially different from a short, cured 5 DPD event.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25880"/>
            <a:ext cx="50292" cy="182880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Cause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Cash-flow stress, dispute, operational error, fraud, strategic non-payment and business failure imply different 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25880"/>
            <a:ext cx="50292" cy="182880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Low DPD + strong cash flow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Likely tactical / operational issue → verify → cure → monitor.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50292" cy="1783080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61188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Low DPD + weakening cash flow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Potential early distress → tighten monitoring → reassess exposure and liquidity.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611880"/>
            <a:ext cx="50292" cy="178308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4 | Good vs Bad Delinquency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The same DPD can represent very different credit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828800" cy="566928"/>
          </a:xfrm>
          <a:prstGeom prst="roundRect">
            <a:avLst/>
          </a:prstGeom>
          <a:solidFill>
            <a:srgbClr val="14223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0292" cy="56692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325880"/>
            <a:ext cx="3977639" cy="566928"/>
          </a:xfrm>
          <a:prstGeom prst="roundRect">
            <a:avLst/>
          </a:prstGeom>
          <a:solidFill>
            <a:srgbClr val="14223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Good / benign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25880"/>
            <a:ext cx="50292" cy="56692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95160" y="1325880"/>
            <a:ext cx="4389120" cy="566928"/>
          </a:xfrm>
          <a:prstGeom prst="roundRect">
            <a:avLst/>
          </a:prstGeom>
          <a:solidFill>
            <a:srgbClr val="14223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Bad / deteriorating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325880"/>
            <a:ext cx="50292" cy="56692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Payment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38528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938528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Rare, small, quickly cured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938528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5160" y="1938528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Repeated, ageing, partial cures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938528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96896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Cash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2596896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Temporary timing mismatch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596896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95160" y="2596896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Structural liquidity shortfall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2596896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55264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55264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3255264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Transparent, proactive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255264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3255264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Avoidant, inconsistent, opaque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255264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913632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Leverage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913632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0" y="3913632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Stable / declining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913632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95160" y="3913632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Rising with weak earnings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3913632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4572000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Bank conduct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572000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0" y="4572000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Within limits; clean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572000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95160" y="45720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Limit stress, devolvement, cheque returns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4572000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52303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Outlook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230368"/>
            <a:ext cx="50292" cy="566928"/>
          </a:xfrm>
          <a:prstGeom prst="rect">
            <a:avLst/>
          </a:prstGeom>
          <a:solidFill>
            <a:srgbClr val="5C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0" y="5230368"/>
            <a:ext cx="397763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Clear recovery path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5230368"/>
            <a:ext cx="50292" cy="566928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95160" y="5230368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000" b="1">
                <a:solidFill>
                  <a:srgbClr val="142238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920">
                <a:solidFill>
                  <a:srgbClr val="1C1F23"/>
                </a:solidFill>
                <a:latin typeface="Aptos"/>
              </a:defRPr>
            </a:pPr>
            <a:r>
              <a:t>No credible cure / refinancing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5230368"/>
            <a:ext cx="50292" cy="566928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5 | NPA — Non-Performing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NPA is a regulatory / accounting classification, not simply another synonym for 'late payment'.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What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A loan/advance is classified as non-performing when it meets the applicable regulatory criteria—often linked to overdue status and product-specific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0292" cy="196596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Classification can drive income recognition, provisioning, capital impact, reporting, collections intensity and management attention.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25880"/>
            <a:ext cx="50292" cy="196596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4290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India lens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For many standard term-loan contexts, RBI norms use a 90-day overdue criterion for NPA classification; product-specific rules should be checked.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25880"/>
            <a:ext cx="50292" cy="196596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9933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Asset status</a:t>
            </a:r>
          </a:p>
          <a:p>
            <a:pPr>
              <a:spcBef>
                <a:spcPts val="500"/>
              </a:spcBef>
              <a:defRPr sz="900">
                <a:solidFill>
                  <a:srgbClr val="1C1F23"/>
                </a:solidFill>
                <a:latin typeface="Aptos"/>
              </a:defRPr>
            </a:pPr>
            <a:r>
              <a:t>NPA / non-performing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77639"/>
            <a:ext cx="50292" cy="109728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2" y="3977639"/>
            <a:ext cx="19933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Income</a:t>
            </a:r>
          </a:p>
          <a:p>
            <a:pPr>
              <a:spcBef>
                <a:spcPts val="500"/>
              </a:spcBef>
              <a:defRPr sz="900">
                <a:solidFill>
                  <a:srgbClr val="1C1F23"/>
                </a:solidFill>
                <a:latin typeface="Aptos"/>
              </a:defRPr>
            </a:pPr>
            <a:r>
              <a:t>Accrual 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3977639"/>
            <a:ext cx="50292" cy="109728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21224" y="3977639"/>
            <a:ext cx="19933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Provision</a:t>
            </a:r>
          </a:p>
          <a:p>
            <a:pPr>
              <a:spcBef>
                <a:spcPts val="500"/>
              </a:spcBef>
              <a:defRPr sz="900">
                <a:solidFill>
                  <a:srgbClr val="1C1F23"/>
                </a:solidFill>
                <a:latin typeface="Aptos"/>
              </a:defRPr>
            </a:pPr>
            <a:r>
              <a:t>Higher expected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1224" y="3977639"/>
            <a:ext cx="50292" cy="109728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88936" y="3977639"/>
            <a:ext cx="19933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Capital</a:t>
            </a:r>
          </a:p>
          <a:p>
            <a:pPr>
              <a:spcBef>
                <a:spcPts val="500"/>
              </a:spcBef>
              <a:defRPr sz="900">
                <a:solidFill>
                  <a:srgbClr val="1C1F23"/>
                </a:solidFill>
                <a:latin typeface="Aptos"/>
              </a:defRPr>
            </a:pPr>
            <a:r>
              <a:t>RWA / capital pressure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8936" y="3977639"/>
            <a:ext cx="50292" cy="109728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56648" y="3977639"/>
            <a:ext cx="19933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Action</a:t>
            </a:r>
          </a:p>
          <a:p>
            <a:pPr>
              <a:spcBef>
                <a:spcPts val="500"/>
              </a:spcBef>
              <a:defRPr sz="900">
                <a:solidFill>
                  <a:srgbClr val="1C1F23"/>
                </a:solidFill>
                <a:latin typeface="Aptos"/>
              </a:defRPr>
            </a:pPr>
            <a:r>
              <a:t>Recovery / restructuring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3977639"/>
            <a:ext cx="50292" cy="109728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6 | Numerical Example — DPD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Illustrative loan account: identify arrears, ageing and risk escalation.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20040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Loan terms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Monthly EMI = ₹50,000</a:t>
            </a:r>
            <a:br/>
            <a:r>
              <a:t>Due date = 5th of each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0292" cy="123444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60520" y="1280160"/>
            <a:ext cx="320040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Observed payments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5 Oct: ₹50k paid</a:t>
            </a:r>
            <a:br/>
            <a:r>
              <a:t>5 Nov: missed</a:t>
            </a:r>
            <a:br/>
            <a:r>
              <a:t>20 Nov: ₹20k paid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280160"/>
            <a:ext cx="50292" cy="123444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280160"/>
            <a:ext cx="38404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Position on 5 Dec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Outstanding Nov arrears = ₹30k + any applicable charges/interest. Ageing must follow policy allocation rules.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280160"/>
            <a:ext cx="50292" cy="123444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C1F23"/>
                </a:solidFill>
                <a:latin typeface="Aptos"/>
              </a:defRPr>
            </a:pPr>
            <a:r>
              <a:t>• 1. Nov EMI became due on 5 Nov.</a:t>
            </a:r>
          </a:p>
          <a:p>
            <a:pPr>
              <a:spcAft>
                <a:spcPts val="800"/>
              </a:spcAft>
              <a:defRPr sz="1200">
                <a:solidFill>
                  <a:srgbClr val="1C1F23"/>
                </a:solidFill>
                <a:latin typeface="Aptos"/>
              </a:defRPr>
            </a:pPr>
            <a:r>
              <a:t>• 2. By 20 Nov, only ₹20,000 of ₹50,000 was received → ₹30,000 remains unpaid.</a:t>
            </a:r>
          </a:p>
          <a:p>
            <a:pPr>
              <a:spcAft>
                <a:spcPts val="800"/>
              </a:spcAft>
              <a:defRPr sz="1200">
                <a:solidFill>
                  <a:srgbClr val="1C1F23"/>
                </a:solidFill>
                <a:latin typeface="Aptos"/>
              </a:defRPr>
            </a:pPr>
            <a:r>
              <a:t>• 3. On 5 Dec, the oldest unpaid amount has aged ~30 days from its due date.</a:t>
            </a:r>
          </a:p>
          <a:p>
            <a:pPr>
              <a:spcAft>
                <a:spcPts val="800"/>
              </a:spcAft>
              <a:defRPr sz="1200">
                <a:solidFill>
                  <a:srgbClr val="1C1F23"/>
                </a:solidFill>
                <a:latin typeface="Aptos"/>
              </a:defRPr>
            </a:pPr>
            <a:r>
              <a:t>• 4. A lender should test cure status, subsequent credits, bounce history and total exposure—not just headline DPD.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9240"/>
            <a:ext cx="10241280" cy="685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Decision implication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Partial payment does not automatically make the account 'current'; allocation and cure rules matter.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349240"/>
            <a:ext cx="50292" cy="68580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7 | Case Study A — SME Working-Capital 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Illustrative data | Credit analyst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83464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Borrower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Industrial distributor</a:t>
            </a:r>
            <a:br/>
            <a:r>
              <a:t>Revenue ₹120 Cr → ₹112 Cr</a:t>
            </a:r>
            <a:br/>
            <a:r>
              <a:t>EBITDA margin 8.5% → 6.2%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0292" cy="141732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1234440"/>
            <a:ext cx="283464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Bank conduct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CC utilisation 72% → 96%</a:t>
            </a:r>
            <a:br/>
            <a:r>
              <a:t>Receivables +35 days</a:t>
            </a:r>
            <a:br/>
            <a:r>
              <a:t>Two cheque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23444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7548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Arrears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First 15 DPD, cured; next month 28 DPD; then 45 DPD. Formal NPA threshold not yet reached in this illustration.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234440"/>
            <a:ext cx="50292" cy="141732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33375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r>
              <a:t>Payment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Deteriorating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50292" cy="804672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3154680"/>
            <a:ext cx="33375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r>
              <a:t>Liquidity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Weakening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154680"/>
            <a:ext cx="50292" cy="804672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3154680"/>
            <a:ext cx="33375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r>
              <a:t>Working capital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Stretched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154680"/>
            <a:ext cx="50292" cy="804672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206240"/>
            <a:ext cx="33375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r>
              <a:t>Transparency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Adequate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6240"/>
            <a:ext cx="50292" cy="804672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59" y="4206240"/>
            <a:ext cx="33375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r>
              <a:t>Collateral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Comfortable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206240"/>
            <a:ext cx="50292" cy="804672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0698480" cy="658368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Credit decision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Escalate monitoring now: weekly cash-flow visibility, receivable ageing, drawing-power discipline and a documented cure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50292" cy="6583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8 | Case Study B — Corporate Borrower: '90 Days' Is Not the Whole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Illustrative data | CFO + lender perspective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3832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Starting point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₹300 Cr term loan</a:t>
            </a:r>
            <a:br/>
            <a:r>
              <a:t>DSCR 1.45x</a:t>
            </a:r>
            <a:br/>
            <a:r>
              <a:t>EBITDA ₹80 Cr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0292" cy="1371600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Shock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Customer concentration loss</a:t>
            </a:r>
            <a:br/>
            <a:r>
              <a:t>EBITDA falls to ₹48 Cr</a:t>
            </a:r>
            <a:br/>
            <a:r>
              <a:t>DSCR falls to 0.92x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50292" cy="137160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280160"/>
            <a:ext cx="33832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Behaviour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Payments remain current for 60 days using cash reserves; lender sees rising liquidity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50292" cy="137160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658368" cy="658368"/>
          </a:xfrm>
          <a:prstGeom prst="ellipse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Day 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Shock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81328" y="3758184"/>
            <a:ext cx="2084832" cy="0"/>
          </a:xfrm>
          <a:prstGeom prst="line">
            <a:avLst/>
          </a:prstGeom>
          <a:ln w="2540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66160" y="3429000"/>
            <a:ext cx="658368" cy="658368"/>
          </a:xfrm>
          <a:prstGeom prst="ellipse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1605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Day 30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Cash buffer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4528" y="3758184"/>
            <a:ext cx="2084832" cy="0"/>
          </a:xfrm>
          <a:prstGeom prst="line">
            <a:avLst/>
          </a:prstGeom>
          <a:ln w="2540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0" y="3429000"/>
            <a:ext cx="658368" cy="658368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605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Day 60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DSCR &lt;1x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3758184"/>
            <a:ext cx="2084832" cy="0"/>
          </a:xfrm>
          <a:prstGeom prst="line">
            <a:avLst/>
          </a:prstGeom>
          <a:ln w="2540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052560" y="3429000"/>
            <a:ext cx="658368" cy="658368"/>
          </a:xfrm>
          <a:prstGeom prst="ellipse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1605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Day 90+</a:t>
            </a:r>
          </a:p>
          <a:p>
            <a:pPr algn="ctr">
              <a:defRPr sz="900">
                <a:solidFill>
                  <a:srgbClr val="5C6772"/>
                </a:solidFill>
              </a:defRPr>
            </a:pPr>
            <a:r>
              <a:t>Potential payment stress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Investor / banker insight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Current payment status can lag economic distress. Forward-looking cash-flow analysis should begin before arrears appear.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57800"/>
            <a:ext cx="50292" cy="658368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9 | Red Flags &amp;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High-quality credit monitoring combines quantitative triggers with behavioural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Ageing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DPD rolls forward every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0292" cy="141732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39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Cure quality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Borrower cures only just before escalation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325880"/>
            <a:ext cx="50292" cy="141732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Liquidity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CC/OD utilisation persistently &gt;90%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50292" cy="141732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59" y="13258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Cash flow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Operating cash flow diverges from 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59" y="1325880"/>
            <a:ext cx="50292" cy="141732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Receivables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Overdue / concentrated receivables 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39" y="3154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Conduct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Bounces, excesses, frequent ad-hoc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315468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154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Disclosure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Delayed MIS, unexplained variances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5468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59" y="31546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Collateral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Value falls or enforceability weakens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59" y="3154680"/>
            <a:ext cx="50292" cy="141732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166360"/>
            <a:ext cx="10972800" cy="685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300" b="1">
                <a:solidFill>
                  <a:srgbClr val="142238"/>
                </a:solidFill>
                <a:latin typeface="Aptos"/>
              </a:defRPr>
            </a:pPr>
            <a:r>
              <a:t>Mistake to avoid</a:t>
            </a:r>
          </a:p>
          <a:p>
            <a:pPr>
              <a:spcBef>
                <a:spcPts val="500"/>
              </a:spcBef>
              <a:defRPr sz="1050">
                <a:solidFill>
                  <a:srgbClr val="1C1F23"/>
                </a:solidFill>
                <a:latin typeface="Aptos"/>
              </a:defRPr>
            </a:pPr>
            <a:r>
              <a:t>Treating 'not yet NPA' as 'not yet risky'. Classification is a reporting state; risk management is continuous.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66360"/>
            <a:ext cx="50292" cy="6858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10 | One Account, Four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The same delinquency data drives different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Credit Analyst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What changed?</a:t>
            </a:r>
            <a:br/>
            <a:r>
              <a:t>Can the borrower cure?</a:t>
            </a:r>
            <a:br/>
            <a:r>
              <a:t>Update risk grade /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0292" cy="315468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39" y="141732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Banker / RM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Why did it happen?</a:t>
            </a:r>
            <a:br/>
            <a:r>
              <a:t>What action restores normal conduct?</a:t>
            </a:r>
            <a:br/>
            <a:r>
              <a:t>Document engagement.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417320"/>
            <a:ext cx="50292" cy="315468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CFO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What is the liquidity runway?</a:t>
            </a:r>
            <a:br/>
            <a:r>
              <a:t>Which payments are prioritised?</a:t>
            </a:r>
            <a:br/>
            <a:r>
              <a:t>What financing is sustainable?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0292" cy="315468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59" y="141732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600" b="1">
                <a:solidFill>
                  <a:srgbClr val="142238"/>
                </a:solidFill>
                <a:latin typeface="Aptos"/>
              </a:defRPr>
            </a:pPr>
            <a:r>
              <a:t>Investor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Is deterioration cyclical or structural?</a:t>
            </a:r>
            <a:br/>
            <a:r>
              <a:t>What is the downside / recovery value?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59" y="1417320"/>
            <a:ext cx="50292" cy="315468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892040"/>
            <a:ext cx="1042416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Shared objective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Convert payment behaviour into an early, evidence-based view of probability of default, loss severity and recovery options.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92040"/>
            <a:ext cx="50292" cy="86868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8"/>
                </a:solidFill>
                <a:latin typeface="Aptos Display"/>
              </a:defRPr>
            </a:pPr>
            <a:r>
              <a:t>11 | The Credit Deterioration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t>A practical operating model: observe → diagnose → classify → act → learn.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0299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1 Observe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DPD, bounces,</a:t>
            </a:r>
            <a:br/>
            <a:r>
              <a:t>utilisation, cash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0292" cy="196596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532888" y="2852928"/>
            <a:ext cx="27432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07208" y="1874519"/>
            <a:ext cx="20299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2 Diagnose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Temporary vs</a:t>
            </a:r>
            <a:br/>
            <a:r>
              <a:t>structural stress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7208" y="1874519"/>
            <a:ext cx="50292" cy="196596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837176" y="2852928"/>
            <a:ext cx="27432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11496" y="1874519"/>
            <a:ext cx="20299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3 Classify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Internal grade +</a:t>
            </a:r>
            <a:br/>
            <a:r>
              <a:t>regulatory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1874519"/>
            <a:ext cx="50292" cy="196596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141464" y="2852928"/>
            <a:ext cx="27432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15784" y="1874519"/>
            <a:ext cx="20299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4 Act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Cure, restructure,</a:t>
            </a:r>
            <a:br/>
            <a:r>
              <a:t>reduce exposure, recover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5784" y="1874519"/>
            <a:ext cx="50292" cy="196596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45752" y="2852928"/>
            <a:ext cx="274320" cy="0"/>
          </a:xfrm>
          <a:prstGeom prst="line">
            <a:avLst/>
          </a:prstGeom>
          <a:ln w="19050"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20072" y="1874519"/>
            <a:ext cx="20299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00" b="1">
                <a:solidFill>
                  <a:srgbClr val="142238"/>
                </a:solidFill>
                <a:latin typeface="Aptos"/>
              </a:defRPr>
            </a:pPr>
            <a:r>
              <a:t>5 Learn</a:t>
            </a:r>
          </a:p>
          <a:p>
            <a:pPr>
              <a:spcBef>
                <a:spcPts val="500"/>
              </a:spcBef>
              <a:defRPr sz="1000">
                <a:solidFill>
                  <a:srgbClr val="1C1F23"/>
                </a:solidFill>
                <a:latin typeface="Aptos"/>
              </a:defRPr>
            </a:pPr>
            <a:r>
              <a:t>Root cause →</a:t>
            </a:r>
            <a:br/>
            <a:r>
              <a:t>portfolio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874519"/>
            <a:ext cx="50292" cy="196596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343400"/>
            <a:ext cx="1033272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42238"/>
                </a:solidFill>
                <a:latin typeface="Aptos"/>
              </a:defRPr>
            </a:pPr>
            <a:r>
              <a:t>So what?</a:t>
            </a: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t>The strongest lenders manage the *trajectory*, not merely the label. A 15-DPD account with collapsing cash flow may deserve more attention than a one-off 60-DPD administrative error.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43400"/>
            <a:ext cx="50292" cy="105156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C6772"/>
                </a:solidFill>
              </a:defRPr>
            </a:pPr>
            <a:r>
              <a:t>CREDIT RISK • DEFAULT &amp; DELINQUENCY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Executive Takeaways</a:t>
            </a: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777240" y="1417320"/>
            <a:ext cx="10515600" cy="59436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1  Default is a defined risk event—not simply 'late payment'.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>
            <p:custDataLst>
              <p:tags r:id="rId2"/>
            </p:custDataLst>
          </p:nvPr>
        </p:nvSpPr>
        <p:spPr>
          <a:xfrm>
            <a:off x="777240" y="1417320"/>
            <a:ext cx="50292" cy="594360"/>
          </a:xfrm>
          <a:prstGeom prst="rect">
            <a:avLst/>
          </a:prstGeom>
          <a:solidFill>
            <a:srgbClr val="26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777240" y="2240280"/>
            <a:ext cx="10515600" cy="59436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2  DPD is the ageing clock; delinquency is the state; NPA is a regulatory classification.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777240" y="2240280"/>
            <a:ext cx="50292" cy="594360"/>
          </a:xfrm>
          <a:prstGeom prst="rect">
            <a:avLst/>
          </a:prstGeom>
          <a:solidFill>
            <a:srgbClr val="2C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777240" y="3063240"/>
            <a:ext cx="10515600" cy="59436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3  The same DPD can mean very different risk depending on cash flow, recurrence and borrower behaviour.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>
            <p:custDataLst>
              <p:tags r:id="rId6"/>
            </p:custDataLst>
          </p:nvPr>
        </p:nvSpPr>
        <p:spPr>
          <a:xfrm>
            <a:off x="777240" y="3063240"/>
            <a:ext cx="50292" cy="594360"/>
          </a:xfrm>
          <a:prstGeom prst="rect">
            <a:avLst/>
          </a:prstGeom>
          <a:solidFill>
            <a:srgbClr val="CC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777240" y="3886200"/>
            <a:ext cx="10515600" cy="59436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4  Early-warning indicators often appear before formal default.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>
            <p:custDataLst>
              <p:tags r:id="rId8"/>
            </p:custDataLst>
          </p:nvPr>
        </p:nvSpPr>
        <p:spPr>
          <a:xfrm>
            <a:off x="777240" y="3886200"/>
            <a:ext cx="50292" cy="594360"/>
          </a:xfrm>
          <a:prstGeom prst="rect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9"/>
            </p:custDataLst>
          </p:nvPr>
        </p:nvSpPr>
        <p:spPr>
          <a:xfrm>
            <a:off x="777240" y="4709160"/>
            <a:ext cx="10515600" cy="594360"/>
          </a:xfrm>
          <a:prstGeom prst="roundRect">
            <a:avLst/>
          </a:prstGeom>
          <a:solidFill>
            <a:srgbClr val="1D304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42238"/>
                </a:solidFill>
                <a:latin typeface="Aptos"/>
              </a:defRPr>
            </a:pPr>
            <a:endParaRPr>
              <a:solidFill>
                <a:srgbClr val="FF0000"/>
              </a:solidFill>
            </a:endParaRPr>
          </a:p>
          <a:p>
            <a:pPr>
              <a:spcBef>
                <a:spcPts val="500"/>
              </a:spcBef>
              <a:defRPr sz="1100">
                <a:solidFill>
                  <a:srgbClr val="1C1F23"/>
                </a:solidFill>
                <a:latin typeface="Aptos"/>
              </a:defRPr>
            </a:pPr>
            <a:r>
              <a:rPr>
                <a:solidFill>
                  <a:srgbClr val="FF0000"/>
                </a:solidFill>
              </a:rPr>
              <a:t>5  The best intervention is usually the earliest credible intervention.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>
            <p:custDataLst>
              <p:tags r:id="rId10"/>
            </p:custDataLst>
          </p:nvPr>
        </p:nvSpPr>
        <p:spPr>
          <a:xfrm>
            <a:off x="777240" y="4709160"/>
            <a:ext cx="50292" cy="594360"/>
          </a:xfrm>
          <a:prstGeom prst="rect">
            <a:avLst/>
          </a:prstGeom>
          <a:solidFill>
            <a:srgbClr val="40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7C9DB"/>
                </a:solidFill>
              </a:defRPr>
            </a:pPr>
            <a:r>
              <a:t>Next module: Default triggers → Probability of Default (PD) → Expected Loss (EL) → Provisioning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2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3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4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5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6.xml><?xml version="1.0" encoding="utf-8"?>
<p:tagLst xmlns:p="http://schemas.openxmlformats.org/presentationml/2006/main">
  <p:tag name="KSO_WM_DIAGRAM_VIRTUALLY_FRAME" val="{&quot;height&quot;:111.6,&quot;left&quot;:57.6,&quot;top&quot;:219.6,&quot;width&quot;:810}"/>
</p:tagLst>
</file>

<file path=ppt/tags/tag7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8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9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0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1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2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3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4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5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ags/tag16.xml><?xml version="1.0" encoding="utf-8"?>
<p:tagLst xmlns:p="http://schemas.openxmlformats.org/presentationml/2006/main">
  <p:tag name="KSO_WM_DIAGRAM_VIRTUALLY_FRAME" val="{&quot;height&quot;:306,&quot;left&quot;:61.2,&quot;top&quot;:111.6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9000</Words>
  <Application>WPS Presentation</Application>
  <PresentationFormat>On-screen Show (4:3)</PresentationFormat>
  <Paragraphs>406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Rajat Kumar</cp:lastModifiedBy>
  <cp:revision>2</cp:revision>
  <dcterms:created xsi:type="dcterms:W3CDTF">2013-01-27T09:14:00Z</dcterms:created>
  <dcterms:modified xsi:type="dcterms:W3CDTF">2026-09-09T16:20:37Z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5AB51ACB124D45A487AFFC329332EB2E_12</vt:lpwstr>
  </property>
  <property fmtid="{D5CDD505-2E9C-101B-9397-08002B2CF9AE}" pid="3" name="KSOProductBuildVer">
    <vt:lpwstr>2057-12.2.0.23206</vt:lpwstr>
  </property>
</Properties>
</file>