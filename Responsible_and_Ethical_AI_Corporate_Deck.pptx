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F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77BCC4"/>
                </a:solidFill>
                <a:latin typeface="Aptos"/>
              </a:rPr>
              <a:t>RESPONSIBLE &amp; ETHICAL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1060704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Aptos"/>
              </a:rPr>
              <a:t>From ethical principles
to board-level AI governance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697480"/>
            <a:ext cx="9875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CDD8E2"/>
                </a:solidFill>
                <a:latin typeface="Aptos"/>
              </a:rPr>
              <a:t>Practical ethics • AI &amp; medical ethics • privacy • cybersecurity • regulation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3977639"/>
            <a:ext cx="2286000" cy="1051560"/>
          </a:xfrm>
          <a:prstGeom prst="roundRect">
            <a:avLst/>
          </a:prstGeom>
          <a:solidFill>
            <a:srgbClr val="277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4279392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VALUES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200400" y="4498848"/>
            <a:ext cx="457200" cy="0"/>
          </a:xfrm>
          <a:prstGeom prst="line">
            <a:avLst/>
          </a:prstGeom>
          <a:ln w="25400">
            <a:solidFill>
              <a:srgbClr val="A0AF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3703320" y="3977639"/>
            <a:ext cx="2286000" cy="1051560"/>
          </a:xfrm>
          <a:prstGeom prst="roundRect">
            <a:avLst/>
          </a:prstGeom>
          <a:solidFill>
            <a:srgbClr val="CD8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03320" y="4279392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RISK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989320" y="4498848"/>
            <a:ext cx="457200" cy="0"/>
          </a:xfrm>
          <a:prstGeom prst="line">
            <a:avLst/>
          </a:prstGeom>
          <a:ln w="25400">
            <a:solidFill>
              <a:srgbClr val="A0AF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6492240" y="3977639"/>
            <a:ext cx="2286000" cy="1051560"/>
          </a:xfrm>
          <a:prstGeom prst="roundRect">
            <a:avLst/>
          </a:prstGeom>
          <a:solidFill>
            <a:srgbClr val="275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4279392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CONTROL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778240" y="4498848"/>
            <a:ext cx="457200" cy="0"/>
          </a:xfrm>
          <a:prstGeom prst="line">
            <a:avLst/>
          </a:prstGeom>
          <a:ln w="25400">
            <a:solidFill>
              <a:srgbClr val="A0AF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9281159" y="3977639"/>
            <a:ext cx="2286000" cy="1051560"/>
          </a:xfrm>
          <a:prstGeom prst="roundRect">
            <a:avLst/>
          </a:prstGeom>
          <a:solidFill>
            <a:srgbClr val="337E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81159" y="4279392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TRUST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60807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EBECB"/>
                </a:solidFill>
                <a:latin typeface="Aptos"/>
              </a:rPr>
              <a:t>Corporate learning deck | Banking, finance &amp; enterprise lens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01400" y="6519672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>
                <a:solidFill>
                  <a:srgbClr val="AEBECB"/>
                </a:solidFill>
                <a:latin typeface="Aptos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75C8C"/>
                </a:solidFill>
                <a:latin typeface="Aptos"/>
              </a:rPr>
              <a:t>01 | EXECUTIVE FRAME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1264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21F31"/>
                </a:solidFill>
                <a:latin typeface="Aptos"/>
              </a:rPr>
              <a:t>Ethics is a decision system—not a values poster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8872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66371"/>
                </a:solidFill>
                <a:latin typeface="Aptos"/>
              </a:rPr>
              <a:t>The practical question: can the organisation justify, control and monitor an AI decision throughout its lifecycle?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874519"/>
            <a:ext cx="2606040" cy="2057400"/>
          </a:xfrm>
          <a:prstGeom prst="roundRect">
            <a:avLst/>
          </a:prstGeom>
          <a:solidFill>
            <a:srgbClr val="F3F6F9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8952" y="2002536"/>
            <a:ext cx="22768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75C8C"/>
                </a:solidFill>
                <a:latin typeface="Aptos"/>
              </a:rPr>
              <a:t>WHAT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" y="2350008"/>
            <a:ext cx="2276856" cy="1490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66371"/>
                </a:solidFill>
                <a:latin typeface="Aptos"/>
              </a:rPr>
              <a:t>A set of principles + operating controls that shape AI decisions.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200400" y="2907792"/>
            <a:ext cx="210312" cy="0"/>
          </a:xfrm>
          <a:prstGeom prst="line">
            <a:avLst/>
          </a:prstGeom>
          <a:ln w="25400">
            <a:solidFill>
              <a:srgbClr val="DCE2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3474720" y="1874519"/>
            <a:ext cx="2606040" cy="2057400"/>
          </a:xfrm>
          <a:prstGeom prst="roundRect">
            <a:avLst/>
          </a:prstGeom>
          <a:solidFill>
            <a:srgbClr val="F3F6F9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39312" y="2002536"/>
            <a:ext cx="22768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B4433F"/>
                </a:solidFill>
                <a:latin typeface="Aptos"/>
              </a:rPr>
              <a:t>WHY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39312" y="2350008"/>
            <a:ext cx="2276856" cy="1490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66371"/>
                </a:solidFill>
                <a:latin typeface="Aptos"/>
              </a:rPr>
              <a:t>AI can scale errors, bias, opacity and cyber risk faster than humans.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080760" y="2907792"/>
            <a:ext cx="210312" cy="0"/>
          </a:xfrm>
          <a:prstGeom prst="line">
            <a:avLst/>
          </a:prstGeom>
          <a:ln w="25400">
            <a:solidFill>
              <a:srgbClr val="DCE2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6355080" y="1874519"/>
            <a:ext cx="2606040" cy="2057400"/>
          </a:xfrm>
          <a:prstGeom prst="roundRect">
            <a:avLst/>
          </a:prstGeom>
          <a:solidFill>
            <a:srgbClr val="F3F6F9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19672" y="2002536"/>
            <a:ext cx="22768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77D87"/>
                </a:solidFill>
                <a:latin typeface="Aptos"/>
              </a:rPr>
              <a:t>HOW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19672" y="2350008"/>
            <a:ext cx="2276856" cy="1490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66371"/>
                </a:solidFill>
                <a:latin typeface="Aptos"/>
              </a:rPr>
              <a:t>Embed controls in data, model, workflow, governance and monitoring.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961120" y="2907792"/>
            <a:ext cx="210312" cy="0"/>
          </a:xfrm>
          <a:prstGeom prst="line">
            <a:avLst/>
          </a:prstGeom>
          <a:ln w="25400">
            <a:solidFill>
              <a:srgbClr val="DCE2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9235440" y="1874519"/>
            <a:ext cx="2606040" cy="2057400"/>
          </a:xfrm>
          <a:prstGeom prst="roundRect">
            <a:avLst/>
          </a:prstGeom>
          <a:solidFill>
            <a:srgbClr val="F3F6F9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32" y="2002536"/>
            <a:ext cx="22768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337E5B"/>
                </a:solidFill>
                <a:latin typeface="Aptos"/>
              </a:rPr>
              <a:t>SO WHAT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00032" y="2350008"/>
            <a:ext cx="2276856" cy="1490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66371"/>
                </a:solidFill>
                <a:latin typeface="Aptos"/>
              </a:rPr>
              <a:t>Better risk-adjusted decisions, defensibility, trust and resilience.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43434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21F31"/>
                </a:solidFill>
                <a:latin typeface="Aptos"/>
              </a:rPr>
              <a:t>Executive test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57400" y="4279392"/>
            <a:ext cx="9326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91E23"/>
                </a:solidFill>
                <a:latin typeface="Aptos"/>
              </a:rPr>
              <a:t>If a model causes a customer, employee, shareholder or regulator to ask “why did this happen?”, the control framework must produce an answer.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94360" y="5166360"/>
            <a:ext cx="2011680" cy="310896"/>
          </a:xfrm>
          <a:prstGeom prst="roundRect">
            <a:avLst/>
          </a:prstGeom>
          <a:solidFill>
            <a:srgbClr val="121F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5216652"/>
            <a:ext cx="2011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ACCOUNTABILITY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788920" y="5166360"/>
            <a:ext cx="1828800" cy="310896"/>
          </a:xfrm>
          <a:prstGeom prst="roundRect">
            <a:avLst/>
          </a:prstGeom>
          <a:solidFill>
            <a:srgbClr val="275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788920" y="5216652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FAIRNESS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800600" y="5166360"/>
            <a:ext cx="1828800" cy="310896"/>
          </a:xfrm>
          <a:prstGeom prst="roundRect">
            <a:avLst/>
          </a:prstGeom>
          <a:solidFill>
            <a:srgbClr val="B44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800600" y="5216652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SECURITY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812280" y="5166360"/>
            <a:ext cx="1920240" cy="310896"/>
          </a:xfrm>
          <a:prstGeom prst="roundRect">
            <a:avLst/>
          </a:prstGeom>
          <a:solidFill>
            <a:srgbClr val="277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12280" y="5216652"/>
            <a:ext cx="1920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EXPLAINABILITY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915400" y="5166360"/>
            <a:ext cx="2011680" cy="310896"/>
          </a:xfrm>
          <a:prstGeom prst="roundRect">
            <a:avLst/>
          </a:prstGeom>
          <a:solidFill>
            <a:srgbClr val="337E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915400" y="5216652"/>
            <a:ext cx="2011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OVERSIGHT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4360" y="6537960"/>
            <a:ext cx="8229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566371"/>
                </a:solidFill>
                <a:latin typeface="Aptos"/>
              </a:rPr>
              <a:t>RESPONSIBLE &amp; ETHICAL AI  |  CREDIT / FINANCE LENS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201400" y="6519672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>
                <a:solidFill>
                  <a:srgbClr val="566371"/>
                </a:solidFill>
                <a:latin typeface="Aptos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75C8C"/>
                </a:solidFill>
                <a:latin typeface="Aptos"/>
              </a:rPr>
              <a:t>02 | PRACTICAL ETHICS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1264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21F31"/>
                </a:solidFill>
                <a:latin typeface="Aptos"/>
              </a:rPr>
              <a:t>Move from “is it legal?” to “is it responsible?”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8872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66371"/>
                </a:solidFill>
                <a:latin typeface="Aptos"/>
              </a:rPr>
              <a:t>Four nested tests prevent ethics from becoming a late-stage compliance review.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1737360"/>
            <a:ext cx="9966960" cy="777240"/>
          </a:xfrm>
          <a:prstGeom prst="roundRect">
            <a:avLst/>
          </a:prstGeom>
          <a:solidFill>
            <a:srgbClr val="F3F6F9"/>
          </a:solidFill>
          <a:ln>
            <a:solidFill>
              <a:srgbClr val="275C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" y="1938528"/>
            <a:ext cx="320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275C8C"/>
                </a:solidFill>
                <a:latin typeface="Apto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1883664"/>
            <a:ext cx="1508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21F31"/>
                </a:solidFill>
                <a:latin typeface="Aptos"/>
              </a:rPr>
              <a:t>LEGAL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71800" y="1865376"/>
            <a:ext cx="7406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66371"/>
                </a:solidFill>
                <a:latin typeface="Aptos"/>
              </a:rPr>
              <a:t>Does it comply with applicable law, policy and contractual duties?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2761488"/>
            <a:ext cx="9509760" cy="777240"/>
          </a:xfrm>
          <a:prstGeom prst="roundRect">
            <a:avLst/>
          </a:prstGeom>
          <a:solidFill>
            <a:srgbClr val="F3F6F9"/>
          </a:solidFill>
          <a:ln>
            <a:solidFill>
              <a:srgbClr val="277D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44168" y="2962656"/>
            <a:ext cx="320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277D87"/>
                </a:solidFill>
                <a:latin typeface="Aptos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2907792"/>
            <a:ext cx="1508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21F31"/>
                </a:solidFill>
                <a:latin typeface="Aptos"/>
              </a:rPr>
              <a:t>FAIR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2889504"/>
            <a:ext cx="7406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66371"/>
                </a:solidFill>
                <a:latin typeface="Aptos"/>
              </a:rPr>
              <a:t>Does it avoid unjustified differential treatment or harmful exclusion?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371600" y="3785616"/>
            <a:ext cx="9052560" cy="777240"/>
          </a:xfrm>
          <a:prstGeom prst="roundRect">
            <a:avLst/>
          </a:prstGeom>
          <a:solidFill>
            <a:srgbClr val="F3F6F9"/>
          </a:solidFill>
          <a:ln>
            <a:solidFill>
              <a:srgbClr val="CD8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572768" y="3986784"/>
            <a:ext cx="320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CD8B2B"/>
                </a:solidFill>
                <a:latin typeface="Apto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57400" y="3931920"/>
            <a:ext cx="1508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21F31"/>
                </a:solidFill>
                <a:latin typeface="Aptos"/>
              </a:rPr>
              <a:t>EXPLAINABLE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29000" y="3913632"/>
            <a:ext cx="7406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66371"/>
                </a:solidFill>
                <a:latin typeface="Aptos"/>
              </a:rPr>
              <a:t>Can affected stakeholders understand the material decision logic?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600200" y="4809744"/>
            <a:ext cx="8595360" cy="777240"/>
          </a:xfrm>
          <a:prstGeom prst="roundRect">
            <a:avLst/>
          </a:prstGeom>
          <a:solidFill>
            <a:srgbClr val="F3F6F9"/>
          </a:solidFill>
          <a:ln>
            <a:solidFill>
              <a:srgbClr val="337E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801368" y="5010912"/>
            <a:ext cx="320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337E5B"/>
                </a:solidFill>
                <a:latin typeface="Aptos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86000" y="4956048"/>
            <a:ext cx="1508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21F31"/>
                </a:solidFill>
                <a:latin typeface="Aptos"/>
              </a:rPr>
              <a:t>RESPONSIBLE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4937759"/>
            <a:ext cx="7406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66371"/>
                </a:solidFill>
                <a:latin typeface="Aptos"/>
              </a:rPr>
              <a:t>Is the outcome proportionate, contestable, monitored and aligned to purpose?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5897880"/>
            <a:ext cx="10149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B4433F"/>
                </a:solidFill>
                <a:latin typeface="Aptos"/>
              </a:rPr>
              <a:t>Credit example: “automated decline” can be legally permissible yet still fail fairness, explainability or contestability if a legitimate customer cannot understand or challenge the outcome.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6537960"/>
            <a:ext cx="8229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566371"/>
                </a:solidFill>
                <a:latin typeface="Aptos"/>
              </a:rPr>
              <a:t>RESPONSIBLE &amp; ETHICAL AI  |  CREDIT / FINANCE LENS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201400" y="6519672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>
                <a:solidFill>
                  <a:srgbClr val="566371"/>
                </a:solidFill>
                <a:latin typeface="Aptos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75C8C"/>
                </a:solidFill>
                <a:latin typeface="Aptos"/>
              </a:rPr>
              <a:t>03 | ETHICAL FRAMEWORKS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1264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21F31"/>
                </a:solidFill>
                <a:latin typeface="Aptos"/>
              </a:rPr>
              <a:t>Use multiple lenses because no single framework catches every failure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828800"/>
            <a:ext cx="2606040" cy="3154680"/>
          </a:xfrm>
          <a:prstGeom prst="roundRect">
            <a:avLst/>
          </a:prstGeom>
          <a:solidFill>
            <a:srgbClr val="F3F6F9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58952" y="1956816"/>
            <a:ext cx="22768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75C8C"/>
                </a:solidFill>
                <a:latin typeface="Aptos"/>
              </a:rPr>
              <a:t>UTILITARIAN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" y="2304288"/>
            <a:ext cx="2276856" cy="2587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566371"/>
                </a:solidFill>
                <a:latin typeface="Aptos"/>
              </a:rPr>
              <a:t>Maximise net benefit
Best lens: Portfolio-level outcomes
Watch-out: Risk: minority harms hidden in averages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1828800"/>
            <a:ext cx="2606040" cy="3154680"/>
          </a:xfrm>
          <a:prstGeom prst="roundRect">
            <a:avLst/>
          </a:prstGeom>
          <a:solidFill>
            <a:srgbClr val="F3F6F9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39312" y="1956816"/>
            <a:ext cx="22768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77D87"/>
                </a:solidFill>
                <a:latin typeface="Aptos"/>
              </a:rPr>
              <a:t>DEONTOLOGY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39312" y="2304288"/>
            <a:ext cx="2276856" cy="2587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566371"/>
                </a:solidFill>
                <a:latin typeface="Aptos"/>
              </a:rPr>
              <a:t>Respect duties &amp; rights
Best lens: Consent, autonomy, non-discrimination
Watch-out: Risk: rigid rules miss consequences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1828800"/>
            <a:ext cx="2606040" cy="3154680"/>
          </a:xfrm>
          <a:prstGeom prst="roundRect">
            <a:avLst/>
          </a:prstGeom>
          <a:solidFill>
            <a:srgbClr val="F3F6F9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19672" y="1956816"/>
            <a:ext cx="22768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D8B2B"/>
                </a:solidFill>
                <a:latin typeface="Aptos"/>
              </a:rPr>
              <a:t>VIRTUE ETHICS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19672" y="2304288"/>
            <a:ext cx="2276856" cy="2587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566371"/>
                </a:solidFill>
                <a:latin typeface="Aptos"/>
              </a:rPr>
              <a:t>What would a responsible institution do?
Best lens: Culture, judgement, stewardship
Watch-out: Risk: subjective interpretation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235440" y="1828800"/>
            <a:ext cx="2606040" cy="3154680"/>
          </a:xfrm>
          <a:prstGeom prst="roundRect">
            <a:avLst/>
          </a:prstGeom>
          <a:solidFill>
            <a:srgbClr val="F3F6F9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400032" y="1956816"/>
            <a:ext cx="22768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37E5B"/>
                </a:solidFill>
                <a:latin typeface="Aptos"/>
              </a:rPr>
              <a:t>JUSTICE / FAIRNESS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00032" y="2304288"/>
            <a:ext cx="2276856" cy="2587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566371"/>
                </a:solidFill>
                <a:latin typeface="Aptos"/>
              </a:rPr>
              <a:t>Distribute benefits &amp; burdens fairly
Best lens: Credit access, pricing, opportunity
Watch-out: Risk: fairness definitions can conflict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534924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21F31"/>
                </a:solidFill>
                <a:latin typeface="Aptos"/>
              </a:rPr>
              <a:t>Decision rule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0" y="5285232"/>
            <a:ext cx="9692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91E23"/>
                </a:solidFill>
                <a:latin typeface="Aptos"/>
              </a:rPr>
              <a:t>When frameworks disagree, escalate the trade-off explicitly—do not let the optimisation objective silently choose the ethical position.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6537960"/>
            <a:ext cx="8229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566371"/>
                </a:solidFill>
                <a:latin typeface="Aptos"/>
              </a:rPr>
              <a:t>RESPONSIBLE &amp; ETHICAL AI  |  CREDIT / FINANCE LENS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01400" y="6519672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>
                <a:solidFill>
                  <a:srgbClr val="566371"/>
                </a:solidFill>
                <a:latin typeface="Aptos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75C8C"/>
                </a:solidFill>
                <a:latin typeface="Aptos"/>
              </a:rPr>
              <a:t>04 | AI + MEDICAL ETHICS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1264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21F31"/>
                </a:solidFill>
                <a:latin typeface="Aptos"/>
              </a:rPr>
              <a:t>Why AI ethics borrows heavily from medicine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8872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66371"/>
                </a:solidFill>
                <a:latin typeface="Aptos"/>
              </a:rPr>
              <a:t>Medicine has decades of experience handling asymmetric harm, informed consent, uncertainty and professional accountability.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64592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75C8C"/>
                </a:solidFill>
                <a:latin typeface="Aptos"/>
              </a:rPr>
              <a:t>BENEFICENCE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14600" y="164592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21F31"/>
                </a:solidFill>
                <a:latin typeface="Aptos"/>
              </a:rPr>
              <a:t>Maximise patient benefit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57800" y="1609344"/>
            <a:ext cx="6126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566371"/>
                </a:solidFill>
                <a:latin typeface="Aptos"/>
              </a:rPr>
              <a:t>AI: optimise for customer/business value only after harm is bounded.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85800" y="2148840"/>
            <a:ext cx="10561320" cy="0"/>
          </a:xfrm>
          <a:prstGeom prst="line">
            <a:avLst/>
          </a:prstGeom>
          <a:ln w="7620">
            <a:solidFill>
              <a:srgbClr val="DCE2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85800" y="2487168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75C8C"/>
                </a:solidFill>
                <a:latin typeface="Aptos"/>
              </a:rPr>
              <a:t>NON-MALEFICENCE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14600" y="2487168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21F31"/>
                </a:solidFill>
                <a:latin typeface="Aptos"/>
              </a:rPr>
              <a:t>First, do no harm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57800" y="2450592"/>
            <a:ext cx="6126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566371"/>
                </a:solidFill>
                <a:latin typeface="Aptos"/>
              </a:rPr>
              <a:t>AI: stress-test failure modes before scale; define kill-switch criteria.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85800" y="2990088"/>
            <a:ext cx="10561320" cy="0"/>
          </a:xfrm>
          <a:prstGeom prst="line">
            <a:avLst/>
          </a:prstGeom>
          <a:ln w="7620">
            <a:solidFill>
              <a:srgbClr val="DCE2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85800" y="3328416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75C8C"/>
                </a:solidFill>
                <a:latin typeface="Aptos"/>
              </a:rPr>
              <a:t>AUTONOMY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14600" y="3328416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21F31"/>
                </a:solidFill>
                <a:latin typeface="Aptos"/>
              </a:rPr>
              <a:t>Informed consent &amp; agency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57800" y="3291840"/>
            <a:ext cx="6126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566371"/>
                </a:solidFill>
                <a:latin typeface="Aptos"/>
              </a:rPr>
              <a:t>AI: disclose material automation; provide meaningful choice/appeal where appropriate.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85800" y="3831336"/>
            <a:ext cx="10561320" cy="0"/>
          </a:xfrm>
          <a:prstGeom prst="line">
            <a:avLst/>
          </a:prstGeom>
          <a:ln w="7620">
            <a:solidFill>
              <a:srgbClr val="DCE2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685800" y="4169664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75C8C"/>
                </a:solidFill>
                <a:latin typeface="Aptos"/>
              </a:rPr>
              <a:t>JUSTICE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14600" y="4169664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21F31"/>
                </a:solidFill>
                <a:latin typeface="Aptos"/>
              </a:rPr>
              <a:t>Fair distribution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57800" y="4133088"/>
            <a:ext cx="6126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566371"/>
                </a:solidFill>
                <a:latin typeface="Aptos"/>
              </a:rPr>
              <a:t>AI: test outcomes across relevant groups; investigate disparate impact.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85800" y="4672584"/>
            <a:ext cx="10561320" cy="0"/>
          </a:xfrm>
          <a:prstGeom prst="line">
            <a:avLst/>
          </a:prstGeom>
          <a:ln w="7620">
            <a:solidFill>
              <a:srgbClr val="DCE2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685800" y="5010912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75C8C"/>
                </a:solidFill>
                <a:latin typeface="Aptos"/>
              </a:rPr>
              <a:t>PROFESSIONAL DUTY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14600" y="5010912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21F31"/>
                </a:solidFill>
                <a:latin typeface="Aptos"/>
              </a:rPr>
              <a:t>Human accountability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57800" y="4974336"/>
            <a:ext cx="6126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566371"/>
                </a:solidFill>
                <a:latin typeface="Aptos"/>
              </a:rPr>
              <a:t>AI: named owner remains accountable even when a vendor/model made the recommendation.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5897880"/>
            <a:ext cx="10607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B4433F"/>
                </a:solidFill>
                <a:latin typeface="Aptos"/>
              </a:rPr>
              <a:t>Transfer principle: high-impact AI should be treated like a professional decision-support system—not an autonomous authority.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6537960"/>
            <a:ext cx="8229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566371"/>
                </a:solidFill>
                <a:latin typeface="Aptos"/>
              </a:rPr>
              <a:t>RESPONSIBLE &amp; ETHICAL AI  |  CREDIT / FINANCE LENS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01400" y="6519672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>
                <a:solidFill>
                  <a:srgbClr val="566371"/>
                </a:solidFill>
                <a:latin typeface="Aptos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75C8C"/>
                </a:solidFill>
                <a:latin typeface="Aptos"/>
              </a:rPr>
              <a:t>05 | PRINCIPLES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1264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21F31"/>
                </a:solidFill>
                <a:latin typeface="Aptos"/>
              </a:rPr>
              <a:t>A practical AI ethics control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8872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66371"/>
                </a:solidFill>
                <a:latin typeface="Aptos"/>
              </a:rPr>
              <a:t>Principles become useful only when each has an owner, evidence and a measurable control.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37360"/>
            <a:ext cx="3429000" cy="1600200"/>
          </a:xfrm>
          <a:prstGeom prst="roundRect">
            <a:avLst/>
          </a:prstGeom>
          <a:solidFill>
            <a:srgbClr val="F3F6F9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1" y="1865376"/>
            <a:ext cx="309981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75C8C"/>
                </a:solidFill>
                <a:latin typeface="Aptos"/>
              </a:rPr>
              <a:t>FAIRNESS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1" y="2212848"/>
            <a:ext cx="3099816" cy="10332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566371"/>
                </a:solidFill>
                <a:latin typeface="Aptos"/>
              </a:rPr>
              <a:t>Outcome + process testing
Control evidence: Bias metrics / adverse-impact review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737360"/>
            <a:ext cx="3429000" cy="1600200"/>
          </a:xfrm>
          <a:prstGeom prst="roundRect">
            <a:avLst/>
          </a:prstGeom>
          <a:solidFill>
            <a:srgbClr val="F3F6F9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99432" y="1865376"/>
            <a:ext cx="309981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77D87"/>
                </a:solidFill>
                <a:latin typeface="Aptos"/>
              </a:rPr>
              <a:t>TRANSPARENCY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99432" y="2212848"/>
            <a:ext cx="3099816" cy="10332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566371"/>
                </a:solidFill>
                <a:latin typeface="Aptos"/>
              </a:rPr>
              <a:t>Traceability
Control evidence: Model cards / decision logs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1737360"/>
            <a:ext cx="3429000" cy="1600200"/>
          </a:xfrm>
          <a:prstGeom prst="roundRect">
            <a:avLst/>
          </a:prstGeom>
          <a:solidFill>
            <a:srgbClr val="F3F6F9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94192" y="1865376"/>
            <a:ext cx="309981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D8B2B"/>
                </a:solidFill>
                <a:latin typeface="Aptos"/>
              </a:rPr>
              <a:t>EXPLAINABILITY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94192" y="2212848"/>
            <a:ext cx="3099816" cy="10332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566371"/>
                </a:solidFill>
                <a:latin typeface="Aptos"/>
              </a:rPr>
              <a:t>Reason codes fit purpose
Control evidence: Local explanations / adverse-action reasons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3429000" cy="1600200"/>
          </a:xfrm>
          <a:prstGeom prst="roundRect">
            <a:avLst/>
          </a:prstGeom>
          <a:solidFill>
            <a:srgbClr val="F3F6F9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4671" y="3831335"/>
            <a:ext cx="309981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B4433F"/>
                </a:solidFill>
                <a:latin typeface="Aptos"/>
              </a:rPr>
              <a:t>PRIVACY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1" y="4178808"/>
            <a:ext cx="3099816" cy="10332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566371"/>
                </a:solidFill>
                <a:latin typeface="Aptos"/>
              </a:rPr>
              <a:t>Purpose limitation
Control evidence: Minimisation / retention / access controls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34840" y="3703320"/>
            <a:ext cx="3429000" cy="1600200"/>
          </a:xfrm>
          <a:prstGeom prst="roundRect">
            <a:avLst/>
          </a:prstGeom>
          <a:solidFill>
            <a:srgbClr val="F3F6F9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99432" y="3831335"/>
            <a:ext cx="309981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21F31"/>
                </a:solidFill>
                <a:latin typeface="Aptos"/>
              </a:rPr>
              <a:t>SECURITY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99432" y="4178808"/>
            <a:ext cx="3099816" cy="10332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566371"/>
                </a:solidFill>
                <a:latin typeface="Aptos"/>
              </a:rPr>
              <a:t>Resilience
Control evidence: Threat modelling / access / monitoring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0" y="3703320"/>
            <a:ext cx="3429000" cy="1600200"/>
          </a:xfrm>
          <a:prstGeom prst="roundRect">
            <a:avLst/>
          </a:prstGeom>
          <a:solidFill>
            <a:srgbClr val="F3F6F9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94192" y="3831335"/>
            <a:ext cx="309981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37E5B"/>
                </a:solidFill>
                <a:latin typeface="Aptos"/>
              </a:rPr>
              <a:t>ACCOUNTABILITY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94192" y="4178808"/>
            <a:ext cx="3099816" cy="10332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566371"/>
                </a:solidFill>
                <a:latin typeface="Aptos"/>
              </a:rPr>
              <a:t>Named decision owner
Control evidence: RACI / escalation / audit trail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58064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21F31"/>
                </a:solidFill>
                <a:latin typeface="Aptos"/>
              </a:rPr>
              <a:t>Board question → “Show me the evidence that this principle is operating, not just the policy that mentions it.”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6537960"/>
            <a:ext cx="8229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566371"/>
                </a:solidFill>
                <a:latin typeface="Aptos"/>
              </a:rPr>
              <a:t>RESPONSIBLE &amp; ETHICAL AI  |  CREDIT / FINANCE LENS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01400" y="6519672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>
                <a:solidFill>
                  <a:srgbClr val="566371"/>
                </a:solidFill>
                <a:latin typeface="Aptos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75C8C"/>
                </a:solidFill>
                <a:latin typeface="Aptos"/>
              </a:rPr>
              <a:t>06 | TACKLING AI CHALLENGES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1264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21F31"/>
                </a:solidFill>
                <a:latin typeface="Aptos"/>
              </a:rPr>
              <a:t>Ethics becomes operational through a lifecycle control loop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2057400"/>
            <a:ext cx="1645920" cy="1965960"/>
          </a:xfrm>
          <a:prstGeom prst="roundRect">
            <a:avLst/>
          </a:prstGeom>
          <a:solidFill>
            <a:srgbClr val="F3F6F9"/>
          </a:solidFill>
          <a:ln w="19050">
            <a:solidFill>
              <a:srgbClr val="275C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258568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275C8C"/>
                </a:solidFill>
                <a:latin typeface="Aptos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63347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21F31"/>
                </a:solidFill>
                <a:latin typeface="Aptos"/>
              </a:rPr>
              <a:t>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154680"/>
            <a:ext cx="1371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566371"/>
                </a:solidFill>
                <a:latin typeface="Aptos"/>
              </a:rPr>
              <a:t>Purpose + harm hypothesis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148840" y="3044952"/>
            <a:ext cx="256032" cy="0"/>
          </a:xfrm>
          <a:prstGeom prst="line">
            <a:avLst/>
          </a:prstGeom>
          <a:ln w="25400">
            <a:solidFill>
              <a:srgbClr val="DCE2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441448" y="2057400"/>
            <a:ext cx="1645920" cy="1965960"/>
          </a:xfrm>
          <a:prstGeom prst="roundRect">
            <a:avLst/>
          </a:prstGeom>
          <a:solidFill>
            <a:srgbClr val="F3F6F9"/>
          </a:solidFill>
          <a:ln w="19050">
            <a:solidFill>
              <a:srgbClr val="275C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578608" y="2258568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275C8C"/>
                </a:solidFill>
                <a:latin typeface="Aptos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78608" y="263347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21F31"/>
                </a:solidFill>
                <a:latin typeface="Aptos"/>
              </a:rPr>
              <a:t>DATA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78608" y="3154680"/>
            <a:ext cx="1371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566371"/>
                </a:solidFill>
                <a:latin typeface="Aptos"/>
              </a:rPr>
              <a:t>Provenance + quality + representativeness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087368" y="3044952"/>
            <a:ext cx="256032" cy="0"/>
          </a:xfrm>
          <a:prstGeom prst="line">
            <a:avLst/>
          </a:prstGeom>
          <a:ln w="25400">
            <a:solidFill>
              <a:srgbClr val="DCE2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4379976" y="2057400"/>
            <a:ext cx="1645920" cy="1965960"/>
          </a:xfrm>
          <a:prstGeom prst="roundRect">
            <a:avLst/>
          </a:prstGeom>
          <a:solidFill>
            <a:srgbClr val="F3F6F9"/>
          </a:solidFill>
          <a:ln w="19050">
            <a:solidFill>
              <a:srgbClr val="275C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17136" y="2258568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275C8C"/>
                </a:solidFill>
                <a:latin typeface="Aptos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17136" y="263347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21F31"/>
                </a:solidFill>
                <a:latin typeface="Aptos"/>
              </a:rPr>
              <a:t>MODEL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17136" y="3154680"/>
            <a:ext cx="1371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566371"/>
                </a:solidFill>
                <a:latin typeface="Aptos"/>
              </a:rPr>
              <a:t>Performance + fairness + explainability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025896" y="3044952"/>
            <a:ext cx="256032" cy="0"/>
          </a:xfrm>
          <a:prstGeom prst="line">
            <a:avLst/>
          </a:prstGeom>
          <a:ln w="25400">
            <a:solidFill>
              <a:srgbClr val="DCE2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6318504" y="2057400"/>
            <a:ext cx="1645920" cy="1965960"/>
          </a:xfrm>
          <a:prstGeom prst="roundRect">
            <a:avLst/>
          </a:prstGeom>
          <a:solidFill>
            <a:srgbClr val="F3F6F9"/>
          </a:solidFill>
          <a:ln w="19050">
            <a:solidFill>
              <a:srgbClr val="275C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55664" y="2258568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275C8C"/>
                </a:solidFill>
                <a:latin typeface="Aptos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55664" y="263347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21F31"/>
                </a:solidFill>
                <a:latin typeface="Aptos"/>
              </a:rPr>
              <a:t>DEPLOY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55664" y="3154680"/>
            <a:ext cx="1371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566371"/>
                </a:solidFill>
                <a:latin typeface="Aptos"/>
              </a:rPr>
              <a:t>Human oversight + security + change control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964424" y="3044952"/>
            <a:ext cx="256032" cy="0"/>
          </a:xfrm>
          <a:prstGeom prst="line">
            <a:avLst/>
          </a:prstGeom>
          <a:ln w="25400">
            <a:solidFill>
              <a:srgbClr val="DCE2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8257032" y="2057400"/>
            <a:ext cx="1645920" cy="1965960"/>
          </a:xfrm>
          <a:prstGeom prst="roundRect">
            <a:avLst/>
          </a:prstGeom>
          <a:solidFill>
            <a:srgbClr val="F3F6F9"/>
          </a:solidFill>
          <a:ln w="19050">
            <a:solidFill>
              <a:srgbClr val="275C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94192" y="2258568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275C8C"/>
                </a:solidFill>
                <a:latin typeface="Aptos"/>
              </a:rPr>
              <a:t>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94192" y="263347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21F31"/>
                </a:solidFill>
                <a:latin typeface="Aptos"/>
              </a:rPr>
              <a:t>MONITOR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94192" y="3154680"/>
            <a:ext cx="1371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566371"/>
                </a:solidFill>
                <a:latin typeface="Aptos"/>
              </a:rPr>
              <a:t>Drift + incidents + outcomes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902952" y="3044952"/>
            <a:ext cx="256032" cy="0"/>
          </a:xfrm>
          <a:prstGeom prst="line">
            <a:avLst/>
          </a:prstGeom>
          <a:ln w="25400">
            <a:solidFill>
              <a:srgbClr val="DCE2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10195560" y="2057400"/>
            <a:ext cx="1645920" cy="1965960"/>
          </a:xfrm>
          <a:prstGeom prst="roundRect">
            <a:avLst/>
          </a:prstGeom>
          <a:solidFill>
            <a:srgbClr val="F3F6F9"/>
          </a:solidFill>
          <a:ln w="19050">
            <a:solidFill>
              <a:srgbClr val="337E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332720" y="2258568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275C8C"/>
                </a:solidFill>
                <a:latin typeface="Aptos"/>
              </a:rPr>
              <a:t>06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332720" y="263347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21F31"/>
                </a:solidFill>
                <a:latin typeface="Aptos"/>
              </a:rPr>
              <a:t>REMEDIATE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332720" y="3154680"/>
            <a:ext cx="1371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566371"/>
                </a:solidFill>
                <a:latin typeface="Aptos"/>
              </a:rPr>
              <a:t>Appeal + rollback + retrain + report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" y="461772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B4433F"/>
                </a:solidFill>
                <a:latin typeface="Aptos"/>
              </a:rPr>
              <a:t>Credit / MRM control gate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743200" y="4553712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91E23"/>
                </a:solidFill>
                <a:latin typeface="Aptos"/>
              </a:rPr>
              <a:t>No production release when a material risk is unknown, unowned, unmitigated or outside approved tolerance.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94360" y="6537960"/>
            <a:ext cx="8229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566371"/>
                </a:solidFill>
                <a:latin typeface="Aptos"/>
              </a:rPr>
              <a:t>RESPONSIBLE &amp; ETHICAL AI  |  CREDIT / FINANCE LENS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201400" y="6519672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>
                <a:solidFill>
                  <a:srgbClr val="566371"/>
                </a:solidFill>
                <a:latin typeface="Aptos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75C8C"/>
                </a:solidFill>
                <a:latin typeface="Aptos"/>
              </a:rPr>
              <a:t>07 | NUMERICAL EXAMPLE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1264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21F31"/>
                </a:solidFill>
                <a:latin typeface="Aptos"/>
              </a:rPr>
              <a:t>Fairness: an adverse-impact test for a lending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8872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66371"/>
                </a:solidFill>
                <a:latin typeface="Aptos"/>
              </a:rPr>
              <a:t>Illustrative data only. The point is the decision logic—not a universal legal threshold.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916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566371"/>
                </a:solidFill>
                <a:latin typeface="Aptos"/>
              </a:rPr>
              <a:t>Group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169164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566371"/>
                </a:solidFill>
                <a:latin typeface="Aptos"/>
              </a:rPr>
              <a:t>Applicants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60520" y="169164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566371"/>
                </a:solidFill>
                <a:latin typeface="Aptos"/>
              </a:rPr>
              <a:t>Approved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77840" y="16916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566371"/>
                </a:solidFill>
                <a:latin typeface="Aptos"/>
              </a:rPr>
              <a:t>Approval rate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1488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21F31"/>
                </a:solidFill>
                <a:latin typeface="Aptos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21488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21F31"/>
                </a:solidFill>
                <a:latin typeface="Aptos"/>
              </a:rPr>
              <a:t>1,000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60520" y="21488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21F31"/>
                </a:solidFill>
                <a:latin typeface="Aptos"/>
              </a:rPr>
              <a:t>600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77840" y="21488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21F31"/>
                </a:solidFill>
                <a:latin typeface="Aptos"/>
              </a:rPr>
              <a:t>60%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31520" y="2542032"/>
            <a:ext cx="6126480" cy="0"/>
          </a:xfrm>
          <a:prstGeom prst="line">
            <a:avLst/>
          </a:prstGeom>
          <a:ln>
            <a:solidFill>
              <a:srgbClr val="DCE2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731520" y="271576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21F31"/>
                </a:solidFill>
                <a:latin typeface="Aptos"/>
              </a:rPr>
              <a:t>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0" y="271576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21F31"/>
                </a:solidFill>
                <a:latin typeface="Aptos"/>
              </a:rPr>
              <a:t>800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60520" y="271576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21F31"/>
                </a:solidFill>
                <a:latin typeface="Aptos"/>
              </a:rPr>
              <a:t>320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77840" y="271576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21F31"/>
                </a:solidFill>
                <a:latin typeface="Aptos"/>
              </a:rPr>
              <a:t>40%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31520" y="3108960"/>
            <a:ext cx="6126480" cy="0"/>
          </a:xfrm>
          <a:prstGeom prst="line">
            <a:avLst/>
          </a:prstGeom>
          <a:ln>
            <a:solidFill>
              <a:srgbClr val="DCE2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7452360" y="1645920"/>
            <a:ext cx="4023360" cy="2057400"/>
          </a:xfrm>
          <a:prstGeom prst="roundRect">
            <a:avLst/>
          </a:prstGeom>
          <a:solidFill>
            <a:srgbClr val="F3F6F9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16952" y="1773936"/>
            <a:ext cx="36941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B4433F"/>
                </a:solidFill>
                <a:latin typeface="Aptos"/>
              </a:rPr>
              <a:t>ADVERSE IMPACT RATIO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16952" y="2121408"/>
            <a:ext cx="3694176" cy="1490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66371"/>
                </a:solidFill>
                <a:latin typeface="Aptos"/>
              </a:rPr>
              <a:t>AIR = approval rate of B / approval rate of A
= 40% / 60% = 0.667
Interpretation: B receives approvals at 66.7% of A’s rate. Investigate drivers; do not treat the ratio alone as proof of unfairness.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3703320"/>
            <a:ext cx="5166360" cy="1417320"/>
          </a:xfrm>
          <a:prstGeom prst="roundRect">
            <a:avLst/>
          </a:prstGeom>
          <a:solidFill>
            <a:srgbClr val="F3F6F9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96112" y="3831335"/>
            <a:ext cx="48371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75C8C"/>
                </a:solidFill>
                <a:latin typeface="Aptos"/>
              </a:rPr>
              <a:t>STEP 1 — FIND THE GAP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6112" y="4178808"/>
            <a:ext cx="48371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566371"/>
                </a:solidFill>
                <a:latin typeface="Aptos"/>
              </a:rPr>
              <a:t>Check data quality, sample mix, policy rules, threshold effects and legitimate risk differences.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72200" y="3703320"/>
            <a:ext cx="5303520" cy="1417320"/>
          </a:xfrm>
          <a:prstGeom prst="roundRect">
            <a:avLst/>
          </a:prstGeom>
          <a:solidFill>
            <a:srgbClr val="F3F6F9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36792" y="3831335"/>
            <a:ext cx="49743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37E5B"/>
                </a:solidFill>
                <a:latin typeface="Aptos"/>
              </a:rPr>
              <a:t>STEP 2 — EXPLAIN + REMEDIATE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36792" y="4178808"/>
            <a:ext cx="497433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566371"/>
                </a:solidFill>
                <a:latin typeface="Aptos"/>
              </a:rPr>
              <a:t>Segment by product, vintage and risk band; test alternative thresholds/features; document trade-offs.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562356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21F31"/>
                </a:solidFill>
                <a:latin typeface="Aptos"/>
              </a:rPr>
              <a:t>MRM implication: fairness testing belongs beside discriminatory-power, stability and calibration—not after model approval.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" y="6537960"/>
            <a:ext cx="8229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566371"/>
                </a:solidFill>
                <a:latin typeface="Aptos"/>
              </a:rPr>
              <a:t>RESPONSIBLE &amp; ETHICAL AI  |  CREDIT / FINANCE LENS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201400" y="6519672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>
                <a:solidFill>
                  <a:srgbClr val="566371"/>
                </a:solidFill>
                <a:latin typeface="Aptos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75C8C"/>
                </a:solidFill>
                <a:latin typeface="Aptos"/>
              </a:rPr>
              <a:t>08 | PRIVACY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1264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21F31"/>
                </a:solidFill>
                <a:latin typeface="Aptos"/>
              </a:rPr>
              <a:t>Privacy risk is an economic risk when data becomes an AI input</a:t>
            </a:r>
          </a:p>
        </p:txBody>
      </p:sp>
      <p:sp>
        <p:nvSpPr>
          <p:cNvPr id="5" name="Chevron 4"/>
          <p:cNvSpPr/>
          <p:nvPr/>
        </p:nvSpPr>
        <p:spPr>
          <a:xfrm>
            <a:off x="640080" y="1828800"/>
            <a:ext cx="2011680" cy="1325880"/>
          </a:xfrm>
          <a:prstGeom prst="chevron">
            <a:avLst/>
          </a:prstGeom>
          <a:solidFill>
            <a:srgbClr val="275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029968"/>
            <a:ext cx="1508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COLLECT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359152"/>
            <a:ext cx="1508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Need + purpose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59" y="3337560"/>
            <a:ext cx="2103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566371"/>
                </a:solidFill>
                <a:latin typeface="Aptos"/>
              </a:rPr>
              <a:t>Minimise attributes and sources</a:t>
            </a:r>
          </a:p>
        </p:txBody>
      </p:sp>
      <p:sp>
        <p:nvSpPr>
          <p:cNvPr id="9" name="Chevron 8"/>
          <p:cNvSpPr/>
          <p:nvPr/>
        </p:nvSpPr>
        <p:spPr>
          <a:xfrm>
            <a:off x="2880360" y="1828800"/>
            <a:ext cx="2011680" cy="1325880"/>
          </a:xfrm>
          <a:prstGeom prst="chevron">
            <a:avLst/>
          </a:prstGeom>
          <a:solidFill>
            <a:srgbClr val="277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17520" y="2029968"/>
            <a:ext cx="1508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USE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17520" y="2359152"/>
            <a:ext cx="1508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Purpose fit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34640" y="3337560"/>
            <a:ext cx="2103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566371"/>
                </a:solidFill>
                <a:latin typeface="Aptos"/>
              </a:rPr>
              <a:t>Do not repurpose sensitive data casually</a:t>
            </a:r>
          </a:p>
        </p:txBody>
      </p:sp>
      <p:sp>
        <p:nvSpPr>
          <p:cNvPr id="13" name="Chevron 12"/>
          <p:cNvSpPr/>
          <p:nvPr/>
        </p:nvSpPr>
        <p:spPr>
          <a:xfrm>
            <a:off x="5120640" y="1828800"/>
            <a:ext cx="2011680" cy="1325880"/>
          </a:xfrm>
          <a:prstGeom prst="chevron">
            <a:avLst/>
          </a:prstGeom>
          <a:solidFill>
            <a:srgbClr val="CD8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57800" y="2029968"/>
            <a:ext cx="1508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STORE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57800" y="2359152"/>
            <a:ext cx="1508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Retention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74920" y="3337560"/>
            <a:ext cx="2103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566371"/>
                </a:solidFill>
                <a:latin typeface="Aptos"/>
              </a:rPr>
              <a:t>Delete / archive according to policy</a:t>
            </a:r>
          </a:p>
        </p:txBody>
      </p:sp>
      <p:sp>
        <p:nvSpPr>
          <p:cNvPr id="17" name="Chevron 16"/>
          <p:cNvSpPr/>
          <p:nvPr/>
        </p:nvSpPr>
        <p:spPr>
          <a:xfrm>
            <a:off x="7360920" y="1828800"/>
            <a:ext cx="2011680" cy="1325880"/>
          </a:xfrm>
          <a:prstGeom prst="chevron">
            <a:avLst/>
          </a:prstGeom>
          <a:solidFill>
            <a:srgbClr val="B44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80" y="2029968"/>
            <a:ext cx="1508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SHARE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0" y="2359152"/>
            <a:ext cx="1508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Access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0" y="3337560"/>
            <a:ext cx="2103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566371"/>
                </a:solidFill>
                <a:latin typeface="Aptos"/>
              </a:rPr>
              <a:t>Least privilege + vendor controls</a:t>
            </a:r>
          </a:p>
        </p:txBody>
      </p:sp>
      <p:sp>
        <p:nvSpPr>
          <p:cNvPr id="21" name="Chevron 20"/>
          <p:cNvSpPr/>
          <p:nvPr/>
        </p:nvSpPr>
        <p:spPr>
          <a:xfrm>
            <a:off x="9601200" y="1828800"/>
            <a:ext cx="2011680" cy="1325880"/>
          </a:xfrm>
          <a:prstGeom prst="chevron">
            <a:avLst/>
          </a:prstGeom>
          <a:solidFill>
            <a:srgbClr val="121F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738360" y="2029968"/>
            <a:ext cx="1508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INFER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38360" y="2359152"/>
            <a:ext cx="1508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Derived data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55480" y="3337560"/>
            <a:ext cx="2103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566371"/>
                </a:solidFill>
                <a:latin typeface="Aptos"/>
              </a:rPr>
              <a:t>Treat model-generated attributes as risk-bearing data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4343400"/>
            <a:ext cx="5120640" cy="1188720"/>
          </a:xfrm>
          <a:prstGeom prst="roundRect">
            <a:avLst/>
          </a:prstGeom>
          <a:solidFill>
            <a:srgbClr val="F3F6F9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6112" y="4471416"/>
            <a:ext cx="479145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B4433F"/>
                </a:solidFill>
                <a:latin typeface="Aptos"/>
              </a:rPr>
              <a:t>Credit example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6112" y="4818888"/>
            <a:ext cx="4791455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566371"/>
                </a:solidFill>
                <a:latin typeface="Aptos"/>
              </a:rPr>
              <a:t>Using transaction history to detect fraud may be purpose-aligned; using unrelated behavioural data to infer sensitive traits can create a new privacy + fairness risk.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26480" y="4343400"/>
            <a:ext cx="5212080" cy="1188720"/>
          </a:xfrm>
          <a:prstGeom prst="roundRect">
            <a:avLst/>
          </a:prstGeom>
          <a:solidFill>
            <a:srgbClr val="F3F6F9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91072" y="4471416"/>
            <a:ext cx="48828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77D87"/>
                </a:solidFill>
                <a:latin typeface="Aptos"/>
              </a:rPr>
              <a:t>Control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91072" y="4818888"/>
            <a:ext cx="4882896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566371"/>
                </a:solidFill>
                <a:latin typeface="Aptos"/>
              </a:rPr>
              <a:t>Data inventory → lawful/policy basis → minimisation → access → retention → monitoring → incident response.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4360" y="6537960"/>
            <a:ext cx="8229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566371"/>
                </a:solidFill>
                <a:latin typeface="Aptos"/>
              </a:rPr>
              <a:t>RESPONSIBLE &amp; ETHICAL AI  |  CREDIT / FINANCE LENS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201400" y="6519672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>
                <a:solidFill>
                  <a:srgbClr val="566371"/>
                </a:solidFill>
                <a:latin typeface="Aptos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75C8C"/>
                </a:solidFill>
                <a:latin typeface="Aptos"/>
              </a:rPr>
              <a:t>09 | CYBERSECURITY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1264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21F31"/>
                </a:solidFill>
                <a:latin typeface="Aptos"/>
              </a:rPr>
              <a:t>AI expands the attack surface—and the attack objective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8872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66371"/>
                </a:solidFill>
                <a:latin typeface="Aptos"/>
              </a:rPr>
              <a:t>Traditional security protects systems; AI security must also protect behaviour, data, prompts and model outputs.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2468880" cy="1965960"/>
          </a:xfrm>
          <a:prstGeom prst="roundRect">
            <a:avLst/>
          </a:prstGeom>
          <a:solidFill>
            <a:srgbClr val="F3F6F9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1" y="1956816"/>
            <a:ext cx="21396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B4433F"/>
                </a:solidFill>
                <a:latin typeface="Aptos"/>
              </a:rPr>
              <a:t>DATA POISONING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1" y="2304288"/>
            <a:ext cx="2139696" cy="1399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566371"/>
                </a:solidFill>
                <a:latin typeface="Aptos"/>
              </a:rPr>
              <a:t>Corrupt training data
Impact → Bad model behaviour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1828800"/>
            <a:ext cx="2468880" cy="1965960"/>
          </a:xfrm>
          <a:prstGeom prst="roundRect">
            <a:avLst/>
          </a:prstGeom>
          <a:solidFill>
            <a:srgbClr val="F3F6F9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93592" y="1956816"/>
            <a:ext cx="21396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D8B2B"/>
                </a:solidFill>
                <a:latin typeface="Aptos"/>
              </a:rPr>
              <a:t>PROMPT / INPUT ATTACK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93592" y="2304288"/>
            <a:ext cx="2139696" cy="1399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566371"/>
                </a:solidFill>
                <a:latin typeface="Aptos"/>
              </a:rPr>
              <a:t>Manipulate instructions or context
Impact → Unsafe or leaked output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828800"/>
            <a:ext cx="2468880" cy="1965960"/>
          </a:xfrm>
          <a:prstGeom prst="roundRect">
            <a:avLst/>
          </a:prstGeom>
          <a:solidFill>
            <a:srgbClr val="F3F6F9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82512" y="1956816"/>
            <a:ext cx="21396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75C8C"/>
                </a:solidFill>
                <a:latin typeface="Aptos"/>
              </a:rPr>
              <a:t>MODEL / DATA EXFILTRATION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82512" y="2304288"/>
            <a:ext cx="2139696" cy="1399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566371"/>
                </a:solidFill>
                <a:latin typeface="Aptos"/>
              </a:rPr>
              <a:t>Extract sensitive artefacts
Impact → IP / PII exposure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06839" y="1828800"/>
            <a:ext cx="2468880" cy="1965960"/>
          </a:xfrm>
          <a:prstGeom prst="roundRect">
            <a:avLst/>
          </a:prstGeom>
          <a:solidFill>
            <a:srgbClr val="F3F6F9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71431" y="1956816"/>
            <a:ext cx="21396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21F31"/>
                </a:solidFill>
                <a:latin typeface="Aptos"/>
              </a:rPr>
              <a:t>SUPPLY CHAIN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71431" y="2304288"/>
            <a:ext cx="2139696" cy="1399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566371"/>
                </a:solidFill>
                <a:latin typeface="Aptos"/>
              </a:rPr>
              <a:t>Compromised vendor/model
Impact → Hidden dependency risk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34340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21F31"/>
                </a:solidFill>
                <a:latin typeface="Aptos"/>
              </a:rPr>
              <a:t>Minimum control architecture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4754880"/>
            <a:ext cx="3337560" cy="310896"/>
          </a:xfrm>
          <a:prstGeom prst="roundRect">
            <a:avLst/>
          </a:prstGeom>
          <a:solidFill>
            <a:srgbClr val="275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4805172"/>
            <a:ext cx="33375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Identity &amp; least privilege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34840" y="4754880"/>
            <a:ext cx="3337560" cy="310896"/>
          </a:xfrm>
          <a:prstGeom prst="roundRect">
            <a:avLst/>
          </a:prstGeom>
          <a:solidFill>
            <a:srgbClr val="277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34840" y="4805172"/>
            <a:ext cx="33375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Input/output filtering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83879" y="4754880"/>
            <a:ext cx="3337560" cy="310896"/>
          </a:xfrm>
          <a:prstGeom prst="roundRect">
            <a:avLst/>
          </a:prstGeom>
          <a:solidFill>
            <a:srgbClr val="121F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183879" y="4805172"/>
            <a:ext cx="33375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Secrets isolation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5800" y="5257800"/>
            <a:ext cx="3337560" cy="310896"/>
          </a:xfrm>
          <a:prstGeom prst="roundRect">
            <a:avLst/>
          </a:prstGeom>
          <a:solidFill>
            <a:srgbClr val="B44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5800" y="5308092"/>
            <a:ext cx="33375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Audit logs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434840" y="5257800"/>
            <a:ext cx="3337560" cy="310896"/>
          </a:xfrm>
          <a:prstGeom prst="roundRect">
            <a:avLst/>
          </a:prstGeom>
          <a:solidFill>
            <a:srgbClr val="CD8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434840" y="5308092"/>
            <a:ext cx="33375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Red-team tests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183879" y="5257800"/>
            <a:ext cx="3337560" cy="310896"/>
          </a:xfrm>
          <a:prstGeom prst="roundRect">
            <a:avLst/>
          </a:prstGeom>
          <a:solidFill>
            <a:srgbClr val="337E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183879" y="5308092"/>
            <a:ext cx="33375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Incident rollback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4360" y="6537960"/>
            <a:ext cx="8229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566371"/>
                </a:solidFill>
                <a:latin typeface="Aptos"/>
              </a:rPr>
              <a:t>RESPONSIBLE &amp; ETHICAL AI  |  CREDIT / FINANCE LENS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201400" y="6519672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>
                <a:solidFill>
                  <a:srgbClr val="566371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75C8C"/>
                </a:solidFill>
                <a:latin typeface="Aptos"/>
              </a:rPr>
              <a:t>10 | CASE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1264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21F31"/>
                </a:solidFill>
                <a:latin typeface="Aptos"/>
              </a:rPr>
              <a:t>Illustrative bank: GenAI credit analyst copilot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8872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66371"/>
                </a:solidFill>
                <a:latin typeface="Aptos"/>
              </a:rPr>
              <a:t>Illustrative scenario and numbers. The objective is to show how ethical controls alter a real business workflow.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737360"/>
            <a:ext cx="1920240" cy="1325880"/>
          </a:xfrm>
          <a:prstGeom prst="roundRect">
            <a:avLst/>
          </a:prstGeom>
          <a:solidFill>
            <a:srgbClr val="F3F6F9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7512" y="1865376"/>
            <a:ext cx="15910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75C8C"/>
                </a:solidFill>
                <a:latin typeface="Aptos"/>
              </a:rPr>
              <a:t>DOCUMENTS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" y="2212848"/>
            <a:ext cx="1591056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566371"/>
                </a:solidFill>
                <a:latin typeface="Aptos"/>
              </a:rPr>
              <a:t>Annual report
Bank statements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423160" y="2395728"/>
            <a:ext cx="365760" cy="0"/>
          </a:xfrm>
          <a:prstGeom prst="line">
            <a:avLst/>
          </a:prstGeom>
          <a:ln w="25400">
            <a:solidFill>
              <a:srgbClr val="DCE2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834639" y="1737360"/>
            <a:ext cx="1920240" cy="1325880"/>
          </a:xfrm>
          <a:prstGeom prst="roundRect">
            <a:avLst/>
          </a:prstGeom>
          <a:solidFill>
            <a:srgbClr val="F3F6F9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99232" y="1865376"/>
            <a:ext cx="15910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77D87"/>
                </a:solidFill>
                <a:latin typeface="Aptos"/>
              </a:rPr>
              <a:t>RAG LAYER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99232" y="2212848"/>
            <a:ext cx="1591056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566371"/>
                </a:solidFill>
                <a:latin typeface="Aptos"/>
              </a:rPr>
              <a:t>Approved sources
Citations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754879" y="2395728"/>
            <a:ext cx="365761" cy="0"/>
          </a:xfrm>
          <a:prstGeom prst="line">
            <a:avLst/>
          </a:prstGeom>
          <a:ln w="25400">
            <a:solidFill>
              <a:srgbClr val="DCE2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5166359" y="1737360"/>
            <a:ext cx="1920240" cy="1325880"/>
          </a:xfrm>
          <a:prstGeom prst="roundRect">
            <a:avLst/>
          </a:prstGeom>
          <a:solidFill>
            <a:srgbClr val="F3F6F9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30951" y="1865376"/>
            <a:ext cx="15910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D8B2B"/>
                </a:solidFill>
                <a:latin typeface="Aptos"/>
              </a:rPr>
              <a:t>AI COPILOT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30951" y="2212848"/>
            <a:ext cx="1591056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566371"/>
                </a:solidFill>
                <a:latin typeface="Aptos"/>
              </a:rPr>
              <a:t>Summarise + flag
credit risks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086600" y="2395728"/>
            <a:ext cx="365759" cy="0"/>
          </a:xfrm>
          <a:prstGeom prst="line">
            <a:avLst/>
          </a:prstGeom>
          <a:ln w="25400">
            <a:solidFill>
              <a:srgbClr val="DCE2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7498079" y="1737360"/>
            <a:ext cx="1920240" cy="1325880"/>
          </a:xfrm>
          <a:prstGeom prst="roundRect">
            <a:avLst/>
          </a:prstGeom>
          <a:solidFill>
            <a:srgbClr val="F3F6F9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62671" y="1865376"/>
            <a:ext cx="15910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21F31"/>
                </a:solidFill>
                <a:latin typeface="Aptos"/>
              </a:rPr>
              <a:t>ANALYST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62671" y="2212848"/>
            <a:ext cx="1591056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566371"/>
                </a:solidFill>
                <a:latin typeface="Aptos"/>
              </a:rPr>
              <a:t>Validate + challenge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9418319" y="2395728"/>
            <a:ext cx="365761" cy="0"/>
          </a:xfrm>
          <a:prstGeom prst="line">
            <a:avLst/>
          </a:prstGeom>
          <a:ln w="25400">
            <a:solidFill>
              <a:srgbClr val="DCE2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9829800" y="1737360"/>
            <a:ext cx="1920240" cy="1325880"/>
          </a:xfrm>
          <a:prstGeom prst="roundRect">
            <a:avLst/>
          </a:prstGeom>
          <a:solidFill>
            <a:srgbClr val="F3F6F9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994392" y="1865376"/>
            <a:ext cx="15910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37E5B"/>
                </a:solidFill>
                <a:latin typeface="Aptos"/>
              </a:rPr>
              <a:t>DECISION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94392" y="2212848"/>
            <a:ext cx="1591056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566371"/>
                </a:solidFill>
                <a:latin typeface="Aptos"/>
              </a:rPr>
              <a:t>Approve / decline
with audit trail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352044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21F31"/>
                </a:solidFill>
                <a:latin typeface="Aptos"/>
              </a:rPr>
              <a:t>Illustrative outcome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94360" y="3977639"/>
            <a:ext cx="5166360" cy="777240"/>
          </a:xfrm>
          <a:prstGeom prst="roundRect">
            <a:avLst/>
          </a:prstGeom>
          <a:solidFill>
            <a:srgbClr val="F3F6F9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58952" y="4105655"/>
            <a:ext cx="48371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75C8C"/>
                </a:solidFill>
                <a:latin typeface="Aptos"/>
              </a:rPr>
              <a:t>Analyst prep time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8952" y="4453127"/>
            <a:ext cx="4837176" cy="210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66371"/>
                </a:solidFill>
                <a:latin typeface="Aptos"/>
              </a:rPr>
              <a:t>90 → 45 min   |   50% reduction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72200" y="3977639"/>
            <a:ext cx="5166360" cy="777240"/>
          </a:xfrm>
          <a:prstGeom prst="roundRect">
            <a:avLst/>
          </a:prstGeom>
          <a:solidFill>
            <a:srgbClr val="F3F6F9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36792" y="4105655"/>
            <a:ext cx="48371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77D87"/>
                </a:solidFill>
                <a:latin typeface="Aptos"/>
              </a:rPr>
              <a:t>Citation coverage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36792" y="4453127"/>
            <a:ext cx="4837176" cy="210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66371"/>
                </a:solidFill>
                <a:latin typeface="Aptos"/>
              </a:rPr>
              <a:t>60% → 96%   |   traceability ↑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94360" y="4937759"/>
            <a:ext cx="5166360" cy="777240"/>
          </a:xfrm>
          <a:prstGeom prst="roundRect">
            <a:avLst/>
          </a:prstGeom>
          <a:solidFill>
            <a:srgbClr val="F3F6F9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58952" y="5065775"/>
            <a:ext cx="48371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B4433F"/>
                </a:solidFill>
                <a:latin typeface="Aptos"/>
              </a:rPr>
              <a:t>Human override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58952" y="5413248"/>
            <a:ext cx="4837176" cy="210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66371"/>
                </a:solidFill>
                <a:latin typeface="Aptos"/>
              </a:rPr>
              <a:t>8%   |   healthy challenge signal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172200" y="4937759"/>
            <a:ext cx="5166360" cy="777240"/>
          </a:xfrm>
          <a:prstGeom prst="roundRect">
            <a:avLst/>
          </a:prstGeom>
          <a:solidFill>
            <a:srgbClr val="F3F6F9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336792" y="5065775"/>
            <a:ext cx="48371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37E5B"/>
                </a:solidFill>
                <a:latin typeface="Aptos"/>
              </a:rPr>
              <a:t>Hallucination incidents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36792" y="5413248"/>
            <a:ext cx="4837176" cy="210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66371"/>
                </a:solidFill>
                <a:latin typeface="Aptos"/>
              </a:rPr>
              <a:t>4.0% → 0.8%   |   after guardrails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" y="598932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B4433F"/>
                </a:solidFill>
                <a:latin typeface="Aptos"/>
              </a:rPr>
              <a:t>Ethical design choice: AI recommends and cites; the analyst owns the credit conclusion. Efficiency is a benefit—not a transfer of accountability.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94360" y="6537960"/>
            <a:ext cx="8229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566371"/>
                </a:solidFill>
                <a:latin typeface="Aptos"/>
              </a:rPr>
              <a:t>RESPONSIBLE &amp; ETHICAL AI  |  CREDIT / FINANCE LENS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201400" y="6519672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>
                <a:solidFill>
                  <a:srgbClr val="566371"/>
                </a:solidFill>
                <a:latin typeface="Apto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75C8C"/>
                </a:solidFill>
                <a:latin typeface="Aptos"/>
              </a:rPr>
              <a:t>11 | CASE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1264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21F31"/>
                </a:solidFill>
                <a:latin typeface="Aptos"/>
              </a:rPr>
              <a:t>Illustrative failure: a scorecard with hidden proxy bias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8872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66371"/>
                </a:solidFill>
                <a:latin typeface="Aptos"/>
              </a:rPr>
              <a:t>A model can look statistically strong while embedding a business or ethical problem.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7373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21F31"/>
                </a:solidFill>
                <a:latin typeface="Aptos"/>
              </a:rPr>
              <a:t>Observed pattern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103120"/>
            <a:ext cx="3154680" cy="1920240"/>
          </a:xfrm>
          <a:prstGeom prst="roundRect">
            <a:avLst/>
          </a:prstGeom>
          <a:solidFill>
            <a:srgbClr val="F3F6F9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2" y="2231136"/>
            <a:ext cx="28254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75C8C"/>
                </a:solidFill>
                <a:latin typeface="Aptos"/>
              </a:rPr>
              <a:t>MODEL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" y="2578608"/>
            <a:ext cx="2825496" cy="1353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566371"/>
                </a:solidFill>
                <a:latin typeface="Aptos"/>
              </a:rPr>
              <a:t>A bureau + application model shows strong AUC/Gini.
A postcode-derived variable materially improves lift.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069080" y="2103120"/>
            <a:ext cx="3154680" cy="1920240"/>
          </a:xfrm>
          <a:prstGeom prst="roundRect">
            <a:avLst/>
          </a:prstGeom>
          <a:solidFill>
            <a:srgbClr val="F3F6F9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33672" y="2231136"/>
            <a:ext cx="28254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B4433F"/>
                </a:solidFill>
                <a:latin typeface="Aptos"/>
              </a:rPr>
              <a:t>RED FLAG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33672" y="2578608"/>
            <a:ext cx="2825496" cy="1353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566371"/>
                </a:solidFill>
                <a:latin typeface="Aptos"/>
              </a:rPr>
              <a:t>Postcode acts as a proxy for socioeconomic / demographic characteristics.
Approval gap widens after deployment.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52360" y="2103120"/>
            <a:ext cx="3977639" cy="1920240"/>
          </a:xfrm>
          <a:prstGeom prst="roundRect">
            <a:avLst/>
          </a:prstGeom>
          <a:solidFill>
            <a:srgbClr val="F3F6F9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16952" y="2231136"/>
            <a:ext cx="36484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37E5B"/>
                </a:solidFill>
                <a:latin typeface="Aptos"/>
              </a:rPr>
              <a:t>RESPONSE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16952" y="2578608"/>
            <a:ext cx="3648456" cy="1353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566371"/>
                </a:solidFill>
                <a:latin typeface="Aptos"/>
              </a:rPr>
              <a:t>Remove / transform proxy; test performance impact; assess fairness by risk band; document rationale; monitor outcomes.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840480" y="3063240"/>
            <a:ext cx="201168" cy="0"/>
          </a:xfrm>
          <a:prstGeom prst="line">
            <a:avLst/>
          </a:prstGeom>
          <a:ln w="25400">
            <a:solidFill>
              <a:srgbClr val="B443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7223760" y="3063240"/>
            <a:ext cx="201167" cy="0"/>
          </a:xfrm>
          <a:prstGeom prst="line">
            <a:avLst/>
          </a:prstGeom>
          <a:ln w="25400">
            <a:solidFill>
              <a:srgbClr val="B443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685800" y="44348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21F31"/>
                </a:solidFill>
                <a:latin typeface="Aptos"/>
              </a:rPr>
              <a:t>Decision trade-off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4560" y="4389120"/>
            <a:ext cx="9052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91E23"/>
                </a:solidFill>
                <a:latin typeface="Aptos"/>
              </a:rPr>
              <a:t>Suppose Gini falls from 46% to 43% after removing the proxy. A 3-point performance loss may be acceptable if it materially reduces unjustified disparate impact and improves defensibility.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566928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B4433F"/>
                </a:solidFill>
                <a:latin typeface="Aptos"/>
              </a:rPr>
              <a:t>MRM lesson → optimise risk performance subject to ethical + regulatory constraints; do not optimise ethics away.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6537960"/>
            <a:ext cx="8229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566371"/>
                </a:solidFill>
                <a:latin typeface="Aptos"/>
              </a:rPr>
              <a:t>RESPONSIBLE &amp; ETHICAL AI  |  CREDIT / FINANCE LENS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01400" y="6519672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>
                <a:solidFill>
                  <a:srgbClr val="566371"/>
                </a:solidFill>
                <a:latin typeface="Aptos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75C8C"/>
                </a:solidFill>
                <a:latin typeface="Aptos"/>
              </a:rPr>
              <a:t>12 | MRM / GOVERNANCE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1264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21F31"/>
                </a:solidFill>
                <a:latin typeface="Aptos"/>
              </a:rPr>
              <a:t>Risk-based control matrix: not every AI use case needs the same intensity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691640"/>
            <a:ext cx="1143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21F31"/>
                </a:solidFill>
                <a:latin typeface="Aptos"/>
              </a:rPr>
              <a:t>Risk tier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74519" y="1691640"/>
            <a:ext cx="2057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21F31"/>
                </a:solidFill>
                <a:latin typeface="Aptos"/>
              </a:rPr>
              <a:t>Example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69080" y="1691640"/>
            <a:ext cx="2331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21F31"/>
                </a:solidFill>
                <a:latin typeface="Aptos"/>
              </a:rPr>
              <a:t>Pre-deployment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29400" y="1691640"/>
            <a:ext cx="2240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21F31"/>
                </a:solidFill>
                <a:latin typeface="Aptos"/>
              </a:rPr>
              <a:t>Ongoing monitoring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89720" y="16916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21F31"/>
                </a:solidFill>
                <a:latin typeface="Aptos"/>
              </a:rPr>
              <a:t>Escalation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148840"/>
            <a:ext cx="1143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566371"/>
                </a:solidFill>
                <a:latin typeface="Aptos"/>
              </a:rPr>
              <a:t>LOW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19" y="2148840"/>
            <a:ext cx="2057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566371"/>
                </a:solidFill>
                <a:latin typeface="Aptos"/>
              </a:rPr>
              <a:t>Internal drafting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69080" y="2148840"/>
            <a:ext cx="2331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566371"/>
                </a:solidFill>
                <a:latin typeface="Aptos"/>
              </a:rPr>
              <a:t>Policy + basic QA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2148840"/>
            <a:ext cx="2240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566371"/>
                </a:solidFill>
                <a:latin typeface="Aptos"/>
              </a:rPr>
              <a:t>Usage / incidents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89720" y="2148840"/>
            <a:ext cx="2286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566371"/>
                </a:solidFill>
                <a:latin typeface="Aptos"/>
              </a:rPr>
              <a:t>Owner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94360" y="2715768"/>
            <a:ext cx="10881360" cy="0"/>
          </a:xfrm>
          <a:prstGeom prst="line">
            <a:avLst/>
          </a:prstGeom>
          <a:ln>
            <a:solidFill>
              <a:srgbClr val="DCE2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94360" y="2953512"/>
            <a:ext cx="1143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566371"/>
                </a:solidFill>
                <a:latin typeface="Aptos"/>
              </a:rPr>
              <a:t>MEDIUM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74519" y="2953512"/>
            <a:ext cx="2057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566371"/>
                </a:solidFill>
                <a:latin typeface="Aptos"/>
              </a:rPr>
              <a:t>Customer service AI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69080" y="2953512"/>
            <a:ext cx="2331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566371"/>
                </a:solidFill>
                <a:latin typeface="Aptos"/>
              </a:rPr>
              <a:t>Validation + privacy + security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29400" y="2953512"/>
            <a:ext cx="2240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566371"/>
                </a:solidFill>
                <a:latin typeface="Aptos"/>
              </a:rPr>
              <a:t>Quality + complaints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89720" y="2953512"/>
            <a:ext cx="2286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566371"/>
                </a:solidFill>
                <a:latin typeface="Aptos"/>
              </a:rPr>
              <a:t>Risk committee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94360" y="3520440"/>
            <a:ext cx="10881360" cy="0"/>
          </a:xfrm>
          <a:prstGeom prst="line">
            <a:avLst/>
          </a:prstGeom>
          <a:ln>
            <a:solidFill>
              <a:srgbClr val="DCE2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594360" y="3758184"/>
            <a:ext cx="1143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B4433F"/>
                </a:solidFill>
                <a:latin typeface="Aptos"/>
              </a:rPr>
              <a:t>HIGH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74519" y="3758184"/>
            <a:ext cx="2057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566371"/>
                </a:solidFill>
                <a:latin typeface="Aptos"/>
              </a:rPr>
              <a:t>Credit / pricing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069080" y="3758184"/>
            <a:ext cx="2331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566371"/>
                </a:solidFill>
                <a:latin typeface="Aptos"/>
              </a:rPr>
              <a:t>Independent validation + fairness + explainability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29400" y="3758184"/>
            <a:ext cx="2240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566371"/>
                </a:solidFill>
                <a:latin typeface="Aptos"/>
              </a:rPr>
              <a:t>Outcome drift + fairness + incidents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89720" y="3758184"/>
            <a:ext cx="2286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566371"/>
                </a:solidFill>
                <a:latin typeface="Aptos"/>
              </a:rPr>
              <a:t>MRM / senior risk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594360" y="4325112"/>
            <a:ext cx="10881360" cy="0"/>
          </a:xfrm>
          <a:prstGeom prst="line">
            <a:avLst/>
          </a:prstGeom>
          <a:ln>
            <a:solidFill>
              <a:srgbClr val="DCE2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594360" y="4562856"/>
            <a:ext cx="1143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B4433F"/>
                </a:solidFill>
                <a:latin typeface="Aptos"/>
              </a:rPr>
              <a:t>CRITICAL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74519" y="4562856"/>
            <a:ext cx="2057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566371"/>
                </a:solidFill>
                <a:latin typeface="Aptos"/>
              </a:rPr>
              <a:t>Medical / safety / systemic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069080" y="4562856"/>
            <a:ext cx="2331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566371"/>
                </a:solidFill>
                <a:latin typeface="Aptos"/>
              </a:rPr>
              <a:t>Board-level governance + rigorous testing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29400" y="4562856"/>
            <a:ext cx="2240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566371"/>
                </a:solidFill>
                <a:latin typeface="Aptos"/>
              </a:rPr>
              <a:t>Continuous controls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89720" y="4562856"/>
            <a:ext cx="2286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566371"/>
                </a:solidFill>
                <a:latin typeface="Aptos"/>
              </a:rPr>
              <a:t>Executive / regulator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594360" y="5129784"/>
            <a:ext cx="10881360" cy="0"/>
          </a:xfrm>
          <a:prstGeom prst="line">
            <a:avLst/>
          </a:prstGeom>
          <a:ln>
            <a:solidFill>
              <a:srgbClr val="DCE2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594360" y="566928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21F31"/>
                </a:solidFill>
                <a:latin typeface="Aptos"/>
              </a:rPr>
              <a:t>Key principle: proportionality. Governance should scale with potential harm, affected population, reversibility and uncertainty.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4360" y="6537960"/>
            <a:ext cx="8229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566371"/>
                </a:solidFill>
                <a:latin typeface="Aptos"/>
              </a:rPr>
              <a:t>RESPONSIBLE &amp; ETHICAL AI  |  CREDIT / FINANCE LENS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201400" y="6519672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>
                <a:solidFill>
                  <a:srgbClr val="566371"/>
                </a:solidFill>
                <a:latin typeface="Aptos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75C8C"/>
                </a:solidFill>
                <a:latin typeface="Aptos"/>
              </a:rPr>
              <a:t>13 | REGULATORY LANDSCAPE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1264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21F31"/>
                </a:solidFill>
                <a:latin typeface="Aptos"/>
              </a:rPr>
              <a:t>Regulation is converging on risk, accountability, transparency and data governance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8872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66371"/>
                </a:solidFill>
                <a:latin typeface="Aptos"/>
              </a:rPr>
              <a:t>Exact obligations depend on jurisdiction, sector, use case and implementation date; this is an executive map, not legal advice.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5212080" cy="1508760"/>
          </a:xfrm>
          <a:prstGeom prst="roundRect">
            <a:avLst/>
          </a:prstGeom>
          <a:solidFill>
            <a:srgbClr val="F3F6F9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1" y="1911095"/>
            <a:ext cx="48828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75C8C"/>
                </a:solidFill>
                <a:latin typeface="Aptos"/>
              </a:rPr>
              <a:t>EU AI ACT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1" y="2258568"/>
            <a:ext cx="4882896" cy="941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66371"/>
                </a:solidFill>
                <a:latin typeface="Aptos"/>
              </a:rPr>
              <a:t>Risk-based classification
Focus → High-risk controls, transparency, governance, monitoring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783080"/>
            <a:ext cx="5212080" cy="1508760"/>
          </a:xfrm>
          <a:prstGeom prst="roundRect">
            <a:avLst/>
          </a:prstGeom>
          <a:solidFill>
            <a:srgbClr val="F3F6F9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28232" y="1911095"/>
            <a:ext cx="48828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77D87"/>
                </a:solidFill>
                <a:latin typeface="Aptos"/>
              </a:rPr>
              <a:t>NIST AI RMF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28232" y="2258568"/>
            <a:ext cx="4882896" cy="941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66371"/>
                </a:solidFill>
                <a:latin typeface="Aptos"/>
              </a:rPr>
              <a:t>Voluntary risk framework
Focus → Govern • Map • Measure • Manage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657600"/>
            <a:ext cx="5212080" cy="1508760"/>
          </a:xfrm>
          <a:prstGeom prst="roundRect">
            <a:avLst/>
          </a:prstGeom>
          <a:solidFill>
            <a:srgbClr val="F3F6F9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1" y="3785615"/>
            <a:ext cx="48828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D8B2B"/>
                </a:solidFill>
                <a:latin typeface="Aptos"/>
              </a:rPr>
              <a:t>ISO/IEC 42001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1" y="4133087"/>
            <a:ext cx="4882896" cy="941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66371"/>
                </a:solidFill>
                <a:latin typeface="Aptos"/>
              </a:rPr>
              <a:t>AI management system
Focus → Organisation-wide AI governance and continual improvement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3657600"/>
            <a:ext cx="5212080" cy="1508760"/>
          </a:xfrm>
          <a:prstGeom prst="roundRect">
            <a:avLst/>
          </a:prstGeom>
          <a:solidFill>
            <a:srgbClr val="F3F6F9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28232" y="3785615"/>
            <a:ext cx="48828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21F31"/>
                </a:solidFill>
                <a:latin typeface="Aptos"/>
              </a:rPr>
              <a:t>SECTOR RULES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28232" y="4133087"/>
            <a:ext cx="4882896" cy="941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66371"/>
                </a:solidFill>
                <a:latin typeface="Aptos"/>
              </a:rPr>
              <a:t>Banking / privacy / consumer
Focus → Model risk, fair lending, privacy, outsourcing, operational resilience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57150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B4433F"/>
                </a:solidFill>
                <a:latin typeface="Aptos"/>
              </a:rPr>
              <a:t>Executive implication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23160" y="5650992"/>
            <a:ext cx="9052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21F31"/>
                </a:solidFill>
                <a:latin typeface="Aptos"/>
              </a:rPr>
              <a:t>Build a jurisdiction-aware control inventory once, then map individual AI systems to the controls they actually require.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6537960"/>
            <a:ext cx="8229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566371"/>
                </a:solidFill>
                <a:latin typeface="Aptos"/>
              </a:rPr>
              <a:t>RESPONSIBLE &amp; ETHICAL AI  |  CREDIT / FINANCE LENS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01400" y="6519672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>
                <a:solidFill>
                  <a:srgbClr val="566371"/>
                </a:solidFill>
                <a:latin typeface="Aptos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75C8C"/>
                </a:solidFill>
                <a:latin typeface="Aptos"/>
              </a:rPr>
              <a:t>14 | DECISION LENS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1264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21F31"/>
                </a:solidFill>
                <a:latin typeface="Aptos"/>
              </a:rPr>
              <a:t>The same AI system looks different to each executive function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828800"/>
            <a:ext cx="2057400" cy="3063240"/>
          </a:xfrm>
          <a:prstGeom prst="roundRect">
            <a:avLst/>
          </a:prstGeom>
          <a:solidFill>
            <a:srgbClr val="F3F6F9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" y="1956816"/>
            <a:ext cx="172821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275C8C"/>
                </a:solidFill>
                <a:latin typeface="Aptos"/>
              </a:rPr>
              <a:t>CREDIT ANALYST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7512" y="2304288"/>
            <a:ext cx="1728216" cy="2496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566371"/>
                </a:solidFill>
                <a:latin typeface="Aptos"/>
              </a:rPr>
              <a:t>Is the recommendation economically sensible?
Can I challenge it?
Control lens:
Reason codes • exceptions • human judgement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07208" y="1828800"/>
            <a:ext cx="2057400" cy="3063240"/>
          </a:xfrm>
          <a:prstGeom prst="roundRect">
            <a:avLst/>
          </a:prstGeom>
          <a:solidFill>
            <a:srgbClr val="F3F6F9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71800" y="1956816"/>
            <a:ext cx="172821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277D87"/>
                </a:solidFill>
                <a:latin typeface="Aptos"/>
              </a:rPr>
              <a:t>DATA SCIENTIST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71800" y="2304288"/>
            <a:ext cx="1728216" cy="2496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566371"/>
                </a:solidFill>
                <a:latin typeface="Aptos"/>
              </a:rPr>
              <a:t>Is the signal valid and stable?
What data created it?
Control lens:
Data lineage • bias tests • drift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111496" y="1828800"/>
            <a:ext cx="2057400" cy="3063240"/>
          </a:xfrm>
          <a:prstGeom prst="roundRect">
            <a:avLst/>
          </a:prstGeom>
          <a:solidFill>
            <a:srgbClr val="F3F6F9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276088" y="1956816"/>
            <a:ext cx="172821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B4433F"/>
                </a:solidFill>
                <a:latin typeface="Aptos"/>
              </a:rPr>
              <a:t>MRM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76088" y="2304288"/>
            <a:ext cx="1728216" cy="2496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566371"/>
                </a:solidFill>
                <a:latin typeface="Aptos"/>
              </a:rPr>
              <a:t>Can I independently validate and monitor it?
Control lens:
Evidence • thresholds • controls • escalation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15784" y="1828800"/>
            <a:ext cx="2057400" cy="3063240"/>
          </a:xfrm>
          <a:prstGeom prst="roundRect">
            <a:avLst/>
          </a:prstGeom>
          <a:solidFill>
            <a:srgbClr val="F3F6F9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580376" y="1956816"/>
            <a:ext cx="172821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121F31"/>
                </a:solidFill>
                <a:latin typeface="Aptos"/>
              </a:rPr>
              <a:t>CRO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80376" y="2304288"/>
            <a:ext cx="1728216" cy="2496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566371"/>
                </a:solidFill>
                <a:latin typeface="Aptos"/>
              </a:rPr>
              <a:t>What is the aggregate risk appetite impact?
Control lens:
Concentration • conduct • resilience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720072" y="1828800"/>
            <a:ext cx="2057400" cy="3063240"/>
          </a:xfrm>
          <a:prstGeom prst="roundRect">
            <a:avLst/>
          </a:prstGeom>
          <a:solidFill>
            <a:srgbClr val="F3F6F9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884664" y="1956816"/>
            <a:ext cx="172821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337E5B"/>
                </a:solidFill>
                <a:latin typeface="Aptos"/>
              </a:rPr>
              <a:t>CFO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884664" y="2304288"/>
            <a:ext cx="1728216" cy="2496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566371"/>
                </a:solidFill>
                <a:latin typeface="Aptos"/>
              </a:rPr>
              <a:t>Does the benefit survive risk-adjusted economics?
Control lens:
ROI • loss avoidance • productivity • capital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557784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21F31"/>
                </a:solidFill>
                <a:latin typeface="Aptos"/>
              </a:rPr>
              <a:t>One model. Five accountability questions. Ethical AI is strongest when these questions are answered before scale.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6537960"/>
            <a:ext cx="8229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566371"/>
                </a:solidFill>
                <a:latin typeface="Aptos"/>
              </a:rPr>
              <a:t>RESPONSIBLE &amp; ETHICAL AI  |  CREDIT / FINANCE LENS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01400" y="6519672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>
                <a:solidFill>
                  <a:srgbClr val="566371"/>
                </a:solidFill>
                <a:latin typeface="Aptos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75C8C"/>
                </a:solidFill>
                <a:latin typeface="Aptos"/>
              </a:rPr>
              <a:t>15 | RED FLAGS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1264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21F31"/>
                </a:solidFill>
                <a:latin typeface="Aptos"/>
              </a:rPr>
              <a:t>What should make an executive stop the deployment?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737360"/>
            <a:ext cx="3429000" cy="1417320"/>
          </a:xfrm>
          <a:prstGeom prst="roundRect">
            <a:avLst/>
          </a:prstGeom>
          <a:solidFill>
            <a:srgbClr val="F3F6F9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1" y="1865376"/>
            <a:ext cx="309981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B4433F"/>
                </a:solidFill>
                <a:latin typeface="Aptos"/>
              </a:rPr>
              <a:t>NO OWNER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1" y="2212848"/>
            <a:ext cx="309981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566371"/>
                </a:solidFill>
                <a:latin typeface="Aptos"/>
              </a:rPr>
              <a:t>Everyone is responsible → nobody is accountable.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737360"/>
            <a:ext cx="3429000" cy="1417320"/>
          </a:xfrm>
          <a:prstGeom prst="roundRect">
            <a:avLst/>
          </a:prstGeom>
          <a:solidFill>
            <a:srgbClr val="F3F6F9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99432" y="1865376"/>
            <a:ext cx="309981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B4433F"/>
                </a:solidFill>
                <a:latin typeface="Aptos"/>
              </a:rPr>
              <a:t>UNKNOWN DATA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99432" y="2212848"/>
            <a:ext cx="309981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566371"/>
                </a:solidFill>
                <a:latin typeface="Aptos"/>
              </a:rPr>
              <a:t>Training data provenance cannot be reconstructed.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0" y="1737360"/>
            <a:ext cx="3429000" cy="1417320"/>
          </a:xfrm>
          <a:prstGeom prst="roundRect">
            <a:avLst/>
          </a:prstGeom>
          <a:solidFill>
            <a:srgbClr val="F3F6F9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94192" y="1865376"/>
            <a:ext cx="309981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D8B2B"/>
                </a:solidFill>
                <a:latin typeface="Aptos"/>
              </a:rPr>
              <a:t>METRIC BLINDNESS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94192" y="2212848"/>
            <a:ext cx="309981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566371"/>
                </a:solidFill>
                <a:latin typeface="Aptos"/>
              </a:rPr>
              <a:t>Only accuracy / AUC / ROI is reported.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566160"/>
            <a:ext cx="3429000" cy="1417320"/>
          </a:xfrm>
          <a:prstGeom prst="roundRect">
            <a:avLst/>
          </a:prstGeom>
          <a:solidFill>
            <a:srgbClr val="F3F6F9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1" y="3694176"/>
            <a:ext cx="309981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D8B2B"/>
                </a:solidFill>
                <a:latin typeface="Aptos"/>
              </a:rPr>
              <a:t>NO APPEAL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1" y="4041648"/>
            <a:ext cx="309981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566371"/>
                </a:solidFill>
                <a:latin typeface="Aptos"/>
              </a:rPr>
              <a:t>Affected users have no meaningful challenge path.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34840" y="3566160"/>
            <a:ext cx="3429000" cy="1417320"/>
          </a:xfrm>
          <a:prstGeom prst="roundRect">
            <a:avLst/>
          </a:prstGeom>
          <a:solidFill>
            <a:srgbClr val="F3F6F9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99432" y="3694176"/>
            <a:ext cx="309981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75C8C"/>
                </a:solidFill>
                <a:latin typeface="Aptos"/>
              </a:rPr>
              <a:t>VENDOR BLACK BOX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99432" y="4041648"/>
            <a:ext cx="309981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566371"/>
                </a:solidFill>
                <a:latin typeface="Aptos"/>
              </a:rPr>
              <a:t>Contract says “proprietary” and evidence is unavailable.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0" y="3566160"/>
            <a:ext cx="3429000" cy="1417320"/>
          </a:xfrm>
          <a:prstGeom prst="roundRect">
            <a:avLst/>
          </a:prstGeom>
          <a:solidFill>
            <a:srgbClr val="F3F6F9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94192" y="3694176"/>
            <a:ext cx="309981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21F31"/>
                </a:solidFill>
                <a:latin typeface="Aptos"/>
              </a:rPr>
              <a:t>NO ROLLBACK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94192" y="4041648"/>
            <a:ext cx="309981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566371"/>
                </a:solidFill>
                <a:latin typeface="Aptos"/>
              </a:rPr>
              <a:t>No tested mechanism to suspend or revert the AI.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566928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B4433F"/>
                </a:solidFill>
                <a:latin typeface="Aptos"/>
              </a:rPr>
              <a:t>Stop / escalate when risk is not measurable, ownership is unclear, evidence is unavailable, or harm cannot be contained.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6537960"/>
            <a:ext cx="8229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566371"/>
                </a:solidFill>
                <a:latin typeface="Aptos"/>
              </a:rPr>
              <a:t>RESPONSIBLE &amp; ETHICAL AI  |  CREDIT / FINANCE LENS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201400" y="6519672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>
                <a:solidFill>
                  <a:srgbClr val="566371"/>
                </a:solidFill>
                <a:latin typeface="Aptos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75C8C"/>
                </a:solidFill>
                <a:latin typeface="Aptos"/>
              </a:rPr>
              <a:t>16 | OPERATING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1264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21F31"/>
                </a:solidFill>
                <a:latin typeface="Aptos"/>
              </a:rPr>
              <a:t>Turn ethics into an AI governance operating system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874519"/>
            <a:ext cx="2057400" cy="2286000"/>
          </a:xfrm>
          <a:prstGeom prst="roundRect">
            <a:avLst/>
          </a:prstGeom>
          <a:solidFill>
            <a:srgbClr val="F3F6F9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" y="2002536"/>
            <a:ext cx="172821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75C8C"/>
                </a:solidFill>
                <a:latin typeface="Aptos"/>
              </a:rPr>
              <a:t>POLICY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7512" y="2350008"/>
            <a:ext cx="1728216" cy="1719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566371"/>
                </a:solidFill>
                <a:latin typeface="Aptos"/>
              </a:rPr>
              <a:t>Principles
Risk taxonomy
Prohibited uses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07208" y="1874519"/>
            <a:ext cx="2057400" cy="2286000"/>
          </a:xfrm>
          <a:prstGeom prst="roundRect">
            <a:avLst/>
          </a:prstGeom>
          <a:solidFill>
            <a:srgbClr val="F3F6F9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71800" y="2002536"/>
            <a:ext cx="172821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77D87"/>
                </a:solidFill>
                <a:latin typeface="Aptos"/>
              </a:rPr>
              <a:t>PROCESS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71800" y="2350008"/>
            <a:ext cx="1728216" cy="1719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566371"/>
                </a:solidFill>
                <a:latin typeface="Aptos"/>
              </a:rPr>
              <a:t>Intake → classify → assess → approve → monitor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111496" y="1874519"/>
            <a:ext cx="2057400" cy="2286000"/>
          </a:xfrm>
          <a:prstGeom prst="roundRect">
            <a:avLst/>
          </a:prstGeom>
          <a:solidFill>
            <a:srgbClr val="F3F6F9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276088" y="2002536"/>
            <a:ext cx="172821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D8B2B"/>
                </a:solidFill>
                <a:latin typeface="Aptos"/>
              </a:rPr>
              <a:t>PEOPLE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76088" y="2350008"/>
            <a:ext cx="1728216" cy="1719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566371"/>
                </a:solidFill>
                <a:latin typeface="Aptos"/>
              </a:rPr>
              <a:t>Business owner
Data science
MRM / Legal / Security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15784" y="1874519"/>
            <a:ext cx="2057400" cy="2286000"/>
          </a:xfrm>
          <a:prstGeom prst="roundRect">
            <a:avLst/>
          </a:prstGeom>
          <a:solidFill>
            <a:srgbClr val="F3F6F9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580376" y="2002536"/>
            <a:ext cx="172821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21F31"/>
                </a:solidFill>
                <a:latin typeface="Aptos"/>
              </a:rPr>
              <a:t>PLATFORM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80376" y="2350008"/>
            <a:ext cx="1728216" cy="1719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566371"/>
                </a:solidFill>
                <a:latin typeface="Aptos"/>
              </a:rPr>
              <a:t>Inventory
Lineage
Logs
Monitoring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720072" y="1874519"/>
            <a:ext cx="2057400" cy="2286000"/>
          </a:xfrm>
          <a:prstGeom prst="roundRect">
            <a:avLst/>
          </a:prstGeom>
          <a:solidFill>
            <a:srgbClr val="F3F6F9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884664" y="2002536"/>
            <a:ext cx="172821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37E5B"/>
                </a:solidFill>
                <a:latin typeface="Aptos"/>
              </a:rPr>
              <a:t>PROOF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884664" y="2350008"/>
            <a:ext cx="1728216" cy="1719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566371"/>
                </a:solidFill>
                <a:latin typeface="Aptos"/>
              </a:rPr>
              <a:t>Test evidence
Exceptions
Incidents
Board reporting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45262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21F31"/>
                </a:solidFill>
                <a:latin typeface="Aptos"/>
              </a:rPr>
              <a:t>Governance flywheel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4983480"/>
            <a:ext cx="1874519" cy="310896"/>
          </a:xfrm>
          <a:prstGeom prst="roundRect">
            <a:avLst/>
          </a:prstGeom>
          <a:solidFill>
            <a:srgbClr val="275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5033772"/>
            <a:ext cx="187451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Classify risk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898648" y="4983480"/>
            <a:ext cx="1874519" cy="310896"/>
          </a:xfrm>
          <a:prstGeom prst="roundRect">
            <a:avLst/>
          </a:prstGeom>
          <a:solidFill>
            <a:srgbClr val="277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898648" y="5033772"/>
            <a:ext cx="187451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Set controls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111496" y="4983480"/>
            <a:ext cx="1874519" cy="310896"/>
          </a:xfrm>
          <a:prstGeom prst="roundRect">
            <a:avLst/>
          </a:prstGeom>
          <a:solidFill>
            <a:srgbClr val="CD8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111496" y="5033772"/>
            <a:ext cx="187451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Collect evidence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24344" y="4983480"/>
            <a:ext cx="1874519" cy="310896"/>
          </a:xfrm>
          <a:prstGeom prst="roundRect">
            <a:avLst/>
          </a:prstGeom>
          <a:solidFill>
            <a:srgbClr val="121F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24344" y="5033772"/>
            <a:ext cx="187451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Monitor outcomes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537192" y="4983480"/>
            <a:ext cx="1874519" cy="310896"/>
          </a:xfrm>
          <a:prstGeom prst="roundRect">
            <a:avLst/>
          </a:prstGeom>
          <a:solidFill>
            <a:srgbClr val="337E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537192" y="5033772"/>
            <a:ext cx="187451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Improve / retire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580644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B4433F"/>
                </a:solidFill>
                <a:latin typeface="Aptos"/>
              </a:rPr>
              <a:t>The objective is not zero AI risk. It is visible, bounded, owned and improving AI risk.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4360" y="6537960"/>
            <a:ext cx="8229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566371"/>
                </a:solidFill>
                <a:latin typeface="Aptos"/>
              </a:rPr>
              <a:t>RESPONSIBLE &amp; ETHICAL AI  |  CREDIT / FINANCE LENS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201400" y="6519672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>
                <a:solidFill>
                  <a:srgbClr val="566371"/>
                </a:solidFill>
                <a:latin typeface="Aptos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F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943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77BCC4"/>
                </a:solidFill>
                <a:latin typeface="Aptos"/>
              </a:rPr>
              <a:t>EXECUTIVE 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804672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Aptos"/>
              </a:rPr>
              <a:t>Responsible AI is a
business control system.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788920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77BCC4"/>
                </a:solidFill>
                <a:latin typeface="Aptos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2788920"/>
            <a:ext cx="9692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Aptos"/>
              </a:rPr>
              <a:t>Ethics must enter at design—not after deployment.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355848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77BCC4"/>
                </a:solidFill>
                <a:latin typeface="Aptos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3355848"/>
            <a:ext cx="9692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Aptos"/>
              </a:rPr>
              <a:t>Fairness, privacy and security are measurable control domains.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922776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77BCC4"/>
                </a:solidFill>
                <a:latin typeface="Aptos"/>
              </a:rPr>
              <a:t>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3922776"/>
            <a:ext cx="9692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Aptos"/>
              </a:rPr>
              <a:t>Human oversight is meaningful only when humans can challenge.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4489704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77BCC4"/>
                </a:solidFill>
                <a:latin typeface="Aptos"/>
              </a:rPr>
              <a:t>04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4489704"/>
            <a:ext cx="9692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Aptos"/>
              </a:rPr>
              <a:t>MRM should validate evidence, uncertainty and monitoring—not just model accuracy.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5056631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77BCC4"/>
                </a:solidFill>
                <a:latin typeface="Aptos"/>
              </a:rPr>
              <a:t>05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5056631"/>
            <a:ext cx="9692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ptos"/>
              </a:rPr>
              <a:t>The CRO/CFO question is simple: what risk-adjusted value survives governance?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598932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AEBECB"/>
                </a:solidFill>
                <a:latin typeface="Aptos"/>
              </a:rPr>
              <a:t>WHAT → WHY → HOW → SO WHAT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01400" y="6519672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>
                <a:solidFill>
                  <a:srgbClr val="AEBECB"/>
                </a:solidFill>
                <a:latin typeface="Aptos"/>
              </a:rPr>
              <a:t>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