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CREDIT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INFORMATION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68880"/>
            <a:ext cx="10058400" cy="5943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000" b="0">
                <a:solidFill>
                  <a:srgbClr val="DCE4EE"/>
                </a:solidFill>
                <a:latin typeface="Aptos"/>
              </a:rPr>
              <a:t>Measuring how much predictive information a variable contributes to credit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196596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51376"/>
            <a:ext cx="196596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4142232"/>
            <a:ext cx="6400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931920"/>
            <a:ext cx="196596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151376"/>
            <a:ext cx="196596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WOE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142232"/>
            <a:ext cx="6400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196596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D9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151376"/>
            <a:ext cx="196596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D9A037"/>
                </a:solidFill>
                <a:latin typeface="Aptos"/>
              </a:rPr>
              <a:t>IV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142232"/>
            <a:ext cx="6400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931920"/>
            <a:ext cx="1965960" cy="731520"/>
          </a:xfrm>
          <a:prstGeom prst="roundRect">
            <a:avLst/>
          </a:prstGeom>
          <a:solidFill>
            <a:srgbClr val="121F3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151376"/>
            <a:ext cx="196596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VARIABLE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89320"/>
            <a:ext cx="1005840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B4C2D2"/>
                </a:solidFill>
                <a:latin typeface="Aptos"/>
              </a:rPr>
              <a:t>Premium corporate training module  |  Banking • Finance • Scorecards • Model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What is Information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IV quantifies the overall discriminatory power of a variable after binning.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00200"/>
            <a:ext cx="3145536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29384"/>
            <a:ext cx="3145536" cy="1371599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Information Value (IV) is the sum of each bin’s contribution:</a:t>
            </a:r>
            <a:br/>
            <a:br/>
            <a:r>
              <a:rPr sz="1050" b="0">
                <a:solidFill>
                  <a:srgbClr val="232B34"/>
                </a:solidFill>
                <a:latin typeface="Aptos"/>
              </a:rPr>
              <a:t>IV = Σ (%Good − %Bad) × WOE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747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00200"/>
            <a:ext cx="3145536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9384"/>
            <a:ext cx="3145536" cy="1371599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• Rank candidate variables</a:t>
            </a:r>
            <a:br/>
            <a:r>
              <a:rPr sz="1050" b="0">
                <a:solidFill>
                  <a:srgbClr val="232B34"/>
                </a:solidFill>
                <a:latin typeface="Aptos"/>
              </a:rPr>
              <a:t>• Identify weak / strong predictors</a:t>
            </a:r>
            <a:br/>
            <a:r>
              <a:rPr sz="1050" b="0">
                <a:solidFill>
                  <a:srgbClr val="232B34"/>
                </a:solidFill>
                <a:latin typeface="Aptos"/>
              </a:rPr>
              <a:t>• Support scorecard variable selection</a:t>
            </a:r>
            <a:br/>
            <a:r>
              <a:rPr sz="1050" b="0">
                <a:solidFill>
                  <a:srgbClr val="232B34"/>
                </a:solidFill>
                <a:latin typeface="Aptos"/>
              </a:rPr>
              <a:t>• Add interpretability to modeling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4290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00200"/>
            <a:ext cx="3099816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SO WHAT?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29384"/>
            <a:ext cx="3099816" cy="1371599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A variable with high IV has a stronger ability to distinguish good borrowers from bad borrowers—subject to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698480" cy="32004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21F35"/>
                </a:solidFill>
                <a:latin typeface="Aptos"/>
              </a:rPr>
              <a:t>The key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98480" cy="9144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232B34"/>
                </a:solidFill>
                <a:latin typeface="Aptos"/>
              </a:rPr>
              <a:t>WOE evaluates the risk signal of each BIN.</a:t>
            </a:r>
            <a:br/>
            <a:r>
              <a:rPr sz="2200" b="1">
                <a:solidFill>
                  <a:srgbClr val="232B34"/>
                </a:solidFill>
                <a:latin typeface="Aptos"/>
              </a:rPr>
              <a:t>IV aggregates those bin-level signals into ONE variable-level measure.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IV Calculation — The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IV is built directly from the same good/bad distributions used to calculate WOE.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563EB"/>
                </a:solidFill>
                <a:latin typeface="Aptos"/>
              </a:rPr>
              <a:t>IV = Σ  [ (% Goodᵢ − % Badᵢ) × WOEᵢ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21F35"/>
                </a:solidFill>
                <a:latin typeface="Aptos"/>
              </a:rPr>
              <a:t>and  WOEᵢ = ln(% Goodᵢ / % Badᵢ)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2423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310128"/>
            <a:ext cx="384048" cy="3657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10128"/>
            <a:ext cx="1645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Calculate %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03320"/>
            <a:ext cx="1645920" cy="5486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Good in bin ÷ Total Good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154680"/>
            <a:ext cx="2423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3310128"/>
            <a:ext cx="384048" cy="3657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D948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10128"/>
            <a:ext cx="1645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Calculate % Bad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03320"/>
            <a:ext cx="1645920" cy="5486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Bad in bin ÷ Total Bad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154680"/>
            <a:ext cx="2423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310128"/>
            <a:ext cx="384048" cy="3657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D9A037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310128"/>
            <a:ext cx="1645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Calculate WOE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03320"/>
            <a:ext cx="1645920" cy="5486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ln(% Good ÷ % Bad)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154680"/>
            <a:ext cx="2423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0128"/>
            <a:ext cx="384048" cy="3657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BE3737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310128"/>
            <a:ext cx="1645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121F35"/>
                </a:solidFill>
                <a:latin typeface="Aptos"/>
              </a:rPr>
              <a:t>Calculate IV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703320"/>
            <a:ext cx="1645920" cy="5486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(% Good − % Bad) × WOE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E3737"/>
                </a:solidFill>
                <a:latin typeface="Aptos"/>
              </a:rPr>
              <a:t>Important: IV is a ranking / screening statistic—not proof that a variable is causal or suitable for production.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IV Calculation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Illustrative portfolio: 1,000 Goods and 300 Bads.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8321035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7"/>
                <a:gridCol w="1664207"/>
                <a:gridCol w="1664207"/>
                <a:gridCol w="1664207"/>
                <a:gridCol w="1664207"/>
              </a:tblGrid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Income Bin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% Good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% Bad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WOE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IV Contribution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&lt; ₹40k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30%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−0.288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0.0288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₹40–70k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45%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+0.118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0.0059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&gt; ₹70k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+0.223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0.0112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0.0459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52560" y="1600200"/>
            <a:ext cx="24688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121F35"/>
                </a:solidFill>
                <a:latin typeface="Aptos"/>
              </a:rPr>
              <a:t>One-bin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057400"/>
            <a:ext cx="2743200" cy="123444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Aptos"/>
              </a:rPr>
              <a:t>&lt; ₹40k</a:t>
            </a:r>
            <a:br/>
            <a:br/>
            <a:r>
              <a:rPr sz="1600" b="1">
                <a:solidFill>
                  <a:srgbClr val="BE3737"/>
                </a:solidFill>
                <a:latin typeface="Aptos"/>
              </a:rPr>
              <a:t>(0.30 − 0.40) × (−0.288)</a:t>
            </a:r>
            <a:br/>
            <a:r>
              <a:rPr sz="1600" b="1">
                <a:solidFill>
                  <a:srgbClr val="BE3737"/>
                </a:solidFill>
                <a:latin typeface="Aptos"/>
              </a:rPr>
              <a:t>= 0.0288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520440"/>
            <a:ext cx="2743200" cy="7315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Total IV =</a:t>
            </a:r>
            <a:br/>
            <a:r>
              <a:rPr sz="1700" b="1">
                <a:solidFill>
                  <a:srgbClr val="2563EB"/>
                </a:solidFill>
                <a:latin typeface="Aptos"/>
              </a:rPr>
              <a:t>0.0288 + 0.0059 + 0.0112</a:t>
            </a:r>
            <a:br/>
            <a:r>
              <a:rPr sz="1700" b="1">
                <a:solidFill>
                  <a:srgbClr val="2563EB"/>
                </a:solidFill>
                <a:latin typeface="Aptos"/>
              </a:rPr>
              <a:t>= 0.0459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10972800" cy="54864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1F35"/>
                </a:solidFill>
                <a:latin typeface="Aptos"/>
              </a:rPr>
              <a:t>Interpretation: Income has some predictive information, but the IV is below the usual “strong predictor” range.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How to Interpret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Rules of thumb are useful for screening, but business context and out-of-time validation matter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406637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79"/>
                <a:gridCol w="2468879"/>
                <a:gridCol w="2468879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IV Range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Typical Interpretation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Practical View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&lt; 0.02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Very weak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Usually little predictive value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0.02–0.10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Weak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Potentially useful with other signals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0.10–0.30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Meaningful predictor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0.30–0.50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High discriminatory information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&gt; 0.50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Very strong / suspicious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Investigate leakage / overfitting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1463040"/>
            <a:ext cx="33375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1554480"/>
            <a:ext cx="3008376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BANKER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2" y="1883664"/>
            <a:ext cx="3008376" cy="7315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Does the variable make economic sense?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834640"/>
            <a:ext cx="33375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926080"/>
            <a:ext cx="3008376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BE3737"/>
                </a:solidFill>
                <a:latin typeface="Aptos"/>
              </a:rPr>
              <a:t>MODEL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3255264"/>
            <a:ext cx="3008376" cy="7315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Is the high IV stable out-of-time?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206240"/>
            <a:ext cx="33375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4297679"/>
            <a:ext cx="3008376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4626864"/>
            <a:ext cx="3008376" cy="7315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Could policy or data leakage inflate IV?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789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667382"/>
                </a:solidFill>
                <a:latin typeface="Aptos"/>
              </a:rPr>
              <a:t>These thresholds are conventions, not regulatory laws. Always validate against the portfolio, sample size and use case.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IV for Variable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A practical scorecard workflow uses IV to screen variables before deeper model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920240" cy="25603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59152"/>
            <a:ext cx="1700784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Candidate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2212848"/>
            <a:ext cx="4114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2011680"/>
            <a:ext cx="1920240" cy="25603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359152"/>
            <a:ext cx="1700784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Create risk-homogeneous bins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212848"/>
            <a:ext cx="4114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2011680"/>
            <a:ext cx="1920240" cy="25603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D9A037"/>
                </a:solidFill>
                <a:latin typeface="Aptos"/>
              </a:rPr>
              <a:t>WOE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359152"/>
            <a:ext cx="1700784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Transform each bin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212848"/>
            <a:ext cx="4114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011680"/>
            <a:ext cx="1920240" cy="25603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BE3737"/>
                </a:solidFill>
                <a:latin typeface="Aptos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359152"/>
            <a:ext cx="1700784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Measure variable-level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212848"/>
            <a:ext cx="41148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66738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828800"/>
            <a:ext cx="1920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011680"/>
            <a:ext cx="1920240" cy="25603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8252"/>
                </a:solidFill>
                <a:latin typeface="Aptos"/>
              </a:rPr>
              <a:t>SELECT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359152"/>
            <a:ext cx="1700784" cy="38404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B34"/>
                </a:solidFill>
                <a:latin typeface="Aptos"/>
              </a:rPr>
              <a:t>Retain +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29000"/>
            <a:ext cx="10515600" cy="4114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121F35"/>
                </a:solidFill>
                <a:latin typeface="Aptos"/>
              </a:rPr>
              <a:t>Illustrative variable screening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234440" y="3886200"/>
          <a:ext cx="9692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Variable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IV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Past DPD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KEEP — strong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Credit Utilization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KEEP — medium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Income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0.046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MAYBE — weak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DROP — very weak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Random 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0.61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RED FLAG — investigate leakage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Case Study — Selecting Variables for a Retail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Illustrative development sample: 50,000 applicants; 2,500 observed bads.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4114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Candidate Variable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IV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Risk Signal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Past DPD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0.34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Strong separation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KEEP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Utilization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0.18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Medium separation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KEEP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Income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0.046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Weak separation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Employment tenure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0.031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Weak–moderate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0.012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Very weak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DROP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Application timestamp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0.73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Unusually strong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INVESTIGATE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BE3737"/>
                </a:solidFill>
                <a:latin typeface="Aptos"/>
              </a:rPr>
              <a:t>Lesson: the highest IV is not automatically the best variable. A suspiciously high IV can be evidence of leakage, not excellence.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WOE vs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They are related—but they answer different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728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781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WOE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IV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Level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Bin-level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Variable-level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Direction &amp; strength within a bin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Overall predictive power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Formula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ln(%Good / %Bad)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Σ[(%Good − %Bad) × WOE]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One WOE per bin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One IV per variable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Used for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Transformation / scorecard modeling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2B34"/>
                          </a:solidFill>
                          <a:latin typeface="Aptos"/>
                        </a:rPr>
                        <a:t>Variable screening / ranking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Think: WOE = “What does this BIN say?”  |  IV = “How useful is this VARIABLE overall?”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21F35"/>
                </a:solidFill>
                <a:latin typeface="Aptos"/>
              </a:rPr>
              <a:t>Risks, Red Flags &amp; Modeling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78992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67382"/>
                </a:solidFill>
                <a:latin typeface="Aptos"/>
              </a:rPr>
              <a:t>IV should be treated as evidence—not as an automatic approval ticket.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4389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What happens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Red flag</a:t>
                      </a:r>
                    </a:p>
                  </a:txBody>
                  <a:tcPr marL="45720" marR="45720" marT="18288" marB="18288" anchor="ctr">
                    <a:solidFill>
                      <a:srgbClr val="121F3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Leakage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Variable contains information unavailable at origination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High IV / suspicious timing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Sparse bins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Small counts create unstable WOE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Large swings across samples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Over-binning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Too many bins fit noise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Excellent development IV, weak validation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Population drift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Risk behavior changes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IV / WOE shifts over time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Correlation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Several variables capture the same signal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Redundant predictors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Policy effects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Past approvals reflect old policy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232B34"/>
                          </a:solidFill>
                          <a:latin typeface="Aptos"/>
                        </a:rPr>
                        <a:t>IV may encode historical decisions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97880"/>
            <a:ext cx="10789920" cy="22860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21F35"/>
                </a:solidFill>
                <a:latin typeface="Aptos"/>
              </a:rPr>
              <a:t>Controls: out-of-time validation • stability monitoring • leakage review • correlation checks • business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D9A037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07040" cy="59436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IV tells you which variables carry the most usable risk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02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57400"/>
            <a:ext cx="19659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WOE is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57400"/>
            <a:ext cx="7498079" cy="34747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It measures the good/bad balance inside each bin.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0632"/>
            <a:ext cx="502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70632"/>
            <a:ext cx="19659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IV is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70632"/>
            <a:ext cx="7498079" cy="34747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It aggregates bin-level evidence into one variable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83864"/>
            <a:ext cx="502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9659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Use IV to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83864"/>
            <a:ext cx="7498079" cy="34747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Then validate predictive power, stability and business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97096"/>
            <a:ext cx="502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97096"/>
            <a:ext cx="19659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Challenge extreme 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197096"/>
            <a:ext cx="7498079" cy="34747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Very high values can indicate leakage or overfitting.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0328"/>
            <a:ext cx="502920" cy="27432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D9A037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10328"/>
            <a:ext cx="1965960" cy="29260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Make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910328"/>
            <a:ext cx="7498079" cy="347472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CDD7E3"/>
                </a:solidFill>
                <a:latin typeface="Aptos"/>
              </a:rPr>
              <a:t>Strong variables can influence approval, pricing, limits and monitoring.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ABCD0"/>
                </a:solidFill>
                <a:latin typeface="Aptos"/>
              </a:rPr>
              <a:t>BIN → WOE → IV → VARIABLE SELECTION → MODEL →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667382"/>
                </a:solidFill>
                <a:latin typeface="Aptos"/>
              </a:rPr>
              <a:t>CREDIT RISK ANALYTICS  •  INFORMATION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673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