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Discounted ECL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Upside</c:v>
                </c:pt>
                <c:pt idx="1">
                  <c:v>Base</c:v>
                </c:pt>
                <c:pt idx="2">
                  <c:v>Downside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40909.090909090904</c:v>
                </c:pt>
                <c:pt idx="1">
                  <c:v>90909.0909090909</c:v>
                </c:pt>
                <c:pt idx="2">
                  <c:v>249999.99999999997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₹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FORWARD-LOOKING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0515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0">
                <a:solidFill>
                  <a:srgbClr val="C4D2E1"/>
                </a:solidFill>
                <a:latin typeface="Aptos"/>
              </a:rPr>
              <a:t>Macroeconomic Variables • Scenarios •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104241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CDD8E2"/>
                </a:solidFill>
                <a:latin typeface="Aptos"/>
              </a:rPr>
              <a:t>PD + LGD + EAD • Discounting • Scenario Weighting • End-to-End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657600"/>
            <a:ext cx="3246120" cy="1234440"/>
          </a:xfrm>
          <a:prstGeom prst="roundRect">
            <a:avLst/>
          </a:prstGeom>
          <a:solidFill>
            <a:srgbClr val="1F2D4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3657600"/>
            <a:ext cx="64008" cy="123444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80390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MACRO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160520"/>
            <a:ext cx="2926079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GDP • unemployment • rates • inflation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4160520"/>
            <a:ext cx="914400" cy="201168"/>
          </a:xfrm>
          <a:prstGeom prst="rightArrow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3657600"/>
            <a:ext cx="2743200" cy="1234440"/>
          </a:xfrm>
          <a:prstGeom prst="roundRect">
            <a:avLst/>
          </a:prstGeom>
          <a:solidFill>
            <a:srgbClr val="1F2D4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3657600"/>
            <a:ext cx="64008" cy="123444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3803904"/>
            <a:ext cx="2423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CREDIT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4160520"/>
            <a:ext cx="24231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72E38"/>
                </a:solidFill>
                <a:latin typeface="Aptos"/>
              </a:rPr>
              <a:t>PD × LGD × EAD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29600" y="4160520"/>
            <a:ext cx="914400" cy="201168"/>
          </a:xfrm>
          <a:prstGeom prst="rightArrow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3657600"/>
            <a:ext cx="2057400" cy="1234440"/>
          </a:xfrm>
          <a:prstGeom prst="roundRect">
            <a:avLst/>
          </a:prstGeom>
          <a:solidFill>
            <a:srgbClr val="1F2D4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3657600"/>
            <a:ext cx="64008" cy="123444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3803904"/>
            <a:ext cx="1737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ECL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4160520"/>
            <a:ext cx="17373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72E38"/>
                </a:solidFill>
                <a:latin typeface="Aptos"/>
              </a:rPr>
              <a:t>Expected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80760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AAB9C8"/>
                </a:solidFill>
                <a:latin typeface="Aptos"/>
              </a:rPr>
              <a:t>Premium corporate training deck | Illustrative examples clearly labelled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1. What is Forward-Looking ECL?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ECL is not only a history-based loss estimate — it incorporates reasonable and supportable expectations about the future.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251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25196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63624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20240"/>
            <a:ext cx="3108960" cy="3657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• Expected Credit Loss (ECL) reflects expected cash shortfalls from credit exposures.
• Forward-looking means risk estimates respond to future economic conditions.
• Under IFRS 9, ECL uses reasonable and supportable information available without undue cost or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251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425196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63624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08960" cy="3657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• Credit losses can rise before defaults appear in arrears data.
• Macro deterioration can affect both default likelihood and recovery values.
• The objective is earlier, more economically informed loss recognition.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251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425196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63624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3108960" cy="3657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• A strong ECL process links economics → borrower risk → cash-flow loss.
• Model governance matters: data, scenarios, assumptions and overlays can all move provisions.
• Management should understand the drivers — not just the final ECL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2. Macroeconomic Variables in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Choose variables because they have an economically defensible relationship with portfolio credit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201168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75104"/>
            <a:ext cx="2011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ECONOMY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011679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GDP growth
Unemployment
Inflation
Rates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9232" y="2697480"/>
            <a:ext cx="411480" cy="164592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331720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64008" cy="201168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75104"/>
            <a:ext cx="2011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BORROWER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31720"/>
            <a:ext cx="2011679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Revenue / income
Margins
Leverage
Liquidity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33872" y="2697480"/>
            <a:ext cx="411480" cy="164592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331720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64008" cy="201168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975104"/>
            <a:ext cx="2011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RISK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331720"/>
            <a:ext cx="2011679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PD
LGD
EAD
Prepayment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68512" y="2697480"/>
            <a:ext cx="411480" cy="164592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331720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64008" cy="201168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975104"/>
            <a:ext cx="2011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ECL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331720"/>
            <a:ext cx="2011679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Expected loss
by exposure
&amp; 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1092708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51960"/>
            <a:ext cx="64008" cy="114300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398264"/>
            <a:ext cx="10607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41F30"/>
                </a:solidFill>
                <a:latin typeface="Aptos"/>
              </a:rPr>
              <a:t>VARIABLE SELECTION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754880"/>
            <a:ext cx="10607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Economic rationale  •  Statistical significance  •  Stability over time  •  Availability / timeliness  •  Forecast quality  •  Avoiding redundant predictors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3. Which Macroeconomic Variables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The right variable depends on portfolio composition, geography, product and risk transmission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566928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GDP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44752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Corporate / 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417320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Lower activity → weaker revenues → higher 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75688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75688"/>
            <a:ext cx="64008" cy="566928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21992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Unemployment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194560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Retail / 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67128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Job loss → income stress → delinquency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25496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25496"/>
            <a:ext cx="64008" cy="566928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971800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Interest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944368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Mortgages / leveraged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16936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Debt-service burden → affordability stress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4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75304"/>
            <a:ext cx="64008" cy="566928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21608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Inflation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694176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Retail / SME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66744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Real income squeeze / cost 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25112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25112"/>
            <a:ext cx="64008" cy="566928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471416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Property prices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443983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Mortgage / secured lending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416551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Collateral value → LGD / refinancing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214884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074920"/>
            <a:ext cx="64008" cy="566928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21224"/>
            <a:ext cx="1828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41F30"/>
                </a:solidFill>
                <a:latin typeface="Aptos"/>
              </a:rPr>
              <a:t>FX / commodities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193792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Exporters / commodity sectors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166359"/>
            <a:ext cx="57607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Cash-flow volatility → PD / LGD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4. Economic Scenarios in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Scenario analysis translates an uncertain future into a weighted distribution of possible credit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2926079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Moderate growth
Stable unemployment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508760"/>
          </a:xfrm>
          <a:prstGeom prst="rect">
            <a:avLst/>
          </a:prstGeom>
          <a:solidFill>
            <a:srgbClr val="39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2926079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Stronger growth
Improving labour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150876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DOWNSIDE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20240"/>
            <a:ext cx="2926079" cy="9143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Weak growth
Higher unemployment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461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Example probability weights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30752"/>
            <a:ext cx="1993392" cy="457200"/>
          </a:xfrm>
          <a:prstGeom prst="rect">
            <a:avLst/>
          </a:prstGeom>
          <a:solidFill>
            <a:srgbClr val="39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831336"/>
            <a:ext cx="184708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UPSIDE  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912" y="3730752"/>
            <a:ext cx="5481828" cy="45720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3831336"/>
            <a:ext cx="5335524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BASE  55%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6740" y="3730752"/>
            <a:ext cx="2491740" cy="45720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892" y="3831336"/>
            <a:ext cx="234543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DOWNSIDE  25%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0789920" cy="9144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64008" cy="91440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809744"/>
            <a:ext cx="10469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41F30"/>
                </a:solidFill>
                <a:latin typeface="Aptos"/>
              </a:rPr>
              <a:t>KEY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166359"/>
            <a:ext cx="10469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Weights are not a prediction of which scenario will occur. They are a disciplined way to represent uncertainty in expected losses.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5. Forecasts: From Macro Outlook to 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Forecasts enter the ECL engine through risk-driver relationships — not by simply adding a recession assumption to the final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965960" cy="24231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GDP, unemployment,
rates, property prices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788920"/>
            <a:ext cx="274320" cy="146304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39" y="1737360"/>
            <a:ext cx="1965960" cy="24231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799" y="190195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33172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816352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Macro variables →
PD / LGD / EAD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28031" y="2788920"/>
            <a:ext cx="274320" cy="146304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59" y="1737360"/>
            <a:ext cx="1965960" cy="24231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0195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3172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16352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Exposure &amp; recovery
cash flows by period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59752" y="2788920"/>
            <a:ext cx="274320" cy="146304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79" y="1737360"/>
            <a:ext cx="1965960" cy="24231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90195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33172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Discount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16352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Present value using
effective interest rate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91472" y="2788920"/>
            <a:ext cx="274320" cy="146304"/>
          </a:xfrm>
          <a:prstGeom prst="rightArrow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737360"/>
            <a:ext cx="1965960" cy="24231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90195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33172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816352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Probability-weighted
scenario ECL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10927080" cy="8686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709160"/>
            <a:ext cx="64008" cy="86868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855464"/>
            <a:ext cx="10607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FORECAST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5212080"/>
            <a:ext cx="10607040" cy="2743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Use an appropriate forecast horizon • document sources • challenge extreme assumptions • monitor forecast error • establish a process for reversion / long-run conditions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6. PD + LGD + EAD: The ECL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Each component answers a different question — and macro scenarios can affect all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96596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41F30"/>
                </a:solidFill>
                <a:latin typeface="Aptos"/>
              </a:rPr>
              <a:t>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2926079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Will the borrower default?
Probability of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4612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96596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41F30"/>
                </a:solidFill>
                <a:latin typeface="Aptos"/>
              </a:rPr>
              <a:t>LGD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2926079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If default occurs, how much is lost?
1 − recovery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196596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563624"/>
            <a:ext cx="29260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41F30"/>
                </a:solidFill>
                <a:latin typeface="Aptos"/>
              </a:rPr>
              <a:t>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20240"/>
            <a:ext cx="2926079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How much is exposed at default?
Drawn + expected future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Illustrative one-period relationship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667512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51960"/>
            <a:ext cx="64008" cy="123444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398264"/>
            <a:ext cx="6355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41F30"/>
                </a:solidFill>
                <a:latin typeface="Aptos"/>
              </a:rPr>
              <a:t>ECL BEFORE DISCOUNTING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54880"/>
            <a:ext cx="6355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72E38"/>
                </a:solidFill>
                <a:latin typeface="Aptos"/>
              </a:rPr>
              <a:t>ECL ≈ PD × LGD × 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251960"/>
            <a:ext cx="361188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4251960"/>
            <a:ext cx="64008" cy="123444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4398264"/>
            <a:ext cx="3291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MACRO TRANSMISSION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4754880"/>
            <a:ext cx="32918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Macro scenario
→ changes risk 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7. Discounting in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A recovery received later is worth less today; ECL therefore uses the present value of expected cash shortfalls.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800600" cy="14630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46304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17904"/>
            <a:ext cx="4480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41F30"/>
                </a:solidFill>
                <a:latin typeface="Aptos"/>
              </a:rPr>
              <a:t>PRESENT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448056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72E38"/>
                </a:solidFill>
                <a:latin typeface="Aptos"/>
              </a:rPr>
              <a:t>PV = Cash Flow / (1 + EIR)^t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371600"/>
            <a:ext cx="5440680" cy="14630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371600"/>
            <a:ext cx="64008" cy="146304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1517904"/>
            <a:ext cx="51206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ILLUSTRATIVE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1874519"/>
            <a:ext cx="512064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Recovery = ₹70,000 received in Year 2
EIR = 10%  →  PV ≈ ₹57,851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Recovery timing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160520"/>
            <a:ext cx="9784080" cy="45720"/>
          </a:xfrm>
          <a:prstGeom prst="rect">
            <a:avLst/>
          </a:prstGeom>
          <a:solidFill>
            <a:srgbClr val="66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014215"/>
            <a:ext cx="320040" cy="320040"/>
          </a:xfrm>
          <a:prstGeom prst="ellipse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272E38"/>
                </a:solidFill>
                <a:latin typeface="Aptos"/>
              </a:rPr>
              <a:t>Today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4014215"/>
            <a:ext cx="320040" cy="320040"/>
          </a:xfrm>
          <a:prstGeom prst="ellipse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4462272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272E38"/>
                </a:solidFill>
                <a:latin typeface="Aptos"/>
              </a:rPr>
              <a:t>Year 1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4014215"/>
            <a:ext cx="320040" cy="320040"/>
          </a:xfrm>
          <a:prstGeom prst="ellipse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462272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272E38"/>
                </a:solidFill>
                <a:latin typeface="Aptos"/>
              </a:rPr>
              <a:t>Year 2</a:t>
            </a:r>
          </a:p>
        </p:txBody>
      </p:sp>
      <p:sp>
        <p:nvSpPr>
          <p:cNvPr id="21" name="Oval 20"/>
          <p:cNvSpPr/>
          <p:nvPr/>
        </p:nvSpPr>
        <p:spPr>
          <a:xfrm>
            <a:off x="10652759" y="4014215"/>
            <a:ext cx="320040" cy="320040"/>
          </a:xfrm>
          <a:prstGeom prst="ellipse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9" y="4462272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272E38"/>
                </a:solidFill>
                <a:latin typeface="Aptos"/>
              </a:rPr>
              <a:t>Year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B04343"/>
                </a:solidFill>
                <a:latin typeface="Aptos"/>
              </a:rPr>
              <a:t>Later recovery → lower present value → higher discounted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8. Scenario Weighting: Expected Loss Under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A probability-weighted ECL is the weighted average of scenario-specific discounted losses.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9377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14300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46177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4617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72E38"/>
                </a:solidFill>
                <a:latin typeface="Aptos"/>
              </a:rPr>
              <a:t>ECL = Σ (Scenario Probability × Scenario ECL)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828800" cy="502920"/>
          </a:xfrm>
          <a:prstGeom prst="roundRect">
            <a:avLst/>
          </a:prstGeom>
          <a:solidFill>
            <a:srgbClr val="E7EBF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64008" cy="50292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35224"/>
            <a:ext cx="1508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788920"/>
            <a:ext cx="1463040" cy="502920"/>
          </a:xfrm>
          <a:prstGeom prst="roundRect">
            <a:avLst/>
          </a:prstGeom>
          <a:solidFill>
            <a:srgbClr val="E7EBF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788920"/>
            <a:ext cx="64008" cy="50292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2935224"/>
            <a:ext cx="11430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Weight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788920"/>
            <a:ext cx="2011680" cy="502920"/>
          </a:xfrm>
          <a:prstGeom prst="roundRect">
            <a:avLst/>
          </a:prstGeom>
          <a:solidFill>
            <a:srgbClr val="E7EBF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2788920"/>
            <a:ext cx="64008" cy="50292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935224"/>
            <a:ext cx="16916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Scenario ECL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788920"/>
            <a:ext cx="2194560" cy="502920"/>
          </a:xfrm>
          <a:prstGeom prst="roundRect">
            <a:avLst/>
          </a:prstGeom>
          <a:solidFill>
            <a:srgbClr val="E7EBF0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788920"/>
            <a:ext cx="64008" cy="50292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935224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Weighted ECL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55848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355848"/>
            <a:ext cx="64008" cy="50292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502152"/>
            <a:ext cx="1508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Upside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35584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0" y="3355848"/>
            <a:ext cx="64008" cy="50292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3502152"/>
            <a:ext cx="11430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35584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3355848"/>
            <a:ext cx="64008" cy="50292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502152"/>
            <a:ext cx="16916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₹80,000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55848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3355848"/>
            <a:ext cx="64008" cy="50292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502152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₹16,000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22776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922776"/>
            <a:ext cx="64008" cy="50292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069080"/>
            <a:ext cx="1508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3922776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0" y="3922776"/>
            <a:ext cx="64008" cy="50292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4069080"/>
            <a:ext cx="11430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55%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3922776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3360" y="3922776"/>
            <a:ext cx="64008" cy="50292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87952" y="4069080"/>
            <a:ext cx="16916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₹110,000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3922776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3922776"/>
            <a:ext cx="64008" cy="50292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06908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₹60,500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489704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4489704"/>
            <a:ext cx="64008" cy="50292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4636008"/>
            <a:ext cx="1508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Downside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4489704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0" y="4489704"/>
            <a:ext cx="64008" cy="50292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4912" y="4636008"/>
            <a:ext cx="11430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25%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23360" y="4489704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23360" y="4489704"/>
            <a:ext cx="64008" cy="50292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87952" y="4636008"/>
            <a:ext cx="16916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₹170,000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4489704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4489704"/>
            <a:ext cx="64008" cy="50292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4636008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41F30"/>
                </a:solidFill>
                <a:latin typeface="Aptos"/>
              </a:rPr>
              <a:t>₹42,500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2788920"/>
            <a:ext cx="406908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0" y="2788920"/>
            <a:ext cx="64008" cy="224028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79792" y="2935224"/>
            <a:ext cx="3749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1F30"/>
                </a:solidFill>
                <a:latin typeface="Aptos"/>
              </a:rPr>
              <a:t>RESULT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3291839"/>
            <a:ext cx="374904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0">
                <a:solidFill>
                  <a:srgbClr val="272E38"/>
                </a:solidFill>
                <a:latin typeface="Aptos"/>
              </a:rPr>
              <a:t>Weighted ECL
₹119,000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5349240"/>
            <a:ext cx="3886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67180"/>
                </a:solidFill>
                <a:latin typeface="Aptos"/>
              </a:rPr>
              <a:t>Interpretation: the final ECL is neither the base-case loss nor the worst-case loss.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9. End-to-End ECL —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Illustrative corporate loan | one-year horizon | three economic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37560" cy="44805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26463"/>
            <a:ext cx="30175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83080"/>
            <a:ext cx="3017520" cy="3886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EAD = ₹10,000,000
Scenario PD / LGD:
Upside: 1.5% / 30%
Base: 2.5% / 40%
Downside: 5.0% / 55%
Weights:
20% / 55% / 25%
EIR = 10%
Recovery timing = Year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429000" cy="44805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64008" cy="448056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426463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STEP-BY-STEP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3108960" cy="3886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1  Upside loss
= 10m × 1.5% × 30%
= ₹45,000
2  Base loss
= 10m × 2.5% × 40%
= ₹100,000
3  Downside loss
= 10m × 5.0% × 55%
= ₹275,000
4  Discount each by 1.10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4805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64008" cy="448056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26463"/>
            <a:ext cx="3154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FINAL ECL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3154679" cy="3886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72E38"/>
                </a:solidFill>
                <a:latin typeface="Aptos"/>
              </a:rPr>
              <a:t>Discounted losses:
Upside  ₹40,909
Base    ₹90,909
Downside ₹250,000
Probability-weighted ECL
₹120,682
ECL / EAD
≈ 1.21%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10. Case Study — SME Portfolio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Illustrative portfolio | shows how macro assumptions can move ECL through both PD and LGD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291840" cy="4526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452628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26463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83080"/>
            <a:ext cx="2971800" cy="3931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Exposure: ₹500 crore
Sector mix:
• Manufacturing 40%
• Services 35%
• Trade 25%
Trigger:
Unemployment rises + rates remain elevated
Question:
How should the bank think about the ECL response?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429000" cy="4526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64008" cy="452628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426463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783080"/>
            <a:ext cx="3108960" cy="3931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72E38"/>
                </a:solidFill>
                <a:latin typeface="Aptos"/>
              </a:rPr>
              <a:t>Macro shock
↓
Revenue / demand pressure
↓
Liquidity &amp; interest burden
↓
Higher PD
Collateral / business values weaken
↓
Lower recovery
↓
Higher LGD
→ ECL rises through multiple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526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64008" cy="452628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26463"/>
            <a:ext cx="31546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MANAGEMENT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3154679" cy="3931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Credit team:
• tighten early-warning monitoring
• review vulnerable sectors
• refresh collateral assumptions
Finance / CFO:
• assess provision sensitivity
• connect ECL to capital planning
Model risk:
• challenge scenario weights
• test forecast error
• document overlays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11. Sensitivity — Why Scenario Design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Illustrative ECL sensitivity for the same ₹10m exposure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43800" y="1508760"/>
            <a:ext cx="3749039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508760"/>
            <a:ext cx="64008" cy="123444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8392" y="1655063"/>
            <a:ext cx="342899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DOWNSIDE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2011680"/>
            <a:ext cx="3428999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272E38"/>
                </a:solidFill>
                <a:latin typeface="Aptos"/>
              </a:rPr>
              <a:t>Downside discounted loss
≈ ₹250,000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971800"/>
            <a:ext cx="3749039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971800"/>
            <a:ext cx="64008" cy="123444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118104"/>
            <a:ext cx="342899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WEIGHTED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474720"/>
            <a:ext cx="3428999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272E38"/>
                </a:solidFill>
                <a:latin typeface="Aptos"/>
              </a:rPr>
              <a:t>Probability-weighted ECL
≈ ₹120,682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434840"/>
            <a:ext cx="3749039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4434840"/>
            <a:ext cx="64008" cy="123444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4581144"/>
            <a:ext cx="342899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ANALYST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937759"/>
            <a:ext cx="3428999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E38"/>
                </a:solidFill>
                <a:latin typeface="Aptos"/>
              </a:rPr>
              <a:t>What changed: PD, LGD, EAD, timing — or the scenario weights?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12. Risks, Red Flags &amp;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Forward-looking ECL is powerful — but weak assumptions can create false precision.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7218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Overfitting macro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28800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Model fits history but fails when relationships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123444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7218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Scenario anchoring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28800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Weights or forecasts are adjusted to achieve a desired provision.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8036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64008" cy="1234440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2666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Double 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83280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Macro stress is embedded in PD and then added again as an overlay.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64008" cy="1234440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02666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Poor forecast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383280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Long-horizon forecasts are treated as precise 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64008" cy="1234440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58114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Ignoring LGD / 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937759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Only PD moves while collateral, utilisation or recoveries also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3484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434840"/>
            <a:ext cx="64008" cy="1234440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58114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1F30"/>
                </a:solidFill>
                <a:latin typeface="Aptos"/>
              </a:rPr>
              <a:t>Weak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937759"/>
            <a:ext cx="49377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72E38"/>
                </a:solidFill>
                <a:latin typeface="Aptos"/>
              </a:rPr>
              <a:t>No clear owner, approval trail, monitoring or back-testing.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13. Decision Lens — Banker, Credit Analyst, CFO,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7180"/>
                </a:solidFill>
                <a:latin typeface="Aptos"/>
              </a:rPr>
              <a:t>The same ECL number answers different management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57800" cy="1874519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874519"/>
          </a:xfrm>
          <a:prstGeom prst="rect">
            <a:avLst/>
          </a:prstGeom>
          <a:solidFill>
            <a:srgbClr val="2B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1790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CREDIT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74519"/>
            <a:ext cx="49377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Which borrowers / sectors are most sensitive to the macro path?
Are PD and LGD assumptions economically credible?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1874519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64008" cy="1874519"/>
          </a:xfrm>
          <a:prstGeom prst="rect">
            <a:avLst/>
          </a:prstGeom>
          <a:solidFill>
            <a:srgbClr val="22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1790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BANKER /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49377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Does portfolio risk migrate before delinquency?
Are limits, monitoring and pricing aligned with emerging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1874519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64008" cy="1874519"/>
          </a:xfrm>
          <a:prstGeom prst="rect">
            <a:avLst/>
          </a:prstGeom>
          <a:solidFill>
            <a:srgbClr val="C4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84962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CFO /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06240"/>
            <a:ext cx="49377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How does ECL affect earnings, capital and planning?
What is the sensitivity to alternative scenarios?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257800" cy="1874519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64008" cy="1874519"/>
          </a:xfrm>
          <a:prstGeom prst="rect">
            <a:avLst/>
          </a:prstGeom>
          <a:solidFill>
            <a:srgbClr val="B0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849624"/>
            <a:ext cx="4937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1F30"/>
                </a:solidFill>
                <a:latin typeface="Aptos"/>
              </a:rPr>
              <a:t>INVESTOR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06240"/>
            <a:ext cx="49377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2E38"/>
                </a:solidFill>
                <a:latin typeface="Aptos"/>
              </a:rPr>
              <a:t>What is driving provision volatility?
Is the movement credit deterioration, model change or macro assumptions?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67180"/>
                </a:solidFill>
                <a:latin typeface="Aptos"/>
              </a:rPr>
              <a:t>FORWARD-LOOKING ECL  |  CREDIT RISK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1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14.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98448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Forward-looking ECL connects expected macro conditions to credit loss — before defaults fully materialise.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48256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Macro variables should have a clear economic transmission channel and be supported by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25496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8064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Scenario weighting represents uncertainty; it is not a forecast of the future.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47872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PD, LGD and EAD can all respond to macro conditions — do not focus on PD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25112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97679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Discounting makes recovery timing economically relevant.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4943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047488"/>
            <a:ext cx="100584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Governance, validation, back-testing and transparent overlays are as important as model mathematics.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BECDDC"/>
                </a:solidFill>
                <a:latin typeface="Aptos"/>
              </a:rPr>
              <a:t>ECL should be explainable as a chain:  MACRO → RISK DRIVERS → CASH FLOWS → DISCOUNTING → SCENARIO WEIGHTING →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698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00" b="0">
                <a:solidFill>
                  <a:srgbClr val="96A5B4"/>
                </a:solidFill>
                <a:latin typeface="Aptos"/>
              </a:rPr>
              <a:t>Illustrative training examples — not accounting, regulatory or investment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