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Illustrative FICO factor weighting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Payment history</c:v>
                </c:pt>
                <c:pt idx="1">
                  <c:v>Amounts owed</c:v>
                </c:pt>
                <c:pt idx="2">
                  <c:v>Length of history</c:v>
                </c:pt>
                <c:pt idx="3">
                  <c:v>New credit</c:v>
                </c:pt>
                <c:pt idx="4">
                  <c:v>Credit mix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EC8D7"/>
                </a:solidFill>
                <a:latin typeface="Arial"/>
              </a:defRPr>
            </a:pPr>
            <a:r>
              <a:t>2.3 | CONSUMER CREDIT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601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Credit Bureau &amp;</a:t>
            </a:r>
            <a:br/>
            <a:r>
              <a:t>Credit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517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1EB"/>
                </a:solidFill>
                <a:latin typeface="Arial"/>
              </a:defRPr>
            </a:pPr>
            <a:r>
              <a:t>How borrower behaviour becomes data, a risk signal and ultimately a lending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27432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EXPERIAN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Global data &amp; decisioning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886200"/>
            <a:ext cx="2240280" cy="914400"/>
          </a:xfrm>
          <a:prstGeom prst="roundRect">
            <a:avLst/>
          </a:prstGeom>
          <a:solidFill>
            <a:srgbClr val="2A3853"/>
          </a:solidFill>
          <a:ln w="19050">
            <a:solidFill>
              <a:srgbClr val="A0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EQUIFAX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Global bureau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886200"/>
            <a:ext cx="2240280" cy="914400"/>
          </a:xfrm>
          <a:prstGeom prst="roundRect">
            <a:avLst/>
          </a:prstGeom>
          <a:solidFill>
            <a:srgbClr val="2A3853"/>
          </a:solidFill>
          <a:ln w="19050">
            <a:solidFill>
              <a:srgbClr val="701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TRANSUNION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Global bureau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886200"/>
            <a:ext cx="2240280" cy="914400"/>
          </a:xfrm>
          <a:prstGeom prst="roundRect">
            <a:avLst/>
          </a:prstGeom>
          <a:solidFill>
            <a:srgbClr val="2A3853"/>
          </a:solidFill>
          <a:ln w="19050">
            <a:solidFill>
              <a:srgbClr val="1E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CIBIL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India / TransUnion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FB9C8"/>
                </a:solidFill>
                <a:latin typeface="Arial"/>
              </a:defRPr>
            </a:pPr>
            <a:r>
              <a:t>Corporate training | High-level concepts • diagrams • real-world lending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1006F"/>
                </a:solidFill>
                <a:latin typeface="Arial"/>
              </a:defRPr>
            </a:pPr>
            <a:r>
              <a:t>2.3 | Consumer Credit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2A49"/>
                </a:solidFill>
                <a:latin typeface="Arial"/>
              </a:defRPr>
            </a:pPr>
            <a:r>
              <a:t>Why Credit Bureaus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103120" cy="1005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Borrower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Credit held with multiple lenders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54480"/>
            <a:ext cx="2103120" cy="1005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Lender A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Card / loan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017520"/>
            <a:ext cx="2103120" cy="1005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Lender B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Loan / EMI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480560"/>
            <a:ext cx="2103120" cy="1005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Lender C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Other credit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14600"/>
            <a:ext cx="27432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0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BUREAU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Centralised credit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920240"/>
            <a:ext cx="2057400" cy="1005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01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Report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Consolidated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3657600"/>
            <a:ext cx="2057400" cy="1005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Risk Signal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Score / analytics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057400"/>
            <a:ext cx="457200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94960" y="2057400"/>
            <a:ext cx="685800" cy="77724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394960" y="3200400"/>
            <a:ext cx="685800" cy="32004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394960" y="3611880"/>
            <a:ext cx="685800" cy="137160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915400" y="2423160"/>
            <a:ext cx="548640" cy="41148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15400" y="3566160"/>
            <a:ext cx="548640" cy="54864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623560"/>
            <a:ext cx="338328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7698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5BA0"/>
                </a:solidFill>
                <a:latin typeface="Arial"/>
              </a:defRPr>
            </a:pPr>
            <a:r>
              <a:t>Business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126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Lender sees only part of borrower behaviour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623560"/>
            <a:ext cx="338328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7698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E1006F"/>
                </a:solidFill>
                <a:latin typeface="Arial"/>
              </a:defRPr>
            </a:pPr>
            <a:r>
              <a:t>Bureau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126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Industry-wide view of borrowing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5623560"/>
            <a:ext cx="338328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57698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A091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6126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Faster, more consistent underwriting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Corporate training | Illustrative examples; not a lending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1006F"/>
                </a:solidFill>
                <a:latin typeface="Arial"/>
              </a:defRPr>
            </a:pPr>
            <a:r>
              <a:t>Experian as the hero example; Equifax and TransUnion complete the global Big Three reference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2A49"/>
                </a:solidFill>
                <a:latin typeface="Arial"/>
              </a:defRPr>
            </a:pPr>
            <a:r>
              <a:t>What Is a Credit Bureau?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4663440" cy="35661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EXPERIAN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Global data &amp; technology company</a:t>
            </a:r>
            <a:br/>
            <a:br/>
            <a:r>
              <a:t>Corporate HQ: Dublin, Ireland</a:t>
            </a:r>
            <a:br/>
            <a:br/>
            <a:r>
              <a:t>Supports credit risk, fraud, identity and financial decisioning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5BA0"/>
                </a:solidFill>
                <a:latin typeface="Arial"/>
              </a:defRPr>
            </a:pPr>
            <a:r>
              <a:t>experian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2A49"/>
                </a:solidFill>
                <a:latin typeface="Arial"/>
              </a:defRPr>
            </a:pPr>
            <a:r>
              <a:t>Data → matching → reporting →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20574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Experian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Global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88920"/>
            <a:ext cx="20574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0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Equifax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77639"/>
            <a:ext cx="20574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1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TransUnion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5B6A"/>
                </a:solidFill>
                <a:latin typeface="Arial"/>
              </a:defRPr>
            </a:pPr>
            <a:r>
              <a:t>Major global bureau</a:t>
            </a:r>
            <a:br/>
            <a: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5B6A"/>
                </a:solidFill>
                <a:latin typeface="Arial"/>
              </a:defRPr>
            </a:pPr>
            <a:r>
              <a:t>Major global bureau</a:t>
            </a:r>
            <a:br/>
            <a:r>
              <a:t>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5B6A"/>
                </a:solidFill>
                <a:latin typeface="Arial"/>
              </a:defRPr>
            </a:pPr>
            <a:r>
              <a:t>Major global bureau;</a:t>
            </a:r>
            <a:br/>
            <a:r>
              <a:t>owns CIBIL in India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698480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41264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E1006F"/>
                </a:solidFill>
                <a:latin typeface="Arial"/>
              </a:defRPr>
            </a:pPr>
            <a:r>
              <a:t>Trainer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332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A bureau is a data layer — it does not approve or decline the loan.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Sources: Experian plc company information; TransUnion CIBIL company information. Global scale rankings can vary by metric.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1006F"/>
                </a:solidFill>
                <a:latin typeface="Arial"/>
              </a:defRPr>
            </a:pPr>
            <a:r>
              <a:t>2.3 | Consumer Credit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2A49"/>
                </a:solidFill>
                <a:latin typeface="Arial"/>
              </a:defRPr>
            </a:pPr>
            <a:r>
              <a:t>How Credit History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4400" y="1874519"/>
            <a:ext cx="9784080" cy="0"/>
          </a:xfrm>
          <a:prstGeom prst="line">
            <a:avLst/>
          </a:prstGeom>
          <a:ln w="2540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2A49"/>
                </a:solidFill>
                <a:latin typeface="Arial"/>
              </a:defRPr>
            </a:pPr>
            <a:r>
              <a:t>Credit opened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5B6A"/>
                </a:solidFill>
                <a:latin typeface="Arial"/>
              </a:defRPr>
            </a:pPr>
            <a:r>
              <a:t>Card / loan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1645920"/>
            <a:ext cx="502920" cy="502920"/>
          </a:xfrm>
          <a:prstGeom prst="ellipse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2A49"/>
                </a:solidFill>
                <a:latin typeface="Arial"/>
              </a:defRPr>
            </a:pPr>
            <a:r>
              <a:t>Monthly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5B6A"/>
                </a:solidFill>
                <a:latin typeface="Arial"/>
              </a:defRPr>
            </a:pPr>
            <a:r>
              <a:t>Payments + balances</a:t>
            </a:r>
          </a:p>
        </p:txBody>
      </p:sp>
      <p:sp>
        <p:nvSpPr>
          <p:cNvPr id="13" name="Oval 12"/>
          <p:cNvSpPr/>
          <p:nvPr/>
        </p:nvSpPr>
        <p:spPr>
          <a:xfrm>
            <a:off x="5120640" y="1645920"/>
            <a:ext cx="502920" cy="502920"/>
          </a:xfrm>
          <a:prstGeom prst="ellipse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2A49"/>
                </a:solidFill>
                <a:latin typeface="Arial"/>
              </a:defRPr>
            </a:pPr>
            <a:r>
              <a:t>Lender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5B6A"/>
                </a:solidFill>
                <a:latin typeface="Arial"/>
              </a:defRPr>
            </a:pPr>
            <a:r>
              <a:t>Account-level data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1645920"/>
            <a:ext cx="502920" cy="502920"/>
          </a:xfrm>
          <a:prstGeom prst="ellipse">
            <a:avLst/>
          </a:prstGeom>
          <a:solidFill>
            <a:srgbClr val="701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2A49"/>
                </a:solidFill>
                <a:latin typeface="Arial"/>
              </a:defRPr>
            </a:pPr>
            <a:r>
              <a:t>Bureau consolidates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5B6A"/>
                </a:solidFill>
                <a:latin typeface="Arial"/>
              </a:defRPr>
            </a:pPr>
            <a:r>
              <a:t>Identity + history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1645920"/>
            <a:ext cx="502920" cy="502920"/>
          </a:xfrm>
          <a:prstGeom prst="ellipse">
            <a:avLst/>
          </a:prstGeom>
          <a:solidFill>
            <a:srgbClr val="701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2A49"/>
                </a:solidFill>
                <a:latin typeface="Arial"/>
              </a:defRPr>
            </a:pPr>
            <a:r>
              <a:t>Future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5B6A"/>
                </a:solidFill>
                <a:latin typeface="Arial"/>
              </a:defRPr>
            </a:pPr>
            <a:r>
              <a:t>New lender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2A49"/>
                </a:solidFill>
                <a:latin typeface="Arial"/>
              </a:defRPr>
            </a:pPr>
            <a:r>
              <a:t>What gets captured?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E5B6A"/>
                </a:solidFill>
                <a:latin typeface="Arial"/>
              </a:defRPr>
            </a:pPr>
            <a:r>
              <a:t>• Payment status / DPD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E5B6A"/>
                </a:solidFill>
                <a:latin typeface="Arial"/>
              </a:defRPr>
            </a:pPr>
            <a:r>
              <a:t>• Balances and credit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54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E5B6A"/>
                </a:solidFill>
                <a:latin typeface="Arial"/>
              </a:defRPr>
            </a:pPr>
            <a:r>
              <a:t>• Account opening /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E5B6A"/>
                </a:solidFill>
                <a:latin typeface="Arial"/>
              </a:defRPr>
            </a:pPr>
            <a:r>
              <a:t>• Recent inquiries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E5B6A"/>
                </a:solidFill>
                <a:latin typeface="Arial"/>
              </a:defRPr>
            </a:pPr>
            <a:r>
              <a:t>• Credit account type and 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611880"/>
            <a:ext cx="2743200" cy="16916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0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HISTORY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Longitudinal record of behaviour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611880"/>
            <a:ext cx="2743200" cy="16916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PATTERN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Consistent repayment vs stress signals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11880" y="4389120"/>
            <a:ext cx="914400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60920" y="4389120"/>
            <a:ext cx="822959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7240" y="5623560"/>
            <a:ext cx="1051560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769864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58C2D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126480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One late payment is a data point; repeated / severe delinquency is a pattern that can materially change risk assessment.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Corporate training | Illustrative examples; not a lending 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1006F"/>
                </a:solidFill>
                <a:latin typeface="Arial"/>
              </a:defRPr>
            </a:pPr>
            <a:r>
              <a:t>2.3 | Consumer Credit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2A49"/>
                </a:solidFill>
                <a:latin typeface="Arial"/>
              </a:defRPr>
            </a:pPr>
            <a:r>
              <a:t>Anatomy of a Credit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766560" cy="452628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2A49"/>
                </a:solidFill>
                <a:latin typeface="Arial"/>
              </a:defRPr>
            </a:pPr>
            <a:r>
              <a:t>ILLUSTRATIVE CREDIT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4E5B6A"/>
                </a:solidFill>
                <a:latin typeface="Arial"/>
              </a:defRPr>
            </a:pPr>
            <a:r>
              <a:t>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103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4E5B6A"/>
                </a:solidFill>
                <a:latin typeface="Arial"/>
              </a:defRPr>
            </a:pPr>
            <a:r>
              <a:t>Limit /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103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4E5B6A"/>
                </a:solidFill>
                <a:latin typeface="Arial"/>
              </a:defRPr>
            </a:pPr>
            <a:r>
              <a:t>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03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4E5B6A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103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4E5B6A"/>
                </a:solidFill>
                <a:latin typeface="Arial"/>
              </a:defRPr>
            </a:pPr>
            <a:r>
              <a:t>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92A49"/>
                </a:solidFill>
                <a:latin typeface="Arial"/>
              </a:defRPr>
            </a:pPr>
            <a:r>
              <a:t>Credit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146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₹2.0L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5146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₹0.35L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146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5146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4.2y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862072"/>
            <a:ext cx="5897880" cy="7315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815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92A49"/>
                </a:solidFill>
                <a:latin typeface="Arial"/>
              </a:defRPr>
            </a:pPr>
            <a:r>
              <a:t>Auto Loan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0815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₹7.5L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0815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₹4.1L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0815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0815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2.0y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429000"/>
            <a:ext cx="5897880" cy="7315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64845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92A49"/>
                </a:solidFill>
                <a:latin typeface="Arial"/>
              </a:defRPr>
            </a:pPr>
            <a:r>
              <a:t>Personal Loan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64845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₹3.0L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64845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₹1.8L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64845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D22D37"/>
                </a:solidFill>
                <a:latin typeface="Arial"/>
              </a:defRPr>
            </a:pPr>
            <a:r>
              <a:t>30 DPD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64845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192A49"/>
                </a:solidFill>
                <a:latin typeface="Arial"/>
              </a:defRPr>
            </a:pPr>
            <a:r>
              <a:t>0.8y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995928"/>
            <a:ext cx="5897880" cy="7315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34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A49"/>
                </a:solidFill>
                <a:latin typeface="Arial"/>
              </a:defRPr>
            </a:pPr>
            <a:r>
              <a:t>Other sections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006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4E5B6A"/>
                </a:solidFill>
                <a:latin typeface="Arial"/>
              </a:defRPr>
            </a:pPr>
            <a:r>
              <a:t>• Identity / address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0749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4E5B6A"/>
                </a:solidFill>
                <a:latin typeface="Arial"/>
              </a:defRPr>
            </a:pPr>
            <a:r>
              <a:t>• Credit inquiries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3492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4E5B6A"/>
                </a:solidFill>
                <a:latin typeface="Arial"/>
              </a:defRPr>
            </a:pPr>
            <a:r>
              <a:t>• Closed accounts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62356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4E5B6A"/>
                </a:solidFill>
                <a:latin typeface="Arial"/>
              </a:defRPr>
            </a:pPr>
            <a:r>
              <a:t>• Public / adverse information where applicable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1554480"/>
            <a:ext cx="356616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17007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5BA0"/>
                </a:solidFill>
                <a:latin typeface="Arial"/>
              </a:defRPr>
            </a:pPr>
            <a:r>
              <a:t>Underwriter 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057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Is the borrower paying on time?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4505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How much debt is already outstanding?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971800"/>
            <a:ext cx="356616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31181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701B7E"/>
                </a:solidFill>
                <a:latin typeface="Arial"/>
              </a:defRPr>
            </a:pPr>
            <a:r>
              <a:t>Risk lens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3474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Recent stress?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8679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High revolving utilisation?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26110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Too many recent applications?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4389120"/>
            <a:ext cx="356616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45354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A091"/>
                </a:solidFill>
                <a:latin typeface="Arial"/>
              </a:defRPr>
            </a:pPr>
            <a:r>
              <a:t>Important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892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Report ≠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52852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Data quality / disputes matter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Corporate training | Illustrative examples; not a lending policy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1006F"/>
                </a:solidFill>
                <a:latin typeface="Arial"/>
              </a:defRPr>
            </a:pPr>
            <a:r>
              <a:t>2.3 | Consumer Credit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2A49"/>
                </a:solidFill>
                <a:latin typeface="Arial"/>
              </a:defRPr>
            </a:pPr>
            <a:r>
              <a:t>Credit Score: From Data to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8288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Behaviour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Payments • balances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18288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01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Report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Detailed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0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Scoring Model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Statistical risk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828800"/>
            <a:ext cx="18288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Score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Compact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828800"/>
            <a:ext cx="18288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F5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Policy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Rules + affordability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286000"/>
            <a:ext cx="274320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286000"/>
            <a:ext cx="274320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03720" y="2286000"/>
            <a:ext cx="274320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98280" y="2286000"/>
            <a:ext cx="274320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370332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A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APPROVE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Within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370332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REFER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Needs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70332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DECLINE / LOWER LIMIT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Fails risk or affordability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069080" y="2788920"/>
            <a:ext cx="2011680" cy="868680"/>
          </a:xfrm>
          <a:prstGeom prst="line">
            <a:avLst/>
          </a:prstGeom>
          <a:ln w="25400">
            <a:solidFill>
              <a:srgbClr val="14A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788920"/>
            <a:ext cx="731520" cy="868680"/>
          </a:xfrm>
          <a:prstGeom prst="line">
            <a:avLst/>
          </a:prstGeom>
          <a:ln w="25400">
            <a:solidFill>
              <a:srgbClr val="F58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788920"/>
            <a:ext cx="3474720" cy="868680"/>
          </a:xfrm>
          <a:prstGeom prst="line">
            <a:avLst/>
          </a:prstGeom>
          <a:ln w="25400">
            <a:solidFill>
              <a:srgbClr val="D22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5257800"/>
            <a:ext cx="338328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04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5BA0"/>
                </a:solidFill>
                <a:latin typeface="Arial"/>
              </a:defRPr>
            </a:pPr>
            <a:r>
              <a:t>Bureau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760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Provides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5257800"/>
            <a:ext cx="338328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404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E1006F"/>
                </a:solidFill>
                <a:latin typeface="Arial"/>
              </a:defRPr>
            </a:pPr>
            <a: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760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Summarises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257800"/>
            <a:ext cx="338328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5404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A091"/>
                </a:solidFill>
                <a:latin typeface="Arial"/>
              </a:defRPr>
            </a:pPr>
            <a:r>
              <a:t>Lender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5760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Makes the business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Source: myFICO and bureau materials; scoring models and decision policies vary by market and lender.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1006F"/>
                </a:solidFill>
                <a:latin typeface="Arial"/>
              </a:defRPr>
            </a:pPr>
            <a:r>
              <a:t>2.3 | Consumer Credit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2A49"/>
                </a:solidFill>
                <a:latin typeface="Arial"/>
              </a:defRPr>
            </a:pPr>
            <a:r>
              <a:t>FICO Score — What Impacts the Score?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48006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15000" y="1554480"/>
            <a:ext cx="548640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664207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A0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62763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92A49"/>
                </a:solidFill>
                <a:latin typeface="Arial"/>
              </a:defRPr>
            </a:pPr>
            <a:r>
              <a:t>Payment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4E5B6A"/>
                </a:solidFill>
                <a:latin typeface="Arial"/>
              </a:defRPr>
            </a:pPr>
            <a:r>
              <a:t>Most important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2377440"/>
            <a:ext cx="548640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4871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A091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50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92A49"/>
                </a:solidFill>
                <a:latin typeface="Arial"/>
              </a:defRPr>
            </a:pPr>
            <a:r>
              <a:t>Amounts owed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50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4E5B6A"/>
                </a:solidFill>
                <a:latin typeface="Arial"/>
              </a:defRPr>
            </a:pPr>
            <a:r>
              <a:t>Revolving utilisation / debt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3200400"/>
            <a:ext cx="548640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31012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1B7E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735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92A49"/>
                </a:solidFill>
                <a:latin typeface="Arial"/>
              </a:defRPr>
            </a:pPr>
            <a:r>
              <a:t>Length of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735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4E5B6A"/>
                </a:solidFill>
                <a:latin typeface="Arial"/>
              </a:defRPr>
            </a:pPr>
            <a:r>
              <a:t>Age and depth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4023360"/>
            <a:ext cx="548640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13308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1006F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9651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92A49"/>
                </a:solidFill>
                <a:latin typeface="Arial"/>
              </a:defRPr>
            </a:pPr>
            <a:r>
              <a:t>New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96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4E5B6A"/>
                </a:solidFill>
                <a:latin typeface="Arial"/>
              </a:defRPr>
            </a:pPr>
            <a:r>
              <a:t>Recent 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846320"/>
            <a:ext cx="5486400" cy="65836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95604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8C2D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91947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92A49"/>
                </a:solidFill>
                <a:latin typeface="Arial"/>
              </a:defRPr>
            </a:pPr>
            <a:r>
              <a:t>Credit mix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919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4E5B6A"/>
                </a:solidFill>
                <a:latin typeface="Arial"/>
              </a:defRPr>
            </a:pPr>
            <a:r>
              <a:t>Types of accounts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5623560"/>
            <a:ext cx="548640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57698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D22D37"/>
                </a:solidFill>
                <a:latin typeface="Arial"/>
              </a:defRPr>
            </a:pPr>
            <a:r>
              <a:t>Training caution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6126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FICO is a scoring family; exact model, weights and score range can vary.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Source: myFICO — FICO Score factors (35/30/15/10/10).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1006F"/>
                </a:solidFill>
                <a:latin typeface="Arial"/>
              </a:defRPr>
            </a:pPr>
            <a:r>
              <a:t>2.3 | Consumer Credit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2A49"/>
                </a:solidFill>
                <a:latin typeface="Arial"/>
              </a:defRPr>
            </a:pPr>
            <a:r>
              <a:t>Real-World Lending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1E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874519" cy="12344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Credit card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Limit + utilisation + payment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130552"/>
            <a:ext cx="502920" cy="0"/>
          </a:xfrm>
          <a:prstGeom prst="line">
            <a:avLst/>
          </a:prstGeom>
          <a:ln w="25400">
            <a:solidFill>
              <a:srgbClr val="1E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508760"/>
            <a:ext cx="2331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Approve / limit / pricing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Policy + affordability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1874519" cy="12344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01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Personal loan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Recent delinquencies + existing EMIs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75320" y="2130552"/>
            <a:ext cx="502920" cy="0"/>
          </a:xfrm>
          <a:prstGeom prst="line">
            <a:avLst/>
          </a:prstGeom>
          <a:ln w="25400">
            <a:solidFill>
              <a:srgbClr val="701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69680" y="1508760"/>
            <a:ext cx="2331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1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Rate / amount / tenor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Policy + affordability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1874519" cy="12344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E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Mortgage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Long history + repayment capacity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4187952"/>
            <a:ext cx="502920" cy="0"/>
          </a:xfrm>
          <a:prstGeom prst="line">
            <a:avLst/>
          </a:prstGeom>
          <a:ln w="25400">
            <a:solidFill>
              <a:srgbClr val="1EA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46120" y="3566160"/>
            <a:ext cx="2331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Eligibility + pricing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Policy + affordability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66160"/>
            <a:ext cx="1874519" cy="12344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F5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Limit increase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Current performance + utilisation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75320" y="4187952"/>
            <a:ext cx="502920" cy="0"/>
          </a:xfrm>
          <a:prstGeom prst="line">
            <a:avLst/>
          </a:prstGeom>
          <a:ln w="25400">
            <a:solidFill>
              <a:srgbClr val="F58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9680" y="3566160"/>
            <a:ext cx="2331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Increase / maintain / decline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Policy + affordability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65276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69864"/>
            <a:ext cx="10287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E1006F"/>
                </a:solidFill>
                <a:latin typeface="Arial"/>
              </a:defRPr>
            </a:pPr>
            <a:r>
              <a:t>Common lender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4E5B6A"/>
                </a:solidFill>
                <a:latin typeface="Arial"/>
              </a:defRPr>
            </a:pPr>
            <a:r>
              <a:t>• Bureau data is strongest when combined with income, affordability, fraud controls, collateral (where relevant) and internal behaviour.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Corporate training | Illustrative examples; not a lending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B9C3D2"/>
                </a:solidFill>
                <a:latin typeface="Arial"/>
              </a:defRPr>
            </a:pPr>
            <a:r>
              <a:t>2.3 | COMPLETE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t>Case Study — Credit Card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DAE6"/>
                </a:solidFill>
                <a:latin typeface="Arial"/>
              </a:defRPr>
            </a:pPr>
            <a:r>
              <a:t>A practical walkthrough of how bureau evidence becomes a lending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1488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APPLICANT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₹80k monthly income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91640"/>
            <a:ext cx="21488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0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BUREAU FILE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Good history + 1 recent 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21488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CURRENT DEBT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₹1.5L / ₹2L revolving 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691640"/>
            <a:ext cx="2743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ASSESSMENT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Score + policy + affordability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212848"/>
            <a:ext cx="411480" cy="0"/>
          </a:xfrm>
          <a:prstGeom prst="line">
            <a:avLst/>
          </a:prstGeom>
          <a:ln w="25400">
            <a:solidFill>
              <a:srgbClr val="8C9B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2212848"/>
            <a:ext cx="411480" cy="0"/>
          </a:xfrm>
          <a:prstGeom prst="line">
            <a:avLst/>
          </a:prstGeom>
          <a:ln w="25400">
            <a:solidFill>
              <a:srgbClr val="8C9B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01000" y="2212848"/>
            <a:ext cx="411480" cy="0"/>
          </a:xfrm>
          <a:prstGeom prst="line">
            <a:avLst/>
          </a:prstGeom>
          <a:ln w="25400">
            <a:solidFill>
              <a:srgbClr val="8C9B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Decision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DCE1EB"/>
                </a:solidFill>
                <a:latin typeface="Arial"/>
              </a:defRPr>
            </a:pPr>
            <a:r>
              <a:t>• Recent late payment increases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9651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DCE1EB"/>
                </a:solidFill>
                <a:latin typeface="Arial"/>
              </a:defRPr>
            </a:pPr>
            <a:r>
              <a:t>• 75% revolving utilisation is a leverage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3542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DCE1EB"/>
                </a:solidFill>
                <a:latin typeface="Arial"/>
              </a:defRPr>
            </a:pPr>
            <a:r>
              <a:t>• Strong income can support affordability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7433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DCE1EB"/>
                </a:solidFill>
                <a:latin typeface="Arial"/>
              </a:defRPr>
            </a:pPr>
            <a:r>
              <a:t>• Policy determines whether risk is acceptable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3474720"/>
            <a:ext cx="1920240" cy="91440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14A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APPROVE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If policy met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4709160"/>
            <a:ext cx="1920240" cy="914400"/>
          </a:xfrm>
          <a:prstGeom prst="roundRect">
            <a:avLst/>
          </a:prstGeom>
          <a:solidFill>
            <a:srgbClr val="FAF7F0"/>
          </a:solidFill>
          <a:ln w="19050">
            <a:solidFill>
              <a:srgbClr val="F5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REFER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If signals conflict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474720"/>
            <a:ext cx="2560320" cy="914400"/>
          </a:xfrm>
          <a:prstGeom prst="roundRect">
            <a:avLst/>
          </a:prstGeom>
          <a:solidFill>
            <a:srgbClr val="FAF5F5"/>
          </a:solidFill>
          <a:ln w="19050">
            <a:solidFill>
              <a:srgbClr val="D2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LOWER LIMIT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If leverage is concern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09160"/>
            <a:ext cx="2560320" cy="914400"/>
          </a:xfrm>
          <a:prstGeom prst="roundRect">
            <a:avLst/>
          </a:prstGeom>
          <a:solidFill>
            <a:srgbClr val="FAF5F5"/>
          </a:solidFill>
          <a:ln w="19050">
            <a:solidFill>
              <a:srgbClr val="D2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A49"/>
                </a:solidFill>
                <a:latin typeface="Arial"/>
              </a:defRPr>
            </a:pPr>
            <a:r>
              <a:t>DECLINE</a:t>
            </a:r>
          </a:p>
          <a:p>
            <a:pPr algn="ctr">
              <a:defRPr sz="900">
                <a:solidFill>
                  <a:srgbClr val="4E5B6A"/>
                </a:solidFill>
                <a:latin typeface="Arial"/>
              </a:defRPr>
            </a:pPr>
            <a:r>
              <a:t>If risk / affordability fails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79" y="3931920"/>
            <a:ext cx="777241" cy="0"/>
          </a:xfrm>
          <a:prstGeom prst="line">
            <a:avLst/>
          </a:prstGeom>
          <a:ln w="25400">
            <a:solidFill>
              <a:srgbClr val="8C9B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TAKEAWAY  |  Bureau data is evidence — not the decision. The lender combines it with affordability, policy and other risk controls.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4E5B6A"/>
                </a:solidFill>
                <a:latin typeface="Arial"/>
              </a:defRPr>
            </a:pPr>
            <a:r>
              <a:t>Case is fictional and for training. Utilisation example is illustrative; do not infer a fixed score impact.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E5B6A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