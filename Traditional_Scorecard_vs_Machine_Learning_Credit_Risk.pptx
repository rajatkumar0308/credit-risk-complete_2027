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Scorecard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AUC</c:v>
                </c:pt>
                <c:pt idx="1">
                  <c:v>KS</c:v>
                </c:pt>
                <c:pt idx="2">
                  <c:v>Brier / calibration</c:v>
                </c:pt>
                <c:pt idx="3">
                  <c:v>Stability</c:v>
                </c:pt>
                <c:pt idx="4">
                  <c:v>Explainability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</c:v>
                </c:pt>
                <c:pt idx="1">
                  <c:v>0.43</c:v>
                </c:pt>
                <c:pt idx="2">
                  <c:v>0.16</c:v>
                </c:pt>
                <c:pt idx="3">
                  <c:v>0.82</c:v>
                </c:pt>
                <c:pt idx="4">
                  <c:v>0.92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AUC</c:v>
                </c:pt>
                <c:pt idx="1">
                  <c:v>KS</c:v>
                </c:pt>
                <c:pt idx="2">
                  <c:v>Brier / calibration</c:v>
                </c:pt>
                <c:pt idx="3">
                  <c:v>Stability</c:v>
                </c:pt>
                <c:pt idx="4">
                  <c:v>Explainability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0.84</c:v>
                </c:pt>
                <c:pt idx="1">
                  <c:v>0.51</c:v>
                </c:pt>
                <c:pt idx="2">
                  <c:v>0.14</c:v>
                </c:pt>
                <c:pt idx="3">
                  <c:v>0.75</c:v>
                </c:pt>
                <c:pt idx="4">
                  <c:v>0.62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700" b="1">
                <a:solidFill>
                  <a:srgbClr val="FFFFFF"/>
                </a:solidFill>
              </a:defRPr>
            </a:pPr>
            <a:r>
              <a:t>TRADITIONAL SCORECARD</a:t>
            </a:r>
            <a:br/>
            <a:r>
              <a:t>VS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DD7E1"/>
                </a:solidFill>
              </a:defRPr>
            </a:pPr>
            <a:r>
              <a:t>Interpretability • Performance • Governance • Business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2194560" cy="347472"/>
          </a:xfrm>
          <a:prstGeom prst="roundRect">
            <a:avLst/>
          </a:prstGeom>
          <a:solidFill>
            <a:srgbClr val="2A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813048"/>
            <a:ext cx="21214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1EBF5"/>
                </a:solidFill>
              </a:defRPr>
            </a:pPr>
            <a:r>
              <a:t>CREDIT RISK • AI •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AB9C8"/>
                </a:solidFill>
              </a:defRPr>
            </a:pPr>
            <a:r>
              <a:t>Premium corporate learning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B4BEC8"/>
                </a:solidFill>
              </a:defRPr>
            </a:pPr>
            <a:r>
              <a:t>SCORECARD vs MACHINE LEARNING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EXECUTIVE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The Strategic Question: Simplicity or Predictive Power?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425196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54480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TRADITIONAL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47672"/>
            <a:ext cx="315467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Transparent coefficients and reason codes</a:t>
            </a:r>
            <a:br/>
            <a:br/>
            <a:r>
              <a:t>Mature governance processes</a:t>
            </a:r>
            <a:br/>
            <a:br/>
            <a:r>
              <a:t>Easy to explain to business users</a:t>
            </a:r>
            <a:br/>
            <a:br/>
            <a:r>
              <a:t>Strong fit for many regulated credit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50292" cy="425196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47672"/>
            <a:ext cx="315467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Can capture nonlinearities and interactions</a:t>
            </a:r>
            <a:br/>
            <a:br/>
            <a:r>
              <a:t>Potentially stronger predictive performance</a:t>
            </a:r>
            <a:br/>
            <a:br/>
            <a:r>
              <a:t>Rich alternative-data and behavioral use cases</a:t>
            </a:r>
            <a:br/>
            <a:br/>
            <a:r>
              <a:t>Greater validation and monitoring burden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50292" cy="425196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THE REAL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47672"/>
            <a:ext cx="315467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Not “old vs new.”</a:t>
            </a:r>
            <a:br/>
            <a:br/>
            <a:r>
              <a:t>The right architecture depends on use case, data, risk appetite, governance capability and economic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What Is a Traditional Credit Scorecard?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004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416052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288036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Credit score</a:t>
            </a:r>
            <a:br/>
            <a:r>
              <a:t>Utilization</a:t>
            </a:r>
            <a:br/>
            <a:r>
              <a:t>Delinquencies</a:t>
            </a:r>
            <a:br/>
            <a:r>
              <a:t>Income / DTI</a:t>
            </a:r>
            <a:br/>
            <a:r>
              <a:t>Employment</a:t>
            </a:r>
            <a:br/>
            <a:r>
              <a:t>Account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2004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50292" cy="416052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47672"/>
            <a:ext cx="288036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Binning</a:t>
            </a:r>
            <a:br/>
            <a:r>
              <a:t>Weight of Evidence (WoE)</a:t>
            </a:r>
            <a:br/>
            <a:r>
              <a:t>Variable selection</a:t>
            </a:r>
            <a:br/>
            <a:r>
              <a:t>Logistic regression</a:t>
            </a:r>
            <a:br/>
            <a:r>
              <a:t>Points-to-score 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17320"/>
            <a:ext cx="38862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417320"/>
            <a:ext cx="50292" cy="416052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1554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1947672"/>
            <a:ext cx="356616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Score → Risk grade → PD band</a:t>
            </a:r>
            <a:br/>
            <a:br/>
            <a:r>
              <a:t>Typical operating model:</a:t>
            </a:r>
            <a:br/>
            <a:r>
              <a:t>• reason codes</a:t>
            </a:r>
            <a:br/>
            <a:r>
              <a:t>• cut-offs</a:t>
            </a:r>
            <a:br/>
            <a:r>
              <a:t>• policy overlays</a:t>
            </a:r>
            <a:br/>
            <a:r>
              <a:t>• champion/challenger monitoring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86200" y="3474720"/>
            <a:ext cx="22860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3474720"/>
            <a:ext cx="22860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Key strength: the model's logic can be translated into stable, business-readable relationships.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What Changes with Machine Learning?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65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0292" cy="310896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16459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Structured + behavioral</a:t>
            </a:r>
            <a:br/>
            <a:r>
              <a:t>transactional / digital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108960"/>
            <a:ext cx="27432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600200"/>
            <a:ext cx="1965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1600200"/>
            <a:ext cx="50292" cy="310896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73736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30552"/>
            <a:ext cx="16459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GBM / XGBoost</a:t>
            </a:r>
            <a:br/>
            <a:r>
              <a:t>Random forest</a:t>
            </a:r>
            <a:br/>
            <a:r>
              <a:t>Neural networks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3108960"/>
            <a:ext cx="27432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1600200"/>
            <a:ext cx="1965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600200"/>
            <a:ext cx="50292" cy="310896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173736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130552"/>
            <a:ext cx="16459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PD / risk score</a:t>
            </a:r>
            <a:br/>
            <a:r>
              <a:t>Nonlinear patterns</a:t>
            </a:r>
            <a:br/>
            <a:r>
              <a:t>Interactions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19" y="3108960"/>
            <a:ext cx="274321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600200"/>
            <a:ext cx="1965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600200"/>
            <a:ext cx="50292" cy="310896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59" y="173736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2130552"/>
            <a:ext cx="16459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SHAP / reason codes</a:t>
            </a:r>
            <a:br/>
            <a:r>
              <a:t>Global + local views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3108960"/>
            <a:ext cx="274319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1600200"/>
            <a:ext cx="1965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600200"/>
            <a:ext cx="50292" cy="310896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73736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130552"/>
            <a:ext cx="16459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Validation</a:t>
            </a:r>
            <a:br/>
            <a:r>
              <a:t>Monitoring</a:t>
            </a:r>
            <a:br/>
            <a:r>
              <a:t>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2337"/>
                </a:solidFill>
              </a:defRPr>
            </a:pPr>
            <a:r>
              <a:t>ML changes the model's flexibility — and therefore increases the importance of controls around data, behavior and explainability.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DIMENSION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Scorecard vs ML — Interpretability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434340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TRADITIONAL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49377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• Coefficients have directional meaning</a:t>
            </a:r>
            <a:br/>
            <a:r>
              <a:t>• WoE bins create readable relationships</a:t>
            </a:r>
            <a:br/>
            <a:r>
              <a:t>• Points can be translated into reason codes</a:t>
            </a:r>
            <a:br/>
            <a:r>
              <a:t>• Easier to challenge individual variables</a:t>
            </a:r>
            <a:br/>
            <a:r>
              <a:t>• Easier to communicate to frontline users</a:t>
            </a:r>
            <a:br/>
            <a:br/>
            <a:r>
              <a:t>Trade-off: simplicity can constrain nonlinear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0292" cy="434340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9377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• Captures nonlinear relationships</a:t>
            </a:r>
            <a:br/>
            <a:r>
              <a:t>• Interactions can be difficult to see directly</a:t>
            </a:r>
            <a:br/>
            <a:r>
              <a:t>• SHAP can explain individual predictions</a:t>
            </a:r>
            <a:br/>
            <a:r>
              <a:t>• Global importance can reveal dominant drivers</a:t>
            </a:r>
            <a:br/>
            <a:r>
              <a:t>• Requires explanation controls and careful interpretation</a:t>
            </a:r>
            <a:br/>
            <a:br/>
            <a:r>
              <a:t>Trade-off: explanation is often post-hoc rather than intrinsic.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STEP-BY-STEP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Numerical Example: How a Scorecard Turns Risk into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5892E"/>
                </a:solidFill>
              </a:defRPr>
            </a:pPr>
            <a:r>
              <a:t>Illustrative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02730"/>
                </a:solidFill>
              </a:defRPr>
            </a:pPr>
            <a:r>
              <a:t>Base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783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75B96"/>
                </a:solidFill>
              </a:defRPr>
            </a:pPr>
            <a:r>
              <a:t>+600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819656"/>
            <a:ext cx="3200400" cy="18288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DTI 35–45%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4414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B04040"/>
                </a:solidFill>
              </a:defRPr>
            </a:pPr>
            <a:r>
              <a:t>-35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478024"/>
            <a:ext cx="2143760" cy="18288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9981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2+ delinquencies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0998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B04040"/>
                </a:solidFill>
              </a:defRPr>
            </a:pPr>
            <a:r>
              <a:t>-60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3136391"/>
            <a:ext cx="3200400" cy="18288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5818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Utilization &lt; 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75818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77D54"/>
                </a:solidFill>
              </a:defRPr>
            </a:pPr>
            <a:r>
              <a:t>+20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794759"/>
            <a:ext cx="1381760" cy="18288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165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Stable employment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41655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77D54"/>
                </a:solidFill>
              </a:defRPr>
            </a:pPr>
            <a:r>
              <a:t>+15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453127"/>
            <a:ext cx="1127760" cy="18288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1965960"/>
            <a:ext cx="347472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093976"/>
            <a:ext cx="3291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5B96"/>
                </a:solidFill>
              </a:defRPr>
            </a:pPr>
            <a:r>
              <a:t>540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587752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Final illustrative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33756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337"/>
                </a:solidFill>
              </a:defRPr>
            </a:pPr>
            <a:r>
              <a:t>The score can then be mapped to a PD band or risk grade using a calibrated score-to-PD relationship.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6634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180"/>
                </a:solidFill>
              </a:defRPr>
            </a:pPr>
            <a:r>
              <a:t>Illustrative numbers only; actual score scaling and odds relationships vary by institution.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ILLUSTRATIVE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Numerical Example: ML Captures Nonlinear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6888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453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7D54"/>
                </a:solidFill>
              </a:defRPr>
            </a:pPr>
            <a: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Applicant A — DTI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46888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453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5892E"/>
                </a:solidFill>
              </a:defRPr>
            </a:pPr>
            <a: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39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Applicant B — DTI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246888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5453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04040"/>
                </a:solidFill>
              </a:defRPr>
            </a:pPr>
            <a:r>
              <a:t>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039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Applicant C — DTI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17320"/>
            <a:ext cx="246888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5453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5B96"/>
                </a:solidFill>
              </a:defRPr>
            </a:pPr>
            <a:r>
              <a:t>2.1 → 4.6 → 10.8%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039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Illustrative 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2608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2337"/>
                </a:solidFill>
              </a:defRPr>
            </a:pPr>
            <a:r>
              <a:t>A scorecard may represent DTI through bins or a monotonic relationship. An ML model can learn a sharper risk increase once DTI crosses a context-dependent threshold — especially when combined with utilization or delinquency.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4340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343400"/>
            <a:ext cx="50292" cy="114300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BUSINESS IMPLICATION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737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Potentially more precise risk segmentation.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34340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343400"/>
            <a:ext cx="50292" cy="114300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GOVERNANCE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8737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Validate whether the learned shape is stable and economically credible.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DIMENSION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Scorecard vs ML —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41732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5892E"/>
                </a:solidFill>
              </a:defRPr>
            </a:pPr>
            <a:r>
              <a:t>ILLUSTRATIVE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ML may improve discrimination, but performance should be evaluated across the full validation stack — not AUC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246120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Ask:</a:t>
            </a:r>
            <a:br/>
            <a:r>
              <a:t>• Does the gain persist out-of-time?</a:t>
            </a:r>
            <a:br/>
            <a:r>
              <a:t>• Is calibration improved?</a:t>
            </a:r>
            <a:br/>
            <a:r>
              <a:t>• Is lift economically material?</a:t>
            </a:r>
            <a:br/>
            <a:r>
              <a:t>• Does performance survive policy changes?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5166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180"/>
                </a:solidFill>
              </a:defRPr>
            </a:pPr>
            <a:r>
              <a:t>Illustrative index values, not empirical results for a specific bank.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SO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Performance Is Valuable Only When It Changes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429768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PD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2926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Suppose better ranking identifies</a:t>
            </a:r>
            <a:br/>
            <a:r>
              <a:t>100 additional high-risk accounts.</a:t>
            </a:r>
            <a:br/>
            <a:br/>
            <a:r>
              <a:t>Expected loss avoided =</a:t>
            </a:r>
            <a:br/>
            <a:r>
              <a:t>Exposure × LGD × incremental risk identified.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246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50292" cy="429768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PRICING /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47672"/>
            <a:ext cx="2926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Better segmentation can influence:</a:t>
            </a:r>
            <a:br/>
            <a:r>
              <a:t>• risk-based pricing</a:t>
            </a:r>
            <a:br/>
            <a:r>
              <a:t>• credit limits</a:t>
            </a:r>
            <a:br/>
            <a:r>
              <a:t>• approval cut-offs</a:t>
            </a:r>
            <a:br/>
            <a:r>
              <a:t>• monitoring intensity</a:t>
            </a:r>
            <a:br/>
            <a:br/>
            <a:r>
              <a:t>But policy and customer treatment constraints still apply.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17320"/>
            <a:ext cx="3886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417320"/>
            <a:ext cx="50292" cy="429768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1554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COST OF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1947672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Incremental model benefit must be weighed against:</a:t>
            </a:r>
            <a:br/>
            <a:r>
              <a:t>• validation cost</a:t>
            </a:r>
            <a:br/>
            <a:r>
              <a:t>• infrastructure</a:t>
            </a:r>
            <a:br/>
            <a:r>
              <a:t>• explainability</a:t>
            </a:r>
            <a:br/>
            <a:r>
              <a:t>• monitoring</a:t>
            </a:r>
            <a:br/>
            <a:r>
              <a:t>• governance effort</a:t>
            </a:r>
            <a:br/>
            <a:r>
              <a:t>• change-management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DIMENSION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Scorecard vs ML —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33272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453895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5B96"/>
                </a:solidFill>
              </a:defRPr>
            </a:pPr>
            <a:r>
              <a:t>MODEL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453895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Variables • methodology • assumptions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176272"/>
            <a:ext cx="10113264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2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3042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7E87"/>
                </a:solidFill>
              </a:defRPr>
            </a:pPr>
            <a: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3042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Discrimination • calibration • stability • benchmarking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3856" y="3026664"/>
            <a:ext cx="9893808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B58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62456" y="3154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5892E"/>
                </a:solidFill>
              </a:defRPr>
            </a:pPr>
            <a: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3154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Reason codes • SHAP • documentation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43584" y="3877056"/>
            <a:ext cx="967435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B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2184" y="40050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4040"/>
                </a:solidFill>
              </a:defRPr>
            </a:pPr>
            <a:r>
              <a:t>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40050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Performance drift • data drift • explanation 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4727448"/>
            <a:ext cx="9454896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37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1912" y="485546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77D54"/>
                </a:solidFill>
              </a:defRPr>
            </a:pPr>
            <a:r>
              <a:t>CHANGE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485546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Versioning • approvals • rollback •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ML generally requires a broader control surface because complexity can increase the number of ways the model can behave unexpectedly.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Complete Comparison — Scorecard vs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103120" cy="54864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26464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280160"/>
            <a:ext cx="4343400" cy="54864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426464"/>
            <a:ext cx="4251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Traditional scorecard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280160"/>
            <a:ext cx="4297680" cy="54864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26464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210312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892807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Interpretability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828800"/>
            <a:ext cx="43434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1892807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High; intrinsic structure is readable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828800"/>
            <a:ext cx="429768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892807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Lower intrinsic; explanation tools often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58568"/>
            <a:ext cx="21031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322575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Nonlinearity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258568"/>
            <a:ext cx="4343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62072" y="2322575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Limited / explicitly engineered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258568"/>
            <a:ext cx="4297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2322575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Strong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688336"/>
            <a:ext cx="210312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2752344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Interactions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2688336"/>
            <a:ext cx="43434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62072" y="2752344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Usually manually specified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688336"/>
            <a:ext cx="429768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2" y="2752344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Can learn automatically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18104"/>
            <a:ext cx="21031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182112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Data requirements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118104"/>
            <a:ext cx="4343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62072" y="3182112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Moderate; structured data works well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118104"/>
            <a:ext cx="4297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8352" y="3182112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Often benefits from richer, larger datasets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547872"/>
            <a:ext cx="210312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3611879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Performance ceiling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3547872"/>
            <a:ext cx="43434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62072" y="3611879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Can be strong and stable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3547872"/>
            <a:ext cx="429768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88352" y="3611879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Potentially higher in complex patterns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977639"/>
            <a:ext cx="21031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4041648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Governance effort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3977639"/>
            <a:ext cx="4343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62072" y="4041648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Mature, established workflows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3977639"/>
            <a:ext cx="4297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88352" y="4041648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Often higher validation &amp; monitoring burden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407408"/>
            <a:ext cx="210312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4471416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Reason codes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88920" y="4407408"/>
            <a:ext cx="43434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62072" y="4471416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Natural fit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4407408"/>
            <a:ext cx="429768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88352" y="4471416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Requires careful mapping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837176"/>
            <a:ext cx="21031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" y="4901184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Monitoring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88920" y="4837176"/>
            <a:ext cx="4343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62072" y="4901184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Performance + stability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4837176"/>
            <a:ext cx="4297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88352" y="4901184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Performance + stability + data / explanation behavior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266944"/>
            <a:ext cx="210312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5330952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Change management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88920" y="5266944"/>
            <a:ext cx="43434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62072" y="5330952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Usually simpler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5266944"/>
            <a:ext cx="429768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88352" y="5330952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Potentially more complex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696712"/>
            <a:ext cx="21031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" y="5760720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42337"/>
                </a:solidFill>
              </a:defRPr>
            </a:pPr>
            <a:r>
              <a:t>Best fit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88920" y="5696712"/>
            <a:ext cx="4343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62072" y="5760720"/>
            <a:ext cx="4197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Regulated, interpretable, stable use cases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0" y="5696712"/>
            <a:ext cx="4297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88352" y="5760720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02730"/>
                </a:solidFill>
              </a:defRPr>
            </a:pPr>
            <a:r>
              <a:t>High-dimensional / nonlinear / behavioral use cases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ILLUSTRATIVE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Case Study 1 — Retail Credit: Champion vs Challenger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375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434340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CURRENT CHAMPION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47672"/>
            <a:ext cx="30175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Logistic scorecard</a:t>
            </a:r>
            <a:br/>
            <a:r>
              <a:t>AUC: 0.78</a:t>
            </a:r>
            <a:br/>
            <a:r>
              <a:t>Stable over 24 months</a:t>
            </a:r>
            <a:br/>
            <a:r>
              <a:t>Strong reason-code process</a:t>
            </a:r>
            <a:br/>
            <a:br/>
            <a:r>
              <a:t>Business users trust and understand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434340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ML CHALLENGER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47672"/>
            <a:ext cx="30175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Gradient boosting</a:t>
            </a:r>
            <a:br/>
            <a:r>
              <a:t>AUC: 0.84</a:t>
            </a:r>
            <a:br/>
            <a:r>
              <a:t>Better separation in thin-file segment</a:t>
            </a:r>
            <a:br/>
            <a:r>
              <a:t>More nonlinear behavior</a:t>
            </a:r>
            <a:br/>
            <a:br/>
            <a:r>
              <a:t>Requires deeper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3375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50292" cy="434340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DECISION 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47672"/>
            <a:ext cx="30175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Do not replace solely because AUC is higher.</a:t>
            </a:r>
            <a:br/>
            <a:br/>
            <a:r>
              <a:t>Test:</a:t>
            </a:r>
            <a:br/>
            <a:r>
              <a:t>• out-of-time performance</a:t>
            </a:r>
            <a:br/>
            <a:r>
              <a:t>• calibration</a:t>
            </a:r>
            <a:br/>
            <a:r>
              <a:t>• segment stability</a:t>
            </a:r>
            <a:br/>
            <a:r>
              <a:t>• explanation quality</a:t>
            </a:r>
            <a:br/>
            <a:r>
              <a:t>• operational economics</a:t>
            </a:r>
            <a:br/>
            <a:r>
              <a:t>• governance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180"/>
                </a:solidFill>
              </a:defRPr>
            </a:pPr>
            <a:r>
              <a:t>Illustrative data — designed to demonstrate the decision process, not to claim a real institution's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ILLUSTRATIVE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Case Study 2 — SME / Commercial Lending: Where ML Can Add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429768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TRADITIONAL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2926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Financial statements</a:t>
            </a:r>
            <a:br/>
            <a:r>
              <a:t>Leverage</a:t>
            </a:r>
            <a:br/>
            <a:r>
              <a:t>DSCR</a:t>
            </a:r>
            <a:br/>
            <a:r>
              <a:t>Collateral</a:t>
            </a:r>
            <a:br/>
            <a:r>
              <a:t>Bureau history</a:t>
            </a:r>
            <a:br/>
            <a:br/>
            <a:r>
              <a:t>Strong structure, but limited behavioral granularity.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246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50292" cy="429768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ML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47672"/>
            <a:ext cx="2926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Adds transaction behavior</a:t>
            </a:r>
            <a:br/>
            <a:r>
              <a:t>Cash-flow volatility</a:t>
            </a:r>
            <a:br/>
            <a:r>
              <a:t>Seasonality</a:t>
            </a:r>
            <a:br/>
            <a:r>
              <a:t>Utilization patterns</a:t>
            </a:r>
            <a:br/>
            <a:r>
              <a:t>Interaction effects</a:t>
            </a:r>
            <a:br/>
            <a:br/>
            <a:r>
              <a:t>Can enrich risk segmentation.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17320"/>
            <a:ext cx="3886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417320"/>
            <a:ext cx="50292" cy="429768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1554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CREDIT COMMITTEE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1947672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Is the incremental signal:</a:t>
            </a:r>
            <a:br/>
            <a:r>
              <a:t>• economically meaningful?</a:t>
            </a:r>
            <a:br/>
            <a:r>
              <a:t>• stable across cycles?</a:t>
            </a:r>
            <a:br/>
            <a:r>
              <a:t>• explainable enough?</a:t>
            </a:r>
            <a:br/>
            <a:r>
              <a:t>• consistent with underwriting policy?</a:t>
            </a:r>
            <a:br/>
            <a:r>
              <a:t>• supported by data lineage?</a:t>
            </a:r>
            <a:br/>
            <a:br/>
            <a:r>
              <a:t>If not, complexity may not create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Red Flags When Moving from Scorecards to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201168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344168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AUC obsession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8016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02730"/>
                </a:solidFill>
              </a:defRPr>
            </a:pPr>
            <a:r>
              <a:t>A small lift in discrimination may not justify complexity.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28016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647180"/>
                </a:solidFill>
              </a:defRPr>
            </a:pPr>
            <a:r>
              <a:t>Evaluate calibration + economics + stability.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66543"/>
            <a:ext cx="201168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130551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Feature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66543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02730"/>
                </a:solidFill>
              </a:defRPr>
            </a:pPr>
            <a:r>
              <a:t>Behavior variables may accidentally contain future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066543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647180"/>
                </a:solidFill>
              </a:defRPr>
            </a:pPr>
            <a:r>
              <a:t>Lock feature timestamps and lineage.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52928"/>
            <a:ext cx="201168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916936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Spurious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5292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02730"/>
                </a:solidFill>
              </a:defRPr>
            </a:pPr>
            <a:r>
              <a:t>ML can exploit unstable relationships.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852928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647180"/>
                </a:solidFill>
              </a:defRPr>
            </a:pPr>
            <a:r>
              <a:t>Stress-test across time and segments.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39312"/>
            <a:ext cx="201168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3703320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Reason-code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63931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02730"/>
                </a:solidFill>
              </a:defRPr>
            </a:pPr>
            <a:r>
              <a:t>Post-hoc explanations may oversimplify complex behavior.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63931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647180"/>
                </a:solidFill>
              </a:defRPr>
            </a:pPr>
            <a:r>
              <a:t>Validate explanation fidelity.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25696"/>
            <a:ext cx="201168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489704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Policy conflict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4256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02730"/>
                </a:solidFill>
              </a:defRPr>
            </a:pPr>
            <a:r>
              <a:t>Model may optimize prediction but violate business constraints.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42569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647180"/>
                </a:solidFill>
              </a:defRPr>
            </a:pPr>
            <a:r>
              <a:t>Embed policy and governance controls.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212079"/>
            <a:ext cx="201168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276088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Model 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212079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02730"/>
                </a:solidFill>
              </a:defRPr>
            </a:pPr>
            <a:r>
              <a:t>Learned patterns can decay as customer behavior changes.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212079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647180"/>
                </a:solidFill>
              </a:defRPr>
            </a:pPr>
            <a:r>
              <a:t>Monitor data, performance and explanations.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BUSINESS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Stakeholder Lens: Who Cares About What?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60020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CREDIT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Can I understand and defend the decision?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0292" cy="160020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MODEL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Can I validate, challenge and monitor the model?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74720"/>
            <a:ext cx="50292" cy="160020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118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CRO / CFO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05072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Does incremental predictive power translate into risk or economic value?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474720"/>
            <a:ext cx="50292" cy="160020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INVESTOR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05072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How could model-driven underwriting affect portfolio quality and loss behavior?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A technically stronger model can still be a weaker business choice if the organization cannot govern or operationalize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The Practical Middle Ground: Hybrid Credit-Risk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0292" cy="402336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002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SCORECARD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93392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Stable policy-facing score</a:t>
            </a:r>
            <a:br/>
            <a:br/>
            <a:r>
              <a:t>Transparent reason codes</a:t>
            </a:r>
            <a:br/>
            <a:br/>
            <a:r>
              <a:t>Baseline / benchmark</a:t>
            </a:r>
            <a:br/>
            <a:br/>
            <a:r>
              <a:t>Governance anchor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63040"/>
            <a:ext cx="50292" cy="402336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002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ML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Challenger model</a:t>
            </a:r>
            <a:br/>
            <a:br/>
            <a:r>
              <a:t>Nonlinear signal</a:t>
            </a:r>
            <a:br/>
            <a:br/>
            <a:r>
              <a:t>Behavioral segmentation</a:t>
            </a:r>
            <a:br/>
            <a:br/>
            <a:r>
              <a:t>Early-warning use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50292" cy="402336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002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DECISION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93392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Policy cut-offs</a:t>
            </a:r>
            <a:br/>
            <a:r>
              <a:t>Human review</a:t>
            </a:r>
            <a:br/>
            <a:r>
              <a:t>Pricing / limits</a:t>
            </a:r>
            <a:br/>
            <a:r>
              <a:t>Monitoring</a:t>
            </a:r>
            <a:br/>
            <a:r>
              <a:t>Model-risk controls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3474720"/>
            <a:ext cx="41148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26679" y="3474720"/>
            <a:ext cx="411481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This architecture allows institutions to capture incremental ML signal while preserving a controlled and interpretable decision framework.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WHAT → WHY → HOW → SO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Decision Framework: When Should You Consider ML?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02920" cy="347472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298448"/>
            <a:ext cx="429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344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Is the pattern genuinely complex?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2344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Nonlinearity / interactions / high dimensionality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502920" cy="347472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121408"/>
            <a:ext cx="429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574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Is there enough quality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Volume, lineage, representativeness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02920" cy="347472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944368"/>
            <a:ext cx="429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803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Is incremental performance material?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803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Out-of-time + calibration + economics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502920" cy="347472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3767328"/>
            <a:ext cx="429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033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Can we govern it?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7033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Validation, explainability, monitoring, change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26280"/>
            <a:ext cx="502920" cy="347472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590288"/>
            <a:ext cx="429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262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Can we operationalize 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526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Systems, latency, human workflow, 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PRACTICAL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Migration Roadmap: Scorecard → ML Challenger → Controlled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011680" cy="32918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5B9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202730"/>
                </a:solidFill>
              </a:defRPr>
            </a:pPr>
            <a:r>
              <a:t>Document champion scorecard</a:t>
            </a:r>
            <a:br/>
            <a:r>
              <a:t>Performance + governance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3154680"/>
            <a:ext cx="256032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554480"/>
            <a:ext cx="2011680" cy="32918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799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7E87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Challenger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7180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202730"/>
                </a:solidFill>
              </a:defRPr>
            </a:pPr>
            <a:r>
              <a:t>Build ML with controlled features</a:t>
            </a:r>
            <a:br/>
            <a:r>
              <a:t>Pre-register validation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3154680"/>
            <a:ext cx="256032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1554480"/>
            <a:ext cx="2011680" cy="32918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B58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5892E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97180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202730"/>
                </a:solidFill>
              </a:defRPr>
            </a:pPr>
            <a:r>
              <a:t>OOT performance</a:t>
            </a:r>
            <a:br/>
            <a:r>
              <a:t>Calibration • stability • explainability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78040" y="3154680"/>
            <a:ext cx="256031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554480"/>
            <a:ext cx="2011680" cy="32918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B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04040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297180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202730"/>
                </a:solidFill>
              </a:defRPr>
            </a:pPr>
            <a:r>
              <a:t>Shadow mode / controlled segment</a:t>
            </a:r>
            <a:br/>
            <a:r>
              <a:t>Monitor operational impact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09759" y="3154680"/>
            <a:ext cx="256033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1554480"/>
            <a:ext cx="2011680" cy="32918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37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7D54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97180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202730"/>
                </a:solidFill>
              </a:defRPr>
            </a:pPr>
            <a:r>
              <a:t>Approval • deployment</a:t>
            </a:r>
            <a:br/>
            <a:r>
              <a:t>Continuous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DECISION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Executive Checklist Before Replacing a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36245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1673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Does ML deliver a material out-of-time performance gain?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47672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842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3852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Is calibration at least as decision-useful as the champion?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69464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060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6032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Are the gains stable across products, segments and time?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91256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2278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18211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Can the institution produce defensible explanations and reason codes?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13048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84962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Are data lineage, feature timing and leakage controls mature?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34840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4714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256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Can model risk independently validate the additional complexity?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56632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09320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4748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Does the incremental economic benefit exceed implementation and governance cost?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BE6E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25880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Scorecards remain powerful because interpretability, stability and governance are valuable forms of model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94560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ML can capture nonlinearities and interactions that traditional scorecards may miss.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63239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Higher predictive performance should be judged out-of-time, across segments and through economic impact — not AUC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931920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Moving to ML expands the governance surface: data, explainability, drift, validation and change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800600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A controlled champion–challenger or hybrid architecture can combine mature scorecard governance with incremental ML signal.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E6F0"/>
                </a:solidFill>
              </a:defRPr>
            </a:pPr>
            <a:r>
              <a:t>The question is not “Scorecard or ML?” — it is “Where does complexity create controlled, measurable credit-risk value?”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B4BEC8"/>
                </a:solidFill>
              </a:defRPr>
            </a:pPr>
            <a:r>
              <a:t>SCORECARD vs MACHINE LEARNING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IMPORTANT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Method Notes &amp; Reference 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02730"/>
                </a:solidFill>
              </a:defRPr>
            </a:pPr>
            <a:r>
              <a:t>• All numerical examples and comparison metrics in this deck are illustrative and are not claims about any specific bank.</a:t>
            </a:r>
            <a:br/>
            <a:br/>
            <a:r>
              <a:t>• Traditional scorecards commonly use binning, Weight of Evidence and logistic regression, but implementations vary materially by institution and product.</a:t>
            </a:r>
            <a:br/>
            <a:br/>
            <a:r>
              <a:t>• ML model families include gradient boosting, random forests and neural networks; model suitability depends on data, use case and controls.</a:t>
            </a:r>
            <a:br/>
            <a:br/>
            <a:r>
              <a:t>• Validation should consider discrimination, calibration, stability, benchmarking, implementation correctness and limitations.</a:t>
            </a:r>
            <a:br/>
            <a:br/>
            <a:r>
              <a:t>• Governance expectations differ by jurisdiction, model use and materiality; institutions should align the framework to their applicable policies and supervisory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337"/>
                </a:solidFill>
              </a:defRPr>
            </a:pPr>
            <a:r>
              <a:t>Training principle: compare models on the complete decision system, not on a single metric.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SCORECARD vs MACHINE LEARNING  |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