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FINANCIAL CRISIS • CREDIT RISK • SYSTEMIC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232A30"/>
                </a:solidFill>
                <a:latin typeface="Aptos Display"/>
              </a:rPr>
              <a:t>Counterparty Risk, Systemic Risk &amp; Contagion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6070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F6973"/>
                </a:solidFill>
                <a:latin typeface="Aptos"/>
              </a:rPr>
              <a:t>From one institution’s exposure to a system-wide credit event — and the regulatory response that followed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50292" cy="14173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15087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32A30"/>
                </a:solidFill>
                <a:latin typeface="Aptos"/>
              </a:rPr>
              <a:t>Counterparty</a:t>
            </a:r>
          </a:p>
          <a:p>
            <a:r>
              <a:rPr sz="1300" b="1">
                <a:solidFill>
                  <a:srgbClr val="232A30"/>
                </a:solidFill>
                <a:latin typeface="Aptos"/>
              </a:rPr>
              <a:t>risk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41448" y="3044952"/>
            <a:ext cx="374904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331720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331720"/>
            <a:ext cx="50292" cy="141732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51460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1508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2A30"/>
                </a:solidFill>
                <a:latin typeface="Aptos"/>
              </a:rPr>
              <a:t>Systemic
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27448" y="3044952"/>
            <a:ext cx="374904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60" y="2331720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2331720"/>
            <a:ext cx="50292" cy="141732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51460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788920"/>
            <a:ext cx="1508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2A30"/>
                </a:solidFill>
                <a:latin typeface="Aptos"/>
              </a:rPr>
              <a:t>Contagion
risk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13448" y="3044952"/>
            <a:ext cx="374904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2331720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2331720"/>
            <a:ext cx="50292" cy="141732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251460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A802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88920"/>
            <a:ext cx="1508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2A30"/>
                </a:solidFill>
                <a:latin typeface="Aptos"/>
              </a:rPr>
              <a:t>2008 ripple
effect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9448" y="3044952"/>
            <a:ext cx="374904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38360" y="2331720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2331720"/>
            <a:ext cx="50292" cy="14173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51460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788920"/>
            <a:ext cx="15087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2A30"/>
                </a:solidFill>
                <a:latin typeface="Aptos"/>
              </a:rPr>
              <a:t>Regulatory
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60520"/>
            <a:ext cx="108813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5C94"/>
                </a:solidFill>
                <a:latin typeface="Aptos"/>
              </a:rPr>
              <a:t>Teaching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572000"/>
            <a:ext cx="108813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2A30"/>
                </a:solidFill>
                <a:latin typeface="Aptos"/>
              </a:rPr>
              <a:t>Understand why credit risk can migrate from a bilateral exposure into a network problem — and how Basel III, IFRS 9, stress testing and model governance address different parts of that chain.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97880"/>
            <a:ext cx="10881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>Continuation of the attached 2008 Financial Crisis / Credit Risk teaching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Framework built from the attached crisis deck; regulatory sections add standard post-crisis concepts.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01 • COUNTERPARTY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What is Counterparty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The risk that the other party to a financial contract fails to perform — especially important in derivatives, securities financing and bilateral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7432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18288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75104"/>
            <a:ext cx="2450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BANK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31720"/>
            <a:ext cx="2450592" cy="12070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Has a $100m derivative receivable
from Bank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27432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50292" cy="182880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75104"/>
            <a:ext cx="2450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BANK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2450592" cy="12070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Owes $100m if the contract is in Bank A’s favour.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28800"/>
            <a:ext cx="2743200" cy="1828800"/>
          </a:xfrm>
          <a:prstGeom prst="roundRect">
            <a:avLst/>
          </a:prstGeom>
          <a:solidFill>
            <a:srgbClr val="FAF3F3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828800"/>
            <a:ext cx="50292" cy="182880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1975104"/>
            <a:ext cx="245059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331720"/>
            <a:ext cx="2450592" cy="12070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Bank B cannot perform.
Exposure becomes a loss subject to recovery/collateral.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64992" y="2743200"/>
            <a:ext cx="106984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96912" y="2743200"/>
            <a:ext cx="106984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4160520"/>
            <a:ext cx="178308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160520"/>
            <a:ext cx="50292" cy="132588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370832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2A30"/>
                </a:solidFill>
                <a:latin typeface="Aptos"/>
              </a:rPr>
              <a:t>Current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36592"/>
            <a:ext cx="1554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0" i="0">
                <a:solidFill>
                  <a:srgbClr val="5F6973"/>
                </a:solidFill>
                <a:latin typeface="Aptos"/>
              </a:rPr>
              <a:t>Mark-to-market amount currently owed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4160520"/>
            <a:ext cx="178308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4160520"/>
            <a:ext cx="50292" cy="132588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4370832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2A30"/>
                </a:solidFill>
                <a:latin typeface="Aptos"/>
              </a:rPr>
              <a:t>Potential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736592"/>
            <a:ext cx="1554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0" i="0">
                <a:solidFill>
                  <a:srgbClr val="5F6973"/>
                </a:solidFill>
                <a:latin typeface="Aptos"/>
              </a:rPr>
              <a:t>Future exposure if market values move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160520"/>
            <a:ext cx="178308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4160520"/>
            <a:ext cx="50292" cy="1325880"/>
          </a:xfrm>
          <a:prstGeom prst="rect">
            <a:avLst/>
          </a:prstGeom>
          <a:solidFill>
            <a:srgbClr val="43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4370832"/>
            <a:ext cx="1554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2A30"/>
                </a:solidFill>
                <a:latin typeface="Aptos"/>
              </a:rPr>
              <a:t>Mitigants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736592"/>
            <a:ext cx="15544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0" i="0">
                <a:solidFill>
                  <a:srgbClr val="5F6973"/>
                </a:solidFill>
                <a:latin typeface="Aptos"/>
              </a:rPr>
              <a:t>Collateral, netting, margining, guarantees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4160520"/>
            <a:ext cx="1554480" cy="13258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0" y="4160520"/>
            <a:ext cx="50292" cy="132588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7272" y="4370832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2A30"/>
                </a:solidFill>
                <a:latin typeface="Aptos"/>
              </a:rPr>
              <a:t>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4736592"/>
            <a:ext cx="132588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69" b="0" i="0">
                <a:solidFill>
                  <a:srgbClr val="5F6973"/>
                </a:solidFill>
                <a:latin typeface="Aptos"/>
              </a:rPr>
              <a:t>Exposure × (1 − recovery)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715000"/>
            <a:ext cx="106984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5C94"/>
                </a:solidFill>
                <a:latin typeface="Aptos"/>
              </a:rPr>
              <a:t>2008 lesson: counterparty uncertainty can accelerate funding stress when market participants cannot tell who is exposed to whom.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Conceptual teaching framework; aligns with the attached deck’s discussion of AIG/CDS, counterparties and funding.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02 • SYSTEMIC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What is Systemic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The possibility that distress at one or more institutions disrupts the functioning of the wider financial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1" cy="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3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9736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2A30"/>
                </a:solidFill>
                <a:latin typeface="Aptos"/>
              </a:rPr>
              <a:t>Bank A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600200"/>
            <a:ext cx="1" cy="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11095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2A30"/>
                </a:solidFill>
                <a:latin typeface="Aptos"/>
              </a:rPr>
              <a:t>Bank B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148840"/>
            <a:ext cx="1" cy="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74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59736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2A30"/>
                </a:solidFill>
                <a:latin typeface="Aptos"/>
              </a:rPr>
              <a:t>Insurer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3977639"/>
            <a:ext cx="1" cy="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A8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288536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2A30"/>
                </a:solidFill>
                <a:latin typeface="Aptos"/>
              </a:rPr>
              <a:t>Money Fund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0" y="3977639"/>
            <a:ext cx="1" cy="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E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288536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2A30"/>
                </a:solidFill>
                <a:latin typeface="Aptos"/>
              </a:rPr>
              <a:t>Markets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286000" y="2057400"/>
            <a:ext cx="1371600" cy="54864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2057400"/>
            <a:ext cx="1325880" cy="54864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70832" y="2514600"/>
            <a:ext cx="0" cy="1463039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74920" y="4434840"/>
            <a:ext cx="406908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2788920"/>
            <a:ext cx="1325880" cy="137160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5257800"/>
            <a:ext cx="10789920" cy="68580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257800"/>
            <a:ext cx="50292" cy="6858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13248"/>
            <a:ext cx="1554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SYSTEMIC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58384"/>
            <a:ext cx="89154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32A30"/>
                </a:solidFill>
                <a:latin typeface="Aptos"/>
              </a:rPr>
              <a:t>Counterparty links • common asset exposures • short-term funding • payment/clearing infrastructure • confidence effects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The attached deck emphasizes interconnectedness, counterparties, funding and payments/clearing as systemic channels. fileciteturn0file0L511-L536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03 • CONTAGION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What is Contagion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Contagion is the transmission of financial stress from one entity or market to others through direct and indirect channels.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0632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50292" cy="21031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2A30"/>
                </a:solidFill>
                <a:latin typeface="Aptos"/>
              </a:rPr>
              <a:t>Counterparty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26517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973"/>
                </a:solidFill>
                <a:latin typeface="Aptos"/>
              </a:rPr>
              <a:t>A fails → B loses money
on a contract / loan.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74519"/>
            <a:ext cx="30632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874519"/>
            <a:ext cx="50292" cy="210312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084831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INDIRECT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87168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2A30"/>
                </a:solidFill>
                <a:latin typeface="Aptos"/>
              </a:rPr>
              <a:t>Market 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999232"/>
            <a:ext cx="26517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973"/>
                </a:solidFill>
                <a:latin typeface="Aptos"/>
              </a:rPr>
              <a:t>A fails → prices fall →
others face mark-to-market losses.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874519"/>
            <a:ext cx="30632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874519"/>
            <a:ext cx="50292" cy="21031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2084831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487168"/>
            <a:ext cx="26517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2A30"/>
                </a:solidFill>
                <a:latin typeface="Aptos"/>
              </a:rPr>
              <a:t>Confidence shock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999232"/>
            <a:ext cx="265176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973"/>
                </a:solidFill>
                <a:latin typeface="Aptos"/>
              </a:rPr>
              <a:t>A fails → lenders withdraw
funding from similar firms.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2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5C94"/>
                </a:solidFill>
                <a:latin typeface="Aptos"/>
              </a:rPr>
              <a:t>CONTAGION FEEDBACK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773168"/>
            <a:ext cx="50292" cy="8229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Failure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03704" y="5184648"/>
            <a:ext cx="201168" cy="0"/>
          </a:xfrm>
          <a:prstGeom prst="line">
            <a:avLst/>
          </a:prstGeom>
          <a:ln w="1651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68879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79" y="4773168"/>
            <a:ext cx="50292" cy="82296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A802D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2072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Loss / uncertainty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78224" y="5184648"/>
            <a:ext cx="201168" cy="0"/>
          </a:xfrm>
          <a:prstGeom prst="line">
            <a:avLst/>
          </a:prstGeom>
          <a:ln w="1651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43400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773168"/>
            <a:ext cx="50292" cy="82296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Margin &amp; haircuts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52744" y="5184648"/>
            <a:ext cx="201168" cy="0"/>
          </a:xfrm>
          <a:prstGeom prst="line">
            <a:avLst/>
          </a:prstGeom>
          <a:ln w="1651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17920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773168"/>
            <a:ext cx="50292" cy="82296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Funding withdrawal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27264" y="5184648"/>
            <a:ext cx="201167" cy="0"/>
          </a:xfrm>
          <a:prstGeom prst="line">
            <a:avLst/>
          </a:prstGeom>
          <a:ln w="1651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92440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4773168"/>
            <a:ext cx="50292" cy="82296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2167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Forced sales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701784" y="5184648"/>
            <a:ext cx="201168" cy="0"/>
          </a:xfrm>
          <a:prstGeom prst="line">
            <a:avLst/>
          </a:prstGeom>
          <a:ln w="1651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966959" y="4773168"/>
            <a:ext cx="1600200" cy="82296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966959" y="4773168"/>
            <a:ext cx="50292" cy="8229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76687" y="491947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1" y="4882896"/>
            <a:ext cx="10515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2A30"/>
                </a:solidFill>
                <a:latin typeface="Aptos"/>
              </a:rPr>
              <a:t>Further losses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The attached deck describes the 2008 mechanism as counterparty uncertainty → funding stress → credit contraction. fileciteturn0file0L354-L388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04 • 2008 RIPPLE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How One Financial Institution Can Impact the Entire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Lehman illustrates how credit, counterparty, liquidity and confidence channels can reinforce one another.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132588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75104"/>
            <a:ext cx="167335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Lehman
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31720"/>
            <a:ext cx="1673351" cy="7040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2487168"/>
            <a:ext cx="274320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828800"/>
            <a:ext cx="50292" cy="132588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975104"/>
            <a:ext cx="167335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Counterparty
uncertainty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331720"/>
            <a:ext cx="1673351" cy="7040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73752" y="2487168"/>
            <a:ext cx="274320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828800"/>
            <a:ext cx="50292" cy="132588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1975104"/>
            <a:ext cx="167335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Money-market /
funding stress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331720"/>
            <a:ext cx="1673351" cy="7040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59752" y="2487168"/>
            <a:ext cx="274320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828800"/>
            <a:ext cx="50292" cy="132588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1975104"/>
            <a:ext cx="167335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Credit
contraction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331720"/>
            <a:ext cx="1673351" cy="7040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45752" y="2487168"/>
            <a:ext cx="274320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38360" y="1828800"/>
            <a:ext cx="19659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828800"/>
            <a:ext cx="50292" cy="132588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975104"/>
            <a:ext cx="1673351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Government
intervention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331720"/>
            <a:ext cx="1673351" cy="70408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973"/>
                </a:solidFill>
                <a:latin typeface="Apto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79476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794760"/>
            <a:ext cx="50292" cy="15087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941064"/>
            <a:ext cx="2953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LEHMAN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297680"/>
            <a:ext cx="2953512" cy="8869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30.7× leverage in Nov-07; $188bn tri-party repo at May 31, 2008.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69080" y="3794760"/>
            <a:ext cx="3246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9080" y="3794760"/>
            <a:ext cx="50292" cy="150876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3941064"/>
            <a:ext cx="29535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AIG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2" y="4297680"/>
            <a:ext cx="2953512" cy="8869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CDS and securities-lending links made collateral and counterparty concerns system-relevant.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794760"/>
            <a:ext cx="37033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3800" y="3794760"/>
            <a:ext cx="50292" cy="150876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08392" y="3941064"/>
            <a:ext cx="341071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32A30"/>
                </a:solidFill>
                <a:latin typeface="Aptos"/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4297680"/>
            <a:ext cx="3410712" cy="88696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F6973"/>
                </a:solidFill>
                <a:latin typeface="Aptos"/>
              </a:rPr>
              <a:t>September 2008 moved from individual firm stress to generalized loss of confidence.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623560"/>
            <a:ext cx="106070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Key distinction: systemic impact depends not only on size, but also on interconnectedness, substitutability, funding structure and the speed of transmission.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Lehman figures and September sequence are from the attached deck. fileciteturn0file0L322-L343 fileciteturn0file0L354-L388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05 • COMPLETE RISK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2008 Crisis — From Credit Risk to Systemic 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A single borrower-level problem became systemic only after several amplification mechanisms interacted.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0292" cy="306324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UNDERWRITING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Higher-risk mortgages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5C94"/>
                </a:solidFill>
                <a:latin typeface="Aptos"/>
              </a:rPr>
              <a:t>PD rises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04288" y="3310128"/>
            <a:ext cx="54864" cy="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77439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39" y="1828800"/>
            <a:ext cx="50292" cy="306324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5456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SECURITIZATION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Risk pooled / tranched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E97A8"/>
                </a:solidFill>
                <a:latin typeface="Aptos"/>
              </a:rPr>
              <a:t>Correlation + opacity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78807" y="3310128"/>
            <a:ext cx="54864" cy="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51959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828800"/>
            <a:ext cx="50292" cy="306324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5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LEVERAGE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5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Thin capital buffers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5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74E91"/>
                </a:solidFill>
                <a:latin typeface="Aptos"/>
              </a:rPr>
              <a:t>Small losses → large equity impact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53327" y="3310128"/>
            <a:ext cx="54865" cy="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26479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1828800"/>
            <a:ext cx="50292" cy="306324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5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A802D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5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COUNTERPARTY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5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Derivatives / funding links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5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DA802D"/>
                </a:solidFill>
                <a:latin typeface="Aptos"/>
              </a:rPr>
              <a:t>Uncertainty spreads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27848" y="3310128"/>
            <a:ext cx="54863" cy="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01000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1828800"/>
            <a:ext cx="50292" cy="306324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29016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LIQUIDITY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Margin + funding pressure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BE373A"/>
                </a:solidFill>
                <a:latin typeface="Aptos"/>
              </a:rPr>
              <a:t>Forced sales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02368" y="3310128"/>
            <a:ext cx="54864" cy="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20" y="1828800"/>
            <a:ext cx="178308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75520" y="1828800"/>
            <a:ext cx="50292" cy="306324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03536" y="1993392"/>
            <a:ext cx="274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03536" y="2377440"/>
            <a:ext cx="14173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SYSTEMIC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3536" y="2926080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Confidence shock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3822191"/>
            <a:ext cx="14173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5C94"/>
                </a:solidFill>
                <a:latin typeface="Aptos"/>
              </a:rPr>
              <a:t>Credit contraction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257800"/>
            <a:ext cx="10789920" cy="713232"/>
          </a:xfrm>
          <a:prstGeom prst="roundRect">
            <a:avLst/>
          </a:prstGeom>
          <a:solidFill>
            <a:srgbClr val="FAF3F3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" y="5257800"/>
            <a:ext cx="50292" cy="713232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431536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CORE LESSON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48840" y="5376672"/>
            <a:ext cx="88696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2A30"/>
                </a:solidFill>
                <a:latin typeface="Aptos"/>
              </a:rPr>
              <a:t>Risk must be managed at both the institution level and the network/system level.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Synthesis of the attached deck’s credit-risk lessons: underwriting, concentration, leverage, liquidity, model and contagion risk. fileciteturn0file0L568-L602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06 • REGULATORY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Regulatory Lessons from the 2008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The reforms addressed different failure modes: capital resilience, expected losses, liquidity, scenario analysis and model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231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242316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5740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5C94"/>
                </a:solidFill>
                <a:latin typeface="Aptos"/>
              </a:rPr>
              <a:t>BASEL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2057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Capital + liquidity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27248"/>
            <a:ext cx="2057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CET1 quality • buffers • leverage
LCR / NSFR • systemic buffers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4231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50292" cy="242316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05740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97A8"/>
                </a:solidFill>
                <a:latin typeface="Aptos"/>
              </a:rPr>
              <a:t>IFRS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542032"/>
            <a:ext cx="2057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Earlier loss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127248"/>
            <a:ext cx="2057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12-month / lifetime ECL
SICR • forward-looking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4231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0292" cy="242316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05740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74E91"/>
                </a:solidFill>
                <a:latin typeface="Aptos"/>
              </a:rPr>
              <a:t>STRESS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542032"/>
            <a:ext cx="2057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Survive severe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127248"/>
            <a:ext cx="2057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Macro shocks • capital impact
reverse stress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828800"/>
            <a:ext cx="24231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828800"/>
            <a:ext cx="50292" cy="242316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057400"/>
            <a:ext cx="2057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A802D"/>
                </a:solidFill>
                <a:latin typeface="Aptos"/>
              </a:rPr>
              <a:t>MODEL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542032"/>
            <a:ext cx="20574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Control model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3127248"/>
            <a:ext cx="2057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F6973"/>
                </a:solidFill>
                <a:latin typeface="Aptos"/>
              </a:rPr>
              <a:t>Independent validation • monitoring
change control • documentation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617720"/>
            <a:ext cx="10789920" cy="96012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617720"/>
            <a:ext cx="50292" cy="9601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28032"/>
            <a:ext cx="2011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POST-CRISIS 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754880"/>
            <a:ext cx="85039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From “Is the firm adequately capitalized today?” → “Can the firm absorb severe losses, funding stress and model uncertainty tomorrow?”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Basel III and IFRS 9 are post-2008 regulatory responses; IFRS 9 became effective in 2018.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07 • BASEL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Basel III — Regulatory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Basel III strengthened the quality and quantity of capital and introduced stronger liquidity and leverage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CAPITAL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2926080" cy="105156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CET1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645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ptos"/>
              </a:rPr>
              <a:t>Highest quality common equity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19272"/>
            <a:ext cx="2926080" cy="59436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Additional 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29000"/>
            <a:ext cx="1645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ptos"/>
              </a:rPr>
              <a:t>Going-concern capital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05072"/>
            <a:ext cx="2926080" cy="41148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1097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Tier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1645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ptos"/>
              </a:rPr>
              <a:t>Gone-concern / subordinated capital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1874519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1874519"/>
            <a:ext cx="50292" cy="11430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1" y="203911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5C94"/>
                </a:solidFill>
                <a:latin typeface="Aptos"/>
              </a:rPr>
              <a:t>CAPITAL BUFFERS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1" y="2377439"/>
            <a:ext cx="2880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F6973"/>
                </a:solidFill>
                <a:latin typeface="Aptos"/>
              </a:rPr>
              <a:t>Capital Conservation + Countercyclical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291839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3291839"/>
            <a:ext cx="50292" cy="114300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2231" y="345643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E97A8"/>
                </a:solidFill>
                <a:latin typeface="Aptos"/>
              </a:rPr>
              <a:t>LEVERAGE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1" y="3794759"/>
            <a:ext cx="2880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F6973"/>
                </a:solidFill>
                <a:latin typeface="Aptos"/>
              </a:rPr>
              <a:t>Non-risk-weighted backstop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874519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1874519"/>
            <a:ext cx="50292" cy="114300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1" y="203911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674E91"/>
                </a:solidFill>
                <a:latin typeface="Aptos"/>
              </a:rPr>
              <a:t>LCR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831" y="2377439"/>
            <a:ext cx="2880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F6973"/>
                </a:solidFill>
                <a:latin typeface="Aptos"/>
              </a:rPr>
              <a:t>High-quality liquid assets / 30-day net outflows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291839"/>
            <a:ext cx="3337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3291839"/>
            <a:ext cx="50292" cy="114300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1" y="3456432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DA802D"/>
                </a:solidFill>
                <a:latin typeface="Aptos"/>
              </a:rPr>
              <a:t>NSFR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9831" y="3794759"/>
            <a:ext cx="28803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F6973"/>
                </a:solidFill>
                <a:latin typeface="Aptos"/>
              </a:rPr>
              <a:t>Stable funding over a longer horizon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4892040"/>
            <a:ext cx="6995160" cy="822960"/>
          </a:xfrm>
          <a:prstGeom prst="roundRect">
            <a:avLst/>
          </a:prstGeom>
          <a:solidFill>
            <a:srgbClr val="FAF3F3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77639" y="4892040"/>
            <a:ext cx="50292" cy="82296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5102352"/>
            <a:ext cx="14173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2008 CONNECTION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047488"/>
            <a:ext cx="5166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Thin capital + short-term funding amplified asset-value shocks and liquidity runs.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Basel III summary based on standard Basel Committee framework; exact implementation varies by jurisdiction.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08 • IFRS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IFRS 9 — Regulatory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IFRS 9 introduced an expected credit loss model designed to recognize credit deterioration earlier than an incurred-loss approach.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0632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1874519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2A30"/>
                </a:solidFill>
                <a:latin typeface="Aptos"/>
              </a:rPr>
              <a:t>12-month ECL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26517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Initial recognition / no significant increase in credit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28800"/>
            <a:ext cx="30632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828800"/>
            <a:ext cx="50292" cy="1874519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8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97A8"/>
                </a:solidFill>
                <a:latin typeface="Aptos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2A30"/>
                </a:solidFill>
                <a:latin typeface="Aptos"/>
              </a:rPr>
              <a:t>Lifetime ECL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953512"/>
            <a:ext cx="26517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Significant increase in credit risk (SICR)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828800"/>
            <a:ext cx="30632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828800"/>
            <a:ext cx="50292" cy="1874519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2029968"/>
            <a:ext cx="2651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373A"/>
                </a:solidFill>
                <a:latin typeface="Aptos"/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423160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2A30"/>
                </a:solidFill>
                <a:latin typeface="Aptos"/>
              </a:rPr>
              <a:t>Lifetime ECL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953512"/>
            <a:ext cx="26517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Credit-impaired asset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51960"/>
            <a:ext cx="10789920" cy="114300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50292" cy="114300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FORWARD-LOOKING ECL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07408"/>
            <a:ext cx="80467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32A30"/>
                </a:solidFill>
                <a:latin typeface="Aptos"/>
              </a:rPr>
              <a:t>ECL ≈ Σ [ PD × LGD × EAD × discount factor ] × scenario weight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15000"/>
            <a:ext cx="10698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2008 lesson: credit losses can accelerate quickly; waiting for default evidence can delay recognition of deteriorating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IFRS 9 summary based on the standard expected-credit-loss / staging framework.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09 • STRESS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Stress Testing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Stress testing asks: what happens to credit losses, capital, liquidity and funding if severe but plausible conditions occur?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0292" cy="20574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75104"/>
            <a:ext cx="21305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MACRO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31720"/>
            <a:ext cx="2130552" cy="1435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GDP ↓ • unemployment ↑
house prices ↓ • rates 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834640"/>
            <a:ext cx="310896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79" y="18288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1828800"/>
            <a:ext cx="50292" cy="205740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975104"/>
            <a:ext cx="21305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RISK TRANSMISSION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331720"/>
            <a:ext cx="2130552" cy="1435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PD ↑ • LGD ↑
collateral ↓ • funding stress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33872" y="2834640"/>
            <a:ext cx="310896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18288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50292" cy="205740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75104"/>
            <a:ext cx="21305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FINANCIAL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331720"/>
            <a:ext cx="2130552" cy="1435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ECL ↑ • provisions ↑
RWA / capital pressure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22792" y="2834640"/>
            <a:ext cx="310896" cy="0"/>
          </a:xfrm>
          <a:prstGeom prst="line">
            <a:avLst/>
          </a:prstGeom>
          <a:ln w="2159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1828800"/>
            <a:ext cx="242316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50292" cy="205740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975104"/>
            <a:ext cx="213055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MANAGEMENT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331720"/>
            <a:ext cx="2130552" cy="14356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Capital plan • limits
liquidity actions • contingency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10607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EXAMPLE SCENARIO DESIGN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94360" y="4663440"/>
          <a:ext cx="10789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828800"/>
                <a:gridCol w="4937760"/>
              </a:tblGrid>
              <a:tr h="3017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235C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235C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Stress</a:t>
                      </a:r>
                    </a:p>
                  </a:txBody>
                  <a:tcPr>
                    <a:solidFill>
                      <a:srgbClr val="235C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Transmission</a:t>
                      </a:r>
                    </a:p>
                  </a:txBody>
                  <a:tcPr>
                    <a:solidFill>
                      <a:srgbClr val="235C9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House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−20%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Collateral / LGD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Unemployment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PD ↑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Funding 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100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300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Liquidity / margin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Default rate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A30"/>
                          </a:solidFill>
                          <a:latin typeface="Aptos"/>
                        </a:defRPr>
                      </a:pPr>
                      <a:r>
                        <a:t>ECL / capital impact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Illustrative stress scenario for teaching; figures are not historical forecasts.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10 • MODEL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Model Governance After the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Models influence capital, provisions, pricing and credit decisions — so governance must control both model performance and model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0292" cy="214884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What models exist?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04288" y="2898648"/>
            <a:ext cx="45720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4872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04872" y="1828800"/>
            <a:ext cx="50292" cy="214884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Data • methodology •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6240" y="2898648"/>
            <a:ext cx="45720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06824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50292" cy="214884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Independent challenge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2898648"/>
            <a:ext cx="45720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08776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828800"/>
            <a:ext cx="50292" cy="214884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A802D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Controls • versioning • access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10144" y="2898648"/>
            <a:ext cx="45720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0728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0728" y="1828800"/>
            <a:ext cx="50292" cy="214884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Performance • drift • triggers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12096" y="2898648"/>
            <a:ext cx="45720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12680" y="1828800"/>
            <a:ext cx="1783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12680" y="1828800"/>
            <a:ext cx="50292" cy="214884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0696" y="1993392"/>
            <a:ext cx="256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0696" y="239572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32A30"/>
                </a:solidFill>
                <a:latin typeface="Aptos"/>
              </a:rPr>
              <a:t>Change / Exit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0696" y="2889504"/>
            <a:ext cx="141732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5F6973"/>
                </a:solidFill>
                <a:latin typeface="Aptos"/>
              </a:rPr>
              <a:t>Recalibration • retirement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34840"/>
            <a:ext cx="10789920" cy="1143000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4434840"/>
            <a:ext cx="50292" cy="11430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617720"/>
            <a:ext cx="1645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CONTROL AREAS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553712"/>
            <a:ext cx="8732520" cy="5303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32A30"/>
                </a:solidFill>
                <a:latin typeface="Aptos"/>
              </a:rPr>
              <a:t>Data quality • conceptual soundness • independent validation • discrimination/calibration • stability • overrides • documentation • change control • ongoing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806440"/>
            <a:ext cx="106984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32A30"/>
                </a:solidFill>
                <a:latin typeface="Aptos"/>
              </a:rPr>
              <a:t>2008 lesson: model outputs are only as reliable as assumptions about correlation, liquidity, tail risk and changing market conditions.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Model-governance synthesis connects the attached deck’s model-risk lesson with standard bank model-risk controls. fileciteturn0file0L568-L602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11 • COMPLETE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2008 Crisis — Complete Credit Risk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One integrated view: borrower default → securitization → leverage → counterparty exposure → contagion → regulatory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42316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0292" cy="228600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98424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5C94"/>
                </a:solidFill>
                <a:latin typeface="Aptos"/>
              </a:rPr>
              <a:t>A •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423160"/>
            <a:ext cx="2103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Subprime mortgages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971800"/>
            <a:ext cx="2103120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5F6973"/>
                </a:solidFill>
                <a:latin typeface="Aptos"/>
              </a:rPr>
              <a:t>Weak underwriting + rising house prices
→ delinquencies and defaults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83080"/>
            <a:ext cx="242316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50292" cy="228600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98424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E97A8"/>
                </a:solidFill>
                <a:latin typeface="Aptos"/>
              </a:rPr>
              <a:t>B • AMPLIFICATION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423160"/>
            <a:ext cx="2103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Securitization + leverage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971800"/>
            <a:ext cx="2103120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5F6973"/>
                </a:solidFill>
                <a:latin typeface="Aptos"/>
              </a:rPr>
              <a:t>MBS/CDOs + thin equity
→ losses spread and magnify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83080"/>
            <a:ext cx="242316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0292" cy="228600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198424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BE373A"/>
                </a:solidFill>
                <a:latin typeface="Aptos"/>
              </a:rPr>
              <a:t>C • TRANSMISSION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423160"/>
            <a:ext cx="2103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Lehman / AIG /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971800"/>
            <a:ext cx="2103120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5F6973"/>
                </a:solidFill>
                <a:latin typeface="Aptos"/>
              </a:rPr>
              <a:t>Counterparty uncertainty + collateral calls
→ liquidity and confidence shock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783080"/>
            <a:ext cx="242316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783080"/>
            <a:ext cx="50292" cy="228600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198424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74E91"/>
                </a:solidFill>
                <a:latin typeface="Aptos"/>
              </a:rPr>
              <a:t>D •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423160"/>
            <a:ext cx="2103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32A30"/>
                </a:solidFill>
                <a:latin typeface="Aptos"/>
              </a:rPr>
              <a:t>Post-crisis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2971800"/>
            <a:ext cx="2103120" cy="8046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5F6973"/>
                </a:solidFill>
                <a:latin typeface="Aptos"/>
              </a:rPr>
              <a:t>Basel III + IFRS 9 + stress testing
+ stronger model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389120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CREDIT-RISK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736592"/>
            <a:ext cx="50292" cy="9601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BE373A"/>
                </a:solidFill>
                <a:latin typeface="Aptos"/>
              </a:rPr>
              <a:t>PD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Defaults 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3160" y="4736592"/>
            <a:ext cx="50292" cy="96012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328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DA802D"/>
                </a:solidFill>
                <a:latin typeface="Aptos"/>
              </a:rPr>
              <a:t>LGD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328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Collateral values 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4736592"/>
            <a:ext cx="50292" cy="96012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16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674E91"/>
                </a:solidFill>
                <a:latin typeface="Aptos"/>
              </a:rPr>
              <a:t>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Exposure / margin 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4736592"/>
            <a:ext cx="50292" cy="96012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2E97A8"/>
                </a:solidFill>
                <a:latin typeface="Aptos"/>
              </a:rPr>
              <a:t>Counterparty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Network uncertainty 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95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09560" y="4736592"/>
            <a:ext cx="50292" cy="9601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92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235C94"/>
                </a:solidFill>
                <a:latin typeface="Aptos"/>
              </a:rPr>
              <a:t>Liquidity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Funding capacity 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0" y="4736592"/>
            <a:ext cx="1645920" cy="9601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38360" y="4736592"/>
            <a:ext cx="50292" cy="9601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48088" y="4892040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BE373A"/>
                </a:solidFill>
                <a:latin typeface="Aptos"/>
              </a:rPr>
              <a:t>Capital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8088" y="5184648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232A30"/>
                </a:solidFill>
                <a:latin typeface="Aptos"/>
              </a:rPr>
              <a:t>Loss absorption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Case synthesis uses the attached deck’s crisis chain and institutional evidence. fileciteturn0file0L568-L602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1064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5C94"/>
                </a:solidFill>
                <a:latin typeface="Aptos"/>
              </a:rPr>
              <a:t>12 • EXECUTIVE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1064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32A30"/>
                </a:solidFill>
                <a:latin typeface="Aptos Display"/>
              </a:rPr>
              <a:t>What a Credit Professional Should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15568"/>
            <a:ext cx="10972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F6973"/>
                </a:solidFill>
                <a:latin typeface="Aptos"/>
              </a:rPr>
              <a:t>The central lesson is not simply “more capital”; it is understanding how risks interact and transmit.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50292" cy="14173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9476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Counterparty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957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Know who owes whom — and how exposures change under stress.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830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783080"/>
            <a:ext cx="50292" cy="1417320"/>
          </a:xfrm>
          <a:prstGeom prst="rect">
            <a:avLst/>
          </a:prstGeom>
          <a:solidFill>
            <a:srgbClr val="2E9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9659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E97A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9476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Systemic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3957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Assess interconnectedness, concentration and common exposures.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7830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783080"/>
            <a:ext cx="50292" cy="1417320"/>
          </a:xfrm>
          <a:prstGeom prst="rect">
            <a:avLst/>
          </a:prstGeom>
          <a:solidFill>
            <a:srgbClr val="674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19659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74E9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19476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Contagion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Map direct, market and funding transmission channels.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118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611880"/>
            <a:ext cx="50292" cy="1417320"/>
          </a:xfrm>
          <a:prstGeom prst="rect">
            <a:avLst/>
          </a:prstGeom>
          <a:solidFill>
            <a:srgbClr val="DA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947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A802D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7764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Basel 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2245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Build capital and liquidity resilience before stress arrives.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6118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611880"/>
            <a:ext cx="50292" cy="1417320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37947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37764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IFRS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42245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Recognize expected losses using forward-looking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61188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3611880"/>
            <a:ext cx="50292" cy="1417320"/>
          </a:xfrm>
          <a:prstGeom prst="rect">
            <a:avLst/>
          </a:prstGeom>
          <a:solidFill>
            <a:srgbClr val="235C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3794760"/>
            <a:ext cx="29260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5C94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3776472"/>
            <a:ext cx="2423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2A30"/>
                </a:solidFill>
                <a:latin typeface="Aptos"/>
              </a:rPr>
              <a:t>Stress +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4224528"/>
            <a:ext cx="278892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5F6973"/>
                </a:solidFill>
                <a:latin typeface="Aptos"/>
              </a:rPr>
              <a:t>Challenge tail scenarios and control model assumptions.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32120"/>
            <a:ext cx="10789920" cy="658368"/>
          </a:xfrm>
          <a:prstGeom prst="roundRect">
            <a:avLst/>
          </a:prstGeom>
          <a:solidFill>
            <a:srgbClr val="FAF3F3"/>
          </a:solidFill>
          <a:ln w="10160"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532120"/>
            <a:ext cx="50292" cy="658368"/>
          </a:xfrm>
          <a:prstGeom prst="rect">
            <a:avLst/>
          </a:prstGeom>
          <a:solidFill>
            <a:srgbClr val="BE3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96712"/>
            <a:ext cx="15087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73A"/>
                </a:solidFill>
                <a:latin typeface="Aptos"/>
              </a:rPr>
              <a:t>FINAL MESSAGE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5641848"/>
            <a:ext cx="87782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2A30"/>
                </a:solidFill>
                <a:latin typeface="Aptos"/>
              </a:rPr>
              <a:t>A credit event becomes a crisis when interconnected exposures, leverage, liquidity and confidence amplify each other.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510528"/>
            <a:ext cx="1078992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5F6973"/>
                </a:solidFill>
                <a:latin typeface="Aptos"/>
              </a:rPr>
              <a:t>Executive synthesis based on the attached 2008 crisis deck and standard post-crisis regulatory concepts.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84280" y="6446520"/>
            <a:ext cx="2743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