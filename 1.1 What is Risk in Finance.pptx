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548640"/>
            <a:ext cx="1645920" cy="1645920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554480"/>
            <a:ext cx="914400" cy="914400"/>
          </a:xfrm>
          <a:prstGeom prst="ellipse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120640"/>
            <a:ext cx="2011680" cy="2011680"/>
          </a:xfrm>
          <a:prstGeom prst="ellipse">
            <a:avLst/>
          </a:prstGeom>
          <a:solidFill>
            <a:srgbClr val="1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8961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1.1  What is Risk in Finance?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D2E0F0"/>
                </a:solidFill>
              </a:rPr>
              <a:t>Risk • Uncertainty • Probability • Risk vs Reward • Financial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663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A6D6"/>
                </a:solidFill>
              </a:rPr>
              <a:t>Credit Risk Learning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F34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By the end of this module, you should be able to explain risk in practical financial terms.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1F5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Define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0552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Understand why risk exists whenever outcomes are uncertain.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184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667484"/>
                </a:solidFill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169164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73351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Separate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30552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Distinguish risk from uncertainty and probability.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16184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667484"/>
                </a:solidFill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657600"/>
            <a:ext cx="73152" cy="169164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Connect risk &amp; reward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Explain why higher expected return often comes with higher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76732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667484"/>
                </a:solidFill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73152" cy="1691640"/>
          </a:xfrm>
          <a:prstGeom prst="rect">
            <a:avLst/>
          </a:prstGeom>
          <a:solidFill>
            <a:srgbClr val="1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822191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Identify financial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79392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Recognize major categories of risk faced by financial institutions.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376732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667484"/>
                </a:solidFill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484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F34"/>
                </a:solidFill>
              </a:rPr>
              <a:t>What is Risk in Finance?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Risk is the possibility that an actual outcome will differ from the expected outcome.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920240"/>
          </a:xfrm>
          <a:prstGeom prst="rect">
            <a:avLst/>
          </a:prstGeom>
          <a:solidFill>
            <a:srgbClr val="1F5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Expected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What we believe will happen based on available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920240"/>
          </a:xfrm>
          <a:prstGeom prst="rect">
            <a:avLst/>
          </a:prstGeom>
          <a:solidFill>
            <a:srgbClr val="1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Actual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39112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What eventually happens in reality.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92024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39112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The potential deviation between expected and actual outcomes.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977639"/>
            <a:ext cx="9418320" cy="1143000"/>
          </a:xfrm>
          <a:prstGeom prst="round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422452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F1F34"/>
                </a:solidFill>
              </a:rPr>
              <a:t>Risk  ≈  Variability / Uncertainty around future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4406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02A36"/>
                </a:solidFill>
              </a:defRPr>
            </a:pPr>
            <a:r>
              <a:t>• Example: A borrower may repay on time, repay late, or default.</a:t>
            </a:r>
          </a:p>
          <a:p>
            <a:pPr>
              <a:spcAft>
                <a:spcPts val="1000"/>
              </a:spcAft>
              <a:defRPr sz="1400">
                <a:solidFill>
                  <a:srgbClr val="202A36"/>
                </a:solidFill>
              </a:defRPr>
            </a:pPr>
            <a:r>
              <a:t>• Finance focuses on measuring and managing these possible deviations.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484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F34"/>
                </a:solidFill>
              </a:rPr>
              <a:t>Risk vs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The key distinction: can we meaningfully estimate the likelihood of outcomes?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383280"/>
          </a:xfrm>
          <a:prstGeom prst="rect">
            <a:avLst/>
          </a:prstGeom>
          <a:solidFill>
            <a:srgbClr val="1F5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47091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• Possible outcomes are known or can be defined.
• Probabilities can be estimated or modeled.
• Can be measured, priced and managed.
Example: Historical default rates are used to estimate probability of default.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73152" cy="338328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81912"/>
            <a:ext cx="4709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Uncertainty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39112"/>
            <a:ext cx="47091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• Outcomes or probabilities are poorly known.
• Limited or unreliable historical information.
• Harder to quantify with traditional models.
Example: A completely new market with no meaningful loss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5212080"/>
            <a:ext cx="8138160" cy="685800"/>
          </a:xfrm>
          <a:prstGeom prst="round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537667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Risk can often be quantified; uncertainty may resist precise measurement.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484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F34"/>
                </a:solidFill>
              </a:rPr>
              <a:t>What is Probability?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Probability expresses how likely an event is to occur.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74519"/>
            <a:ext cx="9966960" cy="164592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664207"/>
            <a:ext cx="457200" cy="457200"/>
          </a:xfrm>
          <a:prstGeom prst="ellipse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19" y="228600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F34"/>
                </a:solidFill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19" y="267919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67484"/>
                </a:solidFill>
              </a:rPr>
              <a:t>Impossible</a:t>
            </a:r>
          </a:p>
        </p:txBody>
      </p:sp>
      <p:sp>
        <p:nvSpPr>
          <p:cNvPr id="9" name="Oval 8"/>
          <p:cNvSpPr/>
          <p:nvPr/>
        </p:nvSpPr>
        <p:spPr>
          <a:xfrm>
            <a:off x="3442715" y="1664207"/>
            <a:ext cx="457200" cy="457200"/>
          </a:xfrm>
          <a:prstGeom prst="ellipse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4660" y="228600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F34"/>
                </a:solidFill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6060" y="267919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67484"/>
                </a:solidFill>
              </a:rPr>
              <a:t>Low</a:t>
            </a:r>
          </a:p>
        </p:txBody>
      </p:sp>
      <p:sp>
        <p:nvSpPr>
          <p:cNvPr id="12" name="Oval 11"/>
          <p:cNvSpPr/>
          <p:nvPr/>
        </p:nvSpPr>
        <p:spPr>
          <a:xfrm>
            <a:off x="5934456" y="1664207"/>
            <a:ext cx="457200" cy="457200"/>
          </a:xfrm>
          <a:prstGeom prst="ellipse">
            <a:avLst/>
          </a:prstGeom>
          <a:solidFill>
            <a:srgbClr val="1F5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228600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F34"/>
                </a:solidFill>
              </a:rP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67919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67484"/>
                </a:solidFill>
              </a:rPr>
              <a:t>Possible</a:t>
            </a:r>
          </a:p>
        </p:txBody>
      </p:sp>
      <p:sp>
        <p:nvSpPr>
          <p:cNvPr id="15" name="Oval 14"/>
          <p:cNvSpPr/>
          <p:nvPr/>
        </p:nvSpPr>
        <p:spPr>
          <a:xfrm>
            <a:off x="8426196" y="1664207"/>
            <a:ext cx="457200" cy="457200"/>
          </a:xfrm>
          <a:prstGeom prst="ellipse">
            <a:avLst/>
          </a:prstGeom>
          <a:solidFill>
            <a:srgbClr val="1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8140" y="228600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F34"/>
                </a:solidFill>
              </a:rPr>
              <a:t>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9540" y="267919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67484"/>
                </a:solidFill>
              </a:rPr>
              <a:t>High</a:t>
            </a:r>
          </a:p>
        </p:txBody>
      </p:sp>
      <p:sp>
        <p:nvSpPr>
          <p:cNvPr id="18" name="Oval 17"/>
          <p:cNvSpPr/>
          <p:nvPr/>
        </p:nvSpPr>
        <p:spPr>
          <a:xfrm>
            <a:off x="10917936" y="1664207"/>
            <a:ext cx="457200" cy="457200"/>
          </a:xfrm>
          <a:prstGeom prst="ellipse">
            <a:avLst/>
          </a:prstGeom>
          <a:solidFill>
            <a:srgbClr val="368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228600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F34"/>
                </a:solidFill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679191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67484"/>
                </a:solidFill>
              </a:rPr>
              <a:t>Certain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79476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794760"/>
            <a:ext cx="73152" cy="1508760"/>
          </a:xfrm>
          <a:prstGeom prst="rect">
            <a:avLst/>
          </a:prstGeom>
          <a:solidFill>
            <a:srgbClr val="1F5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95935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Credit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16552"/>
            <a:ext cx="2743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PD = probability that a borrower defaults over a defined horizon.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79476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3794760"/>
            <a:ext cx="73152" cy="150876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95935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Market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416552"/>
            <a:ext cx="2743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Probability of a loss can be estimated from volatility and scenarios.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79476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794760"/>
            <a:ext cx="73152" cy="1508760"/>
          </a:xfrm>
          <a:prstGeom prst="rect">
            <a:avLst/>
          </a:prstGeom>
          <a:solidFill>
            <a:srgbClr val="1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95935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Decision 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416552"/>
            <a:ext cx="27432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Probability helps convert uncertainty into measurable risk.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484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F34"/>
                </a:solidFill>
              </a:rPr>
              <a:t>Probability + Impact = Better Risk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Probability tells us how likely an event is; impact tells us how severe it could 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920240"/>
          </a:xfrm>
          <a:prstGeom prst="rect">
            <a:avLst/>
          </a:prstGeom>
          <a:solidFill>
            <a:srgbClr val="1F5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0552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How likely is the adverse event?
Example: PD = 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73152" cy="192024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73351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30552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How much is at risk?
Example: EAD = ₹10 crore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0876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08760"/>
            <a:ext cx="73152" cy="192024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73351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Severity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30552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How much could be lost if it happens?
Example: LGD = 45%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069080"/>
            <a:ext cx="8503920" cy="1051560"/>
          </a:xfrm>
          <a:prstGeom prst="round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4279392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</a:rPr>
              <a:t>Expected Loss (EL) = PD × LGD × 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02A36"/>
                </a:solidFill>
              </a:defRPr>
            </a:pPr>
            <a:r>
              <a:t>• This is a simple example of how financial institutions translate uncertain events into measurable quantities.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484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F34"/>
                </a:solidFill>
              </a:rPr>
              <a:t>Risk vs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Investors and lenders generally demand compensation for taking additional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554480"/>
            <a:ext cx="27432" cy="3749039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5303520"/>
            <a:ext cx="9601200" cy="27432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371600" y="2057400"/>
            <a:ext cx="8503920" cy="2743200"/>
          </a:xfrm>
          <a:prstGeom prst="line">
            <a:avLst/>
          </a:prstGeom>
          <a:ln w="50800">
            <a:solidFill>
              <a:srgbClr val="1F5D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234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02A36"/>
                </a:solidFill>
              </a:rPr>
              <a:t>Expected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5440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02A36"/>
                </a:solidFill>
              </a:rP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892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02A36"/>
                </a:solidFill>
              </a:rPr>
              <a:t>Low risk / lower expected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828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02A36"/>
                </a:solidFill>
              </a:rPr>
              <a:t>Higher risk / higher expected return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623560"/>
            <a:ext cx="28346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5623560"/>
            <a:ext cx="73152" cy="594360"/>
          </a:xfrm>
          <a:prstGeom prst="rect">
            <a:avLst/>
          </a:prstGeom>
          <a:solidFill>
            <a:srgbClr val="1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5788152"/>
            <a:ext cx="2423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Low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6245352"/>
            <a:ext cx="242316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Savings / high-quality sovereign debt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5623560"/>
            <a:ext cx="28346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5623560"/>
            <a:ext cx="73152" cy="594360"/>
          </a:xfrm>
          <a:prstGeom prst="rect">
            <a:avLst/>
          </a:prstGeom>
          <a:solidFill>
            <a:srgbClr val="1F5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5788152"/>
            <a:ext cx="2423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Medium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6245352"/>
            <a:ext cx="242316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Investment-grade credit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623560"/>
            <a:ext cx="28346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5623560"/>
            <a:ext cx="73152" cy="59436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5788152"/>
            <a:ext cx="2423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High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6245352"/>
            <a:ext cx="242316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Equity / distressed credit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484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F34"/>
                </a:solidFill>
              </a:rPr>
              <a:t>What is Financial Risk?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Financial risk is the possibility of financial loss or adverse financial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783080"/>
          </a:xfrm>
          <a:prstGeom prst="rect">
            <a:avLst/>
          </a:prstGeom>
          <a:solidFill>
            <a:srgbClr val="1F5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Credit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Borrower / counterparty fails to meet obligations.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78308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Market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3911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Losses from movements in rates, FX, equity or commodity prices.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73152" cy="1783080"/>
          </a:xfrm>
          <a:prstGeom prst="rect">
            <a:avLst/>
          </a:prstGeom>
          <a:solidFill>
            <a:srgbClr val="1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Liquidity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3911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Inability to meet obligations when due without unacceptable loss.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73152" cy="178308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Operational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8795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Loss from failed processes, people, systems or external events.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566160"/>
            <a:ext cx="73152" cy="178308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7307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Model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18795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Poor decisions caused by incorrect or misused models.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566160"/>
            <a:ext cx="73152" cy="1783080"/>
          </a:xfrm>
          <a:prstGeom prst="rect">
            <a:avLst/>
          </a:prstGeom>
          <a:solidFill>
            <a:srgbClr val="368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7307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Interest Rate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18795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Earnings or value affected by changes in interest rates.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484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F34"/>
                </a:solidFill>
              </a:rPr>
              <a:t>Putting It Together: A Lending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7484"/>
                </a:solidFill>
              </a:rPr>
              <a:t>A simple loan decision shows how risk concepts connect.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920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2331720"/>
          </a:xfrm>
          <a:prstGeom prst="rect">
            <a:avLst/>
          </a:prstGeom>
          <a:solidFill>
            <a:srgbClr val="1F5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Loan approved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50876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₹10 crore exposure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971800"/>
            <a:ext cx="292608" cy="0"/>
          </a:xfrm>
          <a:prstGeom prst="line">
            <a:avLst/>
          </a:prstGeom>
          <a:ln w="2540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828800"/>
            <a:ext cx="1920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828800"/>
            <a:ext cx="73152" cy="233172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993392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Uncertain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450592"/>
            <a:ext cx="150876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Repayment, delay or default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2971800"/>
            <a:ext cx="292608" cy="0"/>
          </a:xfrm>
          <a:prstGeom prst="line">
            <a:avLst/>
          </a:prstGeom>
          <a:ln w="2540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1828800"/>
            <a:ext cx="1920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60" y="1828800"/>
            <a:ext cx="73152" cy="2331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993392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Probability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450592"/>
            <a:ext cx="150876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PD estimated at 3%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86600" y="2971800"/>
            <a:ext cx="292608" cy="0"/>
          </a:xfrm>
          <a:prstGeom prst="line">
            <a:avLst/>
          </a:prstGeom>
          <a:ln w="2540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0" y="1828800"/>
            <a:ext cx="1920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1828800"/>
            <a:ext cx="73152" cy="233172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1993392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Severity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450592"/>
            <a:ext cx="150876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LGD estimated at 45%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26880" y="2971800"/>
            <a:ext cx="292608" cy="0"/>
          </a:xfrm>
          <a:prstGeom prst="line">
            <a:avLst/>
          </a:prstGeom>
          <a:ln w="25400">
            <a:solidFill>
              <a:srgbClr val="66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46920" y="1828800"/>
            <a:ext cx="1920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828800"/>
            <a:ext cx="73152" cy="2331720"/>
          </a:xfrm>
          <a:prstGeom prst="rect">
            <a:avLst/>
          </a:prstGeom>
          <a:solidFill>
            <a:srgbClr val="1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993392"/>
            <a:ext cx="1508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F34"/>
                </a:solidFill>
              </a:rPr>
              <a:t>Expected loss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450592"/>
            <a:ext cx="150876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02A36"/>
                </a:solidFill>
              </a:rPr>
              <a:t>3% × 45% × ₹10cr = ₹13.5 lakh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4892040"/>
            <a:ext cx="8321040" cy="868680"/>
          </a:xfrm>
          <a:prstGeom prst="roundRect">
            <a:avLst/>
          </a:prstGeom>
          <a:solidFill>
            <a:srgbClr val="F3F7F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510235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F34"/>
                </a:solidFill>
              </a:rPr>
              <a:t>Risk is not simply “loss” — it is the measurable possibility and impact of adverse outcomes.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967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654710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484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463040"/>
            <a:ext cx="347472" cy="347472"/>
          </a:xfrm>
          <a:prstGeom prst="ellipse">
            <a:avLst/>
          </a:prstGeom>
          <a:solidFill>
            <a:srgbClr val="00A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Risk = possibility that actual outcomes differ from expectations.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76272"/>
            <a:ext cx="347472" cy="347472"/>
          </a:xfrm>
          <a:prstGeom prst="ellipse">
            <a:avLst/>
          </a:prstGeom>
          <a:solidFill>
            <a:srgbClr val="1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3055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Uncertainty is harder to quantify because probabilities may be unknown.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889504"/>
            <a:ext cx="347472" cy="347472"/>
          </a:xfrm>
          <a:prstGeom prst="ellipse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43784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Probability converts likelihood into a measurable concept.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602735"/>
            <a:ext cx="347472" cy="347472"/>
          </a:xfrm>
          <a:prstGeom prst="ellipse">
            <a:avLst/>
          </a:prstGeom>
          <a:solidFill>
            <a:srgbClr val="1F5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557015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Risk and reward are linked: higher risk generally requires higher expected compensation.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315968"/>
            <a:ext cx="347472" cy="347472"/>
          </a:xfrm>
          <a:prstGeom prst="ellipse">
            <a:avLst/>
          </a:prstGeom>
          <a:solidFill>
            <a:srgbClr val="368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2702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Financial risk spans credit, market, liquidity, operational, model and other risk types.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029200"/>
            <a:ext cx="347472" cy="347472"/>
          </a:xfrm>
          <a:prstGeom prst="ellipse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98348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Modern risk management turns uncertainty into measurement, pricing, limits and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A6D6"/>
                </a:solidFill>
              </a:rPr>
              <a:t>Next: Types of Financial Risk → Credit Risk → Market Risk → Liquidity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