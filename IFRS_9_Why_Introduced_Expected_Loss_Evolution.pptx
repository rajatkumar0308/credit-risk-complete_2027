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allowance path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Incurred-loss allowance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Forward-looking ECL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t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A9D46"/>
                </a:solidFill>
                <a:latin typeface="Aptos"/>
              </a:rPr>
              <a:t>CREDIT RISK • IFRS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Why Was IFRS 9 Introduced?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75104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5DEE9"/>
                </a:solidFill>
                <a:latin typeface="Aptos"/>
              </a:rPr>
              <a:t>From delayed recognition of credit losses to forward-looking Expected Credit Loss (ECL)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22191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14141"/>
                </a:solidFill>
                <a:latin typeface="Aptos"/>
              </a:rPr>
              <a:t>2007–09</a:t>
            </a:r>
          </a:p>
        </p:txBody>
      </p:sp>
      <p:sp>
        <p:nvSpPr>
          <p:cNvPr id="7" name="Oval 6"/>
          <p:cNvSpPr/>
          <p:nvPr/>
        </p:nvSpPr>
        <p:spPr>
          <a:xfrm>
            <a:off x="1545336" y="4279392"/>
            <a:ext cx="384048" cy="384048"/>
          </a:xfrm>
          <a:prstGeom prst="ellipse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947672" y="4471416"/>
            <a:ext cx="1527048" cy="0"/>
          </a:xfrm>
          <a:prstGeom prst="line">
            <a:avLst/>
          </a:prstGeom>
          <a:ln w="25400">
            <a:solidFill>
              <a:srgbClr val="78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4800600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Global Financial Crisis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822191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A9D46"/>
                </a:solidFill>
                <a:latin typeface="Aptos"/>
              </a:rPr>
              <a:t>2009–14</a:t>
            </a:r>
          </a:p>
        </p:txBody>
      </p:sp>
      <p:sp>
        <p:nvSpPr>
          <p:cNvPr id="11" name="Oval 10"/>
          <p:cNvSpPr/>
          <p:nvPr/>
        </p:nvSpPr>
        <p:spPr>
          <a:xfrm>
            <a:off x="4334256" y="4279392"/>
            <a:ext cx="384048" cy="384048"/>
          </a:xfrm>
          <a:prstGeom prst="ellipse">
            <a:avLst/>
          </a:prstGeom>
          <a:solidFill>
            <a:srgbClr val="CA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736592" y="4471416"/>
            <a:ext cx="1527048" cy="0"/>
          </a:xfrm>
          <a:prstGeom prst="line">
            <a:avLst/>
          </a:prstGeom>
          <a:ln w="25400">
            <a:solidFill>
              <a:srgbClr val="78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66160" y="4800600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IASB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3822191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25D9C"/>
                </a:solidFill>
                <a:latin typeface="Aptos"/>
              </a:rPr>
              <a:t>2014</a:t>
            </a:r>
          </a:p>
        </p:txBody>
      </p:sp>
      <p:sp>
        <p:nvSpPr>
          <p:cNvPr id="15" name="Oval 14"/>
          <p:cNvSpPr/>
          <p:nvPr/>
        </p:nvSpPr>
        <p:spPr>
          <a:xfrm>
            <a:off x="7123175" y="4279392"/>
            <a:ext cx="384048" cy="384048"/>
          </a:xfrm>
          <a:prstGeom prst="ellipse">
            <a:avLst/>
          </a:prstGeom>
          <a:solidFill>
            <a:srgbClr val="22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525511" y="4471416"/>
            <a:ext cx="1527048" cy="0"/>
          </a:xfrm>
          <a:prstGeom prst="line">
            <a:avLst/>
          </a:prstGeom>
          <a:ln w="25400">
            <a:solidFill>
              <a:srgbClr val="78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79" y="4800600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IFRS 9 issued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822191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3807E"/>
                </a:solidFill>
                <a:latin typeface="Aptos"/>
              </a:rPr>
              <a:t>2018</a:t>
            </a:r>
          </a:p>
        </p:txBody>
      </p:sp>
      <p:sp>
        <p:nvSpPr>
          <p:cNvPr id="19" name="Oval 18"/>
          <p:cNvSpPr/>
          <p:nvPr/>
        </p:nvSpPr>
        <p:spPr>
          <a:xfrm>
            <a:off x="9912096" y="4279392"/>
            <a:ext cx="384048" cy="384048"/>
          </a:xfrm>
          <a:prstGeom prst="ellipse">
            <a:avLst/>
          </a:prstGeom>
          <a:solidFill>
            <a:srgbClr val="23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800600"/>
            <a:ext cx="2057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ECL model effective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33872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1EB"/>
                </a:solidFill>
                <a:latin typeface="Aptos"/>
              </a:rPr>
              <a:t>Core idea: recognize credit deterioration earlier — using information about the future, not only losses already observed.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C8A"/>
                </a:solidFill>
                <a:latin typeface="Aptos"/>
              </a:rPr>
              <a:t>IFRS 9 • EXPECTED CREDIT LOSS EVOLUTION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07C8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9D46"/>
                </a:solidFill>
                <a:latin typeface="Aptos"/>
              </a:rPr>
              <a:t>01 •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F34"/>
                </a:solidFill>
                <a:latin typeface="Aptos"/>
              </a:rPr>
              <a:t>Why did the old incurred-loss model become controversial?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C8A"/>
                </a:solidFill>
                <a:latin typeface="Aptos"/>
              </a:rPr>
              <a:t>The central issue was timing: accounting recognition could lag behind economic deterioration of a loan portfolio.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429000"/>
          </a:xfrm>
          <a:prstGeom prst="rect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Incurred-loss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2999232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A loss allowance was recognized when there was objective evidence that a loss event had occurred.
Economic deterioration could begin before the accounting trigger became observable.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828800"/>
            <a:ext cx="73152" cy="3429000"/>
          </a:xfrm>
          <a:prstGeom prst="rect">
            <a:avLst/>
          </a:prstGeom>
          <a:solidFill>
            <a:srgbClr val="CA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7510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The timing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95728"/>
            <a:ext cx="2999232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Loan quality can weaken through:
• recession / unemployment
• borrower cash-flow stress
• collateral deterioration
• sector shocks
Yet the allowance could lag the emerging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828800"/>
            <a:ext cx="73152" cy="3429000"/>
          </a:xfrm>
          <a:prstGeom prst="rect">
            <a:avLst/>
          </a:prstGeom>
          <a:solidFill>
            <a:srgbClr val="22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97510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Why it mattered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395728"/>
            <a:ext cx="2999232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During a downturn, delayed recognition can contribute to:
• lower provisions early
• larger catch-up later
• earnings volatility
• less timely information for investors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559552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A9D46"/>
                </a:solidFill>
                <a:latin typeface="Aptos"/>
              </a:rPr>
              <a:t>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51383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1F34"/>
                </a:solidFill>
                <a:latin typeface="Aptos"/>
              </a:rPr>
              <a:t>Recognition was linked mainly to evidence of a loss event.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5559552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A9D46"/>
                </a:solidFill>
                <a:latin typeface="Aptos"/>
              </a:rPr>
              <a:t>SO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55138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1F34"/>
                </a:solidFill>
                <a:latin typeface="Aptos"/>
              </a:rPr>
              <a:t>The timing of reported credit losses could lag the build-up of economic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C8A"/>
                </a:solidFill>
                <a:latin typeface="Aptos"/>
              </a:rPr>
              <a:t>IFRS 9 • EXPECTED CREDIT LOSS EVOLUTION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07C8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9D46"/>
                </a:solidFill>
                <a:latin typeface="Aptos"/>
              </a:rPr>
              <a:t>02 •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F34"/>
                </a:solidFill>
                <a:latin typeface="Aptos"/>
              </a:rPr>
              <a:t>Incurred Loss vs Expected Credit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C8A"/>
                </a:solidFill>
                <a:latin typeface="Aptos"/>
              </a:rPr>
              <a:t>IFRS 9 shifted the focus toward expected cash shortfalls and forward-looking credit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611880"/>
          </a:xfrm>
          <a:prstGeom prst="rect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IAS 39 — Incurred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95728"/>
            <a:ext cx="4873752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TRIGGER
Objective evidence of impairment / loss event.
MEASUREMENT
Loss recognized after the trigger, based on available evidence.
BUSINESS EFFECT
Recognition could be delayed relative to deterioration.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828800"/>
            <a:ext cx="52578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828800"/>
            <a:ext cx="73152" cy="3611880"/>
          </a:xfrm>
          <a:prstGeom prst="rect">
            <a:avLst/>
          </a:prstGeom>
          <a:solidFill>
            <a:srgbClr val="23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75104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IFRS 9 — Expected Credit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95728"/>
            <a:ext cx="4873752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TRIGGER
ECL is recognized for relevant financial assets from initial recognition, subject to staging.
MEASUREMENT
Probability-weighted present value of expected cash shortfalls using reasonable, supportable information.
BUSINESS EFFECT
Earlier, forward-looking recognition.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97880" y="3611880"/>
            <a:ext cx="338328" cy="0"/>
          </a:xfrm>
          <a:prstGeom prst="line">
            <a:avLst/>
          </a:prstGeom>
          <a:ln w="25400">
            <a:solidFill>
              <a:srgbClr val="CA9D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5650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14141"/>
                </a:solidFill>
                <a:latin typeface="Aptos"/>
              </a:rPr>
              <a:t>PAST-FOCUSED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565099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3807E"/>
                </a:solidFill>
                <a:latin typeface="Aptos"/>
              </a:rPr>
              <a:t>FORWARD-LOOKING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C8A"/>
                </a:solidFill>
                <a:latin typeface="Aptos"/>
              </a:rPr>
              <a:t>IFRS 9 • EXPECTED CREDIT LOSS EVOLUTION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07C8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9D46"/>
                </a:solidFill>
                <a:latin typeface="Aptos"/>
              </a:rPr>
              <a:t>03 • THE CRISIS CATALYST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F34"/>
                </a:solidFill>
                <a:latin typeface="Aptos"/>
              </a:rPr>
              <a:t>Financial Crisis → Provisioning Debate → Expected Loss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C8A"/>
                </a:solidFill>
                <a:latin typeface="Aptos"/>
              </a:rPr>
              <a:t>The Global Financial Crisis exposed concerns about whether impairment recognition was sufficiently timely for rapidly deteriorating portfolios.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55648"/>
            <a:ext cx="658368" cy="658368"/>
          </a:xfrm>
          <a:prstGeom prst="roundRect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37360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4"/>
                </a:solidFill>
                <a:latin typeface="Aptos"/>
              </a:rPr>
              <a:t>Credit quality deteriorates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84831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Borrowers, sectors and collateral weaken before defaults are fully visible.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06424" y="2450591"/>
            <a:ext cx="0" cy="219457"/>
          </a:xfrm>
          <a:prstGeom prst="line">
            <a:avLst/>
          </a:prstGeom>
          <a:ln w="25400">
            <a:solidFill>
              <a:srgbClr val="B4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834639"/>
            <a:ext cx="658368" cy="658368"/>
          </a:xfrm>
          <a:prstGeom prst="roundRect">
            <a:avLst/>
          </a:prstGeom>
          <a:solidFill>
            <a:srgbClr val="CA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1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16351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4"/>
                </a:solidFill>
                <a:latin typeface="Aptos"/>
              </a:rPr>
              <a:t>Loss recognition can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163823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Accounting recognition may follow the emergence of risk.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06424" y="3529583"/>
            <a:ext cx="0" cy="219456"/>
          </a:xfrm>
          <a:prstGeom prst="line">
            <a:avLst/>
          </a:prstGeom>
          <a:ln w="25400">
            <a:solidFill>
              <a:srgbClr val="B4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3913631"/>
            <a:ext cx="658368" cy="658368"/>
          </a:xfrm>
          <a:prstGeom prst="roundRect">
            <a:avLst/>
          </a:prstGeom>
          <a:solidFill>
            <a:srgbClr val="22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32503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95344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4"/>
                </a:solidFill>
                <a:latin typeface="Aptos"/>
              </a:rPr>
              <a:t>Demand for earlier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242816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Standard setters seek a more forward-looking impairment approach.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06424" y="4608575"/>
            <a:ext cx="0" cy="219456"/>
          </a:xfrm>
          <a:prstGeom prst="line">
            <a:avLst/>
          </a:prstGeom>
          <a:ln w="25400">
            <a:solidFill>
              <a:srgbClr val="B4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4992623"/>
            <a:ext cx="658368" cy="658368"/>
          </a:xfrm>
          <a:prstGeom prst="roundRect">
            <a:avLst/>
          </a:prstGeom>
          <a:solidFill>
            <a:srgbClr val="23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11495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974336"/>
            <a:ext cx="3931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1F34"/>
                </a:solidFill>
                <a:latin typeface="Aptos"/>
              </a:rPr>
              <a:t>IFRS 9 ECL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21807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Expected losses incorporate forward-looking information and credit-risk staging.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108192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A9D46"/>
                </a:solidFill>
                <a:latin typeface="Aptos"/>
              </a:rPr>
              <a:t>Important nuance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6053328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F34"/>
                </a:solidFill>
                <a:latin typeface="Aptos"/>
              </a:rPr>
              <a:t>The GFC was a major catalyst, while IFRS 9 also reflects a broader effort to improve impairment accounting and incorporate relevant forward-looking information.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C8A"/>
                </a:solidFill>
                <a:latin typeface="Aptos"/>
              </a:rPr>
              <a:t>IFRS 9 • EXPECTED CREDIT LOSS EVOLUTION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07C8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9D46"/>
                </a:solidFill>
                <a:latin typeface="Aptos"/>
              </a:rPr>
              <a:t>04 • NUMERICAL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F34"/>
                </a:solidFill>
                <a:latin typeface="Aptos"/>
              </a:rPr>
              <a:t>Same portfolio — different timing of loss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C8A"/>
                </a:solidFill>
                <a:latin typeface="Aptos"/>
              </a:rPr>
              <a:t>Illustrative training example: a $100m portfolio faces a recession shock. The point is timing, not a forecast of actual bank losses.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810512"/>
          <a:ext cx="65379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828800"/>
            <a:ext cx="39776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828800"/>
            <a:ext cx="73152" cy="1143000"/>
          </a:xfrm>
          <a:prstGeom prst="rect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1975104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Incurred-loss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8" y="2395728"/>
            <a:ext cx="3593591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1 + 2 + 8 = $11m cumulative allowance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3182112"/>
            <a:ext cx="39776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3182112"/>
            <a:ext cx="73152" cy="1143000"/>
          </a:xfrm>
          <a:prstGeom prst="rect">
            <a:avLst/>
          </a:prstGeom>
          <a:solidFill>
            <a:srgbClr val="238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44968" y="3328416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Forward-looking ECL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3749039"/>
            <a:ext cx="3593591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4 + 5 + 7 = $16m cumulative allowance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535424"/>
            <a:ext cx="3977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4535424"/>
            <a:ext cx="73152" cy="1417320"/>
          </a:xfrm>
          <a:prstGeom prst="rect">
            <a:avLst/>
          </a:prstGeom>
          <a:solidFill>
            <a:srgbClr val="CA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4681728"/>
            <a:ext cx="3611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5102352"/>
            <a:ext cx="3593591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The key change is not simply “more provision.” It is earlier recognition of expected losses and a framework that responds to changes in credit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C8A"/>
                </a:solidFill>
                <a:latin typeface="Aptos"/>
              </a:rPr>
              <a:t>IFRS 9 • EXPECTED CREDIT LOSS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07C8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9D46"/>
                </a:solidFill>
                <a:latin typeface="Aptos"/>
              </a:rPr>
              <a:t>05 • IFRS 9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F34"/>
                </a:solidFill>
                <a:latin typeface="Aptos"/>
              </a:rPr>
              <a:t>How expected loss recognition evolved into a staging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C8A"/>
                </a:solidFill>
                <a:latin typeface="Aptos"/>
              </a:rPr>
              <a:t>For many debt instruments measured at amortized cost or FVOCI, IFRS 9 uses a three-stage model based on changes in credit risk since initial recognition.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73152" cy="3520440"/>
          </a:xfrm>
          <a:prstGeom prst="rect">
            <a:avLst/>
          </a:prstGeom>
          <a:solidFill>
            <a:srgbClr val="22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082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41448"/>
            <a:ext cx="3136392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12-month ECL
Credit risk has not increased significantly since initial recognition.
Performing / no significant increase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87952" y="3520440"/>
            <a:ext cx="265176" cy="0"/>
          </a:xfrm>
          <a:prstGeom prst="line">
            <a:avLst/>
          </a:prstGeom>
          <a:ln w="254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34840" y="1874519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73152" cy="3520440"/>
          </a:xfrm>
          <a:prstGeom prst="rect">
            <a:avLst/>
          </a:prstGeom>
          <a:solidFill>
            <a:srgbClr val="CA9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02082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441448"/>
            <a:ext cx="3136392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Lifetime ECL
Significant increase in credit risk (SICR) since initial recognition.
Credit risk has increased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82712" y="3520440"/>
            <a:ext cx="265176" cy="0"/>
          </a:xfrm>
          <a:prstGeom prst="line">
            <a:avLst/>
          </a:prstGeom>
          <a:ln w="25400">
            <a:solidFill>
              <a:srgbClr val="AAB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1874519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B1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2020824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441448"/>
            <a:ext cx="3136392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Lifetime ECL
Credit-impaired asset.
Credit-impaired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A9D46"/>
                </a:solidFill>
                <a:latin typeface="Aptos"/>
              </a:rPr>
              <a:t>MANAGEMENT LENS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62356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1F34"/>
                </a:solidFill>
                <a:latin typeface="Aptos"/>
              </a:rPr>
              <a:t>ECL is not only an accounting calculation: portfolio monitoring, staging triggers, scenarios, models, overlays, controls and governance all influence the outcome.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C8A"/>
                </a:solidFill>
                <a:latin typeface="Aptos"/>
              </a:rPr>
              <a:t>IFRS 9 • EXPECTED CREDIT LOSS EVOLUTION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07C8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A9D46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What changed —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A9D4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4767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47672"/>
            <a:ext cx="73152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1EB"/>
                </a:solidFill>
                <a:latin typeface="Aptos"/>
              </a:rPr>
              <a:t>Move from loss recognition tied to observed loss events toward recognition of expected losses.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9864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A9D46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80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Forward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80360"/>
            <a:ext cx="73152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1EB"/>
                </a:solidFill>
                <a:latin typeface="Aptos"/>
              </a:rPr>
              <a:t>Use relevant historical, current and forecast information that is reasonable and supportable.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31335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A9D46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81304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Credit-risk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813048"/>
            <a:ext cx="73152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1EB"/>
                </a:solidFill>
                <a:latin typeface="Aptos"/>
              </a:rPr>
              <a:t>Staging makes changes in credit risk economically meaningful for allowance measurement.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64023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A9D46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45736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45736"/>
            <a:ext cx="73152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7E1EB"/>
                </a:solidFill>
                <a:latin typeface="Aptos"/>
              </a:rPr>
              <a:t>ECL requires strong data, models, scenarios, overlays, controls and management judgment.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9D46"/>
                </a:solidFill>
                <a:latin typeface="Aptos"/>
              </a:rPr>
              <a:t>BOTTOM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0644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IFRS 9 was designed to make impairment recognition more timely and forward-looking, so reported credit losses better reflect expected economic loss.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C8A"/>
                </a:solidFill>
                <a:latin typeface="Aptos"/>
              </a:rPr>
              <a:t>IFRS 9 • EXPECTED CREDIT LOSS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07C8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9D46"/>
                </a:solidFill>
                <a:latin typeface="Aptos"/>
              </a:rPr>
              <a:t>REFERENCE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01F34"/>
                </a:solidFill>
                <a:latin typeface="Aptos"/>
              </a:rPr>
              <a:t>Key authoritative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61872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07C8A"/>
                </a:solidFill>
                <a:latin typeface="Aptos"/>
              </a:rPr>
              <a:t>For detailed requirements, use the applicable IFRS 9 standard and official implementation material.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051560"/>
          </a:xfrm>
          <a:prstGeom prst="rect">
            <a:avLst/>
          </a:prstGeom>
          <a:solidFill>
            <a:srgbClr val="22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IFRS Foundation / IFRS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95728"/>
            <a:ext cx="1040587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Financial Instruments — impairment, Expected Credit Loss and three-stage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73152" cy="1051560"/>
          </a:xfrm>
          <a:prstGeom prst="rect">
            <a:avLst/>
          </a:prstGeom>
          <a:solidFill>
            <a:srgbClr val="22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00984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IASB — IFRS 9 project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21608"/>
            <a:ext cx="1040587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Development of the expected credit loss model in the post-financial-crisis accounting environment.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73152" cy="1051560"/>
          </a:xfrm>
          <a:prstGeom prst="rect">
            <a:avLst/>
          </a:prstGeom>
          <a:solidFill>
            <a:srgbClr val="22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626864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1F34"/>
                </a:solidFill>
                <a:latin typeface="Aptos"/>
              </a:rPr>
              <a:t>Illustrative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047488"/>
            <a:ext cx="10405872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D38"/>
                </a:solidFill>
                <a:latin typeface="Aptos"/>
              </a:rPr>
              <a:t>All numerical values and portfolio examples in this deck are illustrative and created for training; they are not reported bank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A9D46"/>
                </a:solidFill>
                <a:latin typeface="Aptos"/>
              </a:rPr>
              <a:t>TRAINING NOTE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7607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1F34"/>
                </a:solidFill>
                <a:latin typeface="Aptos"/>
              </a:rPr>
              <a:t>Accounting conclusions should be checked against applicable IFRS 9 requirements, jurisdictional guidance and the institution’s accounting policies.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C8A"/>
                </a:solidFill>
                <a:latin typeface="Aptos"/>
              </a:rPr>
              <a:t>IFRS 9 • EXPECTED CREDIT LOSS EVOLUTION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707C8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