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D2F"/>
          </a:solidFill>
          <a:ln>
            <a:solidFill>
              <a:srgbClr val="12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4973E"/>
          </a:solidFill>
          <a:ln>
            <a:solidFill>
              <a:srgbClr val="C4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4973E"/>
                </a:solidFill>
                <a:latin typeface="Aptos"/>
              </a:rPr>
              <a:t>CORPORATE CREDIT • ADVANCED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8046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Debt Servicing</a:t>
            </a:r>
            <a:br/>
            <a:r>
              <a:t>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5DEE8"/>
                </a:solidFill>
                <a:latin typeface="Aptos"/>
              </a:rPr>
              <a:t>Interest Coverage • DSCR • Repayment Capacity • Debt Coverage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977639"/>
            <a:ext cx="5303520" cy="1005840"/>
          </a:xfrm>
          <a:prstGeom prst="roundRect">
            <a:avLst/>
          </a:prstGeom>
          <a:solidFill>
            <a:srgbClr val="1B2B42"/>
          </a:solidFill>
          <a:ln>
            <a:solidFill>
              <a:srgbClr val="38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224528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4973E"/>
                </a:solidFill>
                <a:latin typeface="Aptos"/>
              </a:rPr>
              <a:t>The core credit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507992"/>
            <a:ext cx="4709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“Can the business repay debt from sustainable cash generation?”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053328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B1C1D3"/>
                </a:solidFill>
                <a:latin typeface="Aptos"/>
              </a:rPr>
              <a:t>BANKER  •  CREDIT ANALYST  •  CFO  •  INVESTOR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57382"/>
                </a:solidFill>
                <a:latin typeface="Aptos"/>
              </a:rPr>
              <a:t>DEBT SERVICING CAPACITY  •  CORPORATE CREDIT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5738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4973E"/>
                </a:solidFill>
                <a:latin typeface="Aptos"/>
              </a:rPr>
              <a:t>01 • CREDIT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D2F"/>
                </a:solidFill>
                <a:latin typeface="Aptos"/>
              </a:rPr>
              <a:t>Debt service is a cash-flow test, not a leverage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A company can look profitable and still fail to repay debt.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51663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5166360" cy="73152"/>
          </a:xfrm>
          <a:prstGeom prst="rect">
            <a:avLst/>
          </a:prstGeom>
          <a:solidFill>
            <a:srgbClr val="265689"/>
          </a:solidFill>
          <a:ln>
            <a:solidFill>
              <a:srgbClr val="265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8"/>
            <a:ext cx="4709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5689"/>
                </a:solidFill>
                <a:latin typeface="Aptos"/>
              </a:rPr>
              <a:t>Three different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5689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23160"/>
            <a:ext cx="4480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22A34"/>
                </a:solidFill>
                <a:latin typeface="Aptos"/>
              </a:rPr>
              <a:t>Profitability asks: “Did we earn enough?”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90088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5689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90088"/>
            <a:ext cx="4480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22A34"/>
                </a:solidFill>
                <a:latin typeface="Aptos"/>
              </a:rPr>
              <a:t>Liquidity asks: “Can we meet near-term obligations?”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57016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5689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57016"/>
            <a:ext cx="4480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22A34"/>
                </a:solidFill>
                <a:latin typeface="Aptos"/>
              </a:rPr>
              <a:t>Debt servicing asks: “Will recurring cash cover scheduled interest + principal?”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828800"/>
            <a:ext cx="5440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2140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D2F"/>
                </a:solidFill>
                <a:latin typeface="Aptos"/>
              </a:rPr>
              <a:t>EARNINGS → CASH → DEBT 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697480"/>
            <a:ext cx="2240280" cy="411480"/>
          </a:xfrm>
          <a:prstGeom prst="round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2" y="2788920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22A34"/>
                </a:solidFill>
                <a:latin typeface="Aptos"/>
              </a:rPr>
              <a:t>EBITDA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788920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A8189"/>
                </a:solidFill>
                <a:latin typeface="Aptos"/>
              </a:rPr>
              <a:t>₹120m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264408"/>
            <a:ext cx="2240280" cy="411480"/>
          </a:xfrm>
          <a:prstGeom prst="round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3355848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22A34"/>
                </a:solidFill>
                <a:latin typeface="Aptos"/>
              </a:rPr>
              <a:t>Less: cash taxes / WC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355848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65689"/>
                </a:solidFill>
                <a:latin typeface="Aptos"/>
              </a:rPr>
              <a:t>₹25m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831336"/>
            <a:ext cx="2240280" cy="411480"/>
          </a:xfrm>
          <a:prstGeom prst="round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3922776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22A34"/>
                </a:solidFill>
                <a:latin typeface="Aptos"/>
              </a:rPr>
              <a:t>Cash available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922776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C4973E"/>
                </a:solidFill>
                <a:latin typeface="Aptos"/>
              </a:rPr>
              <a:t>₹95m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398264"/>
            <a:ext cx="2240280" cy="411480"/>
          </a:xfrm>
          <a:prstGeom prst="round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4489704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22A34"/>
                </a:solidFill>
                <a:latin typeface="Aptos"/>
              </a:rPr>
              <a:t>Debt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489704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E4343"/>
                </a:solidFill>
                <a:latin typeface="Aptos"/>
              </a:rPr>
              <a:t>₹70m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78240" y="2907792"/>
            <a:ext cx="320040" cy="0"/>
          </a:xfrm>
          <a:prstGeom prst="line">
            <a:avLst/>
          </a:prstGeom>
          <a:ln w="25400">
            <a:solidFill>
              <a:srgbClr val="65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778240" y="3474720"/>
            <a:ext cx="320040" cy="0"/>
          </a:xfrm>
          <a:prstGeom prst="line">
            <a:avLst/>
          </a:prstGeom>
          <a:ln w="25400">
            <a:solidFill>
              <a:srgbClr val="65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778240" y="4041648"/>
            <a:ext cx="320040" cy="0"/>
          </a:xfrm>
          <a:prstGeom prst="line">
            <a:avLst/>
          </a:prstGeom>
          <a:ln w="25400">
            <a:solidFill>
              <a:srgbClr val="65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37960" y="5138928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21D2F"/>
                </a:solidFill>
                <a:latin typeface="Aptos"/>
              </a:rPr>
              <a:t>Coverage is ultimately about headroom.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57382"/>
                </a:solidFill>
                <a:latin typeface="Aptos"/>
              </a:rPr>
              <a:t>DEBT SERVICING CAPACITY  •  CORPORATE CREDIT TRAINING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57382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4973E"/>
                </a:solidFill>
                <a:latin typeface="Aptos"/>
              </a:rPr>
              <a:t>02 •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D2F"/>
                </a:solidFill>
                <a:latin typeface="Aptos"/>
              </a:rPr>
              <a:t>Four lenses for debt-servicing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Use the right metric for the right risk question.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487168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07568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65689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D2F"/>
                </a:solidFill>
                <a:latin typeface="Aptos"/>
              </a:rPr>
              <a:t>Interest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090672"/>
            <a:ext cx="2057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Can operating profit cover interest?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" y="4133087"/>
            <a:ext cx="2084831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06824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65689"/>
                </a:solidFill>
                <a:latin typeface="Aptos"/>
              </a:rPr>
              <a:t>EBIT / Interest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874519"/>
            <a:ext cx="2487168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07568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8189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542032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D2F"/>
                </a:solidFill>
                <a:latin typeface="Aptos"/>
              </a:rPr>
              <a:t>DSCR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090672"/>
            <a:ext cx="2057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Can cash flow cover total debt service?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4133087"/>
            <a:ext cx="2084831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0752" y="4306824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A8189"/>
                </a:solidFill>
                <a:latin typeface="Aptos"/>
              </a:rPr>
              <a:t>CFADS / (Interest + Principal)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1874519"/>
            <a:ext cx="2487168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207568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4973E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42032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D2F"/>
                </a:solidFill>
                <a:latin typeface="Aptos"/>
              </a:rPr>
              <a:t>Repayment Capacity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090672"/>
            <a:ext cx="2057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How quickly can debt be reduced?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28232" y="4133087"/>
            <a:ext cx="2084831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4306824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C4973E"/>
                </a:solidFill>
                <a:latin typeface="Aptos"/>
              </a:rPr>
              <a:t>Cash generation + tenor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874519"/>
            <a:ext cx="2487168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44584" y="207568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E4343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2542032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D2F"/>
                </a:solidFill>
                <a:latin typeface="Aptos"/>
              </a:rPr>
              <a:t>Stress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3090672"/>
            <a:ext cx="2057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What happens when earnings fall?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44584" y="4133087"/>
            <a:ext cx="2084831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63456" y="4306824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E4343"/>
                </a:solidFill>
                <a:latin typeface="Aptos"/>
              </a:rPr>
              <a:t>Downside DSCR / ICR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715000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21D2F"/>
                </a:solidFill>
                <a:latin typeface="Aptos"/>
              </a:rPr>
              <a:t>Credit decision = metric + trend + forecast + stress + qualitative judgement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57382"/>
                </a:solidFill>
                <a:latin typeface="Aptos"/>
              </a:rPr>
              <a:t>DEBT SERVICING CAPACITY  •  CORPORATE CREDIT 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57382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4973E"/>
                </a:solidFill>
                <a:latin typeface="Aptos"/>
              </a:rPr>
              <a:t>03 • INTEREST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D2F"/>
                </a:solidFill>
                <a:latin typeface="Aptos"/>
              </a:rPr>
              <a:t>Interest Coverage Ratio (ICR)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Measures the buffer between operating earnings and interest expense.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65689"/>
                </a:solidFill>
                <a:latin typeface="Aptos"/>
              </a:rPr>
              <a:t>ICR = EBIT ÷ Interest Expense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507492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06040"/>
            <a:ext cx="5074920" cy="73152"/>
          </a:xfrm>
          <a:prstGeom prst="rect">
            <a:avLst/>
          </a:prstGeom>
          <a:solidFill>
            <a:srgbClr val="265689"/>
          </a:solidFill>
          <a:ln>
            <a:solidFill>
              <a:srgbClr val="265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5689"/>
                </a:solidFill>
                <a:latin typeface="Aptos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00400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5689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00400"/>
            <a:ext cx="4389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A34"/>
                </a:solidFill>
                <a:latin typeface="Aptos"/>
              </a:rPr>
              <a:t>EBIT isolates operating earnings before financing and tax.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67328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5689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67328"/>
            <a:ext cx="4389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A34"/>
                </a:solidFill>
                <a:latin typeface="Aptos"/>
              </a:rPr>
              <a:t>Higher is generally safer; falling coverage is an early warning.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334256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5689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334256"/>
            <a:ext cx="4389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A34"/>
                </a:solidFill>
                <a:latin typeface="Aptos"/>
              </a:rPr>
              <a:t>It does not capture principal repayment or all cash-flow adjustments.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74519"/>
            <a:ext cx="22402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039112"/>
            <a:ext cx="1874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57382"/>
                </a:solidFill>
                <a:latin typeface="Aptos"/>
              </a:rPr>
              <a:t>EBIT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67712"/>
            <a:ext cx="1874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65689"/>
                </a:solidFill>
                <a:latin typeface="Aptos"/>
              </a:rPr>
              <a:t>₹90m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1874519"/>
            <a:ext cx="22402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2039112"/>
            <a:ext cx="1874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57382"/>
                </a:solidFill>
                <a:latin typeface="Aptos"/>
              </a:rPr>
              <a:t>INTEREST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267712"/>
            <a:ext cx="1874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AE4343"/>
                </a:solidFill>
                <a:latin typeface="Aptos"/>
              </a:rPr>
              <a:t>₹30m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3337560"/>
            <a:ext cx="2788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1" y="3502152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57382"/>
                </a:solidFill>
                <a:latin typeface="Aptos"/>
              </a:rPr>
              <a:t>ICR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3730752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A8189"/>
                </a:solidFill>
                <a:latin typeface="Aptos"/>
              </a:rPr>
              <a:t>3.0×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1" y="4151376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82"/>
                </a:solidFill>
                <a:latin typeface="Aptos"/>
              </a:rPr>
              <a:t>90 ÷ 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80060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57382"/>
                </a:solidFill>
                <a:latin typeface="Aptos"/>
              </a:rPr>
              <a:t>Illustrative comfort bands — not universal policy thresholds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5230368"/>
            <a:ext cx="1051560" cy="384048"/>
          </a:xfrm>
          <a:prstGeom prst="roundRect">
            <a:avLst/>
          </a:prstGeom>
          <a:solidFill>
            <a:srgbClr val="AE4343"/>
          </a:solidFill>
          <a:ln>
            <a:solidFill>
              <a:srgbClr val="A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5321808"/>
            <a:ext cx="1051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&lt;1×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5230368"/>
            <a:ext cx="1143000" cy="384048"/>
          </a:xfrm>
          <a:prstGeom prst="roundRect">
            <a:avLst/>
          </a:prstGeom>
          <a:solidFill>
            <a:srgbClr val="C4973E"/>
          </a:solidFill>
          <a:ln>
            <a:solidFill>
              <a:srgbClr val="C4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5321808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1–2×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1080" y="5230368"/>
            <a:ext cx="1325880" cy="384048"/>
          </a:xfrm>
          <a:prstGeom prst="roundRect">
            <a:avLst/>
          </a:prstGeom>
          <a:solidFill>
            <a:srgbClr val="2A8189"/>
          </a:solidFill>
          <a:ln>
            <a:solidFill>
              <a:srgbClr val="2A8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5321808"/>
            <a:ext cx="1325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2–4×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12680" y="5230368"/>
            <a:ext cx="1143000" cy="384048"/>
          </a:xfrm>
          <a:prstGeom prst="roundRect">
            <a:avLst/>
          </a:prstGeom>
          <a:solidFill>
            <a:srgbClr val="367E53"/>
          </a:solidFill>
          <a:ln>
            <a:solidFill>
              <a:srgbClr val="367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2680" y="5321808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&gt;4×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57382"/>
                </a:solidFill>
                <a:latin typeface="Aptos"/>
              </a:rPr>
              <a:t>DEBT SERVICING CAPACITY  •  CORPORATE CREDIT TRAINING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57382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4973E"/>
                </a:solidFill>
                <a:latin typeface="Aptos"/>
              </a:rPr>
              <a:t>04 • DSCR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D2F"/>
                </a:solidFill>
                <a:latin typeface="Aptos"/>
              </a:rPr>
              <a:t>DSCR — the fuller debt-service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Principal matters: a business can cover interest and still fail to amortize debt.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A8189"/>
                </a:solidFill>
                <a:latin typeface="Aptos"/>
              </a:rPr>
              <a:t>DSCR = CFADS ÷ (Interest + Scheduled Principal)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EBITDA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256032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65689"/>
                </a:solidFill>
                <a:latin typeface="Aptos"/>
              </a:rPr>
              <a:t>₹120m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651760"/>
            <a:ext cx="960120" cy="73152"/>
          </a:xfrm>
          <a:prstGeom prst="rect">
            <a:avLst/>
          </a:prstGeom>
          <a:solidFill>
            <a:srgbClr val="D8DEE5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63239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Cash taxes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063239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AE4343"/>
                </a:solidFill>
                <a:latin typeface="Aptos"/>
              </a:rPr>
              <a:t>−₹15m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3154679"/>
            <a:ext cx="960120" cy="73152"/>
          </a:xfrm>
          <a:prstGeom prst="rect">
            <a:avLst/>
          </a:prstGeom>
          <a:solidFill>
            <a:srgbClr val="D8DEE5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661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Maintenance capex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5661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AE4343"/>
                </a:solidFill>
                <a:latin typeface="Aptos"/>
              </a:rPr>
              <a:t>−₹20m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3657600"/>
            <a:ext cx="960120" cy="73152"/>
          </a:xfrm>
          <a:prstGeom prst="rect">
            <a:avLst/>
          </a:prstGeom>
          <a:solidFill>
            <a:srgbClr val="D8DEE5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Δ working capital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406908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AE4343"/>
                </a:solidFill>
                <a:latin typeface="Aptos"/>
              </a:rPr>
              <a:t>−₹10m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4160520"/>
            <a:ext cx="960120" cy="73152"/>
          </a:xfrm>
          <a:prstGeom prst="rect">
            <a:avLst/>
          </a:prstGeom>
          <a:solidFill>
            <a:srgbClr val="D8DEE5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57200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A34"/>
                </a:solidFill>
                <a:latin typeface="Aptos"/>
              </a:rPr>
              <a:t>CFADS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57200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C4973E"/>
                </a:solidFill>
                <a:latin typeface="Aptos"/>
              </a:rPr>
              <a:t>₹75m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4203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57382"/>
                </a:solidFill>
                <a:latin typeface="Aptos"/>
              </a:rPr>
              <a:t>Debt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3580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A34"/>
                </a:solidFill>
                <a:latin typeface="Aptos"/>
              </a:rPr>
              <a:t>Interest  ₹25m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51129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A34"/>
                </a:solidFill>
                <a:latin typeface="Aptos"/>
              </a:rPr>
              <a:t>Principal  ₹35m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2761488"/>
            <a:ext cx="210312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295351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21D2F"/>
                </a:solidFill>
                <a:latin typeface="Aptos"/>
              </a:rPr>
              <a:t>₹60m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456432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57382"/>
                </a:solidFill>
                <a:latin typeface="Aptos"/>
              </a:rPr>
              <a:t>total debt service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297680"/>
            <a:ext cx="4526280" cy="868680"/>
          </a:xfrm>
          <a:prstGeom prst="roundRect">
            <a:avLst/>
          </a:prstGeom>
          <a:solidFill>
            <a:srgbClr val="121D2F"/>
          </a:solidFill>
          <a:ln>
            <a:solidFill>
              <a:srgbClr val="12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553712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DSCR = 75 ÷ 60 = 1.25×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532120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D2F"/>
                </a:solidFill>
                <a:latin typeface="Aptos"/>
              </a:rPr>
              <a:t>Interpretation: 25% cash-flow headroom before scheduled debt service is fully consumed.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57382"/>
                </a:solidFill>
                <a:latin typeface="Aptos"/>
              </a:rPr>
              <a:t>DEBT SERVICING CAPACITY  •  CORPORATE CREDIT TRAINING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57382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4973E"/>
                </a:solidFill>
                <a:latin typeface="Aptos"/>
              </a:rPr>
              <a:t>05 • METRIC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D2F"/>
                </a:solidFill>
                <a:latin typeface="Aptos"/>
              </a:rPr>
              <a:t>ICR vs DSCR: same borrower, different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Use both; they answer different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2743200" cy="502920"/>
          </a:xfrm>
          <a:prstGeom prst="roundRect">
            <a:avLst/>
          </a:prstGeom>
          <a:solidFill>
            <a:srgbClr val="121D2F"/>
          </a:solidFill>
          <a:ln>
            <a:solidFill>
              <a:srgbClr val="12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029968"/>
            <a:ext cx="2414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Dimension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874519"/>
            <a:ext cx="3566160" cy="502920"/>
          </a:xfrm>
          <a:prstGeom prst="roundRect">
            <a:avLst/>
          </a:prstGeom>
          <a:solidFill>
            <a:srgbClr val="121D2F"/>
          </a:solidFill>
          <a:ln>
            <a:solidFill>
              <a:srgbClr val="12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22191" y="2029968"/>
            <a:ext cx="32369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ICR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874519"/>
            <a:ext cx="4023360" cy="502920"/>
          </a:xfrm>
          <a:prstGeom prst="roundRect">
            <a:avLst/>
          </a:prstGeom>
          <a:solidFill>
            <a:srgbClr val="121D2F"/>
          </a:solidFill>
          <a:ln>
            <a:solidFill>
              <a:srgbClr val="12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1" y="2029968"/>
            <a:ext cx="3694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DSCR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2743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15184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2A34"/>
                </a:solidFill>
                <a:latin typeface="Aptos"/>
              </a:rPr>
              <a:t>Numerator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450592"/>
            <a:ext cx="3566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615184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65689"/>
                </a:solidFill>
                <a:latin typeface="Aptos"/>
              </a:rPr>
              <a:t>EBIT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450592"/>
            <a:ext cx="4023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615184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A8189"/>
                </a:solidFill>
                <a:latin typeface="Aptos"/>
              </a:rPr>
              <a:t>CFADS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08960"/>
            <a:ext cx="2743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73552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2A34"/>
                </a:solidFill>
                <a:latin typeface="Aptos"/>
              </a:rPr>
              <a:t>Denominator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108960"/>
            <a:ext cx="3566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3273552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65689"/>
                </a:solidFill>
                <a:latin typeface="Aptos"/>
              </a:rPr>
              <a:t>Interest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3108960"/>
            <a:ext cx="4023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32735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A8189"/>
                </a:solidFill>
                <a:latin typeface="Aptos"/>
              </a:rPr>
              <a:t>Interest + principal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767328"/>
            <a:ext cx="2743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31920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2A34"/>
                </a:solidFill>
                <a:latin typeface="Aptos"/>
              </a:rPr>
              <a:t>Best for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3767328"/>
            <a:ext cx="3566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0" y="393192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65689"/>
                </a:solidFill>
                <a:latin typeface="Aptos"/>
              </a:rPr>
              <a:t>Financing burden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3767328"/>
            <a:ext cx="4023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393192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A8189"/>
                </a:solidFill>
                <a:latin typeface="Aptos"/>
              </a:rPr>
              <a:t>Repayment capacity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425696"/>
            <a:ext cx="2743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590288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2A34"/>
                </a:solidFill>
                <a:latin typeface="Aptos"/>
              </a:rPr>
              <a:t>Cash-flow sensitivity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0" y="4425696"/>
            <a:ext cx="3566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0" y="4590288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65689"/>
                </a:solidFill>
                <a:latin typeface="Aptos"/>
              </a:rPr>
              <a:t>Medium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4425696"/>
            <a:ext cx="4023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4590288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A8189"/>
                </a:solidFill>
                <a:latin typeface="Aptos"/>
              </a:rPr>
              <a:t>High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084064"/>
            <a:ext cx="2743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248656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2A34"/>
                </a:solidFill>
                <a:latin typeface="Aptos"/>
              </a:rPr>
              <a:t>Typical user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0" y="5084064"/>
            <a:ext cx="3566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0" y="5248656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65689"/>
                </a:solidFill>
                <a:latin typeface="Aptos"/>
              </a:rPr>
              <a:t>Credit analyst / investor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79" y="5084064"/>
            <a:ext cx="4023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0" y="5248656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A8189"/>
                </a:solidFill>
                <a:latin typeface="Aptos"/>
              </a:rPr>
              <a:t>Banker / lender / CFO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870448"/>
            <a:ext cx="10881360" cy="438912"/>
          </a:xfrm>
          <a:prstGeom prst="roundRect">
            <a:avLst/>
          </a:prstGeom>
          <a:solidFill>
            <a:srgbClr val="E7EFF1"/>
          </a:solidFill>
          <a:ln>
            <a:solidFill>
              <a:srgbClr val="E7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989320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1D2F"/>
                </a:solidFill>
                <a:latin typeface="Aptos"/>
              </a:rPr>
              <a:t>Analyst insight: strong ICR + weak DSCR often means principal amortization is the constraint.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57382"/>
                </a:solidFill>
                <a:latin typeface="Aptos"/>
              </a:rPr>
              <a:t>DEBT SERVICING CAPACITY  •  CORPORATE CREDIT TRAINING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57382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4973E"/>
                </a:solidFill>
                <a:latin typeface="Aptos"/>
              </a:rPr>
              <a:t>06 • REPAYMENT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D2F"/>
                </a:solidFill>
                <a:latin typeface="Aptos"/>
              </a:rPr>
              <a:t>Repayment capacity = cash generation + time +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A debt schedule is sustainable only if cash generation can absorb it through the 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D2F"/>
                </a:solidFill>
                <a:latin typeface="Aptos"/>
              </a:rPr>
              <a:t>Debt maturity / amortization profile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3063240"/>
            <a:ext cx="9875520" cy="0"/>
          </a:xfrm>
          <a:prstGeom prst="line">
            <a:avLst/>
          </a:prstGeom>
          <a:ln w="25400">
            <a:solidFill>
              <a:srgbClr val="65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572768" y="2560320"/>
            <a:ext cx="512064" cy="512064"/>
          </a:xfrm>
          <a:prstGeom prst="roundRect">
            <a:avLst/>
          </a:prstGeom>
          <a:solidFill>
            <a:srgbClr val="265689"/>
          </a:solidFill>
          <a:ln>
            <a:solidFill>
              <a:srgbClr val="265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227832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57382"/>
                </a:solidFill>
                <a:latin typeface="Aptos"/>
              </a:rPr>
              <a:t>Y1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5740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1D2F"/>
                </a:solidFill>
                <a:latin typeface="Aptos"/>
              </a:rPr>
              <a:t>₹20m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8" y="2560320"/>
            <a:ext cx="512064" cy="512064"/>
          </a:xfrm>
          <a:prstGeom prst="roundRect">
            <a:avLst/>
          </a:prstGeom>
          <a:solidFill>
            <a:srgbClr val="265689"/>
          </a:solidFill>
          <a:ln>
            <a:solidFill>
              <a:srgbClr val="265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3227832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57382"/>
                </a:solidFill>
                <a:latin typeface="Aptos"/>
              </a:rPr>
              <a:t>Y2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05740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1D2F"/>
                </a:solidFill>
                <a:latin typeface="Aptos"/>
              </a:rPr>
              <a:t>₹25m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04688" y="2560320"/>
            <a:ext cx="512064" cy="512064"/>
          </a:xfrm>
          <a:prstGeom prst="roundRect">
            <a:avLst/>
          </a:prstGeom>
          <a:solidFill>
            <a:srgbClr val="265689"/>
          </a:solidFill>
          <a:ln>
            <a:solidFill>
              <a:srgbClr val="265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3227832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57382"/>
                </a:solidFill>
                <a:latin typeface="Aptos"/>
              </a:rPr>
              <a:t>Y3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05740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1D2F"/>
                </a:solidFill>
                <a:latin typeface="Aptos"/>
              </a:rPr>
              <a:t>₹30m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70648" y="2560320"/>
            <a:ext cx="512064" cy="512064"/>
          </a:xfrm>
          <a:prstGeom prst="roundRect">
            <a:avLst/>
          </a:prstGeom>
          <a:solidFill>
            <a:srgbClr val="265689"/>
          </a:solidFill>
          <a:ln>
            <a:solidFill>
              <a:srgbClr val="265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199" y="3227832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57382"/>
                </a:solidFill>
                <a:latin typeface="Aptos"/>
              </a:rPr>
              <a:t>Y4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205740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1D2F"/>
                </a:solidFill>
                <a:latin typeface="Aptos"/>
              </a:rPr>
              <a:t>₹35m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36608" y="2560320"/>
            <a:ext cx="512064" cy="512064"/>
          </a:xfrm>
          <a:prstGeom prst="roundRect">
            <a:avLst/>
          </a:prstGeom>
          <a:solidFill>
            <a:srgbClr val="265689"/>
          </a:solidFill>
          <a:ln>
            <a:solidFill>
              <a:srgbClr val="265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3227832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57382"/>
                </a:solidFill>
                <a:latin typeface="Aptos"/>
              </a:rPr>
              <a:t>Y5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05740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1D2F"/>
                </a:solidFill>
                <a:latin typeface="Aptos"/>
              </a:rPr>
              <a:t>₹40m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60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E4343"/>
                </a:solidFill>
                <a:latin typeface="Aptos"/>
              </a:rPr>
              <a:t>Stress overlay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57400" y="4096512"/>
            <a:ext cx="1965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4279392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57382"/>
                </a:solidFill>
                <a:latin typeface="Aptos"/>
              </a:rPr>
              <a:t>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590288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A8189"/>
                </a:solidFill>
                <a:latin typeface="Aptos"/>
              </a:rPr>
              <a:t>1.35×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096512"/>
            <a:ext cx="1965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4279392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57382"/>
                </a:solidFill>
                <a:latin typeface="Aptos"/>
              </a:rPr>
              <a:t>−10% CFADS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590288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A8189"/>
                </a:solidFill>
                <a:latin typeface="Aptos"/>
              </a:rPr>
              <a:t>1.22×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4096512"/>
            <a:ext cx="1965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4279392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57382"/>
                </a:solidFill>
                <a:latin typeface="Aptos"/>
              </a:rPr>
              <a:t>−20% CFADS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590288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E4343"/>
                </a:solidFill>
                <a:latin typeface="Aptos"/>
              </a:rPr>
              <a:t>1.08×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59" y="4096512"/>
            <a:ext cx="1965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19" y="4279392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57382"/>
                </a:solidFill>
                <a:latin typeface="Aptos"/>
              </a:rPr>
              <a:t>−30% CFADS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19" y="4590288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E4343"/>
                </a:solidFill>
                <a:latin typeface="Aptos"/>
              </a:rPr>
              <a:t>0.95×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6692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21D2F"/>
                </a:solidFill>
                <a:latin typeface="Aptos"/>
              </a:rPr>
              <a:t>Key question → Does debt amortize before cash-flow resilience runs out?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57382"/>
                </a:solidFill>
                <a:latin typeface="Aptos"/>
              </a:rPr>
              <a:t>DEBT SERVICING CAPACITY  •  CORPORATE CREDIT TRAINING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57382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4973E"/>
                </a:solidFill>
                <a:latin typeface="Aptos"/>
              </a:rPr>
              <a:t>07 • ANALYST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D2F"/>
                </a:solidFill>
                <a:latin typeface="Aptos"/>
              </a:rPr>
              <a:t>From financial statements to a lending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A disciplined process reduces metric gaming and denominator mistakes.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1673352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267712"/>
            <a:ext cx="411480" cy="411480"/>
          </a:xfrm>
          <a:prstGeom prst="roundRect">
            <a:avLst/>
          </a:prstGeom>
          <a:solidFill>
            <a:srgbClr val="265689"/>
          </a:solidFill>
          <a:ln>
            <a:solidFill>
              <a:srgbClr val="265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68296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52928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21D2F"/>
                </a:solidFill>
                <a:latin typeface="Aptos"/>
              </a:rPr>
              <a:t>Normalize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337560"/>
            <a:ext cx="1371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22A34"/>
                </a:solidFill>
                <a:latin typeface="Aptos"/>
              </a:rPr>
              <a:t>Strip one-offs</a:t>
            </a:r>
            <a:br/>
            <a:r>
              <a:t>and non-cash noise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85416" y="3355848"/>
            <a:ext cx="219456" cy="0"/>
          </a:xfrm>
          <a:prstGeom prst="line">
            <a:avLst/>
          </a:prstGeom>
          <a:ln w="25400">
            <a:solidFill>
              <a:srgbClr val="65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0591" y="2057400"/>
            <a:ext cx="1673352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06039" y="2267712"/>
            <a:ext cx="411480" cy="411480"/>
          </a:xfrm>
          <a:prstGeom prst="roundRect">
            <a:avLst/>
          </a:prstGeom>
          <a:solidFill>
            <a:srgbClr val="265689"/>
          </a:solidFill>
          <a:ln>
            <a:solidFill>
              <a:srgbClr val="265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39" y="2368296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39" y="2852928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21D2F"/>
                </a:solidFill>
                <a:latin typeface="Aptos"/>
              </a:rPr>
              <a:t>Build CFADS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39" y="3337560"/>
            <a:ext cx="1371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22A34"/>
                </a:solidFill>
                <a:latin typeface="Aptos"/>
              </a:rPr>
              <a:t>Taxes + capex + WC</a:t>
            </a:r>
            <a:br/>
            <a:r>
              <a:t>→ sustainable cash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3087" y="3355848"/>
            <a:ext cx="219457" cy="0"/>
          </a:xfrm>
          <a:prstGeom prst="line">
            <a:avLst/>
          </a:prstGeom>
          <a:ln w="25400">
            <a:solidFill>
              <a:srgbClr val="65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98264" y="2057400"/>
            <a:ext cx="1673352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53712" y="2267712"/>
            <a:ext cx="411480" cy="411480"/>
          </a:xfrm>
          <a:prstGeom prst="roundRect">
            <a:avLst/>
          </a:prstGeom>
          <a:solidFill>
            <a:srgbClr val="265689"/>
          </a:solidFill>
          <a:ln>
            <a:solidFill>
              <a:srgbClr val="265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2368296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852928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21D2F"/>
                </a:solidFill>
                <a:latin typeface="Aptos"/>
              </a:rPr>
              <a:t>Map debt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3337560"/>
            <a:ext cx="1371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22A34"/>
                </a:solidFill>
                <a:latin typeface="Aptos"/>
              </a:rPr>
              <a:t>Interest + principal</a:t>
            </a:r>
            <a:br/>
            <a:r>
              <a:t>by period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59" y="3355848"/>
            <a:ext cx="219457" cy="0"/>
          </a:xfrm>
          <a:prstGeom prst="line">
            <a:avLst/>
          </a:prstGeom>
          <a:ln w="25400">
            <a:solidFill>
              <a:srgbClr val="65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45936" y="2057400"/>
            <a:ext cx="1673352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01383" y="2267712"/>
            <a:ext cx="411480" cy="411480"/>
          </a:xfrm>
          <a:prstGeom prst="roundRect">
            <a:avLst/>
          </a:prstGeom>
          <a:solidFill>
            <a:srgbClr val="265689"/>
          </a:solidFill>
          <a:ln>
            <a:solidFill>
              <a:srgbClr val="265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1383" y="2368296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1383" y="2852928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21D2F"/>
                </a:solidFill>
                <a:latin typeface="Aptos"/>
              </a:rPr>
              <a:t>Calculate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3" y="3337560"/>
            <a:ext cx="1371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22A34"/>
                </a:solidFill>
                <a:latin typeface="Aptos"/>
              </a:rPr>
              <a:t>ICR + DSCR + trend</a:t>
            </a:r>
            <a:br/>
            <a:r>
              <a:t>+ leverage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28431" y="3355848"/>
            <a:ext cx="219457" cy="0"/>
          </a:xfrm>
          <a:prstGeom prst="line">
            <a:avLst/>
          </a:prstGeom>
          <a:ln w="25400">
            <a:solidFill>
              <a:srgbClr val="65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93608" y="2057400"/>
            <a:ext cx="1673352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49056" y="2267712"/>
            <a:ext cx="411480" cy="411480"/>
          </a:xfrm>
          <a:prstGeom prst="roundRect">
            <a:avLst/>
          </a:prstGeom>
          <a:solidFill>
            <a:srgbClr val="C4973E"/>
          </a:solidFill>
          <a:ln>
            <a:solidFill>
              <a:srgbClr val="C4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49056" y="2368296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2852928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21D2F"/>
                </a:solidFill>
                <a:latin typeface="Aptos"/>
              </a:rPr>
              <a:t>Stress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9056" y="3337560"/>
            <a:ext cx="1371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22A34"/>
                </a:solidFill>
                <a:latin typeface="Aptos"/>
              </a:rPr>
              <a:t>Revenue / margin /</a:t>
            </a:r>
            <a:br/>
            <a:r>
              <a:t>rate / WC shocks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976104" y="3355848"/>
            <a:ext cx="219456" cy="0"/>
          </a:xfrm>
          <a:prstGeom prst="line">
            <a:avLst/>
          </a:prstGeom>
          <a:ln w="25400">
            <a:solidFill>
              <a:srgbClr val="65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241280" y="2057400"/>
            <a:ext cx="1673352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396728" y="2267712"/>
            <a:ext cx="411480" cy="411480"/>
          </a:xfrm>
          <a:prstGeom prst="roundRect">
            <a:avLst/>
          </a:prstGeom>
          <a:solidFill>
            <a:srgbClr val="C4973E"/>
          </a:solidFill>
          <a:ln>
            <a:solidFill>
              <a:srgbClr val="C4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96728" y="2368296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96728" y="2852928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21D2F"/>
                </a:solidFill>
                <a:latin typeface="Aptos"/>
              </a:rPr>
              <a:t>Decide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96728" y="3337560"/>
            <a:ext cx="1371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22A34"/>
                </a:solidFill>
                <a:latin typeface="Aptos"/>
              </a:rPr>
              <a:t>Limit, tenor,</a:t>
            </a:r>
            <a:br/>
            <a:r>
              <a:t>covenants, pricing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23036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4973E"/>
                </a:solidFill>
                <a:latin typeface="Aptos"/>
              </a:rPr>
              <a:t>Decision 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48840" y="5230368"/>
            <a:ext cx="9235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D2F"/>
                </a:solidFill>
                <a:latin typeface="Aptos"/>
              </a:rPr>
              <a:t>“Approve / decline / restructure” is the final output — ratios are evidence, not the decision.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57382"/>
                </a:solidFill>
                <a:latin typeface="Aptos"/>
              </a:rPr>
              <a:t>DEBT SERVICING CAPACITY  •  CORPORATE CREDIT TRAINING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57382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4973E"/>
                </a:solidFill>
                <a:latin typeface="Aptos"/>
              </a:rPr>
              <a:t>08 •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D2F"/>
                </a:solidFill>
                <a:latin typeface="Aptos"/>
              </a:rPr>
              <a:t>Illustrative Case: Apex Components Pvt. Ltd.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Illustrative data for training — not a real company or credit decision.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103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93392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57382"/>
                </a:solidFill>
                <a:latin typeface="Aptos"/>
              </a:rP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21992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65689"/>
                </a:solidFill>
                <a:latin typeface="Aptos"/>
              </a:rPr>
              <a:t>₹600m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828800"/>
            <a:ext cx="2103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993392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57382"/>
                </a:solidFill>
                <a:latin typeface="Aptos"/>
              </a:rPr>
              <a:t>EBITDA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221992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A8189"/>
                </a:solidFill>
                <a:latin typeface="Aptos"/>
              </a:rPr>
              <a:t>₹96m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828800"/>
            <a:ext cx="2103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1993392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57382"/>
                </a:solidFill>
                <a:latin typeface="Aptos"/>
              </a:rPr>
              <a:t>EBIT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221992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65689"/>
                </a:solidFill>
                <a:latin typeface="Aptos"/>
              </a:rPr>
              <a:t>₹72m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828800"/>
            <a:ext cx="2103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59" y="1993392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57382"/>
                </a:solidFill>
                <a:latin typeface="Aptos"/>
              </a:rPr>
              <a:t>INTEREST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59" y="2221992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AE4343"/>
                </a:solidFill>
                <a:latin typeface="Aptos"/>
              </a:rPr>
              <a:t>₹24m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1828800"/>
            <a:ext cx="2103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59" y="1993392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57382"/>
                </a:solidFill>
                <a:latin typeface="Aptos"/>
              </a:rPr>
              <a:t>PRINCIPAL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9" y="2221992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C4973E"/>
                </a:solidFill>
                <a:latin typeface="Aptos"/>
              </a:rPr>
              <a:t>₹36m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37560"/>
            <a:ext cx="516636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58444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5689"/>
                </a:solidFill>
                <a:latin typeface="Aptos"/>
              </a:rPr>
              <a:t>1  ICR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557016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1D2F"/>
                </a:solidFill>
                <a:latin typeface="Aptos"/>
              </a:rPr>
              <a:t>72 ÷ 24 = 3.00×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18795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8189"/>
                </a:solidFill>
                <a:latin typeface="Aptos"/>
              </a:rPr>
              <a:t>2  CFADS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4096512"/>
            <a:ext cx="3520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1D2F"/>
                </a:solidFill>
                <a:latin typeface="Aptos"/>
              </a:rPr>
              <a:t>EBITDA 96 − tax 12 − capex 18 − ΔWC 6 = ₹60m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337560"/>
            <a:ext cx="5394960" cy="2057400"/>
          </a:xfrm>
          <a:prstGeom prst="roundRect">
            <a:avLst/>
          </a:prstGeom>
          <a:solidFill>
            <a:srgbClr val="121D2F"/>
          </a:solidFill>
          <a:ln>
            <a:solidFill>
              <a:srgbClr val="12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58444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4973E"/>
                </a:solidFill>
                <a:latin typeface="Aptos"/>
              </a:rPr>
              <a:t>3  DSCR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547872"/>
            <a:ext cx="3703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60 ÷ (24 + 36) = 1.00×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18795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4973E"/>
                </a:solidFill>
                <a:latin typeface="Aptos"/>
              </a:rPr>
              <a:t>Verdict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4069080"/>
            <a:ext cx="3703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Interest is covered, but total debt service has no headroom.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57382"/>
                </a:solidFill>
                <a:latin typeface="Aptos"/>
              </a:rPr>
              <a:t>DEBT SERVICING CAPACITY  •  CORPORATE CREDIT 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57382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4973E"/>
                </a:solidFill>
                <a:latin typeface="Aptos"/>
              </a:rPr>
              <a:t>09 • CASE STRESS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D2F"/>
                </a:solidFill>
                <a:latin typeface="Aptos"/>
              </a:rPr>
              <a:t>Apex: downside turns a tight DSCR into a refinancing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Stress the numerator first; then test rate and working-capital effects.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D2F"/>
                </a:solidFill>
                <a:latin typeface="Aptos"/>
              </a:rPr>
              <a:t>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A8189"/>
                </a:solidFill>
                <a:latin typeface="Aptos"/>
              </a:rPr>
              <a:t>₹60m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63824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57382"/>
                </a:solidFill>
                <a:latin typeface="Aptos"/>
              </a:rPr>
              <a:t>CFADS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56432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A8189"/>
                </a:solidFill>
                <a:latin typeface="Aptos"/>
              </a:rPr>
              <a:t>1.00×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92024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7627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D2F"/>
                </a:solidFill>
                <a:latin typeface="Aptos"/>
              </a:rPr>
              <a:t>Revenue −10%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24912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C4973E"/>
                </a:solidFill>
                <a:latin typeface="Aptos"/>
              </a:rPr>
              <a:t>₹51m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63824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57382"/>
                </a:solidFill>
                <a:latin typeface="Aptos"/>
              </a:rPr>
              <a:t>CFADS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456432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C4973E"/>
                </a:solidFill>
                <a:latin typeface="Aptos"/>
              </a:rPr>
              <a:t>0.85×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92024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17627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D2F"/>
                </a:solidFill>
                <a:latin typeface="Aptos"/>
              </a:rPr>
              <a:t>Revenue −20%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724912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E4343"/>
                </a:solidFill>
                <a:latin typeface="Aptos"/>
              </a:rPr>
              <a:t>₹42m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163824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57382"/>
                </a:solidFill>
                <a:latin typeface="Aptos"/>
              </a:rPr>
              <a:t>CFADS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456432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E4343"/>
                </a:solidFill>
                <a:latin typeface="Aptos"/>
              </a:rPr>
              <a:t>0.70×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80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D2F"/>
                </a:solidFill>
                <a:latin typeface="Aptos"/>
              </a:rPr>
              <a:t>Decision implications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00600"/>
            <a:ext cx="10789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29200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E4343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029200"/>
            <a:ext cx="10104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Tight base DSCR leaves little protection against earnings volatility.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596128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E4343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596128"/>
            <a:ext cx="10104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Potential actions: longer tenor, sculpted amortization, cash sweep, covenant, additional collateral.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6163056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E4343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6163056"/>
            <a:ext cx="10104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Do not solve a structural cash shortfall with short-term refinancing alone.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57382"/>
                </a:solidFill>
                <a:latin typeface="Aptos"/>
              </a:rPr>
              <a:t>DEBT SERVICING CAPACITY  •  CORPORATE CREDIT 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5738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4973E"/>
                </a:solidFill>
                <a:latin typeface="Aptos"/>
              </a:rPr>
              <a:t>10 • RED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D2F"/>
                </a:solidFill>
                <a:latin typeface="Aptos"/>
              </a:rPr>
              <a:t>Where debt-service analysis can go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The denominator is often where risk hides.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337560" cy="1481328"/>
          </a:xfrm>
          <a:prstGeom prst="roundRect">
            <a:avLst/>
          </a:prstGeom>
          <a:solidFill>
            <a:srgbClr val="F4F7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73152" cy="1481328"/>
          </a:xfrm>
          <a:prstGeom prst="rect">
            <a:avLst/>
          </a:prstGeom>
          <a:solidFill>
            <a:srgbClr val="AE4343"/>
          </a:solidFill>
          <a:ln>
            <a:solidFill>
              <a:srgbClr val="A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D2F"/>
                </a:solidFill>
                <a:latin typeface="Aptos"/>
              </a:rPr>
              <a:t>One-off EBITDA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7"/>
            <a:ext cx="2834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A34"/>
                </a:solidFill>
                <a:latin typeface="Aptos"/>
              </a:rPr>
              <a:t>Recurring debt paid from non-recurring earnings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337560" cy="1481328"/>
          </a:xfrm>
          <a:prstGeom prst="roundRect">
            <a:avLst/>
          </a:prstGeom>
          <a:solidFill>
            <a:srgbClr val="F4F7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74519"/>
            <a:ext cx="73152" cy="1481328"/>
          </a:xfrm>
          <a:prstGeom prst="rect">
            <a:avLst/>
          </a:prstGeom>
          <a:solidFill>
            <a:srgbClr val="AE4343"/>
          </a:solidFill>
          <a:ln>
            <a:solidFill>
              <a:srgbClr val="A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D2F"/>
                </a:solidFill>
                <a:latin typeface="Aptos"/>
              </a:rPr>
              <a:t>Aggressive CFADS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32887"/>
            <a:ext cx="2834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A34"/>
                </a:solidFill>
                <a:latin typeface="Aptos"/>
              </a:rPr>
              <a:t>Ignoring maintenance capex / working capital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74519"/>
            <a:ext cx="3337560" cy="1481328"/>
          </a:xfrm>
          <a:prstGeom prst="roundRect">
            <a:avLst/>
          </a:prstGeom>
          <a:solidFill>
            <a:srgbClr val="F4F7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874519"/>
            <a:ext cx="73152" cy="1481328"/>
          </a:xfrm>
          <a:prstGeom prst="rect">
            <a:avLst/>
          </a:prstGeom>
          <a:solidFill>
            <a:srgbClr val="C4973E"/>
          </a:solidFill>
          <a:ln>
            <a:solidFill>
              <a:srgbClr val="C4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D2F"/>
                </a:solidFill>
                <a:latin typeface="Aptos"/>
              </a:rPr>
              <a:t>Peak-season bias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532887"/>
            <a:ext cx="2834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A34"/>
                </a:solidFill>
                <a:latin typeface="Aptos"/>
              </a:rPr>
              <a:t>Testing only the strongest quarter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39"/>
            <a:ext cx="3337560" cy="1481328"/>
          </a:xfrm>
          <a:prstGeom prst="roundRect">
            <a:avLst/>
          </a:prstGeom>
          <a:solidFill>
            <a:srgbClr val="F4F7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49039"/>
            <a:ext cx="73152" cy="1481328"/>
          </a:xfrm>
          <a:prstGeom prst="rect">
            <a:avLst/>
          </a:prstGeom>
          <a:solidFill>
            <a:srgbClr val="C4973E"/>
          </a:solidFill>
          <a:ln>
            <a:solidFill>
              <a:srgbClr val="C4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77639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D2F"/>
                </a:solidFill>
                <a:latin typeface="Aptos"/>
              </a:rPr>
              <a:t>Balloon maturity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07407"/>
            <a:ext cx="2834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A34"/>
                </a:solidFill>
                <a:latin typeface="Aptos"/>
              </a:rPr>
              <a:t>Low current DSCR but large terminal payment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749039"/>
            <a:ext cx="3337560" cy="1481328"/>
          </a:xfrm>
          <a:prstGeom prst="roundRect">
            <a:avLst/>
          </a:prstGeom>
          <a:solidFill>
            <a:srgbClr val="F4F7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749039"/>
            <a:ext cx="73152" cy="1481328"/>
          </a:xfrm>
          <a:prstGeom prst="rect">
            <a:avLst/>
          </a:prstGeom>
          <a:solidFill>
            <a:srgbClr val="265689"/>
          </a:solidFill>
          <a:ln>
            <a:solidFill>
              <a:srgbClr val="265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977639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D2F"/>
                </a:solidFill>
                <a:latin typeface="Aptos"/>
              </a:rPr>
              <a:t>Floating-rate exposure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407407"/>
            <a:ext cx="2834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A34"/>
                </a:solidFill>
                <a:latin typeface="Aptos"/>
              </a:rPr>
              <a:t>Interest coverage deteriorates as rates rise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749039"/>
            <a:ext cx="3337560" cy="1481328"/>
          </a:xfrm>
          <a:prstGeom prst="roundRect">
            <a:avLst/>
          </a:prstGeom>
          <a:solidFill>
            <a:srgbClr val="F4F7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749039"/>
            <a:ext cx="73152" cy="1481328"/>
          </a:xfrm>
          <a:prstGeom prst="rect">
            <a:avLst/>
          </a:prstGeom>
          <a:solidFill>
            <a:srgbClr val="265689"/>
          </a:solidFill>
          <a:ln>
            <a:solidFill>
              <a:srgbClr val="265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3977639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D2F"/>
                </a:solidFill>
                <a:latin typeface="Aptos"/>
              </a:rPr>
              <a:t>Covenant mismatch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407407"/>
            <a:ext cx="2834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A34"/>
                </a:solidFill>
                <a:latin typeface="Aptos"/>
              </a:rPr>
              <a:t>Accounting metric differs from legal covenant definition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8064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D2F"/>
                </a:solidFill>
                <a:latin typeface="Aptos"/>
              </a:rPr>
              <a:t>Analyst discipline: reconcile every ratio to the underlying cash-flow bridge and debt schedule.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57382"/>
                </a:solidFill>
                <a:latin typeface="Aptos"/>
              </a:rPr>
              <a:t>DEBT SERVICING CAPACITY  •  CORPORATE CREDIT 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5738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4973E"/>
                </a:solidFill>
                <a:latin typeface="Aptos"/>
              </a:rPr>
              <a:t>11 • DECISION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D2F"/>
                </a:solidFill>
                <a:latin typeface="Aptos"/>
              </a:rPr>
              <a:t>Same ratio, different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The stakeholder changes the question — and therefore the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487168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2487168" cy="109728"/>
          </a:xfrm>
          <a:prstGeom prst="rect">
            <a:avLst/>
          </a:prstGeom>
          <a:solidFill>
            <a:srgbClr val="265689"/>
          </a:solidFill>
          <a:ln>
            <a:solidFill>
              <a:srgbClr val="265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76272"/>
            <a:ext cx="21214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65689"/>
                </a:solidFill>
                <a:latin typeface="Aptos"/>
              </a:rPr>
              <a:t>BANKER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21214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D2F"/>
                </a:solidFill>
                <a:latin typeface="Aptos"/>
              </a:rPr>
              <a:t>Will the facility be repaid on schedule?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13632"/>
            <a:ext cx="212140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22A34"/>
                </a:solidFill>
                <a:latin typeface="Aptos"/>
              </a:rPr>
              <a:t>Tenor • covenants • collateral • pricing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828800"/>
            <a:ext cx="2487168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0712" y="1828800"/>
            <a:ext cx="2487168" cy="109728"/>
          </a:xfrm>
          <a:prstGeom prst="rect">
            <a:avLst/>
          </a:prstGeom>
          <a:solidFill>
            <a:srgbClr val="2A8189"/>
          </a:solidFill>
          <a:ln>
            <a:solidFill>
              <a:srgbClr val="2A8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2176272"/>
            <a:ext cx="21214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A8189"/>
                </a:solidFill>
                <a:latin typeface="Aptos"/>
              </a:rPr>
              <a:t>CREDIT 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743200"/>
            <a:ext cx="21214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D2F"/>
                </a:solidFill>
                <a:latin typeface="Aptos"/>
              </a:rPr>
              <a:t>Is cash generation sustainable?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3913632"/>
            <a:ext cx="212140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22A34"/>
                </a:solidFill>
                <a:latin typeface="Aptos"/>
              </a:rPr>
              <a:t>Trend • stress • peer comparison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1828800"/>
            <a:ext cx="2487168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1828800"/>
            <a:ext cx="2487168" cy="109728"/>
          </a:xfrm>
          <a:prstGeom prst="rect">
            <a:avLst/>
          </a:prstGeom>
          <a:solidFill>
            <a:srgbClr val="C4973E"/>
          </a:solidFill>
          <a:ln>
            <a:solidFill>
              <a:srgbClr val="C4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2176272"/>
            <a:ext cx="21214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4973E"/>
                </a:solidFill>
                <a:latin typeface="Aptos"/>
              </a:rPr>
              <a:t>CFO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743200"/>
            <a:ext cx="21214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D2F"/>
                </a:solidFill>
                <a:latin typeface="Aptos"/>
              </a:rPr>
              <a:t>What debt structure maximizes flexibility?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3913632"/>
            <a:ext cx="212140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22A34"/>
                </a:solidFill>
                <a:latin typeface="Aptos"/>
              </a:rPr>
              <a:t>Maturity • liquidity • interest 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43416" y="1828800"/>
            <a:ext cx="2487168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828800"/>
            <a:ext cx="2487168" cy="109728"/>
          </a:xfrm>
          <a:prstGeom prst="rect">
            <a:avLst/>
          </a:prstGeom>
          <a:solidFill>
            <a:srgbClr val="AE4343"/>
          </a:solidFill>
          <a:ln>
            <a:solidFill>
              <a:srgbClr val="A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6296" y="2176272"/>
            <a:ext cx="21214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E4343"/>
                </a:solidFill>
                <a:latin typeface="Aptos"/>
              </a:rPr>
              <a:t>INVESTOR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743200"/>
            <a:ext cx="21214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D2F"/>
                </a:solidFill>
                <a:latin typeface="Aptos"/>
              </a:rPr>
              <a:t>Does leverage amplify or destroy value?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3913632"/>
            <a:ext cx="212140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22A34"/>
                </a:solidFill>
                <a:latin typeface="Aptos"/>
              </a:rPr>
              <a:t>ROIC • cost of debt • downside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806440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21D2F"/>
                </a:solidFill>
                <a:latin typeface="Aptos"/>
              </a:rPr>
              <a:t>One number never tells the whole credit story.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57382"/>
                </a:solidFill>
                <a:latin typeface="Aptos"/>
              </a:rPr>
              <a:t>DEBT SERVICING CAPACITY  •  CORPORATE CREDIT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5738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D2F"/>
          </a:solidFill>
          <a:ln>
            <a:solidFill>
              <a:srgbClr val="12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4973E"/>
                </a:solidFill>
                <a:latin typeface="Aptos"/>
              </a:rPr>
              <a:t>12 • 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D2F"/>
                </a:solidFill>
                <a:latin typeface="Aptos"/>
              </a:rPr>
              <a:t>Five rules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4973E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373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Interest coverage is necessary, not sufficient.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663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ECCDC"/>
                </a:solidFill>
                <a:latin typeface="Aptos"/>
              </a:rPr>
              <a:t>Interest can be covered while principal cannot.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8775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4973E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87752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DSCR is a cash-flow test.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87752"/>
            <a:ext cx="4663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ECCDC"/>
                </a:solidFill>
                <a:latin typeface="Aptos"/>
              </a:rPr>
              <a:t>Build a defensible CFADS bridge.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38144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4973E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38144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Trend beats snapshot.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438144"/>
            <a:ext cx="4663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ECCDC"/>
                </a:solidFill>
                <a:latin typeface="Aptos"/>
              </a:rPr>
              <a:t>Watch deterioration before a breach.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8853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4973E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288536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Stress the debt schedule.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288536"/>
            <a:ext cx="4663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ECCDC"/>
                </a:solidFill>
                <a:latin typeface="Aptos"/>
              </a:rPr>
              <a:t>Maturity walls and floating rates matter.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3892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4973E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138928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Structure is a risk-control tool.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138928"/>
            <a:ext cx="4663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ECCDC"/>
                </a:solidFill>
                <a:latin typeface="Aptos"/>
              </a:rPr>
              <a:t>Tenor, amortization and covenants can create headroom.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053328"/>
            <a:ext cx="10561320" cy="36576"/>
          </a:xfrm>
          <a:prstGeom prst="rect">
            <a:avLst/>
          </a:prstGeom>
          <a:solidFill>
            <a:srgbClr val="C4973E"/>
          </a:solidFill>
          <a:ln>
            <a:solidFill>
              <a:srgbClr val="C4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199632"/>
            <a:ext cx="10561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BOTTOM LINE  •  Debt is safe when sustainable cash flow comfortably exceeds debt service across the cycle.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57382"/>
                </a:solidFill>
                <a:latin typeface="Aptos"/>
              </a:rPr>
              <a:t>DEBT SERVICING CAPACITY  •  CORPORATE CREDIT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5738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4973E"/>
                </a:solidFill>
                <a:latin typeface="Aptos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D2F"/>
                </a:solidFill>
                <a:latin typeface="Aptos"/>
              </a:rPr>
              <a:t>Formula &amp; interpretation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Use as a desk reference during credit reviews.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828800" cy="502920"/>
          </a:xfrm>
          <a:prstGeom prst="roundRect">
            <a:avLst/>
          </a:prstGeom>
          <a:solidFill>
            <a:srgbClr val="121D2F"/>
          </a:solidFill>
          <a:ln>
            <a:solidFill>
              <a:srgbClr val="12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84248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ICR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956816"/>
            <a:ext cx="4160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5689"/>
                </a:solidFill>
                <a:latin typeface="Aptos"/>
              </a:rPr>
              <a:t>EBIT ÷ Interest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956816"/>
            <a:ext cx="3931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Operating profit buffer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828800" cy="502920"/>
          </a:xfrm>
          <a:prstGeom prst="roundRect">
            <a:avLst/>
          </a:prstGeom>
          <a:solidFill>
            <a:srgbClr val="121D2F"/>
          </a:solidFill>
          <a:ln>
            <a:solidFill>
              <a:srgbClr val="12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70048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DSCR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642616"/>
            <a:ext cx="4160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5689"/>
                </a:solidFill>
                <a:latin typeface="Aptos"/>
              </a:rPr>
              <a:t>CFADS ÷ (Interest + Principal)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642616"/>
            <a:ext cx="3931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Total debt-service headroom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00400"/>
            <a:ext cx="1828800" cy="502920"/>
          </a:xfrm>
          <a:prstGeom prst="roundRect">
            <a:avLst/>
          </a:prstGeom>
          <a:solidFill>
            <a:srgbClr val="121D2F"/>
          </a:solidFill>
          <a:ln>
            <a:solidFill>
              <a:srgbClr val="12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55848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CFADS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328416"/>
            <a:ext cx="4160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8189"/>
                </a:solidFill>
                <a:latin typeface="Aptos"/>
              </a:rPr>
              <a:t>EBITDA − cash taxes − maintenance capex − ΔWC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328416"/>
            <a:ext cx="3931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Sustainable cash available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886200"/>
            <a:ext cx="1828800" cy="502920"/>
          </a:xfrm>
          <a:prstGeom prst="roundRect">
            <a:avLst/>
          </a:prstGeom>
          <a:solidFill>
            <a:srgbClr val="121D2F"/>
          </a:solidFill>
          <a:ln>
            <a:solidFill>
              <a:srgbClr val="12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41648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Debt Paydown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4014215"/>
            <a:ext cx="4160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8189"/>
                </a:solidFill>
                <a:latin typeface="Aptos"/>
              </a:rPr>
              <a:t>Opening debt − closing debt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014215"/>
            <a:ext cx="3931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Actual deleveraging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572000"/>
            <a:ext cx="1828800" cy="502920"/>
          </a:xfrm>
          <a:prstGeom prst="roundRect">
            <a:avLst/>
          </a:prstGeom>
          <a:solidFill>
            <a:srgbClr val="121D2F"/>
          </a:solidFill>
          <a:ln>
            <a:solidFill>
              <a:srgbClr val="12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727448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Stress DSCR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700016"/>
            <a:ext cx="4160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8189"/>
                </a:solidFill>
                <a:latin typeface="Aptos"/>
              </a:rPr>
              <a:t>Downside CFADS ÷ downside debt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700016"/>
            <a:ext cx="3931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Resilience under shock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715000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57382"/>
                </a:solidFill>
                <a:latin typeface="Aptos"/>
              </a:rPr>
              <a:t>Thresholds vary by industry, business model, lender policy, covenant definitions and cycle conditions.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57382"/>
                </a:solidFill>
                <a:latin typeface="Aptos"/>
              </a:rPr>
              <a:t>DEBT SERVICING CAPACITY  •  CORPORATE CREDIT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5738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