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1.4  OPERATIONAL RISK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5448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FFFFFF"/>
                </a:solidFill>
              </a:defRPr>
            </a:pPr>
            <a:r>
              <a:t>How failures in people, processes, technology,</a:t>
            </a:r>
            <a:br/>
            <a:r>
              <a:t>and external events become business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Corporate Training | Banking &amp; Financial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People • Process • Systems • External Events • Legal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What is Operational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 practical definition for business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32238"/>
                </a:solidFill>
              </a:defRPr>
            </a:pPr>
            <a:r>
              <a:t>Operational risk is the risk of loss resulting from inadequate or failed internal processes, people and systems, or from external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371600"/>
            <a:ext cx="25146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49961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1901952"/>
            <a:ext cx="21854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Human error, misconduct, inadequate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371600"/>
            <a:ext cx="25146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149961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1901952"/>
            <a:ext cx="21854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Broken controls, poor handoffs, weak procedures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246120"/>
            <a:ext cx="25146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337413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</a:defRPr>
            </a:pPr>
            <a:r>
              <a:t>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776472"/>
            <a:ext cx="21854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Outages, bugs, cyber incidents, data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246120"/>
            <a:ext cx="25146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337413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</a:defRPr>
            </a:pPr>
            <a:r>
              <a:t>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3776472"/>
            <a:ext cx="21854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Fraud, disasters, vendor disruption, geopolitics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Legal / regulatory exposure can amplify any of these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The Operational Risk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Five lenses — one risk event can touch several at once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08760"/>
            <a:ext cx="1143000" cy="1143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1143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32238"/>
                </a:solidFill>
              </a:defRPr>
            </a:pPr>
            <a:r>
              <a:t>People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Human actions / decisions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1508760"/>
            <a:ext cx="1143000" cy="1143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18488"/>
            <a:ext cx="1143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32238"/>
                </a:solidFill>
              </a:defRPr>
            </a:pPr>
            <a:r>
              <a:t>Process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246120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How work gets done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1508760"/>
            <a:ext cx="1143000" cy="1143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618488"/>
            <a:ext cx="1143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32238"/>
                </a:solidFill>
              </a:defRPr>
            </a:pPr>
            <a:r>
              <a:t>Systems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246120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Technology &amp; data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1508760"/>
            <a:ext cx="1143000" cy="1143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618488"/>
            <a:ext cx="1143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32238"/>
                </a:solidFill>
              </a:defRPr>
            </a:pPr>
            <a:r>
              <a:t>External Event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246120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Outside the organisation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0" y="1508760"/>
            <a:ext cx="1143000" cy="1143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618488"/>
            <a:ext cx="1143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32238"/>
                </a:solidFill>
              </a:defRPr>
            </a:pPr>
            <a:r>
              <a:t>Legal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246120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Contracts, laws &amp; regulation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7548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OPERATIONAL RISK EVENT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572000"/>
            <a:ext cx="3840480" cy="7772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1. People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When human behaviour, capability or capacity creates exposure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9961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305409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Incorrect data entry • missed approval • wrong 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9961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</a:defRPr>
            </a:pPr>
            <a:r>
              <a:t>CONDUCT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5409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Fraud • conflicts of interest • policy breaches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49961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</a:defRPr>
            </a:pPr>
            <a:r>
              <a:t>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901952"/>
            <a:ext cx="305409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Understaffing • fatigue • skill gaps • key-person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2238"/>
                </a:solidFill>
              </a:defRPr>
            </a:pPr>
            <a:r>
              <a:t>Real-world use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A payment-operations analyst enters the wrong beneficiary account. The maker-checker control is bypassed during a peak-volume period. Funds are sent incorrectly → financial loss + investigation + customer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2. Process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Controls fail when the workflow itself is weak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9202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992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</a:t>
            </a:r>
            <a:br/>
            <a:r>
              <a:t>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965960"/>
            <a:ext cx="6858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1508760"/>
            <a:ext cx="19202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0992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1965960"/>
            <a:ext cx="6858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1508760"/>
            <a:ext cx="192024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0992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Approval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1965960"/>
            <a:ext cx="6858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1508760"/>
            <a:ext cx="1920240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70992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175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2238"/>
                </a:solidFill>
              </a:defRPr>
            </a:pPr>
            <a:r>
              <a:t>Typical process-risk indicators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64845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Manual handoffs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050791"/>
            <a:ext cx="218541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A control weakness can remain invisible until a transaction goes wrong.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52044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364845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</a:defRPr>
            </a:pPr>
            <a:r>
              <a:t>No maker-checker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4050791"/>
            <a:ext cx="218541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A control weakness can remain invisible until a transaction goes wrong.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352044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1" y="364845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</a:defRPr>
            </a:pPr>
            <a:r>
              <a:t>Unclear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1" y="4050791"/>
            <a:ext cx="218541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A control weakness can remain invisible until a transaction goes wrong.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3999" y="352044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1" y="3648456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</a:defRPr>
            </a:pPr>
            <a:r>
              <a:t>Reconciliations delayed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1" y="4050791"/>
            <a:ext cx="218541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A control weakness can remain invisible until a transaction goes wrong.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3. Systems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Technology is part of the control environment — not just an IT 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53895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</a:defRPr>
            </a:pPr>
            <a:r>
              <a:t>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30998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Core banking outage • payment gateway downtime • batch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53895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</a:defRPr>
            </a:pPr>
            <a:r>
              <a:t>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56231"/>
            <a:ext cx="30998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Incorrect calculation • corrupted data • interface mismatch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4290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453895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56231"/>
            <a:ext cx="30998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Cyberattack • credential compromise • ransomware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2238"/>
                </a:solidFill>
              </a:defRPr>
            </a:pPr>
            <a:r>
              <a:t>Use case: automated credit decisioning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10698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A model-serving API becomes unavailable. Applications cannot receive a decision response, creating approval backlogs. A manual fallback is activated, increasing processing time and the chance of human error.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Key lesson: system resilience + tested fallback = operational risk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4. External Event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Events outside the organisation can disrupt internal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</a:defRPr>
            </a:pPr>
            <a:r>
              <a:t>Natural disaster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47672"/>
            <a:ext cx="47457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Flood / earthquake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45336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</a:defRPr>
            </a:pPr>
            <a:r>
              <a:t>Third-party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47672"/>
            <a:ext cx="47457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Cloud / vendor outage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507492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191256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</a:defRPr>
            </a:pPr>
            <a:r>
              <a:t>Financial crime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93592"/>
            <a:ext cx="47457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External fraud / scam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63240"/>
            <a:ext cx="507492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191256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Geopolitical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593592"/>
            <a:ext cx="47457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Sanctions / disruption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2238"/>
                </a:solidFill>
              </a:defRPr>
            </a:pPr>
            <a:r>
              <a:t>Example: a critical service provider suffers an outage → customer transactions fail → SLA breaches → compensation and reputational damage.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5. Legal &amp; Regulatory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Legal exposure often appears as the consequence of another operational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539496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52704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Operational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423160"/>
            <a:ext cx="5394960" cy="6583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57860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Control / policy breach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474720"/>
            <a:ext cx="5394960" cy="6583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63016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Regulatory or contractual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526280"/>
            <a:ext cx="5394960" cy="65836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68172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Financial + reputational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Examples: privacy breach • consumer-protection failure • contract non-compliance • reporting/control failure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One Event, Multiple Risk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Operational incidents rarely fit into only one box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2286000"/>
            <a:ext cx="2651760" cy="1143000"/>
          </a:xfrm>
          <a:prstGeom prst="ellipse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57860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PAYMENT FAILURE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2344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4416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32238"/>
                </a:solidFill>
              </a:defRPr>
            </a:pPr>
            <a:r>
              <a:t>People</a:t>
            </a:r>
            <a:br/>
            <a:r>
              <a:t>wrong entry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1691640"/>
            <a:ext cx="3383280" cy="1143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12480" y="123444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4416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92440" y="2221992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32238"/>
                </a:solidFill>
              </a:defRPr>
            </a:pPr>
            <a:r>
              <a:t>Process</a:t>
            </a:r>
            <a:br/>
            <a:r>
              <a:t>control bypass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06640" y="1691640"/>
            <a:ext cx="1005840" cy="1143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4114800"/>
            <a:ext cx="914400" cy="9144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5102352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32238"/>
                </a:solidFill>
              </a:defRPr>
            </a:pPr>
            <a:r>
              <a:t>Systems</a:t>
            </a:r>
            <a:br/>
            <a:r>
              <a:t>interface bug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371600" y="2880360"/>
            <a:ext cx="3383280" cy="123444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412480" y="4114800"/>
            <a:ext cx="914400" cy="9144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2452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092440" y="5102352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32238"/>
                </a:solidFill>
              </a:defRPr>
            </a:pPr>
            <a:r>
              <a:t>External</a:t>
            </a:r>
            <a:br/>
            <a:r>
              <a:t>vendor outage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7406640" y="2880360"/>
            <a:ext cx="1005840" cy="123444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86200" y="54406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Legal / regulatory consequences can follow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Corporate Case Study: Digital Loan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Illustrative banking scenario — designed for training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2238"/>
                </a:solidFill>
              </a:defRPr>
            </a:pPr>
            <a: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55648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Customer submits loan request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141732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2704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37160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2238"/>
                </a:solidFill>
              </a:defRPr>
            </a:pPr>
            <a: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55648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Rules + model evaluate risk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1417320"/>
            <a:ext cx="594360" cy="5943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2704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37160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2238"/>
                </a:solidFill>
              </a:defRPr>
            </a:pPr>
            <a: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755648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Credit officer confirms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0" y="1417320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27048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37160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2238"/>
                </a:solidFill>
              </a:defRPr>
            </a:pPr>
            <a:r>
              <a:t>Disbursement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755648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Payment instruction released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546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Incident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118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A system interface sends an incorrect customer status. The process has no independent reconciliation. An analyst notices the issue late. A customer is incorrectly declined.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t>Risk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1208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Systems Risk → Process Risk → People Risk → Customer / legal exposure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How Risk Becomes a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The operational-risk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74519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Failure starts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79" y="2359152"/>
            <a:ext cx="393193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98648" y="1828800"/>
            <a:ext cx="1874519" cy="10515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20574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Control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4505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Not detected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8" y="2359152"/>
            <a:ext cx="3931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02936" y="1828800"/>
            <a:ext cx="1874519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20574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Incident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4505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Business disrupted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7456" y="2359152"/>
            <a:ext cx="3931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07224" y="1828800"/>
            <a:ext cx="1874519" cy="105156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4" y="20574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4505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Loss / customer harm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81744" y="2359152"/>
            <a:ext cx="3931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11512" y="1828800"/>
            <a:ext cx="1874519" cy="10515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20574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4505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Control improved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t>Good operational-risk management breaks the chain before the incident becomes a loss.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Prevent → Detect → Respond → Recover → Improve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Manager's Operational Risk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What should a business leader ask?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t>✓  Where can this process fail?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37160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t>✓  Which control would detect the failure?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t>✓  What happens if the system is unavailable?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69748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t>✓  Who owns the risk and the control?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2336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t>✓  What is our manual fallback?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402336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9768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32238"/>
                </a:solidFill>
              </a:defRPr>
            </a:pPr>
            <a:r>
              <a:t>✓  Have we tested the scenario?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238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Remember the five operational-risk lenses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63040"/>
            <a:ext cx="1051560" cy="10515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1051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32238"/>
                </a:solidFill>
              </a:defRPr>
            </a:pPr>
            <a:r>
              <a:t>PEOPLE</a:t>
            </a:r>
          </a:p>
        </p:txBody>
      </p:sp>
      <p:sp>
        <p:nvSpPr>
          <p:cNvPr id="8" name="Oval 7"/>
          <p:cNvSpPr/>
          <p:nvPr/>
        </p:nvSpPr>
        <p:spPr>
          <a:xfrm>
            <a:off x="3044952" y="1463040"/>
            <a:ext cx="1051560" cy="10515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572768"/>
            <a:ext cx="1051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69748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32238"/>
                </a:solidFill>
              </a:defRPr>
            </a:pPr>
            <a:r>
              <a:t>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5312664" y="1463040"/>
            <a:ext cx="1051560" cy="10515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572768"/>
            <a:ext cx="1051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269748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32238"/>
                </a:solidFill>
              </a:defRPr>
            </a:pPr>
            <a:r>
              <a:t>SYSTEMS</a:t>
            </a:r>
          </a:p>
        </p:txBody>
      </p:sp>
      <p:sp>
        <p:nvSpPr>
          <p:cNvPr id="14" name="Oval 13"/>
          <p:cNvSpPr/>
          <p:nvPr/>
        </p:nvSpPr>
        <p:spPr>
          <a:xfrm>
            <a:off x="7580375" y="1463040"/>
            <a:ext cx="1051560" cy="10515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375" y="1572768"/>
            <a:ext cx="1051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5" y="269748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32238"/>
                </a:solidFill>
              </a:defRPr>
            </a:pPr>
            <a:r>
              <a:t>EXTERNAL</a:t>
            </a:r>
          </a:p>
        </p:txBody>
      </p:sp>
      <p:sp>
        <p:nvSpPr>
          <p:cNvPr id="17" name="Oval 16"/>
          <p:cNvSpPr/>
          <p:nvPr/>
        </p:nvSpPr>
        <p:spPr>
          <a:xfrm>
            <a:off x="9848088" y="1463040"/>
            <a:ext cx="1051560" cy="10515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8088" y="1572768"/>
            <a:ext cx="1051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69748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32238"/>
                </a:solidFill>
              </a:defRPr>
            </a:pPr>
            <a:r>
              <a:t>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32238"/>
                </a:solidFill>
              </a:defRPr>
            </a:pPr>
            <a:r>
              <a:t>Operational risk is not “just an operations problem.”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1772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It is the discipline of understanding how people, processes, technology and external events can create business impact — and designing controls that prevent, detect and recover from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