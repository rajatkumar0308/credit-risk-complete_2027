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Reported total assets fell sharply during 2008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assets ($bn)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Nov-07</c:v>
                </c:pt>
                <c:pt idx="1">
                  <c:v>Feb-08</c:v>
                </c:pt>
                <c:pt idx="2">
                  <c:v>May-08</c:v>
                </c:pt>
                <c:pt idx="3">
                  <c:v>Aug-08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691</c:v>
                </c:pt>
                <c:pt idx="1">
                  <c:v>786</c:v>
                </c:pt>
                <c:pt idx="2">
                  <c:v>639</c:v>
                </c:pt>
                <c:pt idx="3">
                  <c:v>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92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97A8"/>
                </a:solidFill>
                <a:latin typeface="Aptos"/>
              </a:defRPr>
            </a:pPr>
            <a:r>
              <a:t>FINANCIAL CRISIS • CREDIT RISK • SYSTEMIC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417320"/>
            <a:ext cx="10698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The 2008 Financial Crisis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69748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CE1E6"/>
                </a:solidFill>
                <a:latin typeface="Aptos"/>
              </a:defRPr>
            </a:pPr>
            <a:r>
              <a:t>From subprime mortgages to securitization, leverage, liquidity runs and “too big to fail”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3977639"/>
            <a:ext cx="566928" cy="566928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05072"/>
            <a:ext cx="566928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61772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Subprime</a:t>
            </a:r>
            <a:br/>
            <a:r>
              <a:t>mortgages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61872" y="4261104"/>
            <a:ext cx="1435608" cy="0"/>
          </a:xfrm>
          <a:prstGeom prst="line">
            <a:avLst/>
          </a:prstGeom>
          <a:ln w="25400">
            <a:solidFill>
              <a:srgbClr val="2E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926080" y="3977639"/>
            <a:ext cx="566928" cy="566928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005072"/>
            <a:ext cx="566928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461772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Securitization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47872" y="4261104"/>
            <a:ext cx="1435608" cy="0"/>
          </a:xfrm>
          <a:prstGeom prst="line">
            <a:avLst/>
          </a:prstGeom>
          <a:ln w="25400">
            <a:solidFill>
              <a:srgbClr val="2E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212080" y="3977639"/>
            <a:ext cx="566928" cy="566928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4005072"/>
            <a:ext cx="566928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61772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Leverage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33872" y="4261104"/>
            <a:ext cx="1435608" cy="0"/>
          </a:xfrm>
          <a:prstGeom prst="line">
            <a:avLst/>
          </a:prstGeom>
          <a:ln w="25400">
            <a:solidFill>
              <a:srgbClr val="2E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498079" y="3977639"/>
            <a:ext cx="566928" cy="566928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005072"/>
            <a:ext cx="566928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461772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Liquidity</a:t>
            </a:r>
            <a:br/>
            <a:r>
              <a:t>run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119871" y="4261104"/>
            <a:ext cx="1435609" cy="0"/>
          </a:xfrm>
          <a:prstGeom prst="line">
            <a:avLst/>
          </a:prstGeom>
          <a:ln w="25400">
            <a:solidFill>
              <a:srgbClr val="2E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784080" y="3977639"/>
            <a:ext cx="566928" cy="566928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4005072"/>
            <a:ext cx="566928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461772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Systemic</a:t>
            </a:r>
            <a:br/>
            <a:r>
              <a:t>panic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7150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DCE1E6"/>
                </a:solidFill>
                <a:latin typeface="Aptos"/>
              </a:defRPr>
            </a:pPr>
            <a:r>
              <a:t>Case study: Bear Stearns • Lehman Brothers • Merrill Lynch • Goldman Sachs • AIG • Bank of America • Barclays • Government response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19963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9727B"/>
                </a:solidFill>
                <a:latin typeface="Aptos"/>
              </a:defRPr>
            </a:pPr>
            <a:r>
              <a:t>Prepared as a corporate / banking / credit-risk teaching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01 • THE CRISIS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What actually broke in 2008?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A housing shock became a financial-system shock because losses were amplified by leverage, securitization and short-term funding.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2011680"/>
            <a:ext cx="329184" cy="329184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659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D"/>
                </a:solidFill>
                <a:latin typeface="Aptos"/>
              </a:defRPr>
            </a:pPr>
            <a:r>
              <a:t>HOUSEHOLD</a:t>
            </a:r>
            <a:br/>
            <a:r>
              <a:t>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50592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Weak underwriting +</a:t>
            </a:r>
            <a:br/>
            <a:r>
              <a:t>rising house prices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53512" y="2011680"/>
            <a:ext cx="329184" cy="329184"/>
          </a:xfrm>
          <a:prstGeom prst="ellipse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9659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D"/>
                </a:solidFill>
                <a:latin typeface="Aptos"/>
              </a:defRPr>
            </a:pPr>
            <a:r>
              <a:t>MORTGAGE</a:t>
            </a:r>
            <a:br/>
            <a:r>
              <a:t>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450592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Thousands of loans</a:t>
            </a:r>
            <a:br/>
            <a:r>
              <a:t>bundled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82880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39512" y="2011680"/>
            <a:ext cx="329184" cy="329184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19659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D"/>
                </a:solidFill>
                <a:latin typeface="Aptos"/>
              </a:defRPr>
            </a:pPr>
            <a:r>
              <a:t>MBS / CDO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450592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Risk transformed,</a:t>
            </a:r>
            <a:br/>
            <a:r>
              <a:t>repackaged &amp; distributed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82880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25512" y="2011680"/>
            <a:ext cx="329184" cy="329184"/>
          </a:xfrm>
          <a:prstGeom prst="ellipse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19659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D"/>
                </a:solidFill>
                <a:latin typeface="Aptos"/>
              </a:defRPr>
            </a:pPr>
            <a:r>
              <a:t>LEVERAGED</a:t>
            </a:r>
            <a:br/>
            <a:r>
              <a:t>BALANCE SHEETS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2450592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Small equity base,</a:t>
            </a:r>
            <a:br/>
            <a:r>
              <a:t>large asset exposure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1828800"/>
            <a:ext cx="1965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11512" y="2011680"/>
            <a:ext cx="329184" cy="329184"/>
          </a:xfrm>
          <a:prstGeom prst="ellipse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13848" y="19659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D"/>
                </a:solidFill>
                <a:latin typeface="Aptos"/>
              </a:defRPr>
            </a:pPr>
            <a:r>
              <a:t>FUNDING</a:t>
            </a:r>
            <a:br/>
            <a:r>
              <a:t>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450592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Collateral calls +</a:t>
            </a:r>
            <a:br/>
            <a:r>
              <a:t>withdrawn funding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96312" y="2542032"/>
            <a:ext cx="228600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82312" y="2542032"/>
            <a:ext cx="228600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68312" y="2542032"/>
            <a:ext cx="228600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54312" y="2542032"/>
            <a:ext cx="228600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828800" y="3977639"/>
            <a:ext cx="8458200" cy="1097280"/>
          </a:xfrm>
          <a:prstGeom prst="roundRect">
            <a:avLst/>
          </a:prstGeom>
          <a:solidFill>
            <a:srgbClr val="FAF3F3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418795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E373A"/>
                </a:solidFill>
                <a:latin typeface="Aptos"/>
              </a:defRPr>
            </a:pPr>
            <a:r>
              <a:t>FEEDBACK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133087"/>
            <a:ext cx="6309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D"/>
                </a:solidFill>
                <a:latin typeface="Aptos"/>
              </a:defRPr>
            </a:pPr>
            <a:r>
              <a:t>House prices ↓ → defaults ↑ → security values ↓ → collateral haircuts ↑ → funding ↓ → forced sales ↑ → prices ↓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0012680" y="2697480"/>
            <a:ext cx="731520" cy="1874520"/>
          </a:xfrm>
          <a:prstGeom prst="line">
            <a:avLst/>
          </a:prstGeom>
          <a:ln w="25400">
            <a:solidFill>
              <a:srgbClr val="BE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149840" y="4709160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373A"/>
                </a:solidFill>
                <a:latin typeface="Aptos"/>
              </a:defRPr>
            </a:pPr>
            <a:r>
              <a:t>amplification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Sources: Financial Crisis Inquiry Commission (FCIC) Report; Federal Reserve crisis retrospectives.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02 • MORTGAGE &amp; SUBPRIME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What is subprime lending — and why did it matter?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Subprime was not the entire mortgage market; the problem was how weaker credit interacted with aggressive origination, rising home prices and financial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9727B"/>
                </a:solidFill>
                <a:latin typeface="Aptos"/>
              </a:defRPr>
            </a:pPr>
            <a:r>
              <a:t>BORROWER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57D5B"/>
                </a:solidFill>
                <a:latin typeface="Aptos"/>
              </a:defRPr>
            </a:pPr>
            <a:r>
              <a:t>Prime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9727B"/>
                </a:solidFill>
                <a:latin typeface="Aptos"/>
              </a:defRPr>
            </a:pPr>
            <a:r>
              <a:t>stronger credit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7830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93852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DA802D"/>
                </a:solidFill>
                <a:latin typeface="Aptos"/>
              </a:defRPr>
            </a:pPr>
            <a:r>
              <a:t>Alt-A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26771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9727B"/>
                </a:solidFill>
                <a:latin typeface="Aptos"/>
              </a:defRPr>
            </a:pPr>
            <a:r>
              <a:t>mixed 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83080"/>
            <a:ext cx="1508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93852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BE373A"/>
                </a:solidFill>
                <a:latin typeface="Aptos"/>
              </a:defRPr>
            </a:pPr>
            <a:r>
              <a:t>Subprime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26771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9727B"/>
                </a:solidFill>
                <a:latin typeface="Aptos"/>
              </a:defRPr>
            </a:pPr>
            <a:r>
              <a:t>higher default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80360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880360"/>
            <a:ext cx="64008" cy="123444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990088"/>
            <a:ext cx="2039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Mortgage broker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337560"/>
            <a:ext cx="20391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volume / fees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79" y="3493008"/>
            <a:ext cx="365761" cy="0"/>
          </a:xfrm>
          <a:prstGeom prst="line">
            <a:avLst/>
          </a:prstGeom>
          <a:ln w="2286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83279" y="2880360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79" y="2880360"/>
            <a:ext cx="64008" cy="123444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2990088"/>
            <a:ext cx="2039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Originator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3337560"/>
            <a:ext cx="20391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sell loans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15000" y="3493008"/>
            <a:ext cx="365760" cy="0"/>
          </a:xfrm>
          <a:prstGeom prst="line">
            <a:avLst/>
          </a:prstGeom>
          <a:ln w="2286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72200" y="2880360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880360"/>
            <a:ext cx="64008" cy="123444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90088"/>
            <a:ext cx="2039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Securitizer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3337560"/>
            <a:ext cx="20391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pool + structure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03920" y="3493008"/>
            <a:ext cx="365760" cy="0"/>
          </a:xfrm>
          <a:prstGeom prst="line">
            <a:avLst/>
          </a:prstGeom>
          <a:ln w="2286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1119" y="2880360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19" y="2880360"/>
            <a:ext cx="64008" cy="123444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5711" y="2990088"/>
            <a:ext cx="2039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Investor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1" y="3337560"/>
            <a:ext cx="20391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33B"/>
                </a:solidFill>
                <a:latin typeface="Aptos"/>
              </a:defRPr>
            </a:pPr>
            <a:r>
              <a:t>yield / ratings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617720"/>
            <a:ext cx="10927080" cy="1188720"/>
          </a:xfrm>
          <a:prstGeom prst="roundRect">
            <a:avLst/>
          </a:prstGeom>
          <a:solidFill>
            <a:srgbClr val="F8F5F0"/>
          </a:solidFill>
          <a:ln w="12700">
            <a:solidFill>
              <a:srgbClr val="EB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1888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A802D"/>
                </a:solidFill>
                <a:latin typeface="Aptos"/>
              </a:defRPr>
            </a:pPr>
            <a:r>
              <a:t>CREDIT-RISK LESSON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773168"/>
            <a:ext cx="8412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When the lender plans to sell the loan quickly, the incentive to hold underwriting risk can weaken. Once house prices stopped rising, delinquency and loss assumptions were challenged.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Source: FCIC Report, especially findings on mortgage origination, securitization and risk management.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03 • SECURITIZATION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Securitization: how one mortgage became a global financial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The key transformation was from thousands of individual loans into tradable securities whose risk was sliced, rated and distributed.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828800"/>
            <a:ext cx="502920" cy="502920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5623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D"/>
                </a:solidFill>
                <a:latin typeface="Aptos"/>
              </a:defRPr>
            </a:pPr>
            <a:r>
              <a:t>Mortgage loans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278892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Households → monthly payments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7552" y="2084831"/>
            <a:ext cx="1636776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752344" y="1828800"/>
            <a:ext cx="502920" cy="502920"/>
          </a:xfrm>
          <a:prstGeom prst="ellipse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185623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24231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D"/>
                </a:solidFill>
                <a:latin typeface="Aptos"/>
              </a:defRPr>
            </a:pPr>
            <a:r>
              <a:t>Pooling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78892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Thousands of loans combined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28416" y="2084831"/>
            <a:ext cx="1636776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93208" y="1828800"/>
            <a:ext cx="502920" cy="502920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8" y="185623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4231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D"/>
                </a:solidFill>
                <a:latin typeface="Aptos"/>
              </a:defRPr>
            </a:pPr>
            <a:r>
              <a:t>Tranching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78892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Senior / mezzanine / equity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0" y="2084831"/>
            <a:ext cx="1636776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434071" y="1828800"/>
            <a:ext cx="502920" cy="502920"/>
          </a:xfrm>
          <a:prstGeom prst="ellipse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1" y="185623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1" y="24231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D"/>
                </a:solidFill>
                <a:latin typeface="Aptos"/>
              </a:defRPr>
            </a:pPr>
            <a:r>
              <a:t>Ratings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278892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Credit enhancement + models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10144" y="2084831"/>
            <a:ext cx="1636775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774936" y="1828800"/>
            <a:ext cx="502920" cy="502920"/>
          </a:xfrm>
          <a:prstGeom prst="ellipse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185623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24231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D"/>
                </a:solidFill>
                <a:latin typeface="Aptos"/>
              </a:defRPr>
            </a:pPr>
            <a:r>
              <a:t>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5208" y="278892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Banks, funds, insurers, investors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77639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9727B"/>
                </a:solidFill>
                <a:latin typeface="Aptos"/>
              </a:defRPr>
            </a:pPr>
            <a:r>
              <a:t>ILLUSTRATIVE CDO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43400"/>
            <a:ext cx="4572000" cy="393192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40740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E1B2D"/>
                </a:solidFill>
                <a:latin typeface="Aptos"/>
              </a:defRPr>
            </a:pPr>
            <a:r>
              <a:t>Senior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407408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27B"/>
                </a:solidFill>
                <a:latin typeface="Aptos"/>
              </a:defRPr>
            </a:pPr>
            <a:r>
              <a:t>Senior claims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40740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C333B"/>
                </a:solidFill>
                <a:latin typeface="Aptos"/>
              </a:defRPr>
            </a:pPr>
            <a:r>
              <a:t>Low expected loss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46320"/>
            <a:ext cx="4572000" cy="393192"/>
          </a:xfrm>
          <a:prstGeom prst="roundRect">
            <a:avLst/>
          </a:prstGeom>
          <a:solidFill>
            <a:srgbClr val="F7ECD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91032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E1B2D"/>
                </a:solidFill>
                <a:latin typeface="Aptos"/>
              </a:defRPr>
            </a:pPr>
            <a:r>
              <a:t>Mezzanine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4910328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27B"/>
                </a:solidFill>
                <a:latin typeface="Aptos"/>
              </a:defRPr>
            </a:pPr>
            <a:r>
              <a:t>Middle claims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91032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C333B"/>
                </a:solidFill>
                <a:latin typeface="Aptos"/>
              </a:defRPr>
            </a:pPr>
            <a:r>
              <a:t>Higher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349240"/>
            <a:ext cx="4572000" cy="393192"/>
          </a:xfrm>
          <a:prstGeom prst="roundRect">
            <a:avLst/>
          </a:prstGeom>
          <a:solidFill>
            <a:srgbClr val="F9E0E0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41324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E1B2D"/>
                </a:solidFill>
                <a:latin typeface="Aptos"/>
              </a:defRPr>
            </a:pPr>
            <a:r>
              <a:t>Equity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5413248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27B"/>
                </a:solidFill>
                <a:latin typeface="Aptos"/>
              </a:defRPr>
            </a:pPr>
            <a:r>
              <a:t>First-loss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41324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C333B"/>
                </a:solidFill>
                <a:latin typeface="Aptos"/>
              </a:defRPr>
            </a:pPr>
            <a:r>
              <a:t>Highest risk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06440" y="4160520"/>
            <a:ext cx="5486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3708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E373A"/>
                </a:solidFill>
                <a:latin typeface="Aptos"/>
              </a:defRPr>
            </a:pPr>
            <a:r>
              <a:t>AMPLIFICATION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736592"/>
            <a:ext cx="4892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If default assumptions are too optimistic, losses do not stay with the original lender. They travel through securities, derivatives, funding lines and counterparties.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Source: FCIC Report; Federal Reserve crisis retrospectives. Diagram is conceptual.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04 • LEVERAGE &amp; LIQUIDITY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Leverage turned a manageable loss into a capital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A firm with very little equity relative to assets can lose its capital after a relatively small percentage decline in asset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657600" cy="123444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LEVERAGE = ASSETS ÷ EQUITY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CE1E6"/>
                </a:solidFill>
                <a:latin typeface="Aptos"/>
              </a:defRPr>
            </a:pPr>
            <a:r>
              <a:t>$100 assets / $5 equity = 20×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17320"/>
            <a:ext cx="1600200" cy="438912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17904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417320"/>
            <a:ext cx="1600200" cy="438912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517904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Asset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1600200" cy="438912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517904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Equity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417320"/>
            <a:ext cx="1600200" cy="438912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517904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Capital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856231"/>
            <a:ext cx="160020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1975103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C333B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79" y="1856231"/>
            <a:ext cx="160020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5" y="1975103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1856231"/>
            <a:ext cx="160020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5" y="1975103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1856231"/>
            <a:ext cx="160020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6376" y="1975103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386584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4296" y="2505456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C333B"/>
                </a:solidFill>
                <a:latin typeface="Aptos"/>
              </a:defRPr>
            </a:pPr>
            <a:r>
              <a:t>−2%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79" y="2386584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5" y="2505456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386584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5" y="2505456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2386584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66376" y="2505456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E373A"/>
                </a:solidFill>
                <a:latin typeface="Aptos"/>
              </a:defRPr>
            </a:pPr>
            <a:r>
              <a:t>−40% equity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2916935"/>
            <a:ext cx="160020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54296" y="3035807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C333B"/>
                </a:solidFill>
                <a:latin typeface="Aptos"/>
              </a:defRPr>
            </a:pPr>
            <a:r>
              <a:t>−5%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79" y="2916935"/>
            <a:ext cx="160020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5" y="3035807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916935"/>
            <a:ext cx="160020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9015" y="3035807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9800" y="2916935"/>
            <a:ext cx="160020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66376" y="3035807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E373A"/>
                </a:solidFill>
                <a:latin typeface="Aptos"/>
              </a:defRPr>
            </a:pPr>
            <a:r>
              <a:t>Equity wiped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3447287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54296" y="3566159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C333B"/>
                </a:solidFill>
                <a:latin typeface="Aptos"/>
              </a:defRPr>
            </a:pPr>
            <a:r>
              <a:t>−8%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79" y="3447287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1655" y="3566159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2440" y="3447287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29015" y="3566159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−3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3447287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6376" y="3566159"/>
            <a:ext cx="1527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E373A"/>
                </a:solidFill>
                <a:latin typeface="Aptos"/>
              </a:defRPr>
            </a:pPr>
            <a:r>
              <a:t>Insolvent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3246120"/>
            <a:ext cx="10835640" cy="22402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34564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5C94"/>
                </a:solidFill>
                <a:latin typeface="Aptos"/>
              </a:defRPr>
            </a:pPr>
            <a:r>
              <a:t>LIQUIDITY SPIRAL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" y="4069080"/>
            <a:ext cx="1645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215384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E1B2D"/>
                </a:solidFill>
                <a:latin typeface="Aptos"/>
              </a:defRPr>
            </a:pPr>
            <a:r>
              <a:t>Asset values ↓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624328" y="4361688"/>
            <a:ext cx="274320" cy="0"/>
          </a:xfrm>
          <a:prstGeom prst="line">
            <a:avLst/>
          </a:prstGeom>
          <a:ln w="22860">
            <a:solidFill>
              <a:srgbClr val="BE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2971800" y="4069080"/>
            <a:ext cx="1645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71800" y="4215384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E1B2D"/>
                </a:solidFill>
                <a:latin typeface="Aptos"/>
              </a:defRPr>
            </a:pPr>
            <a:r>
              <a:t>Collateral haircuts ↑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636008" y="4361688"/>
            <a:ext cx="274320" cy="0"/>
          </a:xfrm>
          <a:prstGeom prst="line">
            <a:avLst/>
          </a:prstGeom>
          <a:ln w="22860">
            <a:solidFill>
              <a:srgbClr val="BE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5074920" y="4069080"/>
            <a:ext cx="1645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74920" y="4215384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E1B2D"/>
                </a:solidFill>
                <a:latin typeface="Aptos"/>
              </a:defRPr>
            </a:pPr>
            <a:r>
              <a:t>Funding capacity ↓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39128" y="4361688"/>
            <a:ext cx="274320" cy="0"/>
          </a:xfrm>
          <a:prstGeom prst="line">
            <a:avLst/>
          </a:prstGeom>
          <a:ln w="22860">
            <a:solidFill>
              <a:srgbClr val="BE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7178040" y="4069080"/>
            <a:ext cx="1645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4215384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E1B2D"/>
                </a:solidFill>
                <a:latin typeface="Aptos"/>
              </a:defRPr>
            </a:pPr>
            <a:r>
              <a:t>Forced sales ↑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842248" y="4361688"/>
            <a:ext cx="274319" cy="0"/>
          </a:xfrm>
          <a:prstGeom prst="line">
            <a:avLst/>
          </a:prstGeom>
          <a:ln w="22860">
            <a:solidFill>
              <a:srgbClr val="BE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9189720" y="4069080"/>
            <a:ext cx="1645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89720" y="4215384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E1B2D"/>
                </a:solidFill>
                <a:latin typeface="Aptos"/>
              </a:defRPr>
            </a:pPr>
            <a:r>
              <a:t>Prices ↓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1691640" y="4800600"/>
            <a:ext cx="8321040" cy="0"/>
          </a:xfrm>
          <a:prstGeom prst="line">
            <a:avLst/>
          </a:prstGeom>
          <a:ln w="19050">
            <a:solidFill>
              <a:srgbClr val="BE37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617720" y="4892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373A"/>
                </a:solidFill>
                <a:latin typeface="Aptos"/>
              </a:defRPr>
            </a:pPr>
            <a:r>
              <a:t>self-reinforcing feedback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Source: FCIC Report; SEC Lehman filings / Examiner-related testimony. Illustration is simplified.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05 • THE INSTITUTIONS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Seven institutions, seven different roles in the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This is not a “one firm caused everything” story. Each institution sat at a different point in the credit, funding and contagion chain.</a:t>
            </a:r>
          </a:p>
        </p:txBody>
      </p:sp>
      <p:sp>
        <p:nvSpPr>
          <p:cNvPr id="7" name="Oval 6"/>
          <p:cNvSpPr/>
          <p:nvPr/>
        </p:nvSpPr>
        <p:spPr>
          <a:xfrm>
            <a:off x="5440680" y="2331720"/>
            <a:ext cx="1234440" cy="1234440"/>
          </a:xfrm>
          <a:prstGeom prst="ellipse">
            <a:avLst/>
          </a:prstGeom>
          <a:solidFill>
            <a:srgbClr val="0E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80" y="2359151"/>
            <a:ext cx="1234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2008</a:t>
            </a:r>
            <a:br/>
            <a:r>
              <a:t>CRISIS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971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64008" cy="841248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527048"/>
            <a:ext cx="2679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1B2D"/>
                </a:solidFill>
                <a:latin typeface="Aptos"/>
              </a:defRPr>
            </a:pPr>
            <a:r>
              <a:t>Bear Stearns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C333B"/>
                </a:solidFill>
                <a:latin typeface="Aptos"/>
              </a:defRPr>
            </a:pPr>
            <a:r>
              <a:t>Mortgage securities + funding run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1837944"/>
            <a:ext cx="1874520" cy="1088136"/>
          </a:xfrm>
          <a:prstGeom prst="line">
            <a:avLst/>
          </a:prstGeom>
          <a:ln w="12700">
            <a:solidFill>
              <a:srgbClr val="BE37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3794760"/>
            <a:ext cx="2971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794760"/>
            <a:ext cx="64008" cy="841248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04488"/>
            <a:ext cx="2679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1B2D"/>
                </a:solidFill>
                <a:latin typeface="Aptos"/>
              </a:defRPr>
            </a:pPr>
            <a:r>
              <a:t>Lehman Brothers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251960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C333B"/>
                </a:solidFill>
                <a:latin typeface="Aptos"/>
              </a:defRPr>
            </a:pPr>
            <a:r>
              <a:t>Leverage + liquidity + real estate assets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566160" y="2926080"/>
            <a:ext cx="1874520" cy="1289304"/>
          </a:xfrm>
          <a:prstGeom prst="line">
            <a:avLst/>
          </a:prstGeom>
          <a:ln w="12700">
            <a:solidFill>
              <a:srgbClr val="BE37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41080" y="1417320"/>
            <a:ext cx="2971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1417320"/>
            <a:ext cx="64008" cy="841248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1527048"/>
            <a:ext cx="2679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1B2D"/>
                </a:solidFill>
                <a:latin typeface="Aptos"/>
              </a:defRPr>
            </a:pPr>
            <a:r>
              <a:t>Merrill Lynch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1874519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C333B"/>
                </a:solidFill>
                <a:latin typeface="Aptos"/>
              </a:defRPr>
            </a:pPr>
            <a:r>
              <a:t>Mortgage losses → sale to Bank of America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486400" y="1837944"/>
            <a:ext cx="3154680" cy="1088136"/>
          </a:xfrm>
          <a:prstGeom prst="line">
            <a:avLst/>
          </a:prstGeom>
          <a:ln w="12700">
            <a:solidFill>
              <a:srgbClr val="DA80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41080" y="3794760"/>
            <a:ext cx="2971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41080" y="3794760"/>
            <a:ext cx="64008" cy="841248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5672" y="3904488"/>
            <a:ext cx="2679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1B2D"/>
                </a:solidFill>
                <a:latin typeface="Aptos"/>
              </a:defRPr>
            </a:pPr>
            <a:r>
              <a:t>Goldman Sachs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4251960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C333B"/>
                </a:solidFill>
                <a:latin typeface="Aptos"/>
              </a:defRPr>
            </a:pPr>
            <a:r>
              <a:t>Securities / trading + capital &amp; liquidity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5486400" y="2926080"/>
            <a:ext cx="3154680" cy="1289304"/>
          </a:xfrm>
          <a:prstGeom prst="line">
            <a:avLst/>
          </a:prstGeom>
          <a:ln w="12700">
            <a:solidFill>
              <a:srgbClr val="235C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4360" y="5074920"/>
            <a:ext cx="2971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5074920"/>
            <a:ext cx="64008" cy="841248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184648"/>
            <a:ext cx="2679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1B2D"/>
                </a:solidFill>
                <a:latin typeface="Aptos"/>
              </a:defRPr>
            </a:pPr>
            <a:r>
              <a:t>AIG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532120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C333B"/>
                </a:solidFill>
                <a:latin typeface="Aptos"/>
              </a:defRPr>
            </a:pPr>
            <a:r>
              <a:t>CDS / securities lending + counterparty links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566160" y="3611880"/>
            <a:ext cx="1874520" cy="1883664"/>
          </a:xfrm>
          <a:prstGeom prst="line">
            <a:avLst/>
          </a:prstGeom>
          <a:ln w="12700">
            <a:solidFill>
              <a:srgbClr val="674E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5074920"/>
            <a:ext cx="2971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5074920"/>
            <a:ext cx="64008" cy="841248"/>
          </a:xfrm>
          <a:prstGeom prst="rect">
            <a:avLst/>
          </a:prstGeom>
          <a:solidFill>
            <a:srgbClr val="35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5184648"/>
            <a:ext cx="2679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1B2D"/>
                </a:solidFill>
                <a:latin typeface="Aptos"/>
              </a:defRPr>
            </a:pPr>
            <a:r>
              <a:t>Bank of America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5532120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C333B"/>
                </a:solidFill>
                <a:latin typeface="Aptos"/>
              </a:defRPr>
            </a:pPr>
            <a:r>
              <a:t>Countrywide + Merrill + government support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4572000" y="3611880"/>
            <a:ext cx="868680" cy="1883664"/>
          </a:xfrm>
          <a:prstGeom prst="line">
            <a:avLst/>
          </a:prstGeom>
          <a:ln w="12700">
            <a:solidFill>
              <a:srgbClr val="35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641080" y="5074920"/>
            <a:ext cx="2971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41080" y="5074920"/>
            <a:ext cx="64008" cy="841248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05672" y="5184648"/>
            <a:ext cx="2679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1B2D"/>
                </a:solidFill>
                <a:latin typeface="Aptos"/>
              </a:defRPr>
            </a:pPr>
            <a:r>
              <a:t>Barclays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05672" y="5532120"/>
            <a:ext cx="26791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C333B"/>
                </a:solidFill>
                <a:latin typeface="Aptos"/>
              </a:defRPr>
            </a:pPr>
            <a:r>
              <a:t>Acquired Lehman North American businesses</a:t>
            </a:r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5486400" y="3611880"/>
            <a:ext cx="3154680" cy="1883664"/>
          </a:xfrm>
          <a:prstGeom prst="line">
            <a:avLst/>
          </a:prstGeom>
          <a:ln w="12700">
            <a:solidFill>
              <a:srgbClr val="2E97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Sources: Federal Reserve; SEC filings; U.S. Treasury; Barclays transaction filings.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06 • BEAR STEARNS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Bear Stearns: the first major warning that funding could disappear overnight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Bear was pushed to the brink in March 2008 as counterparties and short-term lenders lost confidence.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508760"/>
            <a:ext cx="438912" cy="438912"/>
          </a:xfrm>
          <a:prstGeom prst="ellipse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DA802D"/>
                </a:solidFill>
                <a:latin typeface="Aptos"/>
              </a:defRPr>
            </a:pPr>
            <a:r>
              <a:t>2007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0487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Two mortgage hedge funds collapse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69848" y="1728216"/>
            <a:ext cx="2039112" cy="0"/>
          </a:xfrm>
          <a:prstGeom prst="line">
            <a:avLst/>
          </a:prstGeom>
          <a:ln w="2286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383279" y="1508760"/>
            <a:ext cx="438912" cy="438912"/>
          </a:xfrm>
          <a:prstGeom prst="ellipse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536192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205740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E373A"/>
                </a:solidFill>
                <a:latin typeface="Aptos"/>
              </a:defRPr>
            </a:pPr>
            <a:r>
              <a:t>Mar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40487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Bear warns liquidity position has deteriorated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58768" y="1728216"/>
            <a:ext cx="2039111" cy="0"/>
          </a:xfrm>
          <a:prstGeom prst="line">
            <a:avLst/>
          </a:prstGeom>
          <a:ln w="2286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172200" y="1508760"/>
            <a:ext cx="438912" cy="438912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536192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05740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35C94"/>
                </a:solidFill>
                <a:latin typeface="Aptos"/>
              </a:defRPr>
            </a:pPr>
            <a:r>
              <a:t>Mar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40487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Fed provides short-term funding through JPMorgan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47688" y="1728216"/>
            <a:ext cx="2039112" cy="0"/>
          </a:xfrm>
          <a:prstGeom prst="line">
            <a:avLst/>
          </a:prstGeom>
          <a:ln w="2286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961119" y="1508760"/>
            <a:ext cx="438912" cy="438912"/>
          </a:xfrm>
          <a:prstGeom prst="ellipse">
            <a:avLst/>
          </a:prstGeom>
          <a:solidFill>
            <a:srgbClr val="35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19" y="1536192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05740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57D5B"/>
                </a:solidFill>
                <a:latin typeface="Aptos"/>
              </a:defRPr>
            </a:pPr>
            <a:r>
              <a:t>Mar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40487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33B"/>
                </a:solidFill>
                <a:latin typeface="Aptos"/>
              </a:defRPr>
            </a:pPr>
            <a:r>
              <a:t>JPMorgan agrees to purchase Bear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033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03320"/>
            <a:ext cx="64008" cy="141732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813048"/>
            <a:ext cx="2953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Credit stress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160520"/>
            <a:ext cx="295351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Mortgage-related losses weakened confidence in asset values and counterparties.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7033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3703320"/>
            <a:ext cx="64008" cy="141732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3813048"/>
            <a:ext cx="2953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Liquidity stress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160520"/>
            <a:ext cx="295351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Bear relied heavily on secured / short-term funding; lenders could pull back quickly.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033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703320"/>
            <a:ext cx="64008" cy="141732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813048"/>
            <a:ext cx="2953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Systemic concern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160520"/>
            <a:ext cx="295351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Fed facilitated a JPMorgan transaction using funding secured by Bear assets.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23360" y="4407408"/>
            <a:ext cx="384048" cy="0"/>
          </a:xfrm>
          <a:prstGeom prst="line">
            <a:avLst/>
          </a:prstGeom>
          <a:ln w="2286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72400" y="4407408"/>
            <a:ext cx="384048" cy="0"/>
          </a:xfrm>
          <a:prstGeom prst="line">
            <a:avLst/>
          </a:prstGeom>
          <a:ln w="2286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Source: Federal Reserve, 'Liquidity Provision by the Federal Reserve' (May 2008) and crisis retrospectives.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07 • LEHMAN BROTHERS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Lehman Brothers: credit risk + leverage + liquidity + confidence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Lehman’s balance sheet shows why a funding problem can become an insolvency problem when asset values fall and counterparties demand protection.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417320"/>
          <a:ext cx="53035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72200" y="146304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64008" cy="105156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72768"/>
            <a:ext cx="2130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D"/>
                </a:solidFill>
                <a:latin typeface="Aptos"/>
              </a:defRPr>
            </a:pPr>
            <a:r>
              <a:t>30.7× 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20240"/>
            <a:ext cx="2130552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33B"/>
                </a:solidFill>
                <a:latin typeface="Aptos"/>
              </a:defRPr>
            </a:pPr>
            <a:r>
              <a:t>Nov 2007: total assets / tangible equity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1463040"/>
            <a:ext cx="64008" cy="105156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572768"/>
            <a:ext cx="2130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D"/>
                </a:solidFill>
                <a:latin typeface="Aptos"/>
              </a:defRPr>
            </a:pPr>
            <a:r>
              <a:t>31.7× leverage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1920240"/>
            <a:ext cx="2130552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33B"/>
                </a:solidFill>
                <a:latin typeface="Aptos"/>
              </a:defRPr>
            </a:pPr>
            <a:r>
              <a:t>Feb 2008: total assets / tangible equity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4320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43200"/>
            <a:ext cx="64008" cy="105156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852928"/>
            <a:ext cx="2130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D"/>
                </a:solidFill>
                <a:latin typeface="Aptos"/>
              </a:defRPr>
            </a:pPr>
            <a:r>
              <a:t>$188bn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200400"/>
            <a:ext cx="2130552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33B"/>
                </a:solidFill>
                <a:latin typeface="Aptos"/>
              </a:defRPr>
            </a:pPr>
            <a:r>
              <a:t>Tri-party repo at May 31, 2008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74320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743200"/>
            <a:ext cx="64008" cy="105156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2852928"/>
            <a:ext cx="2130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D"/>
                </a:solidFill>
                <a:latin typeface="Aptos"/>
              </a:defRPr>
            </a:pPr>
            <a:r>
              <a:t>Repo 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3200400"/>
            <a:ext cx="2130552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33B"/>
                </a:solidFill>
                <a:latin typeface="Aptos"/>
              </a:defRPr>
            </a:pPr>
            <a:r>
              <a:t>Used to temporarily reduce reported leverage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526280"/>
            <a:ext cx="10835640" cy="1051560"/>
          </a:xfrm>
          <a:prstGeom prst="roundRect">
            <a:avLst/>
          </a:prstGeom>
          <a:solidFill>
            <a:srgbClr val="F9F4F4"/>
          </a:solidFill>
          <a:ln w="12700">
            <a:solidFill>
              <a:srgbClr val="EB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2744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373A"/>
                </a:solidFill>
                <a:latin typeface="Aptos"/>
              </a:defRPr>
            </a:pPr>
            <a:r>
              <a:t>FAILURE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Real-estate assets hard to sell → market values questioned → counterparties demanded more collateral → funding pressure → no private buyer → bankruptcy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Sources: SEC Lehman filings; SEC testimony concerning Lehman Examiner’s Report; FCIC Report.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08 • SEPTEMBER 2008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September 2008: the week the crisis became 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The sequence matters: the system moved from individual firm stress to a generalized loss of confidence.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965960"/>
            <a:ext cx="502920" cy="502920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9339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263347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235C94"/>
                </a:solidFill>
                <a:latin typeface="Aptos"/>
              </a:defRPr>
            </a:pPr>
            <a:r>
              <a:t>Sep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97180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Fannie Mae &amp; Freddie Mac</a:t>
            </a:r>
            <a:br/>
            <a:r>
              <a:t>enter conservatorship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2212848"/>
            <a:ext cx="1234440" cy="0"/>
          </a:xfrm>
          <a:prstGeom prst="line">
            <a:avLst/>
          </a:prstGeom>
          <a:ln w="1905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23160" y="1965960"/>
            <a:ext cx="502920" cy="502920"/>
          </a:xfrm>
          <a:prstGeom prst="ellipse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99339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263347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BE373A"/>
                </a:solidFill>
                <a:latin typeface="Aptos"/>
              </a:defRPr>
            </a:pPr>
            <a:r>
              <a:t>Sep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97180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Lehman files Chapter 11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2212848"/>
            <a:ext cx="1234440" cy="0"/>
          </a:xfrm>
          <a:prstGeom prst="line">
            <a:avLst/>
          </a:prstGeom>
          <a:ln w="1905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43400" y="1965960"/>
            <a:ext cx="502920" cy="502920"/>
          </a:xfrm>
          <a:prstGeom prst="ellipse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99339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263347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DA802D"/>
                </a:solidFill>
                <a:latin typeface="Aptos"/>
              </a:defRPr>
            </a:pPr>
            <a:r>
              <a:t>Sep 15–16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97180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Merrill agrees to be acquired</a:t>
            </a:r>
            <a:br/>
            <a:r>
              <a:t>by Bank of America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92040" y="2212848"/>
            <a:ext cx="1234440" cy="0"/>
          </a:xfrm>
          <a:prstGeom prst="line">
            <a:avLst/>
          </a:prstGeom>
          <a:ln w="1905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99339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263347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674E91"/>
                </a:solidFill>
                <a:latin typeface="Aptos"/>
              </a:defRPr>
            </a:pPr>
            <a:r>
              <a:t>Sep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97180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AIG receives emergency</a:t>
            </a:r>
            <a:br/>
            <a:r>
              <a:t>Fed facility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12280" y="2212848"/>
            <a:ext cx="1234440" cy="0"/>
          </a:xfrm>
          <a:prstGeom prst="line">
            <a:avLst/>
          </a:prstGeom>
          <a:ln w="1905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183880" y="1965960"/>
            <a:ext cx="502920" cy="502920"/>
          </a:xfrm>
          <a:prstGeom prst="ellipse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199339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263347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2E97A8"/>
                </a:solidFill>
                <a:latin typeface="Aptos"/>
              </a:defRPr>
            </a:pPr>
            <a:r>
              <a:t>Sep 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97180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Goldman Sachs &amp; Morgan Stanley</a:t>
            </a:r>
            <a:br/>
            <a:r>
              <a:t>become bank holding companies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2212848"/>
            <a:ext cx="1234440" cy="0"/>
          </a:xfrm>
          <a:prstGeom prst="line">
            <a:avLst/>
          </a:prstGeom>
          <a:ln w="1905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04120" y="1965960"/>
            <a:ext cx="502920" cy="502920"/>
          </a:xfrm>
          <a:prstGeom prst="ellipse">
            <a:avLst/>
          </a:prstGeom>
          <a:solidFill>
            <a:srgbClr val="35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199339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63347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357D5B"/>
                </a:solidFill>
                <a:latin typeface="Aptos"/>
              </a:defRPr>
            </a:pPr>
            <a:r>
              <a:t>Oct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97180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C333B"/>
                </a:solidFill>
                <a:latin typeface="Aptos"/>
              </a:defRPr>
            </a:pPr>
            <a:r>
              <a:t>EESA / TARP enacted</a:t>
            </a:r>
            <a:br/>
            <a:r>
              <a:t>$700bn authority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343400"/>
            <a:ext cx="10515600" cy="114300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55371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E97A8"/>
                </a:solidFill>
                <a:latin typeface="Aptos"/>
              </a:defRPr>
            </a:pPr>
            <a:r>
              <a:t>SYSTEMIC TRANSMISSION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448056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Lehman failure → counterparty uncertainty → money-market / funding stress → credit contraction → government intervention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Sources: Federal Reserve; U.S. Treasury; SEC; FCIC. Dates refer to 2008.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09 • INSTITUTION-BY-INSTITUTION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What happened to each major institution?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Different paths: rescue, acquisition, bankruptcy, recapitalization or post-bankruptcy asset transfer.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828800" cy="438912"/>
          </a:xfrm>
          <a:prstGeom prst="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Institution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325880"/>
            <a:ext cx="3200400" cy="438912"/>
          </a:xfrm>
          <a:prstGeom prst="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426464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Core exposure / vulnerability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325880"/>
            <a:ext cx="3154680" cy="438912"/>
          </a:xfrm>
          <a:prstGeom prst="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426464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September 2008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325880"/>
            <a:ext cx="3154680" cy="438912"/>
          </a:xfrm>
          <a:prstGeom prst="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26464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Government / market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64792"/>
            <a:ext cx="18288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37943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0E1B2D"/>
                </a:solidFill>
                <a:latin typeface="Aptos"/>
              </a:defRPr>
            </a:pPr>
            <a:r>
              <a:t>Bear Stearns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764792"/>
            <a:ext cx="32004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79" y="1837943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Mortgage securities + short-term funding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1764792"/>
            <a:ext cx="315468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59" y="1837943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JPMorgan acquisition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64792"/>
            <a:ext cx="25146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837943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Fed-supported financing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377440"/>
            <a:ext cx="18288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5059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0E1B2D"/>
                </a:solidFill>
                <a:latin typeface="Aptos"/>
              </a:defRPr>
            </a:pPr>
            <a:r>
              <a:t>Lehman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2377440"/>
            <a:ext cx="3200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79" y="245059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Real estate assets + leverage + funding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2377440"/>
            <a:ext cx="31546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59" y="245059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Chapter 11 bankruptcy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377440"/>
            <a:ext cx="25146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450592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No feasible buyer / sufficient collateral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990088"/>
            <a:ext cx="18288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63240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0E1B2D"/>
                </a:solidFill>
                <a:latin typeface="Aptos"/>
              </a:defRPr>
            </a:pPr>
            <a:r>
              <a:t>Merrill Lynch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2990088"/>
            <a:ext cx="32004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79" y="306324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Mortgage / structured-credit losses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2990088"/>
            <a:ext cx="315468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59" y="306324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Acquired by Bank of America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990088"/>
            <a:ext cx="25146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306324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$10bn CPP allocation; merger support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602736"/>
            <a:ext cx="18288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675888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0E1B2D"/>
                </a:solidFill>
                <a:latin typeface="Aptos"/>
              </a:defRPr>
            </a:pPr>
            <a:r>
              <a:t>AIG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3602736"/>
            <a:ext cx="3200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79" y="3675888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CDS + securities lending + collateral calls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3602736"/>
            <a:ext cx="31546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59" y="367588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Emergency rescue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3602736"/>
            <a:ext cx="25146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3675888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$85bn Fed facility; later Treasury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215384"/>
            <a:ext cx="18288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288536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0E1B2D"/>
                </a:solidFill>
                <a:latin typeface="Aptos"/>
              </a:defRPr>
            </a:pPr>
            <a:r>
              <a:t>Goldman Sachs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215384"/>
            <a:ext cx="32004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79" y="4288536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Mortgage / trading exposure + funding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4215384"/>
            <a:ext cx="315468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59" y="428853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BHC conversion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215384"/>
            <a:ext cx="25146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20" y="4288536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$10bn TARP CPP + private capital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828032"/>
            <a:ext cx="18288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901184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0E1B2D"/>
                </a:solidFill>
                <a:latin typeface="Aptos"/>
              </a:defRPr>
            </a:pPr>
            <a:r>
              <a:t>Bank of America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4828032"/>
            <a:ext cx="3200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68879" y="490118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Countrywide + Merrill integration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4828032"/>
            <a:ext cx="31546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59" y="490118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Survived / supported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4828032"/>
            <a:ext cx="25146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4901184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CPP + later targeted support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5440680"/>
            <a:ext cx="18288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51383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0E1B2D"/>
                </a:solidFill>
                <a:latin typeface="Aptos"/>
              </a:defRPr>
            </a:pPr>
            <a:r>
              <a:t>Barclays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23160" y="5440680"/>
            <a:ext cx="32004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68879" y="551383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Buyer of Lehman assets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06440" y="5440680"/>
            <a:ext cx="315468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59" y="551383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Acquired North American franchise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5440680"/>
            <a:ext cx="2514600" cy="539496"/>
          </a:xfrm>
          <a:prstGeom prst="rect">
            <a:avLst/>
          </a:prstGeom>
          <a:solidFill>
            <a:srgbClr val="F9FAFB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9720" y="5513832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2C333B"/>
                </a:solidFill>
                <a:latin typeface="Aptos"/>
              </a:defRPr>
            </a:pPr>
            <a:r>
              <a:t>Private transaction; not a U.S. bailout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Sources: Federal Reserve; SEC; U.S. Treasury; Barclays transaction records. Government support varied by institution and instrument.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10 • GOVERNMENT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“Too big to fail” was not one bailout — it was a system-stabilization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Authorities used different tools because each institution created a different systemic-risk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64008" cy="137160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3182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D"/>
                </a:solidFill>
                <a:latin typeface="Aptos"/>
              </a:defRPr>
            </a:pPr>
            <a:r>
              <a:t>Federal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1821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Liquidity facilities, emergency lending and support for selected transactions; Bear and AIG were key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64008" cy="1371600"/>
          </a:xfrm>
          <a:prstGeom prst="rect">
            <a:avLst/>
          </a:prstGeom>
          <a:solidFill>
            <a:srgbClr val="35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572768"/>
            <a:ext cx="3182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D"/>
                </a:solidFill>
                <a:latin typeface="Aptos"/>
              </a:defRPr>
            </a:pPr>
            <a:r>
              <a:t>U.S. Treasury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20240"/>
            <a:ext cx="31821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Capital injections through TARP / CPP; support for AIG, banks and later targeted programs.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64008" cy="137160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572768"/>
            <a:ext cx="3182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D"/>
                </a:solidFill>
                <a:latin typeface="Aptos"/>
              </a:defRPr>
            </a:pPr>
            <a:r>
              <a:t>FDIC / regulators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920240"/>
            <a:ext cx="31821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Deposit and bank-debt guarantees, resolutions and support for systemically important institutions.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520440"/>
            <a:ext cx="457200" cy="457200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47872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40965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E1B2D"/>
                </a:solidFill>
                <a:latin typeface="Aptos"/>
              </a:defRPr>
            </a:pPr>
            <a:r>
              <a:t>Bear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407408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0">
                <a:solidFill>
                  <a:srgbClr val="2C333B"/>
                </a:solidFill>
                <a:latin typeface="Aptos"/>
              </a:defRPr>
            </a:pPr>
            <a:r>
              <a:t>Fed-backed transaction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24712" y="3749039"/>
            <a:ext cx="1554479" cy="0"/>
          </a:xfrm>
          <a:prstGeom prst="line">
            <a:avLst/>
          </a:prstGeom>
          <a:ln w="1778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834640" y="3520440"/>
            <a:ext cx="457200" cy="457200"/>
          </a:xfrm>
          <a:prstGeom prst="ellipse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547872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4912" y="40965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E1B2D"/>
                </a:solidFill>
                <a:latin typeface="Aptos"/>
              </a:defRPr>
            </a:pPr>
            <a:r>
              <a:t>AIG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4407408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0">
                <a:solidFill>
                  <a:srgbClr val="2C333B"/>
                </a:solidFill>
                <a:latin typeface="Aptos"/>
              </a:defRPr>
            </a:pPr>
            <a:r>
              <a:t>$85bn secured Fed facility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64992" y="3749039"/>
            <a:ext cx="1554480" cy="0"/>
          </a:xfrm>
          <a:prstGeom prst="line">
            <a:avLst/>
          </a:prstGeom>
          <a:ln w="1778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074920" y="3520440"/>
            <a:ext cx="457200" cy="457200"/>
          </a:xfrm>
          <a:prstGeom prst="ellipse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547872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40965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E1B2D"/>
                </a:solidFill>
                <a:latin typeface="Aptos"/>
              </a:defRPr>
            </a:pPr>
            <a:r>
              <a:t>GSEs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4407408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0">
                <a:solidFill>
                  <a:srgbClr val="2C333B"/>
                </a:solidFill>
                <a:latin typeface="Aptos"/>
              </a:defRPr>
            </a:pPr>
            <a:r>
              <a:t>Conservatorship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05272" y="3749039"/>
            <a:ext cx="1554480" cy="0"/>
          </a:xfrm>
          <a:prstGeom prst="line">
            <a:avLst/>
          </a:prstGeom>
          <a:ln w="1778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315200" y="3520440"/>
            <a:ext cx="457200" cy="457200"/>
          </a:xfrm>
          <a:prstGeom prst="ellipse">
            <a:avLst/>
          </a:prstGeom>
          <a:solidFill>
            <a:srgbClr val="35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3547872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40965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E1B2D"/>
                </a:solidFill>
                <a:latin typeface="Aptos"/>
              </a:defRPr>
            </a:pPr>
            <a:r>
              <a:t>Banks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4407408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0">
                <a:solidFill>
                  <a:srgbClr val="2C333B"/>
                </a:solidFill>
                <a:latin typeface="Aptos"/>
              </a:defRPr>
            </a:pPr>
            <a:r>
              <a:t>TARP capital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45552" y="3749039"/>
            <a:ext cx="1554480" cy="0"/>
          </a:xfrm>
          <a:prstGeom prst="line">
            <a:avLst/>
          </a:prstGeom>
          <a:ln w="1778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555480" y="3520440"/>
            <a:ext cx="457200" cy="457200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3547872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5752" y="40965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E1B2D"/>
                </a:solidFill>
                <a:latin typeface="Aptos"/>
              </a:defRPr>
            </a:pPr>
            <a:r>
              <a:t>Funding markets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4407408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0">
                <a:solidFill>
                  <a:srgbClr val="2C333B"/>
                </a:solidFill>
                <a:latin typeface="Aptos"/>
              </a:defRPr>
            </a:pPr>
            <a:r>
              <a:t>Guarantees / liquidity facilities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349240"/>
            <a:ext cx="10561320" cy="6583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532120"/>
            <a:ext cx="10104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0E1B2D"/>
                </a:solidFill>
                <a:latin typeface="Aptos"/>
              </a:defRPr>
            </a:pPr>
            <a:r>
              <a:t>Important distinction: Goldman Sachs and Bank of America received TARP capital; Barclays acquired Lehman businesses after bankruptcy and was not a U.S. government bailout recipient.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Sources: Federal Reserve speeches / press releases; U.S. Treasury TARP records; SEC; Barclays.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11 • WHY “TOO BIG TO FAIL” EMERGED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Why did authorities fear letting some institutions fail?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1E6"/>
                </a:solidFill>
                <a:latin typeface="Aptos"/>
              </a:defRPr>
            </a:pPr>
            <a:r>
              <a:t>Systemic risk comes from interconnectedness, not simply from company size.</a:t>
            </a:r>
          </a:p>
        </p:txBody>
      </p:sp>
      <p:sp>
        <p:nvSpPr>
          <p:cNvPr id="7" name="Oval 6"/>
          <p:cNvSpPr/>
          <p:nvPr/>
        </p:nvSpPr>
        <p:spPr>
          <a:xfrm>
            <a:off x="5349240" y="2240280"/>
            <a:ext cx="1143000" cy="1143000"/>
          </a:xfrm>
          <a:prstGeom prst="ellipse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2267712"/>
            <a:ext cx="1143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463040"/>
            <a:ext cx="685800" cy="685800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67712"/>
            <a:ext cx="1143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Banks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1810512"/>
            <a:ext cx="3931920" cy="932688"/>
          </a:xfrm>
          <a:prstGeom prst="line">
            <a:avLst/>
          </a:prstGeom>
          <a:ln w="1905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098280" y="1463040"/>
            <a:ext cx="685800" cy="685800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267712"/>
            <a:ext cx="1143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Insurers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486400" y="1810512"/>
            <a:ext cx="3611880" cy="932688"/>
          </a:xfrm>
          <a:prstGeom prst="line">
            <a:avLst/>
          </a:prstGeom>
          <a:ln w="19050">
            <a:solidFill>
              <a:srgbClr val="674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4389120"/>
            <a:ext cx="685800" cy="685800"/>
          </a:xfrm>
          <a:prstGeom prst="ellipse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93792"/>
            <a:ext cx="1143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Money funds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600200" y="2880360"/>
            <a:ext cx="3931920" cy="1856232"/>
          </a:xfrm>
          <a:prstGeom prst="line">
            <a:avLst/>
          </a:prstGeom>
          <a:ln w="19050">
            <a:solidFill>
              <a:srgbClr val="2E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098280" y="4389120"/>
            <a:ext cx="685800" cy="685800"/>
          </a:xfrm>
          <a:prstGeom prst="ellipse">
            <a:avLst/>
          </a:prstGeom>
          <a:solidFill>
            <a:srgbClr val="35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5193792"/>
            <a:ext cx="1143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Corporates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5486400" y="2880360"/>
            <a:ext cx="3611880" cy="1856232"/>
          </a:xfrm>
          <a:prstGeom prst="line">
            <a:avLst/>
          </a:prstGeom>
          <a:ln w="19050">
            <a:solidFill>
              <a:srgbClr val="35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349240" y="4800600"/>
            <a:ext cx="685800" cy="685800"/>
          </a:xfrm>
          <a:prstGeom prst="ellipse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5605272"/>
            <a:ext cx="1143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Clearing</a:t>
            </a:r>
            <a:br/>
            <a:r>
              <a:t>systems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349240" y="2880360"/>
            <a:ext cx="137160" cy="2267712"/>
          </a:xfrm>
          <a:prstGeom prst="line">
            <a:avLst/>
          </a:prstGeom>
          <a:ln w="19050">
            <a:solidFill>
              <a:srgbClr val="DA80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14600" y="1143000"/>
            <a:ext cx="2331720" cy="868680"/>
          </a:xfrm>
          <a:prstGeom prst="roundRect">
            <a:avLst/>
          </a:prstGeom>
          <a:solidFill>
            <a:srgbClr val="1E2E41"/>
          </a:solidFill>
          <a:ln w="12700">
            <a:solidFill>
              <a:srgbClr val="35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1298448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Counterparty exposure</a:t>
            </a:r>
            <a:br/>
            <a:r>
              <a:t>&amp; derivatives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743200"/>
            <a:ext cx="2423160" cy="868680"/>
          </a:xfrm>
          <a:prstGeom prst="roundRect">
            <a:avLst/>
          </a:prstGeom>
          <a:solidFill>
            <a:srgbClr val="1E2E41"/>
          </a:solidFill>
          <a:ln w="12700">
            <a:solidFill>
              <a:srgbClr val="35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2889504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Short-term funding</a:t>
            </a:r>
            <a:br/>
            <a:r>
              <a:t>&amp; collateral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4600" y="3657600"/>
            <a:ext cx="2331720" cy="868680"/>
          </a:xfrm>
          <a:prstGeom prst="roundRect">
            <a:avLst/>
          </a:prstGeom>
          <a:solidFill>
            <a:srgbClr val="1E2E41"/>
          </a:solidFill>
          <a:ln w="12700">
            <a:solidFill>
              <a:srgbClr val="35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3803904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Payments, clearing</a:t>
            </a:r>
            <a:br/>
            <a:r>
              <a:t>&amp; settlement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DCE1E6"/>
                </a:solidFill>
                <a:latin typeface="Aptos"/>
              </a:defRPr>
            </a:pPr>
            <a:r>
              <a:t>Policy dilemma: allow failure and risk contagion — or intervene and create moral-hazard concerns.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Source: Federal Reserve crisis retrospectives; FCIC Report.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12 • WHY LEHMAN FAILED WHILE OTHERS WERE RESCUED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The Lehman decision was constrained by a different set of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The Federal Reserve later explained that no buyer emerged and available collateral was insufficient for a large enough secured loan.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743200" cy="68580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LEHMAN NEEDS FUNDING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1764792"/>
            <a:ext cx="868680" cy="0"/>
          </a:xfrm>
          <a:prstGeom prst="line">
            <a:avLst/>
          </a:prstGeom>
          <a:ln w="25400">
            <a:solidFill>
              <a:srgbClr val="235C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97680" y="1417320"/>
            <a:ext cx="2331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819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D"/>
                </a:solidFill>
                <a:latin typeface="Aptos"/>
              </a:defRPr>
            </a:pPr>
            <a:r>
              <a:t>Private buyer?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1764792"/>
            <a:ext cx="914400" cy="0"/>
          </a:xfrm>
          <a:prstGeom prst="line">
            <a:avLst/>
          </a:prstGeom>
          <a:ln w="25400">
            <a:solidFill>
              <a:srgbClr val="BE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03720" y="135331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373A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143000"/>
            <a:ext cx="3520440" cy="1051560"/>
          </a:xfrm>
          <a:prstGeom prst="roundRect">
            <a:avLst/>
          </a:prstGeom>
          <a:solidFill>
            <a:srgbClr val="F9F4F4"/>
          </a:solidFill>
          <a:ln w="12700">
            <a:solidFill>
              <a:srgbClr val="EB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32588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E1B2D"/>
                </a:solidFill>
                <a:latin typeface="Aptos"/>
              </a:defRPr>
            </a:pPr>
            <a:r>
              <a:t>No buyer willing to take the balance-sheet risk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68112" y="2103120"/>
            <a:ext cx="0" cy="777240"/>
          </a:xfrm>
          <a:prstGeom prst="line">
            <a:avLst/>
          </a:prstGeom>
          <a:ln w="25400">
            <a:solidFill>
              <a:srgbClr val="DA80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51960" y="2926080"/>
            <a:ext cx="2468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10896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D"/>
                </a:solidFill>
                <a:latin typeface="Aptos"/>
              </a:defRPr>
            </a:pPr>
            <a:r>
              <a:t>Enough collateral?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20840" y="3291840"/>
            <a:ext cx="822960" cy="0"/>
          </a:xfrm>
          <a:prstGeom prst="line">
            <a:avLst/>
          </a:prstGeom>
          <a:ln w="25400">
            <a:solidFill>
              <a:srgbClr val="BE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03720" y="288036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373A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743200"/>
            <a:ext cx="3520440" cy="1097280"/>
          </a:xfrm>
          <a:prstGeom prst="roundRect">
            <a:avLst/>
          </a:prstGeom>
          <a:solidFill>
            <a:srgbClr val="F9F4F4"/>
          </a:solidFill>
          <a:ln w="12700">
            <a:solidFill>
              <a:srgbClr val="EB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92608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1">
                <a:solidFill>
                  <a:srgbClr val="0E1B2D"/>
                </a:solidFill>
                <a:latin typeface="Aptos"/>
              </a:defRPr>
            </a:pPr>
            <a:r>
              <a:t>Fed could not make an unsecured loan large enough to meet funding needs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80" y="3840480"/>
            <a:ext cx="0" cy="777240"/>
          </a:xfrm>
          <a:prstGeom prst="line">
            <a:avLst/>
          </a:prstGeom>
          <a:ln w="25400">
            <a:solidFill>
              <a:srgbClr val="BE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95160" y="4663440"/>
            <a:ext cx="4572000" cy="822960"/>
          </a:xfrm>
          <a:prstGeom prst="roundRect">
            <a:avLst/>
          </a:prstGeom>
          <a:solidFill>
            <a:srgbClr val="BE373A"/>
          </a:solidFill>
          <a:ln w="12700">
            <a:solidFill>
              <a:srgbClr val="BE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4828032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CHAPTER 11 • SEPTEMBER 15, 2008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17720"/>
            <a:ext cx="5394960" cy="868680"/>
          </a:xfrm>
          <a:prstGeom prst="roundRect">
            <a:avLst/>
          </a:prstGeom>
          <a:solidFill>
            <a:srgbClr val="EFF7F2"/>
          </a:solidFill>
          <a:ln w="12700">
            <a:solidFill>
              <a:srgbClr val="C3D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E1B2D"/>
                </a:solidFill>
                <a:latin typeface="Aptos"/>
              </a:defRPr>
            </a:pPr>
            <a:r>
              <a:t>Bear / AIG: authorities judged secured support or transaction structures feasible under the circumstances.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Source: Federal Reserve explanations of Lehman, Bear Stearns and AIG interventions.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13 • CREDIT-RISK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What should a credit analyst / banker learn from 2008?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The crisis is a case study in how individual risk measures can look acceptable while system-level vulnerability is building.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91639"/>
            <a:ext cx="384048" cy="384048"/>
          </a:xfrm>
          <a:prstGeom prst="ellipse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38404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673351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Underwriting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Weak loan quality becomes dangerous when growth and collateral values mask default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1691639"/>
            <a:ext cx="384048" cy="384048"/>
          </a:xfrm>
          <a:prstGeom prst="ellipse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19072"/>
            <a:ext cx="38404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673351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Concentration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671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Many institutions can own the “same” economic risk through different securities and counterparties.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5087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1691639"/>
            <a:ext cx="384048" cy="384048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719072"/>
            <a:ext cx="38404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1673351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Leverage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671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High assets / low equity means small asset losses can destroy capital.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5661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749039"/>
            <a:ext cx="384048" cy="384048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76472"/>
            <a:ext cx="38404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73075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Liquidity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A solvent-looking firm can fail if it cannot roll funding or meet collateral calls.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5661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3749039"/>
            <a:ext cx="384048" cy="384048"/>
          </a:xfrm>
          <a:prstGeom prst="ellipse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776472"/>
            <a:ext cx="38404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73075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Model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Ratings and risk models can understate tail dependence and correlated defaults.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5661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66760" y="3749039"/>
            <a:ext cx="384048" cy="384048"/>
          </a:xfrm>
          <a:prstGeom prst="ellipse">
            <a:avLst/>
          </a:prstGeom>
          <a:solidFill>
            <a:srgbClr val="35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776472"/>
            <a:ext cx="384048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373075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Contagion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33B"/>
                </a:solidFill>
                <a:latin typeface="Aptos"/>
              </a:defRPr>
            </a:pPr>
            <a:r>
              <a:t>Counterparty networks can turn one institution’s failure into system-wide stress.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15000"/>
            <a:ext cx="10515600" cy="457200"/>
          </a:xfrm>
          <a:prstGeom prst="roundRect">
            <a:avLst/>
          </a:prstGeom>
          <a:solidFill>
            <a:srgbClr val="0E1B2D"/>
          </a:solidFill>
          <a:ln w="12700">
            <a:solidFill>
              <a:srgbClr val="0E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833872"/>
            <a:ext cx="10149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Modern credit risk = PD + LGD + EAD + concentration + liquidity + correlation + stress testing + 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>
                <a:solidFill>
                  <a:srgbClr val="69727B"/>
                </a:solidFill>
                <a:latin typeface="Aptos"/>
              </a:defRPr>
            </a:pPr>
            <a:r>
              <a:t>Teaching synthesis based on FCIC, Federal Reserve and SEC crisis evidence.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235C94"/>
                </a:solidFill>
                <a:latin typeface="Aptos"/>
              </a:defRPr>
            </a:pPr>
            <a:r>
              <a:t>14 • EXECUTIVE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B2D"/>
                </a:solidFill>
                <a:latin typeface="Aptos Display"/>
              </a:defRPr>
            </a:pPr>
            <a:r>
              <a:t>The 2008 crisis — five ideas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27B"/>
                </a:solidFill>
                <a:latin typeface="Aptos"/>
              </a:defRPr>
            </a:pPr>
            <a:r>
              <a:t>Use this final slide as the recap before moving into credit-risk measurement, stress testing and model validation.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43560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Credit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8458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33B"/>
                </a:solidFill>
                <a:latin typeface="Aptos"/>
              </a:defRPr>
            </a:pPr>
            <a:r>
              <a:t>Subprime defaults were the spark; the financial architecture determined how far the fire spread.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258568"/>
            <a:ext cx="457200" cy="457200"/>
          </a:xfrm>
          <a:prstGeom prst="ellipse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276856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Securitization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58568"/>
            <a:ext cx="8458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33B"/>
                </a:solidFill>
                <a:latin typeface="Aptos"/>
              </a:defRPr>
            </a:pPr>
            <a:r>
              <a:t>Risk was transformed and distributed across banks, funds, insurers and investors.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099816"/>
            <a:ext cx="457200" cy="457200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2724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118104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099816"/>
            <a:ext cx="8458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33B"/>
                </a:solidFill>
                <a:latin typeface="Aptos"/>
              </a:defRPr>
            </a:pPr>
            <a:r>
              <a:t>Thin capital cushions magnified relatively small asset-value declines.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941064"/>
            <a:ext cx="457200" cy="457200"/>
          </a:xfrm>
          <a:prstGeom prst="ellipse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68496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95935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Liquidity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941064"/>
            <a:ext cx="8458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33B"/>
                </a:solidFill>
                <a:latin typeface="Aptos"/>
              </a:defRPr>
            </a:pPr>
            <a:r>
              <a:t>Short-term funding and collateral calls turned confidence loss into a rapid failure mechanism.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4782312"/>
            <a:ext cx="457200" cy="457200"/>
          </a:xfrm>
          <a:prstGeom prst="ellipse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09744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80060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B2D"/>
                </a:solidFill>
                <a:latin typeface="Aptos"/>
              </a:defRPr>
            </a:pPr>
            <a:r>
              <a:t>Systemic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782312"/>
            <a:ext cx="8458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33B"/>
                </a:solidFill>
                <a:latin typeface="Aptos"/>
              </a:defRPr>
            </a:pPr>
            <a:r>
              <a:t>Authorities intervened when interconnectedness made disorderly failure a threat to the wider system.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669280"/>
            <a:ext cx="1078992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797296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9727B"/>
                </a:solidFill>
                <a:latin typeface="Aptos"/>
              </a:defRPr>
            </a:pPr>
            <a:r>
              <a:t>Core sources: FCIC Financial Crisis Inquiry Report • Federal Reserve crisis speeches / releases • SEC Lehman records • U.S. Treasury TARP records • Barclays Lehman transaction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27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2008 Financial Crisis — Credit Risk, Lehman &amp; Too Big to Fail</dc:title>
  <dc:subject>Premium corporate teaching presentation on the 2008 financial crisis</dc:subject>
  <dc:creator>OpenAI</dc:creator>
  <cp:keywords>2008 financial crisis, subprime, securitization, leverage, liquidity, Lehman, Bear Stearns, AIG, Merrill Lynch, Goldman Sachs, Bank of America, Barclays, TARP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