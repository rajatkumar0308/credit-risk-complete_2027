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PD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1–2%</c:v>
                </c:pt>
                <c:pt idx="1">
                  <c:v>2–4%</c:v>
                </c:pt>
                <c:pt idx="2">
                  <c:v>4–8%</c:v>
                </c:pt>
                <c:pt idx="3">
                  <c:v>8–15%</c:v>
                </c:pt>
                <c:pt idx="4">
                  <c:v>15%+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3</c:v>
                </c:pt>
                <c:pt idx="2">
                  <c:v>6</c:v>
                </c:pt>
                <c:pt idx="3">
                  <c:v>11</c:v>
                </c:pt>
                <c:pt idx="4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 PD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1–2%</c:v>
                </c:pt>
                <c:pt idx="1">
                  <c:v>2–4%</c:v>
                </c:pt>
                <c:pt idx="2">
                  <c:v>4–8%</c:v>
                </c:pt>
                <c:pt idx="3">
                  <c:v>8–15%</c:v>
                </c:pt>
                <c:pt idx="4">
                  <c:v>15%+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1.7</c:v>
                </c:pt>
                <c:pt idx="1">
                  <c:v>3.4</c:v>
                </c:pt>
                <c:pt idx="2">
                  <c:v>5.5</c:v>
                </c:pt>
                <c:pt idx="3">
                  <c:v>12.5</c:v>
                </c:pt>
                <c:pt idx="4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49102"/>
                </a:solidFill>
              </a:rPr>
              <a:t>MODEL VALIDATION</a:t>
            </a:r>
          </a:p>
          <a:p>
            <a:r>
              <a:rPr sz="3400" b="1">
                <a:solidFill>
                  <a:srgbClr val="14233C"/>
                </a:solidFill>
              </a:rPr>
              <a:t>Discrimination • Calibration • Stability</a:t>
            </a:r>
          </a:p>
          <a:p>
            <a:r>
              <a:rPr sz="1700">
                <a:solidFill>
                  <a:srgbClr val="697482"/>
                </a:solidFill>
              </a:rPr>
              <a:t>How to know whether a credit model ranks risk well, predicts PD accurately, and remains reliable over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33375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64008" cy="132588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785615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DISCRIMINATION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Can the model separate good borrowers from bad borrowers?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657600"/>
            <a:ext cx="33375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3657600"/>
            <a:ext cx="64008" cy="132588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3785615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CALIBRATION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Do predicted probabilities match observed default rates?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657600"/>
            <a:ext cx="33375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3657600"/>
            <a:ext cx="64008" cy="132588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3785615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STABILITY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Does performance remain consistent across time and populations?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1. Model Discrimination, Calibration &amp; Stability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443484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53895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MODEL DISCRIMINATION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WHAT
Ability to rank-order borrowers from lower to higher risk.
WHY
Credit decisions need separation between likely good and bad accounts.
HOW
AUC / ROC, Gini, KS, Lift, Gains.
SO WHAT
High discrimination can coexist with poor PD calibration.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64008" cy="443484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53895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MODEL CALIBRATION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WHAT
Agreement between predicted PDs and observed default frequencies.
WHY
PD is used in pricing, ECL, capital and provisioning.
HOW
Observed vs predicted PD, calibration slope and intercept.
SO WHAT
A model can rank well while systematically over- or under-predicting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47472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64008" cy="44348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453895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MODEL STABILITY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WHAT
Consistency across time, segments and portfolios.
WHY
Economic cycles, policy changes and population drift can alter model behaviour.
HOW
PSI, drift tests, vintage performance and segment monitoring.
SO WHAT
A strong development model can degrade after implementation.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2. The Validation Triangle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926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64008" cy="182880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956816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DISCRIMINATION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Rank-order risk
AUC • Gini • 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828800"/>
            <a:ext cx="2926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17720" y="1828800"/>
            <a:ext cx="64008" cy="182880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1956816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CALIBRATION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Probability accuracy
Slope • Intercept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2926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828800"/>
            <a:ext cx="64008" cy="182880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1956816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STABILITY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Consistency
PSI • Drift • Vintage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2743200"/>
            <a:ext cx="731520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43800" y="2743200"/>
            <a:ext cx="731520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28800" y="4389120"/>
            <a:ext cx="85039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4389120"/>
            <a:ext cx="64008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9968" y="4517136"/>
            <a:ext cx="8138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EXECUTIVE VIEW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32A34"/>
                </a:solidFill>
              </a:rPr>
              <a:t>Discrimination answers “who is riskier?”  Calibration answers “how risky?”  Stability answers “will the answer keep working?”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3. What Is Model Calibration?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0292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82880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53895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CORE IDEA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32A34"/>
                </a:solidFill>
              </a:rPr>
              <a:t>If 1,000 accounts are assigned an average PD of 4%, we expect roughly 40 defaults over the relevant performance horizon — subject to sampling variation and consistent default definitions.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29000"/>
            <a:ext cx="50292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429000"/>
            <a:ext cx="64008" cy="182880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557016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WHY BANKS CARE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PD feeds expected credit loss, risk-based pricing, portfolio monitoring, capital analytics and credit strategy. Calibration affects the level of risk, not merely the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325880"/>
            <a:ext cx="5303520" cy="39319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64008" cy="393192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453895"/>
            <a:ext cx="493775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CALIBRATION CONDITION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32A34"/>
                </a:solidFill>
              </a:rPr>
              <a:t>Predicted PD ≈ Observed default rate
• Group accounts by predicted-risk band
• Compare average predicted PD with actual bad rate
• Examine systematic gaps
• Test whether deviations are persistent and 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4. Observed vs Predicted PD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1732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43800" y="1417320"/>
            <a:ext cx="3977639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64008" cy="123444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44968" y="1545336"/>
            <a:ext cx="36118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READ THE GAP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Band 3: predicted 6.0% vs observed 5.5% → modest overprediction.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834640"/>
            <a:ext cx="3977639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2834640"/>
            <a:ext cx="64008" cy="123444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2962656"/>
            <a:ext cx="36118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WATCH THE TAIL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Bands 4–5 show observed defaults above prediction → underprediction in higher-risk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251960"/>
            <a:ext cx="3977639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4251960"/>
            <a:ext cx="64008" cy="1234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4379976"/>
            <a:ext cx="36118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BANKER QUESTION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Is the gap persistent, statistically meaningful and economically material?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5. Calibration Slope &amp; Intercept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12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53895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CALIBRATION INTERCEPT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Conceptually: is the model systematically too high or too low overall?
Intercept &gt; 0 → observed risk tends to exceed predicted risk.
Intercept &lt; 0 → predicted risk tends to exceed observed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5212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429000"/>
            <a:ext cx="64008" cy="182880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557016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CALIBRATION SLOPE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Conceptually: does the model spread risk correctly?
Slope ≈ 1 → appropriate spread.
Slope &lt; 1 → predictions are too extreme.
Slope &gt; 1 → predictions are too compressed.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2194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20116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48282"/>
                </a:solidFill>
              </a:rPr>
              <a:t>≈ 0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Ideal intercept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417320"/>
            <a:ext cx="2194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508760"/>
            <a:ext cx="20116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B5BA0"/>
                </a:solidFill>
              </a:rPr>
              <a:t>≈ 1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Ideal slope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26080"/>
            <a:ext cx="4709160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926080"/>
            <a:ext cx="64008" cy="21488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3054096"/>
            <a:ext cx="4343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INTERPRET TOGETHER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Illustration: intercept = +0.10 and slope = 0.75. The portfolio may have a higher baseline risk than development, while the model's risk spread is too extreme. This is distinct from poor discrimination.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6. Calibration — Practical Numerical Example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194560"/>
                <a:gridCol w="4937760"/>
              </a:tblGrid>
              <a:tr h="5105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PD band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Accounts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predicted PD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Observed defaults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1–2%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34 (1.70% observed PD)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2–4%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85 (3.40% observed PD)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4–8%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138 (5.52% observed PD)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8–15%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11.0%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250 (12.50% observed PD)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15%+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200 (20.00% observed PD)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4663440"/>
            <a:ext cx="342900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4663440"/>
            <a:ext cx="64008" cy="91440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791455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STEP 1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Expected defaults = Σ(Account count × PD)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663440"/>
            <a:ext cx="342900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4663440"/>
            <a:ext cx="64008" cy="91440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4791455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STEP 2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Compare expected defaults with realised defaults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663440"/>
            <a:ext cx="342900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4663440"/>
            <a:ext cx="64008" cy="91440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4791455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STEP 3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Investigate persistent band-level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7. Calibration Calculation — Step by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3035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64008" cy="123444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08176"/>
            <a:ext cx="49377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EXPECTED DEFAULTS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2,000×1.5% + 2,500×3% + 2,500×6% + 2,000×11% + 1,000×18%
= 30 + 75 + 150 + 220 + 180 = 655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97480"/>
            <a:ext cx="53035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697480"/>
            <a:ext cx="64008" cy="123444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25496"/>
            <a:ext cx="49377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OBSERVED DEFAULTS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34 + 85 + 138 + 250 + 200 = 707 observed defaults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14800"/>
            <a:ext cx="53035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114800"/>
            <a:ext cx="64008" cy="123444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242816"/>
            <a:ext cx="49377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PORTFOLIO GAP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Observed rate = 707 / 10,000 = 7.07%
Predicted rate = 655 / 10,000 = 6.55%
Absolute gap = +0.52 percentage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4937760" cy="40690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64008" cy="406908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408176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INTERPRETATION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1. The model underpredicts portfolio default frequency.
2. Ranking may still be strong.
3. Check portfolio mix and development-vs-current population.
4. Check macro conditions, underwriting policy and default definitions.
5. If persistent, consider recalibration or redevelopment.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8. Discrimination vs Calibration vs Stability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789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8458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Core question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Typical metrics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Failure signal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Discrimination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Who is riskier?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AUC / Gini / KS / 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Good &amp; bad borrowers overlap too much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How risky?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Observed vs predicted / slope / intercept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Predicted PD systematically differs from realised PD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Will it persist?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PSI / drift / vintage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Performance or population shifts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120640"/>
            <a:ext cx="1078992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120640"/>
            <a:ext cx="64008" cy="73152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5248655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KEY POINT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A model can have high AUC, poor calibration, and deteriorating stability at the same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9. Stability: Why Calibration Can Break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246120" cy="42062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64008" cy="420624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99616"/>
            <a:ext cx="2880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1. POPULATION DRIFT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New customer mix
• Income bands
• Geographies
• Acquisition channels
• Credit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371600"/>
            <a:ext cx="3246120" cy="42062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64008" cy="420624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499616"/>
            <a:ext cx="2880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2. RELATIONSHIP DRIFT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Risk drivers change
• Economic cycle
• Product design
• Fraud patterns
• Underwriting behaviour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246120" cy="42062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1371600"/>
            <a:ext cx="64008" cy="42062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1499616"/>
            <a:ext cx="2880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3. PERFORMANCE DRIFT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Validation changes
• AUC / KS
• Calibration gap
• Default rate
• Segment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10. Case Study — Retail Credit PD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</a:rPr>
              <a:t>Illustrative data: development vs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37160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53895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DEVELOPMENT SAMPLE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AUC = 0.79
Average predicted PD = 5.0%
Observed default rate = 5.1%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52578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64008" cy="13716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054096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12 MONTHS AFTER DEPLOYMENT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AUC = 0.78
Average predicted PD = 5.2%
Observed default rate = 6.4%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26280"/>
            <a:ext cx="52578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64008" cy="137160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654296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DIAGNOSTIC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Ranking remains broadly similar, but calibration deteriorates: 6.4% observed vs 5.2% predicted.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074920" cy="45720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64008" cy="457200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1453895"/>
            <a:ext cx="4709159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MANAGEMENT INVESTIGATION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32A34"/>
                </a:solidFill>
              </a:rPr>
              <a:t>• Has portfolio mix changed?
• Did underwriting cut-offs move?
• Is the economic environment different?
• Did default definition or performance window change?
• Are high-risk bands underpredicted?
• Is recalibration enough, or is redevelopment needed?
Separate data drift, calibration drift and discrimination drift before changing the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11. Validation Dashboard — Credit Committee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783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B5BA0"/>
                </a:solidFill>
              </a:rPr>
              <a:t>0.78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37160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463040"/>
            <a:ext cx="1783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B5BA0"/>
                </a:solidFill>
              </a:rPr>
              <a:t>42%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37160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1463040"/>
            <a:ext cx="1783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48282"/>
                </a:solidFill>
              </a:rPr>
              <a:t>5.2%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Predicted PD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37160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463040"/>
            <a:ext cx="1783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B43737"/>
                </a:solidFill>
              </a:rPr>
              <a:t>6.4%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Observed PD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137160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9800" y="1463040"/>
            <a:ext cx="1783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49102"/>
                </a:solidFill>
              </a:rPr>
              <a:t>0.09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PSI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338328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926080"/>
            <a:ext cx="64008" cy="2057400"/>
          </a:xfrm>
          <a:prstGeom prst="rect">
            <a:avLst/>
          </a:prstGeom>
          <a:solidFill>
            <a:srgbClr val="37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054096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GREEN ZONE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AUC broadly stable
PSI low
Calibration gap small
No material segment deterioration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926080"/>
            <a:ext cx="338328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926080"/>
            <a:ext cx="64008" cy="205740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054096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AMBER ZONE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Calibration drift
Segment-specific deterioration
Population mix changing
Monitor more frequently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926080"/>
            <a:ext cx="338328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2926080"/>
            <a:ext cx="64008" cy="20574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3054096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RED ZONE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Material calibration bias
Performance deterioration
Strong population shift
Potential model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5394960"/>
            <a:ext cx="923544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63040" y="5394960"/>
            <a:ext cx="64008" cy="5943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64208" y="5522976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GOVERNANCE PRINCIPLE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A34"/>
                </a:solidFill>
              </a:rPr>
              <a:t>Thresholds should be defined in the monitoring policy before results are observed.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12. Common Validation 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6636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28016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53895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Confusing AUC with calibration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High AUC does not mean PD levels are accurate.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16636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64008" cy="128016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53895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Checking only portfolio average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A good average can hide severe tail underprediction.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516636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64008" cy="128016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08376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Ignoring sample drift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Population changes can alter observed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880360"/>
            <a:ext cx="516636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880360"/>
            <a:ext cx="64008" cy="128016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3008376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Changing thresholds without diagnosis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Different problems require different remedies.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34840"/>
            <a:ext cx="516636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434840"/>
            <a:ext cx="64008" cy="128016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562855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Using too few defaults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Small samples create noisy calibration estimates.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434840"/>
            <a:ext cx="516636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434840"/>
            <a:ext cx="64008" cy="128016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562855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Ignoring definitions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Default and performance windows must stay consistent.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13. 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332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1. Can the model rank risk? → Discrimination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2. Do predicted PDs match reality? → Calibration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3. Does the relationship persist? → Stability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4. Where is deterioration? → Segment / vintage / PD-band analysis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5. What action is justified? → Monitor, recalibrate, redevelop or retire — based on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4892040"/>
            <a:ext cx="996696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4892040"/>
            <a:ext cx="64008" cy="9144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5020055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BOARD-LEVEL MESSAGE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32A34"/>
                </a:solidFill>
              </a:rPr>
              <a:t>A model is not “good” because one metric is high. Validation assesses ranking power, probability accuracy and behaviour through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14. Practical Validation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685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502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49102"/>
                </a:solidFill>
              </a:rPr>
              <a:t>01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8760" y="1371600"/>
            <a:ext cx="28803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08760" y="1371600"/>
            <a:ext cx="64008" cy="141732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9928" y="1499616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Define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Default, horizon, population and business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685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502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49102"/>
                </a:solidFill>
              </a:rPr>
              <a:t>02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371600"/>
            <a:ext cx="28803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1371600"/>
            <a:ext cx="64008" cy="1417320"/>
          </a:xfrm>
          <a:prstGeom prst="rect">
            <a:avLst/>
          </a:prstGeom>
          <a:solidFill>
            <a:srgbClr val="24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1499616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Discriminate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AUC, Gini, KS, Lift and segment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71600"/>
            <a:ext cx="685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63040"/>
            <a:ext cx="502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49102"/>
                </a:solidFill>
              </a:rPr>
              <a:t>03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8803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64008" cy="141732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1499616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Calibrate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Observed vs predicted, slope, intercept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685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49039"/>
            <a:ext cx="502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49102"/>
                </a:solidFill>
              </a:rPr>
              <a:t>04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3657600"/>
            <a:ext cx="28803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08760" y="3657600"/>
            <a:ext cx="64008" cy="141732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9928" y="3785615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Stabilise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PSI, drift, vintages, macro and policy changes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657600"/>
            <a:ext cx="685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749039"/>
            <a:ext cx="502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49102"/>
                </a:solidFill>
              </a:rPr>
              <a:t>05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3657600"/>
            <a:ext cx="28803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3657600"/>
            <a:ext cx="64008" cy="141732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4688" y="3785615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Diagnose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Separate data, ranking and probability issues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657600"/>
            <a:ext cx="685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749039"/>
            <a:ext cx="502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49102"/>
                </a:solidFill>
              </a:rPr>
              <a:t>06</a:t>
            </a:r>
          </a:p>
          <a:p>
            <a:pPr algn="ctr"/>
            <a:r>
              <a:rPr sz="1000">
                <a:solidFill>
                  <a:srgbClr val="697482"/>
                </a:solidFill>
              </a:rPr>
              <a:t>STEP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3657600"/>
            <a:ext cx="28803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3657600"/>
            <a:ext cx="64008" cy="141732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3785615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Govern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Set thresholds, escalation and remediation actions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" y="5897880"/>
            <a:ext cx="978408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88720" y="5897880"/>
            <a:ext cx="64008" cy="41148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89888" y="6025896"/>
            <a:ext cx="94183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FINAL RULE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A34"/>
                </a:solidFill>
              </a:rPr>
              <a:t>MEASURE → COMPARE → DIAGNOSE → GOVERN → MONITOR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