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approval outcomes (n=1,000 each)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Approved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Group A</c:v>
                </c:pt>
                <c:pt idx="1">
                  <c:v>Group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Rejected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Group A</c:v>
                </c:pt>
                <c:pt idx="1">
                  <c:v>Group B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40</c:v>
                </c:pt>
                <c:pt idx="1">
                  <c:v>55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80960" y="685800"/>
            <a:ext cx="10972" cy="5212080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83880" y="685800"/>
            <a:ext cx="10972" cy="5212080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685800"/>
            <a:ext cx="10972" cy="5212080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89720" y="685800"/>
            <a:ext cx="10972" cy="5212080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92640" y="685800"/>
            <a:ext cx="10972" cy="5212080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95560" y="685800"/>
            <a:ext cx="10972" cy="5212080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914400"/>
            <a:ext cx="3840480" cy="10972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417320"/>
            <a:ext cx="3840480" cy="10972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1920240"/>
            <a:ext cx="3840480" cy="10972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423160"/>
            <a:ext cx="3840480" cy="10972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926080"/>
            <a:ext cx="3840480" cy="10972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3429000"/>
            <a:ext cx="3840480" cy="10972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60920" y="3931920"/>
            <a:ext cx="3840480" cy="10972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4434840"/>
            <a:ext cx="3840480" cy="10972"/>
          </a:xfrm>
          <a:prstGeom prst="rect">
            <a:avLst/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96012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1912A"/>
                </a:solidFill>
                <a:latin typeface="Aptos"/>
              </a:defRPr>
            </a:pPr>
            <a:r>
              <a:t>AI RISK • FAIRNESS •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554480"/>
            <a:ext cx="68580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When AI Makes\nHigh-Stakes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77639"/>
            <a:ext cx="6126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2DCE8"/>
                </a:solidFill>
                <a:latin typeface="Aptos"/>
              </a:defRPr>
            </a:pPr>
            <a:r>
              <a:t>Bias • Explainability • Autonomy • Safety • Reputation • Existential Risk • GenAI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0644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5B4C6"/>
                </a:solidFill>
                <a:latin typeface="Aptos"/>
              </a:defRPr>
            </a:pPr>
            <a:r>
              <a:t>Premium corporate deck | Banking, Finance &amp; MRM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Executive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AI risk is not one problem—it is a portfolio of model, conduct, operational, cyber and strategic risks.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B5C91"/>
                </a:solidFill>
                <a:latin typeface="Aptos Display"/>
              </a:defRPr>
            </a:pPr>
            <a:r>
              <a:t>7</a:t>
            </a:r>
          </a:p>
          <a:p>
            <a:pPr algn="ctr">
              <a:defRPr sz="900">
                <a:solidFill>
                  <a:srgbClr val="505C6C"/>
                </a:solidFill>
                <a:latin typeface="Aptos"/>
              </a:defRPr>
            </a:pPr>
            <a:r>
              <a:t>trustworthiness dimensions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2588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C7E8C"/>
                </a:solidFill>
                <a:latin typeface="Aptos Display"/>
              </a:defRPr>
            </a:pPr>
            <a:r>
              <a:t>4</a:t>
            </a:r>
          </a:p>
          <a:p>
            <a:pPr algn="ctr">
              <a:defRPr sz="900">
                <a:solidFill>
                  <a:srgbClr val="505C6C"/>
                </a:solidFill>
                <a:latin typeface="Aptos"/>
              </a:defRPr>
            </a:pPr>
            <a:r>
              <a:t>AI risk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2588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645291"/>
                </a:solidFill>
                <a:latin typeface="Aptos Display"/>
              </a:defRPr>
            </a:pPr>
            <a:r>
              <a:t>3</a:t>
            </a:r>
          </a:p>
          <a:p>
            <a:pPr algn="ctr">
              <a:defRPr sz="900">
                <a:solidFill>
                  <a:srgbClr val="505C6C"/>
                </a:solidFill>
                <a:latin typeface="Aptos"/>
              </a:defRPr>
            </a:pPr>
            <a:r>
              <a:t>lines of defence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32588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C1912A"/>
                </a:solidFill>
                <a:latin typeface="Aptos Display"/>
              </a:defRPr>
            </a:pPr>
            <a:r>
              <a:t>1</a:t>
            </a:r>
          </a:p>
          <a:p>
            <a:pPr algn="ctr">
              <a:defRPr sz="900">
                <a:solidFill>
                  <a:srgbClr val="505C6C"/>
                </a:solidFill>
                <a:latin typeface="Aptos"/>
              </a:defRPr>
            </a:pPr>
            <a:r>
              <a:t>decision owner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3429000" cy="224028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1 | Decision risk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A high-performing model can still create unacceptable outcomes if data, objective, policy or controls are wrong.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50292" cy="224028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832" y="2788920"/>
            <a:ext cx="3429000" cy="2240280"/>
          </a:xfrm>
          <a:prstGeom prst="roundRect">
            <a:avLst/>
          </a:prstGeom>
          <a:solidFill>
            <a:srgbClr val="E4F2E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2 | Control risk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Explainability, validation, monitoring, access controls and human oversight convert principles into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2788920"/>
            <a:ext cx="50292" cy="2240280"/>
          </a:xfrm>
          <a:prstGeom prst="rect">
            <a:avLst/>
          </a:prstGeom>
          <a:solidFill>
            <a:srgbClr val="3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01583" y="2788920"/>
            <a:ext cx="3429000" cy="2240280"/>
          </a:xfrm>
          <a:prstGeom prst="roundRect">
            <a:avLst/>
          </a:prstGeom>
          <a:solidFill>
            <a:srgbClr val="F7EFD8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3 | Enterprise risk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Bias or a GenAI incident can migrate into complaints, losses, regulatory action, litigation and trust erosion.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3" y="2788920"/>
            <a:ext cx="50292" cy="224028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Core framing: NIST AI RMF; FSB AI &amp; financial stability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AI risk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Map the risk to the lifecycle—not merely to the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103120" cy="123444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DATA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sampling • labels • proxies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50292" cy="123444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2770632" y="1810512"/>
            <a:ext cx="384048" cy="411480"/>
          </a:xfrm>
          <a:prstGeom prst="chevron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98648" y="1417320"/>
            <a:ext cx="2103120" cy="123444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MODEL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objective • features • drift</a:t>
            </a:r>
          </a:p>
        </p:txBody>
      </p:sp>
      <p:sp>
        <p:nvSpPr>
          <p:cNvPr id="8" name="Rectangle 7"/>
          <p:cNvSpPr/>
          <p:nvPr/>
        </p:nvSpPr>
        <p:spPr>
          <a:xfrm>
            <a:off x="2898648" y="1417320"/>
            <a:ext cx="50292" cy="1234440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5074920" y="1810512"/>
            <a:ext cx="384048" cy="411480"/>
          </a:xfrm>
          <a:prstGeom prst="chevron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2936" y="1417320"/>
            <a:ext cx="2103120" cy="1234440"/>
          </a:xfrm>
          <a:prstGeom prst="roundRect">
            <a:avLst/>
          </a:prstGeom>
          <a:solidFill>
            <a:srgbClr val="E4F2E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DECISION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threshold • policy • human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02936" y="1417320"/>
            <a:ext cx="50292" cy="1234440"/>
          </a:xfrm>
          <a:prstGeom prst="rect">
            <a:avLst/>
          </a:prstGeom>
          <a:solidFill>
            <a:srgbClr val="3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379208" y="1810512"/>
            <a:ext cx="384048" cy="411480"/>
          </a:xfrm>
          <a:prstGeom prst="chevron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07223" y="1417320"/>
            <a:ext cx="2103120" cy="123444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DELIVERY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API • vendor • GenAI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07223" y="1417320"/>
            <a:ext cx="50292" cy="1234440"/>
          </a:xfrm>
          <a:prstGeom prst="rect">
            <a:avLst/>
          </a:prstGeom>
          <a:solidFill>
            <a:srgbClr val="64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683496" y="1810512"/>
            <a:ext cx="384048" cy="411480"/>
          </a:xfrm>
          <a:prstGeom prst="chevron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11511" y="1417320"/>
            <a:ext cx="2103120" cy="123444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OUTCOME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customer • bank •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11511" y="1417320"/>
            <a:ext cx="50292" cy="123444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154680"/>
            <a:ext cx="3383280" cy="210312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Microprudential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Model risk • data quality • privacy • cyber • conduct • operational resilience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154680"/>
            <a:ext cx="50292" cy="210312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07408" y="3154680"/>
            <a:ext cx="3383280" cy="210312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Macroprudential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Common vendors/models • correlation • herding • procyclicality • concentration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8" y="3154680"/>
            <a:ext cx="50292" cy="2103120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29016" y="3154680"/>
            <a:ext cx="3383280" cy="210312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Strategic / societal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Trust • labour • misinformation • manipulation • systemic dependency • long-horizon 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9016" y="3154680"/>
            <a:ext cx="50292" cy="2103120"/>
          </a:xfrm>
          <a:prstGeom prst="rect">
            <a:avLst/>
          </a:prstGeom>
          <a:solidFill>
            <a:srgbClr val="64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FSB highlights model risk, data quality/governance, cyber, third-party concentration and market correlation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Algorithmic bias: where it enters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Bias can be inherited from data, created by modelling choices, or introduced by the decision policy.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560320" cy="1508760"/>
          </a:xfrm>
          <a:prstGeom prst="roundRect">
            <a:avLst/>
          </a:prstGeom>
          <a:solidFill>
            <a:srgbClr val="F8E5E5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1. Representation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Under-sampled segments; historical exclusions; missing labels.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50292" cy="150876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01568" y="1234440"/>
            <a:ext cx="2560320" cy="1508760"/>
          </a:xfrm>
          <a:prstGeom prst="roundRect">
            <a:avLst/>
          </a:prstGeom>
          <a:solidFill>
            <a:srgbClr val="F7EFD8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2. Measurement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Proxy variables; noisy outcomes; inconsistent definitions.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01568" y="1234440"/>
            <a:ext cx="50292" cy="150876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63056" y="1234440"/>
            <a:ext cx="2560320" cy="150876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3. Modelling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Objective function; feature selection; threshold optimisation.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234440"/>
            <a:ext cx="50292" cy="150876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4544" y="1234440"/>
            <a:ext cx="2560320" cy="1508760"/>
          </a:xfrm>
          <a:prstGeom prst="roundRect">
            <a:avLst/>
          </a:prstGeom>
          <a:solidFill>
            <a:srgbClr val="E4F2E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4. Deployment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Drift; channel mix; human override; feedback loops.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24544" y="1234440"/>
            <a:ext cx="50292" cy="1508760"/>
          </a:xfrm>
          <a:prstGeom prst="rect">
            <a:avLst/>
          </a:prstGeom>
          <a:solidFill>
            <a:srgbClr val="3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pezoid 11"/>
          <p:cNvSpPr/>
          <p:nvPr/>
        </p:nvSpPr>
        <p:spPr>
          <a:xfrm>
            <a:off x="3337560" y="3246120"/>
            <a:ext cx="5486400" cy="429768"/>
          </a:xfrm>
          <a:prstGeom prst="trapezoid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C2530"/>
                </a:solidFill>
              </a:defRPr>
            </a:pPr>
            <a:r>
              <a:t>Raw population  |  100,000</a:t>
            </a:r>
          </a:p>
        </p:txBody>
      </p:sp>
      <p:sp>
        <p:nvSpPr>
          <p:cNvPr id="13" name="Trapezoid 12"/>
          <p:cNvSpPr/>
          <p:nvPr/>
        </p:nvSpPr>
        <p:spPr>
          <a:xfrm>
            <a:off x="3749039" y="3776472"/>
            <a:ext cx="4663440" cy="429768"/>
          </a:xfrm>
          <a:prstGeom prst="trapezoid">
            <a:avLst/>
          </a:prstGeom>
          <a:solidFill>
            <a:srgbClr val="CBD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C2530"/>
                </a:solidFill>
              </a:defRPr>
            </a:pPr>
            <a:r>
              <a:t>Observed / labelled  |  82,000</a:t>
            </a:r>
          </a:p>
        </p:txBody>
      </p:sp>
      <p:sp>
        <p:nvSpPr>
          <p:cNvPr id="14" name="Trapezoid 13"/>
          <p:cNvSpPr/>
          <p:nvPr/>
        </p:nvSpPr>
        <p:spPr>
          <a:xfrm>
            <a:off x="4160520" y="4306824"/>
            <a:ext cx="3840480" cy="429768"/>
          </a:xfrm>
          <a:prstGeom prst="trapezoid">
            <a:avLst/>
          </a:prstGeom>
          <a:solidFill>
            <a:srgbClr val="B7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C2530"/>
                </a:solidFill>
              </a:defRPr>
            </a:pPr>
            <a:r>
              <a:t>Model eligible  |  70,000</a:t>
            </a:r>
          </a:p>
        </p:txBody>
      </p:sp>
      <p:sp>
        <p:nvSpPr>
          <p:cNvPr id="15" name="Trapezoid 14"/>
          <p:cNvSpPr/>
          <p:nvPr/>
        </p:nvSpPr>
        <p:spPr>
          <a:xfrm>
            <a:off x="4572000" y="4837175"/>
            <a:ext cx="3017520" cy="429768"/>
          </a:xfrm>
          <a:prstGeom prst="trapezoid">
            <a:avLst/>
          </a:prstGeom>
          <a:solidFill>
            <a:srgbClr val="A0C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C2530"/>
                </a:solidFill>
              </a:defRPr>
            </a:pPr>
            <a:r>
              <a:t>Approved  |  42,000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MRM lens: trace bias back to population → label → feature → model → policy →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Fairness is a metric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No single fairness metric answers every business or regulatory question.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34440"/>
          <a:ext cx="49377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989320" y="132588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B5C91"/>
                </a:solidFill>
                <a:latin typeface="Aptos Display"/>
              </a:defRPr>
            </a:pPr>
            <a:r>
              <a:t>6.0%</a:t>
            </a:r>
          </a:p>
          <a:p>
            <a:pPr algn="ctr">
              <a:defRPr sz="900">
                <a:solidFill>
                  <a:srgbClr val="505C6C"/>
                </a:solidFill>
                <a:latin typeface="Aptos"/>
              </a:defRPr>
            </a:pPr>
            <a:r>
              <a:t>Group A approval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32588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B54343"/>
                </a:solidFill>
                <a:latin typeface="Aptos Display"/>
              </a:defRPr>
            </a:pPr>
            <a:r>
              <a:t>5.0%</a:t>
            </a:r>
          </a:p>
          <a:p>
            <a:pPr algn="ctr">
              <a:defRPr sz="900">
                <a:solidFill>
                  <a:srgbClr val="505C6C"/>
                </a:solidFill>
                <a:latin typeface="Aptos"/>
              </a:defRPr>
            </a:pPr>
            <a:r>
              <a:t>Group B approval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2788920"/>
            <a:ext cx="4892040" cy="1417320"/>
          </a:xfrm>
          <a:prstGeom prst="roundRect">
            <a:avLst/>
          </a:prstGeom>
          <a:solidFill>
            <a:srgbClr val="F7EFD8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Disparate impact ratio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DIR = 5.0% / 6.0% = 0.833  → a screening flag, not a final legal conclusion.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2788920"/>
            <a:ext cx="50292" cy="141732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4434840"/>
            <a:ext cx="4892040" cy="123444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1C2530"/>
                </a:solidFill>
                <a:latin typeface="Aptos"/>
              </a:defRPr>
            </a:pPr>
            <a:r>
              <a:t>MRM interpretation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Then test TPR/FPR, calibration, economics, legitimate business need, proxy effects and whether the protected attribute is used directly or indirectly.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4434840"/>
            <a:ext cx="50292" cy="1234440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Illustrative data. Thresholds and legal tests vary by jurisdiction and use case.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Explainability ≠ interpretability ≠ transparency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The control objective is decision-useful evidence—not merely a visually attractive explanation.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400" b="1">
                <a:solidFill>
                  <a:srgbClr val="1C2530"/>
                </a:solidFill>
                <a:latin typeface="Aptos"/>
              </a:defRPr>
            </a:pPr>
            <a:r>
              <a:t>Interpretability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Can a human understand how the model behaves?</a:t>
            </a:r>
            <a:br/>
            <a:r>
              <a:t>Example: monotonic scorecard bins.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0292" cy="192024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07408" y="1325880"/>
            <a:ext cx="342900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400" b="1">
                <a:solidFill>
                  <a:srgbClr val="1C2530"/>
                </a:solidFill>
                <a:latin typeface="Aptos"/>
              </a:defRPr>
            </a:pPr>
            <a:r>
              <a:t>Explainability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Can we explain a specific output?</a:t>
            </a:r>
            <a:br/>
            <a:r>
              <a:t>Example: SHAP / local feature attribution.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07408" y="1325880"/>
            <a:ext cx="50292" cy="1920240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74736" y="1325880"/>
            <a:ext cx="342900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400" b="1">
                <a:solidFill>
                  <a:srgbClr val="1C2530"/>
                </a:solidFill>
                <a:latin typeface="Aptos"/>
              </a:defRPr>
            </a:pPr>
            <a:r>
              <a:t>Transparency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Can stakeholders understand the system, purpose, limits, ownership and controls?</a:t>
            </a:r>
          </a:p>
        </p:txBody>
      </p:sp>
      <p:sp>
        <p:nvSpPr>
          <p:cNvPr id="9" name="Rectangle 8"/>
          <p:cNvSpPr/>
          <p:nvPr/>
        </p:nvSpPr>
        <p:spPr>
          <a:xfrm>
            <a:off x="8174736" y="1325880"/>
            <a:ext cx="50292" cy="1920240"/>
          </a:xfrm>
          <a:prstGeom prst="rect">
            <a:avLst/>
          </a:prstGeom>
          <a:solidFill>
            <a:srgbClr val="64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886200"/>
            <a:ext cx="1600200" cy="68580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C2530"/>
                </a:solidFill>
              </a:defRPr>
            </a:pPr>
            <a:r>
              <a:t>INPUT</a:t>
            </a:r>
          </a:p>
        </p:txBody>
      </p:sp>
      <p:sp>
        <p:nvSpPr>
          <p:cNvPr id="11" name="Chevron 10"/>
          <p:cNvSpPr/>
          <p:nvPr/>
        </p:nvSpPr>
        <p:spPr>
          <a:xfrm>
            <a:off x="2514600" y="4087368"/>
            <a:ext cx="320040" cy="274320"/>
          </a:xfrm>
          <a:prstGeom prst="chevron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3240" y="3886200"/>
            <a:ext cx="1600200" cy="68580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C2530"/>
                </a:solidFill>
              </a:defRPr>
            </a:pPr>
            <a:r>
              <a:t>MODEL</a:t>
            </a:r>
          </a:p>
        </p:txBody>
      </p:sp>
      <p:sp>
        <p:nvSpPr>
          <p:cNvPr id="13" name="Chevron 12"/>
          <p:cNvSpPr/>
          <p:nvPr/>
        </p:nvSpPr>
        <p:spPr>
          <a:xfrm>
            <a:off x="4754880" y="4087368"/>
            <a:ext cx="320040" cy="274320"/>
          </a:xfrm>
          <a:prstGeom prst="chevron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0" y="3886200"/>
            <a:ext cx="1600200" cy="68580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C2530"/>
                </a:solidFill>
              </a:defRPr>
            </a:pPr>
            <a:r>
              <a:t>OUTPUT</a:t>
            </a:r>
          </a:p>
        </p:txBody>
      </p:sp>
      <p:sp>
        <p:nvSpPr>
          <p:cNvPr id="15" name="Chevron 14"/>
          <p:cNvSpPr/>
          <p:nvPr/>
        </p:nvSpPr>
        <p:spPr>
          <a:xfrm>
            <a:off x="6995160" y="4087368"/>
            <a:ext cx="320040" cy="274320"/>
          </a:xfrm>
          <a:prstGeom prst="chevron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43800" y="3886200"/>
            <a:ext cx="1600200" cy="685800"/>
          </a:xfrm>
          <a:prstGeom prst="roundRect">
            <a:avLst/>
          </a:prstGeom>
          <a:solidFill>
            <a:srgbClr val="E4F2E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C2530"/>
                </a:solidFill>
              </a:defRPr>
            </a:pPr>
            <a:r>
              <a:t>DECISION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9235440" y="4087368"/>
            <a:ext cx="320040" cy="274320"/>
          </a:xfrm>
          <a:prstGeom prst="chevron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84080" y="3886200"/>
            <a:ext cx="1600200" cy="685800"/>
          </a:xfrm>
          <a:prstGeom prst="roundRect">
            <a:avLst/>
          </a:prstGeom>
          <a:solidFill>
            <a:srgbClr val="F7EFD8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C2530"/>
                </a:solidFill>
              </a:defRPr>
            </a:pPr>
            <a:r>
              <a:t>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4983480"/>
            <a:ext cx="7452360" cy="960120"/>
          </a:xfrm>
          <a:prstGeom prst="roundRect">
            <a:avLst/>
          </a:prstGeom>
          <a:solidFill>
            <a:srgbClr val="F7EFD8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1C2530"/>
                </a:solidFill>
                <a:latin typeface="Aptos"/>
              </a:defRPr>
            </a:pPr>
            <a:r>
              <a:t>Banking test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Could a credit analyst, model validator, customer-service team and regulator each obtain the evidence they need?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4983480"/>
            <a:ext cx="50292" cy="96012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NIST treats explainability, interpretability, accountability and transparency as trustworthiness characteristics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Autonomy &amp; 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The risk rises when AI moves from recommending → persuading → acting.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423160" cy="141732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RECOMMEND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AI suggests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50292" cy="141732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23160" cy="1417320"/>
          </a:xfrm>
          <a:prstGeom prst="roundRect">
            <a:avLst/>
          </a:prstGeom>
          <a:solidFill>
            <a:srgbClr val="F7EFD8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PERSUADE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AI personalises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371600"/>
            <a:ext cx="50292" cy="141732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2423160" cy="1417320"/>
          </a:xfrm>
          <a:prstGeom prst="roundRect">
            <a:avLst/>
          </a:prstGeom>
          <a:solidFill>
            <a:srgbClr val="F8E5E5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ACT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AI executes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0292" cy="141732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52559" y="1371600"/>
            <a:ext cx="2423160" cy="1417320"/>
          </a:xfrm>
          <a:prstGeom prst="roundRect">
            <a:avLst/>
          </a:prstGeom>
          <a:solidFill>
            <a:srgbClr val="E4F2E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ADAPT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AI learns from 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59" y="1371600"/>
            <a:ext cx="50292" cy="1417320"/>
          </a:xfrm>
          <a:prstGeom prst="rect">
            <a:avLst/>
          </a:prstGeom>
          <a:solidFill>
            <a:srgbClr val="3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5212080" cy="2148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C2530"/>
                </a:solidFill>
                <a:latin typeface="Aptos"/>
              </a:defRPr>
            </a:pPr>
            <a:r>
              <a:t>• Credit: personalised collection messages can exploit distress or urgency.</a:t>
            </a:r>
          </a:p>
          <a:p>
            <a:pPr>
              <a:spcAft>
                <a:spcPts val="700"/>
              </a:spcAft>
              <a:defRPr sz="1100">
                <a:solidFill>
                  <a:srgbClr val="1C2530"/>
                </a:solidFill>
                <a:latin typeface="Aptos"/>
              </a:defRPr>
            </a:pPr>
            <a:r>
              <a:t>• Sales: optimisation can steer customers toward higher-margin products.</a:t>
            </a:r>
          </a:p>
          <a:p>
            <a:pPr>
              <a:spcAft>
                <a:spcPts val="700"/>
              </a:spcAft>
              <a:defRPr sz="1100">
                <a:solidFill>
                  <a:srgbClr val="1C2530"/>
                </a:solidFill>
                <a:latin typeface="Aptos"/>
              </a:defRPr>
            </a:pPr>
            <a:r>
              <a:t>• Markets: automated strategies can amplify correlated behaviour.</a:t>
            </a:r>
          </a:p>
          <a:p>
            <a:pPr>
              <a:spcAft>
                <a:spcPts val="700"/>
              </a:spcAft>
              <a:defRPr sz="1100">
                <a:solidFill>
                  <a:srgbClr val="1C2530"/>
                </a:solidFill>
                <a:latin typeface="Aptos"/>
              </a:defRPr>
            </a:pPr>
            <a:r>
              <a:t>• Employees: AI copilots can create automation bias—'the system said so'.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337560"/>
            <a:ext cx="4709160" cy="20574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Control pattern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• consent &amp; purpose limitation</a:t>
            </a:r>
            <a:br/>
            <a:r>
              <a:t>• friction for irreversible actions</a:t>
            </a:r>
            <a:br/>
            <a:r>
              <a:t>• human approval above thresholds</a:t>
            </a:r>
            <a:br/>
            <a:r>
              <a:t>• audit trail of prompts / actions</a:t>
            </a:r>
            <a:br/>
            <a:r>
              <a:t>• red-team manipulation scenarios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337560"/>
            <a:ext cx="50292" cy="2057400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Decision principle: the more irreversible the action, the stronger the human and technical controls should be.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Safety &amp; well-being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Safety is a system property: model + user + environment + controls.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337560" cy="1417320"/>
          </a:xfrm>
          <a:prstGeom prst="roundRect">
            <a:avLst/>
          </a:prstGeom>
          <a:solidFill>
            <a:srgbClr val="F8E5E5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Customer safety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Wrong financial advice, harmful recommendations, fraud exposure, privacy loss.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0292" cy="141732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34840" y="1280160"/>
            <a:ext cx="3337560" cy="1417320"/>
          </a:xfrm>
          <a:prstGeom prst="roundRect">
            <a:avLst/>
          </a:prstGeom>
          <a:solidFill>
            <a:srgbClr val="F7EFD8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Employee well-being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Over-reliance, workload displacement, surveillance, deskilling, unsafe automation.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280160"/>
            <a:ext cx="50292" cy="141732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0" y="1280160"/>
            <a:ext cx="3337560" cy="141732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Operational safety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Prompt injection, data exfiltration, tool misuse, model outage, vendor failure.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280160"/>
            <a:ext cx="50292" cy="141732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246120"/>
            <a:ext cx="10241280" cy="1143000"/>
          </a:xfrm>
          <a:prstGeom prst="roundRect">
            <a:avLst/>
          </a:prstGeom>
          <a:solidFill>
            <a:srgbClr val="E4F2E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600" b="1">
                <a:solidFill>
                  <a:srgbClr val="1C2530"/>
                </a:solidFill>
                <a:latin typeface="Aptos"/>
              </a:defRPr>
            </a:pPr>
            <a:r>
              <a:t>Illustrative expected-loss equation</a:t>
            </a:r>
          </a:p>
          <a:p>
            <a:pPr>
              <a:spcBef>
                <a:spcPts val="500"/>
              </a:spcBef>
              <a:defRPr sz="1200">
                <a:solidFill>
                  <a:srgbClr val="505C6C"/>
                </a:solidFill>
                <a:latin typeface="Aptos"/>
              </a:defRPr>
            </a:pPr>
            <a:r>
              <a:t>AI loss = Probability(event) × Exposure × Severity × Control-gap multiplier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46120"/>
            <a:ext cx="50292" cy="1143000"/>
          </a:xfrm>
          <a:prstGeom prst="rect">
            <a:avLst/>
          </a:prstGeom>
          <a:solidFill>
            <a:srgbClr val="3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470916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B5C91"/>
                </a:solidFill>
                <a:latin typeface="Aptos Display"/>
              </a:defRPr>
            </a:pPr>
            <a:r>
              <a:t>1%</a:t>
            </a:r>
          </a:p>
          <a:p>
            <a:pPr algn="ctr">
              <a:defRPr sz="900">
                <a:solidFill>
                  <a:srgbClr val="505C6C"/>
                </a:solidFill>
                <a:latin typeface="Aptos"/>
              </a:defRPr>
            </a:pPr>
            <a:r>
              <a:t>event probability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470916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645291"/>
                </a:solidFill>
                <a:latin typeface="Aptos Display"/>
              </a:defRPr>
            </a:pPr>
            <a:r>
              <a:t>₹5Cr</a:t>
            </a:r>
          </a:p>
          <a:p>
            <a:pPr algn="ctr">
              <a:defRPr sz="900">
                <a:solidFill>
                  <a:srgbClr val="505C6C"/>
                </a:solidFill>
                <a:latin typeface="Aptos"/>
              </a:defRPr>
            </a:pPr>
            <a:r>
              <a:t>exposure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70916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B54343"/>
                </a:solidFill>
                <a:latin typeface="Aptos Display"/>
              </a:defRPr>
            </a:pPr>
            <a:r>
              <a:t>40%</a:t>
            </a:r>
          </a:p>
          <a:p>
            <a:pPr algn="ctr">
              <a:defRPr sz="900">
                <a:solidFill>
                  <a:srgbClr val="505C6C"/>
                </a:solidFill>
                <a:latin typeface="Aptos"/>
              </a:defRPr>
            </a:pPr>
            <a:r>
              <a:t>severity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70916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C1912A"/>
                </a:solidFill>
                <a:latin typeface="Aptos Display"/>
              </a:defRPr>
            </a:pPr>
            <a:r>
              <a:t>1.5×</a:t>
            </a:r>
          </a:p>
          <a:p>
            <a:pPr algn="ctr">
              <a:defRPr sz="900">
                <a:solidFill>
                  <a:srgbClr val="505C6C"/>
                </a:solidFill>
                <a:latin typeface="Aptos"/>
              </a:defRPr>
            </a:pPr>
            <a:r>
              <a:t>control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76072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C2530"/>
                </a:solidFill>
              </a:defRPr>
            </a:pPr>
            <a:r>
              <a:t>Illustrative expected loss = 1% × ₹5Cr × 40% × 1.5 = ₹3 lakh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Illustrative calculation—not a regulatory capital methodology.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Reputational risk: the second-order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The visible incident is rarely the full economic impact.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59"/>
            <a:ext cx="1508760" cy="150876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₹5m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0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05C6C"/>
                </a:solidFill>
              </a:defRPr>
            </a:pPr>
            <a:r>
              <a:t>Direct loss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4398264"/>
            <a:ext cx="1508760" cy="905256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₹3m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486400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05C6C"/>
                </a:solidFill>
              </a:defRPr>
            </a:pPr>
            <a:r>
              <a:t>Customer remediation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4096511"/>
            <a:ext cx="1508760" cy="1207008"/>
          </a:xfrm>
          <a:prstGeom prst="rect">
            <a:avLst/>
          </a:prstGeom>
          <a:solidFill>
            <a:srgbClr val="64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₹4m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5486400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05C6C"/>
                </a:solidFill>
              </a:defRPr>
            </a:pPr>
            <a:r>
              <a:t>Regulatory/legal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79" y="3191256"/>
            <a:ext cx="1508760" cy="2112264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₹7m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5486400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05C6C"/>
                </a:solidFill>
              </a:defRPr>
            </a:pPr>
            <a:r>
              <a:t>Revenue / churn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19" y="3493008"/>
            <a:ext cx="1508760" cy="1810512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₹6m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599" y="5486400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05C6C"/>
                </a:solidFill>
              </a:defRPr>
            </a:pPr>
            <a:r>
              <a:t>Trust premium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325880"/>
            <a:ext cx="3246120" cy="18288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Signal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Complaint / social post / analyst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1325880"/>
            <a:ext cx="50292" cy="182880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60" y="1325880"/>
            <a:ext cx="3246120" cy="18288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Amplifier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Media + viral content + regulator attention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1325880"/>
            <a:ext cx="50292" cy="182880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1325880"/>
            <a:ext cx="3246120" cy="18288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Balance-sheet effect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Remediation + churn + legal + funding / valuation effects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325880"/>
            <a:ext cx="50292" cy="182880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Illustrative loss decomposition. Reputation is often a multiplier, not a line item.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Existential risk: useful distinction for executives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Not every 'AI risk' is existential. Separate plausible enterprise controls from low-confidence, high-impact scenarios.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377440" cy="82296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Enterprise / immediate</a:t>
            </a:r>
          </a:p>
          <a:p>
            <a:pPr>
              <a:spcBef>
                <a:spcPts val="500"/>
              </a:spcBef>
              <a:defRPr sz="800">
                <a:solidFill>
                  <a:srgbClr val="505C6C"/>
                </a:solidFill>
                <a:latin typeface="Aptos"/>
              </a:defRPr>
            </a:pPr>
            <a:r>
              <a:t>Fraud, privacy, model failure, bias, outage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50292" cy="82296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89320" y="1371600"/>
            <a:ext cx="1965960" cy="82296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High</a:t>
            </a:r>
          </a:p>
          <a:p>
            <a:pPr>
              <a:spcBef>
                <a:spcPts val="500"/>
              </a:spcBef>
              <a:defRPr sz="800">
                <a:solidFill>
                  <a:srgbClr val="505C6C"/>
                </a:solidFill>
                <a:latin typeface="Aptos"/>
              </a:defRPr>
            </a:pPr>
            <a:r>
              <a:t>Impact / uncertainty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371600"/>
            <a:ext cx="50292" cy="82296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2514600" cy="82296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Now</a:t>
            </a:r>
          </a:p>
          <a:p>
            <a:pPr>
              <a:spcBef>
                <a:spcPts val="500"/>
              </a:spcBef>
              <a:defRPr sz="800">
                <a:solidFill>
                  <a:srgbClr val="505C6C"/>
                </a:solidFill>
                <a:latin typeface="Aptos"/>
              </a:defRPr>
            </a:pPr>
            <a:r>
              <a:t>Planning horizon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371600"/>
            <a:ext cx="50292" cy="822960"/>
          </a:xfrm>
          <a:prstGeom prst="rect">
            <a:avLst/>
          </a:prstGeom>
          <a:solidFill>
            <a:srgbClr val="64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2377440" cy="822960"/>
          </a:xfrm>
          <a:prstGeom prst="roundRect">
            <a:avLst/>
          </a:prstGeom>
          <a:solidFill>
            <a:srgbClr val="F7EFD8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Systemic / medium-term</a:t>
            </a:r>
          </a:p>
          <a:p>
            <a:pPr>
              <a:spcBef>
                <a:spcPts val="500"/>
              </a:spcBef>
              <a:defRPr sz="800">
                <a:solidFill>
                  <a:srgbClr val="505C6C"/>
                </a:solidFill>
                <a:latin typeface="Aptos"/>
              </a:defRPr>
            </a:pPr>
            <a:r>
              <a:t>Vendor concentration, correlated models, market herding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50292" cy="82296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89320" y="2514600"/>
            <a:ext cx="1965960" cy="82296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Medium–High</a:t>
            </a:r>
          </a:p>
          <a:p>
            <a:pPr>
              <a:spcBef>
                <a:spcPts val="500"/>
              </a:spcBef>
              <a:defRPr sz="800">
                <a:solidFill>
                  <a:srgbClr val="505C6C"/>
                </a:solidFill>
                <a:latin typeface="Aptos"/>
              </a:defRPr>
            </a:pPr>
            <a:r>
              <a:t>Impact / uncertainty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514600"/>
            <a:ext cx="50292" cy="82296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2514600"/>
            <a:ext cx="2514600" cy="82296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Now → 5y</a:t>
            </a:r>
          </a:p>
          <a:p>
            <a:pPr>
              <a:spcBef>
                <a:spcPts val="500"/>
              </a:spcBef>
              <a:defRPr sz="800">
                <a:solidFill>
                  <a:srgbClr val="505C6C"/>
                </a:solidFill>
                <a:latin typeface="Aptos"/>
              </a:defRPr>
            </a:pPr>
            <a:r>
              <a:t>Planning horizon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514600"/>
            <a:ext cx="50292" cy="822960"/>
          </a:xfrm>
          <a:prstGeom prst="rect">
            <a:avLst/>
          </a:prstGeom>
          <a:solidFill>
            <a:srgbClr val="64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2377440" cy="822960"/>
          </a:xfrm>
          <a:prstGeom prst="roundRect">
            <a:avLst/>
          </a:prstGeom>
          <a:solidFill>
            <a:srgbClr val="F8E5E5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Frontier / long-horizon</a:t>
            </a:r>
          </a:p>
          <a:p>
            <a:pPr>
              <a:spcBef>
                <a:spcPts val="500"/>
              </a:spcBef>
              <a:defRPr sz="800">
                <a:solidFill>
                  <a:srgbClr val="505C6C"/>
                </a:solidFill>
                <a:latin typeface="Aptos"/>
              </a:defRPr>
            </a:pPr>
            <a:r>
              <a:t>Loss of control, strategic dependency, extreme misuse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657600"/>
            <a:ext cx="50292" cy="82296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89320" y="3657600"/>
            <a:ext cx="1965960" cy="82296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Uncertain</a:t>
            </a:r>
          </a:p>
          <a:p>
            <a:pPr>
              <a:spcBef>
                <a:spcPts val="500"/>
              </a:spcBef>
              <a:defRPr sz="800">
                <a:solidFill>
                  <a:srgbClr val="505C6C"/>
                </a:solidFill>
                <a:latin typeface="Aptos"/>
              </a:defRPr>
            </a:pPr>
            <a:r>
              <a:t>Impact / uncertainty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3657600"/>
            <a:ext cx="50292" cy="82296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3657600"/>
            <a:ext cx="2514600" cy="82296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5y+</a:t>
            </a:r>
          </a:p>
          <a:p>
            <a:pPr>
              <a:spcBef>
                <a:spcPts val="500"/>
              </a:spcBef>
              <a:defRPr sz="800">
                <a:solidFill>
                  <a:srgbClr val="505C6C"/>
                </a:solidFill>
                <a:latin typeface="Aptos"/>
              </a:defRPr>
            </a:pPr>
            <a:r>
              <a:t>Planning horizon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657600"/>
            <a:ext cx="50292" cy="822960"/>
          </a:xfrm>
          <a:prstGeom prst="rect">
            <a:avLst/>
          </a:prstGeom>
          <a:solidFill>
            <a:srgbClr val="64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149840" cy="914400"/>
          </a:xfrm>
          <a:prstGeom prst="roundRect">
            <a:avLst/>
          </a:prstGeom>
          <a:solidFill>
            <a:srgbClr val="E4F2E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1C2530"/>
                </a:solidFill>
                <a:latin typeface="Aptos"/>
              </a:defRPr>
            </a:pPr>
            <a:r>
              <a:t>Executive stance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Do not dismiss long-horizon risk; do not let speculative scenarios crowd out measurable controls for today's credit, fraud, cyber and conduct exposures.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50292" cy="914400"/>
          </a:xfrm>
          <a:prstGeom prst="rect">
            <a:avLst/>
          </a:prstGeom>
          <a:solidFill>
            <a:srgbClr val="3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Use scenario planning + risk appetite rather than pretending uncertain tail risks have precise probabilities.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Global AI trends: what changes the risk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The direction of travel is toward more capable models, more embedded workflows and tighter regulation.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141732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Foundation models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Multimodal + agentic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50292" cy="141732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3383280" cy="141732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Regulation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Risk-based obligations + transparency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25880"/>
            <a:ext cx="50292" cy="1417320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2440" y="1325880"/>
            <a:ext cx="3383280" cy="141732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Finance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Document AI, fraud, risk analytics, copilots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325880"/>
            <a:ext cx="50292" cy="1417320"/>
          </a:xfrm>
          <a:prstGeom prst="rect">
            <a:avLst/>
          </a:prstGeom>
          <a:solidFill>
            <a:srgbClr val="3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3200400"/>
            <a:ext cx="3383280" cy="141732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Concentration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Common vendors / data / model dependencies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00400"/>
            <a:ext cx="50292" cy="1417320"/>
          </a:xfrm>
          <a:prstGeom prst="rect">
            <a:avLst/>
          </a:prstGeom>
          <a:solidFill>
            <a:srgbClr val="64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3200400"/>
            <a:ext cx="3383280" cy="141732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Fraud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Deepfakes + social engineering at scale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200400"/>
            <a:ext cx="50292" cy="141732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5074920"/>
            <a:ext cx="10789920" cy="868680"/>
          </a:xfrm>
          <a:prstGeom prst="roundRect">
            <a:avLst/>
          </a:prstGeom>
          <a:solidFill>
            <a:srgbClr val="F7EFD8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Regulatory signal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EU AI Act transparency obligations apply from August 2026; high-risk requirements include data quality, logging, documentation, human oversight, robustness and cybersecurity.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074920"/>
            <a:ext cx="50292" cy="86868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Sources: European Commission AI Act guidance; FSB 2024 AI financial-stability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Generative AI risk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GenAI adds a new attack surface because the model can generate content, interpret instructions and interact with tools.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10058400" cy="658368"/>
          </a:xfrm>
          <a:prstGeom prst="roundRect">
            <a:avLst/>
          </a:prstGeom>
          <a:solidFill>
            <a:srgbClr val="F4F6F9"/>
          </a:solidFill>
          <a:ln>
            <a:solidFill>
              <a:srgbClr val="B5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2530"/>
                </a:solidFill>
              </a:defRPr>
            </a:pPr>
            <a:r>
              <a:t>CONTENT  |  hallucination • bias • IP • misinformation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75688"/>
            <a:ext cx="9326880" cy="658368"/>
          </a:xfrm>
          <a:prstGeom prst="roundRect">
            <a:avLst/>
          </a:prstGeom>
          <a:solidFill>
            <a:srgbClr val="F4F6F9"/>
          </a:solidFill>
          <a:ln>
            <a:solidFill>
              <a:srgbClr val="C19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2530"/>
                </a:solidFill>
              </a:defRPr>
            </a:pPr>
            <a:r>
              <a:t>CONTEXT  |  prompt injection • data leakage • unsafe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3008376"/>
            <a:ext cx="8595360" cy="658368"/>
          </a:xfrm>
          <a:prstGeom prst="roundRect">
            <a:avLst/>
          </a:prstGeom>
          <a:solidFill>
            <a:srgbClr val="F4F6F9"/>
          </a:solidFill>
          <a:ln>
            <a:solidFill>
              <a:srgbClr val="2B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2530"/>
                </a:solidFill>
              </a:defRPr>
            </a:pPr>
            <a:r>
              <a:t>CONTROL  |  access • tool permissions • human approval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941064"/>
            <a:ext cx="7863840" cy="658368"/>
          </a:xfrm>
          <a:prstGeom prst="roundRect">
            <a:avLst/>
          </a:prstGeom>
          <a:solidFill>
            <a:srgbClr val="F4F6F9"/>
          </a:solidFill>
          <a:ln>
            <a:solidFill>
              <a:srgbClr val="645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2530"/>
                </a:solidFill>
              </a:defRPr>
            </a:pPr>
            <a:r>
              <a:t>MODEL / VENDOR  |  drift • outages • concentration • opaque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4873752"/>
            <a:ext cx="7132320" cy="658368"/>
          </a:xfrm>
          <a:prstGeom prst="roundRect">
            <a:avLst/>
          </a:prstGeom>
          <a:solidFill>
            <a:srgbClr val="F4F6F9"/>
          </a:solidFill>
          <a:ln>
            <a:solidFill>
              <a:srgbClr val="1C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2530"/>
                </a:solidFill>
              </a:defRPr>
            </a:pPr>
            <a:r>
              <a:t>OUTCOME  |  fraud • conduct • financial loss • reputation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5806440"/>
            <a:ext cx="8046720" cy="50292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000" b="1">
                <a:solidFill>
                  <a:srgbClr val="1C2530"/>
                </a:solidFill>
                <a:latin typeface="Aptos"/>
              </a:defRPr>
            </a:pPr>
            <a:r>
              <a:t>Control insight</a:t>
            </a:r>
          </a:p>
          <a:p>
            <a:pPr>
              <a:spcBef>
                <a:spcPts val="500"/>
              </a:spcBef>
              <a:defRPr sz="800">
                <a:solidFill>
                  <a:srgbClr val="505C6C"/>
                </a:solidFill>
                <a:latin typeface="Aptos"/>
              </a:defRPr>
            </a:pPr>
            <a:r>
              <a:t>Treat prompts, retrieved data, tools and model versions as governed assets.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5806440"/>
            <a:ext cx="50292" cy="50292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NIST GenAI Profile identifies GenAI-specific risks; FSB flags fraud, disinformation, model/data/governance and third-party risks.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Case study 1 | Deepfake CFO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REAL INCIDENT — Hong Kong, January 2024 | reported by Hong Kong Government / Police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B54343"/>
                </a:solidFill>
                <a:latin typeface="Aptos Display"/>
              </a:defRPr>
            </a:pPr>
            <a:r>
              <a:t>≈HK$200m</a:t>
            </a:r>
          </a:p>
          <a:p>
            <a:pPr algn="ctr">
              <a:defRPr sz="900">
                <a:solidFill>
                  <a:srgbClr val="505C6C"/>
                </a:solidFill>
                <a:latin typeface="Aptos"/>
              </a:defRPr>
            </a:pPr>
            <a:r>
              <a:t>reported loss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23444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645291"/>
                </a:solidFill>
                <a:latin typeface="Aptos Display"/>
              </a:defRPr>
            </a:pPr>
            <a:r>
              <a:t>5</a:t>
            </a:r>
          </a:p>
          <a:p>
            <a:pPr algn="ctr">
              <a:defRPr sz="900">
                <a:solidFill>
                  <a:srgbClr val="505C6C"/>
                </a:solidFill>
                <a:latin typeface="Aptos"/>
              </a:defRPr>
            </a:pPr>
            <a:r>
              <a:t>local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C1912A"/>
                </a:solidFill>
                <a:latin typeface="Aptos Display"/>
              </a:defRPr>
            </a:pPr>
            <a:r>
              <a:t>Pre-recorded</a:t>
            </a:r>
          </a:p>
          <a:p>
            <a:pPr algn="ctr">
              <a:defRPr sz="900">
                <a:solidFill>
                  <a:srgbClr val="505C6C"/>
                </a:solidFill>
                <a:latin typeface="Aptos"/>
              </a:defRPr>
            </a:pPr>
            <a:r>
              <a:t>video meeting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23444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B5C91"/>
                </a:solidFill>
                <a:latin typeface="Aptos Display"/>
              </a:defRPr>
            </a:pPr>
            <a:r>
              <a:t>0</a:t>
            </a:r>
          </a:p>
          <a:p>
            <a:pPr algn="ctr">
              <a:defRPr sz="900">
                <a:solidFill>
                  <a:srgbClr val="505C6C"/>
                </a:solidFill>
                <a:latin typeface="Aptos"/>
              </a:defRPr>
            </a:pPr>
            <a:r>
              <a:t>real-time interaction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914400" cy="438912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50292" cy="438912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83080" y="2788920"/>
            <a:ext cx="2743200" cy="438912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000" b="1">
                <a:solidFill>
                  <a:srgbClr val="1C2530"/>
                </a:solidFill>
                <a:latin typeface="Aptos"/>
              </a:defRPr>
            </a:pPr>
            <a:r>
              <a:t>Phishing email</a:t>
            </a:r>
          </a:p>
          <a:p>
            <a:pPr>
              <a:spcBef>
                <a:spcPts val="500"/>
              </a:spcBef>
              <a:defRPr sz="700">
                <a:solidFill>
                  <a:srgbClr val="505C6C"/>
                </a:solidFill>
                <a:latin typeface="Aptos"/>
              </a:defRPr>
            </a:pPr>
            <a:r>
              <a:t>Impersonated UK CFO invites employee to confidential transaction.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2788920"/>
            <a:ext cx="50292" cy="438912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410712"/>
            <a:ext cx="914400" cy="438912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10712"/>
            <a:ext cx="50292" cy="438912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83080" y="3410712"/>
            <a:ext cx="2743200" cy="438912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000" b="1">
                <a:solidFill>
                  <a:srgbClr val="1C2530"/>
                </a:solidFill>
                <a:latin typeface="Aptos"/>
              </a:defRPr>
            </a:pPr>
            <a:r>
              <a:t>Deepfake meeting</a:t>
            </a:r>
          </a:p>
          <a:p>
            <a:pPr>
              <a:spcBef>
                <a:spcPts val="500"/>
              </a:spcBef>
              <a:defRPr sz="700">
                <a:solidFill>
                  <a:srgbClr val="505C6C"/>
                </a:solidFill>
                <a:latin typeface="Aptos"/>
              </a:defRPr>
            </a:pPr>
            <a:r>
              <a:t>Public video + voice used to create pre-recorded executives.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3410712"/>
            <a:ext cx="50292" cy="438912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032504"/>
            <a:ext cx="914400" cy="438912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32504"/>
            <a:ext cx="50292" cy="438912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83080" y="4032504"/>
            <a:ext cx="2743200" cy="438912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000" b="1">
                <a:solidFill>
                  <a:srgbClr val="1C2530"/>
                </a:solidFill>
                <a:latin typeface="Aptos"/>
              </a:defRPr>
            </a:pPr>
            <a:r>
              <a:t>Authority effect</a:t>
            </a:r>
          </a:p>
          <a:p>
            <a:pPr>
              <a:spcBef>
                <a:spcPts val="500"/>
              </a:spcBef>
              <a:defRPr sz="700">
                <a:solidFill>
                  <a:srgbClr val="505C6C"/>
                </a:solidFill>
                <a:latin typeface="Aptos"/>
              </a:defRPr>
            </a:pPr>
            <a:r>
              <a:t>Visual presence + hierarchy suppresses skepticism.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032504"/>
            <a:ext cx="50292" cy="438912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654296"/>
            <a:ext cx="914400" cy="438912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654296"/>
            <a:ext cx="50292" cy="438912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83080" y="4654296"/>
            <a:ext cx="2743200" cy="438912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000" b="1">
                <a:solidFill>
                  <a:srgbClr val="1C2530"/>
                </a:solidFill>
                <a:latin typeface="Aptos"/>
              </a:defRPr>
            </a:pPr>
            <a:r>
              <a:t>Payment</a:t>
            </a:r>
          </a:p>
          <a:p>
            <a:pPr>
              <a:spcBef>
                <a:spcPts val="500"/>
              </a:spcBef>
              <a:defRPr sz="700">
                <a:solidFill>
                  <a:srgbClr val="505C6C"/>
                </a:solidFill>
                <a:latin typeface="Aptos"/>
              </a:defRPr>
            </a:pPr>
            <a:r>
              <a:t>Employee authorises transfers to five local accounts.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4654296"/>
            <a:ext cx="50292" cy="438912"/>
          </a:xfrm>
          <a:prstGeom prst="rect">
            <a:avLst/>
          </a:prstGeom>
          <a:solidFill>
            <a:srgbClr val="64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5276088"/>
            <a:ext cx="914400" cy="438912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276088"/>
            <a:ext cx="50292" cy="438912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783080" y="5276088"/>
            <a:ext cx="2743200" cy="438912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000" b="1">
                <a:solidFill>
                  <a:srgbClr val="1C2530"/>
                </a:solidFill>
                <a:latin typeface="Aptos"/>
              </a:defRPr>
            </a:pPr>
            <a:r>
              <a:t>Control failure</a:t>
            </a:r>
          </a:p>
          <a:p>
            <a:pPr>
              <a:spcBef>
                <a:spcPts val="500"/>
              </a:spcBef>
              <a:defRPr sz="700">
                <a:solidFill>
                  <a:srgbClr val="505C6C"/>
                </a:solidFill>
                <a:latin typeface="Aptos"/>
              </a:defRPr>
            </a:pPr>
            <a:r>
              <a:t>No independent callback / dual authorisation caught the event.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83080" y="5276088"/>
            <a:ext cx="50292" cy="438912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00600" y="2788920"/>
            <a:ext cx="6263640" cy="2971800"/>
          </a:xfrm>
          <a:prstGeom prst="roundRect">
            <a:avLst/>
          </a:prstGeom>
          <a:solidFill>
            <a:srgbClr val="E4F2E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Banking control response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• Verify high-risk payment instructions out-of-band</a:t>
            </a:r>
            <a:br/>
            <a:r>
              <a:t>• Step-up authentication for unusual beneficiary changes</a:t>
            </a:r>
            <a:br/>
            <a:r>
              <a:t>• Use transaction limits + cooling-off windows</a:t>
            </a:r>
            <a:br/>
            <a:r>
              <a:t>• Train staff against deepfake authority cues</a:t>
            </a:r>
            <a:br/>
            <a:r>
              <a:t>• Monitor device / session / beneficiary anomalies</a:t>
            </a:r>
            <a:br/>
            <a:r>
              <a:t>• Red-team social-engineering scenarios quarterly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2788920"/>
            <a:ext cx="50292" cy="2971800"/>
          </a:xfrm>
          <a:prstGeom prst="rect">
            <a:avLst/>
          </a:prstGeom>
          <a:solidFill>
            <a:srgbClr val="3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Source: Hong Kong Government / Police public statements, June 2024. Case remained under investigation at the time.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Case study 2 | When the chatbot becomes the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REAL INCIDENT — Air Canada chatbot decision, 2024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4846320" cy="1828800"/>
          </a:xfrm>
          <a:prstGeom prst="roundRect">
            <a:avLst/>
          </a:prstGeom>
          <a:solidFill>
            <a:srgbClr val="F8E5E5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What happened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A passenger received incorrect bereavement-fare guidance from Air Canada's chatbot. A tribunal found the company responsible for the information on its website and criticised the lack of reasonable care.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50292" cy="182880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06440" y="1234440"/>
            <a:ext cx="5074920" cy="182880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Why it matters for banking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A chatbot is not a separate risk owner. If it answers a customer about fees, eligibility, credit products or hardship support, the institution owns the customer-facing outcome.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0" y="1234440"/>
            <a:ext cx="50292" cy="182880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703320"/>
            <a:ext cx="2103120" cy="11430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AI answer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Confident + plausible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03320"/>
            <a:ext cx="50292" cy="114300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3703320"/>
            <a:ext cx="2103120" cy="11430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Customer acts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Financial / conduct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3703320"/>
            <a:ext cx="50292" cy="114300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0" y="3703320"/>
            <a:ext cx="2103120" cy="11430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Complaint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Evidence requested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3703320"/>
            <a:ext cx="50292" cy="114300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3703320"/>
            <a:ext cx="2103120" cy="11430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300" b="1">
                <a:solidFill>
                  <a:srgbClr val="1C2530"/>
                </a:solidFill>
                <a:latin typeface="Aptos"/>
              </a:defRPr>
            </a:pPr>
            <a:r>
              <a:t>Institution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Must explain / remediate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3703320"/>
            <a:ext cx="50292" cy="1143000"/>
          </a:xfrm>
          <a:prstGeom prst="rect">
            <a:avLst/>
          </a:prstGeom>
          <a:solidFill>
            <a:srgbClr val="64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926080" y="4087368"/>
            <a:ext cx="274320" cy="274320"/>
          </a:xfrm>
          <a:prstGeom prst="chevron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5349240" y="4087368"/>
            <a:ext cx="274320" cy="274320"/>
          </a:xfrm>
          <a:prstGeom prst="chevron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772400" y="4087368"/>
            <a:ext cx="274320" cy="274320"/>
          </a:xfrm>
          <a:prstGeom prst="chevron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28800" y="5257800"/>
            <a:ext cx="8778240" cy="777240"/>
          </a:xfrm>
          <a:prstGeom prst="roundRect">
            <a:avLst/>
          </a:prstGeom>
          <a:solidFill>
            <a:srgbClr val="E4F2E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Design rule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For high-stakes customer answers: grounded retrieval + source citation + confidence threshold + escalation + transcript retention.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5257800"/>
            <a:ext cx="50292" cy="777240"/>
          </a:xfrm>
          <a:prstGeom prst="rect">
            <a:avLst/>
          </a:prstGeom>
          <a:solidFill>
            <a:srgbClr val="3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Source: Moffatt v. Air Canada, 2024 BCCRT 149; CanLII case commentary.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Credit risk example | Bias + economics + model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ILLUSTRATIVE DATA — shows why fairness cannot be assessed independently of model performance and business policy.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874519" cy="50292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000" b="1">
                <a:solidFill>
                  <a:srgbClr val="1C2530"/>
                </a:solidFill>
                <a:latin typeface="Aptos"/>
              </a:defRPr>
            </a:pPr>
            <a:r>
              <a:t>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50292" cy="50292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1234440"/>
            <a:ext cx="1874519" cy="50292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000" b="1">
                <a:solidFill>
                  <a:srgbClr val="1C2530"/>
                </a:solidFill>
                <a:latin typeface="Aptos"/>
              </a:defRPr>
            </a:pPr>
            <a:r>
              <a:t>Group 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234440"/>
            <a:ext cx="50292" cy="50292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00600" y="1234440"/>
            <a:ext cx="1874519" cy="50292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000" b="1">
                <a:solidFill>
                  <a:srgbClr val="1C2530"/>
                </a:solidFill>
                <a:latin typeface="Aptos"/>
              </a:defRPr>
            </a:pPr>
            <a:r>
              <a:t>Group B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234440"/>
            <a:ext cx="50292" cy="50292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810512"/>
            <a:ext cx="1874519" cy="4572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950" b="1">
                <a:solidFill>
                  <a:srgbClr val="1C2530"/>
                </a:solidFill>
                <a:latin typeface="Aptos"/>
              </a:defRPr>
            </a:pPr>
            <a:r>
              <a:t>Approval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810512"/>
            <a:ext cx="50292" cy="457200"/>
          </a:xfrm>
          <a:prstGeom prst="rect">
            <a:avLst/>
          </a:prstGeom>
          <a:solidFill>
            <a:srgbClr val="64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1810512"/>
            <a:ext cx="1874519" cy="4572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950" b="1">
                <a:solidFill>
                  <a:srgbClr val="1C2530"/>
                </a:solidFill>
                <a:latin typeface="Aptos"/>
              </a:defRPr>
            </a:pPr>
            <a:r>
              <a:t>60%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810512"/>
            <a:ext cx="50292" cy="457200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0600" y="1810512"/>
            <a:ext cx="1874519" cy="4572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950" b="1">
                <a:solidFill>
                  <a:srgbClr val="1C2530"/>
                </a:solidFill>
                <a:latin typeface="Aptos"/>
              </a:defRPr>
            </a:pPr>
            <a:r>
              <a:t>50%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810512"/>
            <a:ext cx="50292" cy="457200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377440"/>
            <a:ext cx="1874519" cy="4572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950" b="1">
                <a:solidFill>
                  <a:srgbClr val="1C2530"/>
                </a:solidFill>
                <a:latin typeface="Aptos"/>
              </a:defRPr>
            </a:pPr>
            <a:r>
              <a:t>Bad rate among approved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377440"/>
            <a:ext cx="50292" cy="457200"/>
          </a:xfrm>
          <a:prstGeom prst="rect">
            <a:avLst/>
          </a:prstGeom>
          <a:solidFill>
            <a:srgbClr val="64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2377440"/>
            <a:ext cx="1874519" cy="4572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950" b="1">
                <a:solidFill>
                  <a:srgbClr val="1C2530"/>
                </a:solidFill>
                <a:latin typeface="Aptos"/>
              </a:defRPr>
            </a:pPr>
            <a:r>
              <a:t>4.0%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377440"/>
            <a:ext cx="50292" cy="457200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00600" y="2377440"/>
            <a:ext cx="1874519" cy="4572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950" b="1">
                <a:solidFill>
                  <a:srgbClr val="1C2530"/>
                </a:solidFill>
                <a:latin typeface="Aptos"/>
              </a:defRPr>
            </a:pPr>
            <a:r>
              <a:t>4.8%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2377440"/>
            <a:ext cx="50292" cy="457200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2944368"/>
            <a:ext cx="1874519" cy="4572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950" b="1">
                <a:solidFill>
                  <a:srgbClr val="1C2530"/>
                </a:solidFill>
                <a:latin typeface="Aptos"/>
              </a:defRPr>
            </a:pPr>
            <a:r>
              <a:t>Avg 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44368"/>
            <a:ext cx="50292" cy="457200"/>
          </a:xfrm>
          <a:prstGeom prst="rect">
            <a:avLst/>
          </a:prstGeom>
          <a:solidFill>
            <a:srgbClr val="64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43200" y="2944368"/>
            <a:ext cx="1874519" cy="4572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950" b="1">
                <a:solidFill>
                  <a:srgbClr val="1C2530"/>
                </a:solidFill>
                <a:latin typeface="Aptos"/>
              </a:defRPr>
            </a:pPr>
            <a:r>
              <a:t>₹2.0L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944368"/>
            <a:ext cx="50292" cy="457200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00600" y="2944368"/>
            <a:ext cx="1874519" cy="4572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950" b="1">
                <a:solidFill>
                  <a:srgbClr val="1C2530"/>
                </a:solidFill>
                <a:latin typeface="Aptos"/>
              </a:defRPr>
            </a:pPr>
            <a:r>
              <a:t>₹1.8L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2944368"/>
            <a:ext cx="50292" cy="457200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3511296"/>
            <a:ext cx="1874519" cy="4572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950" b="1">
                <a:solidFill>
                  <a:srgbClr val="1C2530"/>
                </a:solidFill>
                <a:latin typeface="Aptos"/>
              </a:defRPr>
            </a:pPr>
            <a:r>
              <a:t>LGD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511296"/>
            <a:ext cx="50292" cy="457200"/>
          </a:xfrm>
          <a:prstGeom prst="rect">
            <a:avLst/>
          </a:prstGeom>
          <a:solidFill>
            <a:srgbClr val="64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743200" y="3511296"/>
            <a:ext cx="1874519" cy="4572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950" b="1">
                <a:solidFill>
                  <a:srgbClr val="1C2530"/>
                </a:solidFill>
                <a:latin typeface="Aptos"/>
              </a:defRPr>
            </a:pPr>
            <a:r>
              <a:t>45%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511296"/>
            <a:ext cx="50292" cy="457200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800600" y="3511296"/>
            <a:ext cx="1874519" cy="45720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950" b="1">
                <a:solidFill>
                  <a:srgbClr val="1C2530"/>
                </a:solidFill>
                <a:latin typeface="Aptos"/>
              </a:defRPr>
            </a:pPr>
            <a:r>
              <a:t>45%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3511296"/>
            <a:ext cx="50292" cy="457200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0" y="1234440"/>
            <a:ext cx="3794760" cy="1097280"/>
          </a:xfrm>
          <a:prstGeom prst="roundRect">
            <a:avLst/>
          </a:prstGeom>
          <a:solidFill>
            <a:srgbClr val="F7EFD8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1C2530"/>
                </a:solidFill>
                <a:latin typeface="Aptos"/>
              </a:defRPr>
            </a:pPr>
            <a:r>
              <a:t>Expected loss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EL = PD × EAD × LGD</a:t>
            </a:r>
            <a:br/>
            <a:r>
              <a:t>Group A = 4.0% × ₹2.0L × 45% = ₹360 / account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1234440"/>
            <a:ext cx="50292" cy="109728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0" y="2514600"/>
            <a:ext cx="3794760" cy="1097280"/>
          </a:xfrm>
          <a:prstGeom prst="roundRect">
            <a:avLst/>
          </a:prstGeom>
          <a:solidFill>
            <a:srgbClr val="F8E5E5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1C2530"/>
                </a:solidFill>
                <a:latin typeface="Aptos"/>
              </a:defRPr>
            </a:pPr>
            <a:r>
              <a:t>Group B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EL = 4.8% × ₹1.8L × 45% = ₹389 / account</a:t>
            </a:r>
            <a:br/>
            <a:r>
              <a:t>Higher loss despite lower 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2514600"/>
            <a:ext cx="50292" cy="109728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15200" y="3794760"/>
            <a:ext cx="3794760" cy="109728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1C2530"/>
                </a:solidFill>
                <a:latin typeface="Aptos"/>
              </a:defRPr>
            </a:pPr>
            <a:r>
              <a:t>MRM question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Is the gap caused by data quality, a proxy, different risk mix, threshold policy—or a legitimate portfolio effect?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3794760"/>
            <a:ext cx="50292" cy="109728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85800" y="4526280"/>
            <a:ext cx="6172200" cy="1097280"/>
          </a:xfrm>
          <a:prstGeom prst="roundRect">
            <a:avLst/>
          </a:prstGeom>
          <a:solidFill>
            <a:srgbClr val="E4F2E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1C2530"/>
                </a:solidFill>
                <a:latin typeface="Aptos"/>
              </a:defRPr>
            </a:pPr>
            <a:r>
              <a:t>Decision implication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Do not 'fix fairness' by blindly equalising approval rates. Test calibration, TPR/FPR, loss economics, adverse-action reasons, proxy effects and policy constraints.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4526280"/>
            <a:ext cx="50292" cy="1097280"/>
          </a:xfrm>
          <a:prstGeom prst="rect">
            <a:avLst/>
          </a:prstGeom>
          <a:solidFill>
            <a:srgbClr val="3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Illustrative data and calculations. Not evidence of any real bank's portfolio or protected-group outcomes.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MRM operating model | From principle to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The governance objective is repeatable challenge, documented decisions and continuous monitoring.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383280" cy="150876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1C2530"/>
                </a:solidFill>
                <a:latin typeface="Aptos"/>
              </a:defRPr>
            </a:pPr>
            <a:r>
              <a:t>1  Inventory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Use case • owner • risk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0292" cy="150876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234440"/>
            <a:ext cx="3383280" cy="150876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1C2530"/>
                </a:solidFill>
                <a:latin typeface="Aptos"/>
              </a:defRPr>
            </a:pPr>
            <a:r>
              <a:t>2  Classify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Decision impact • regulation • materiality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234440"/>
            <a:ext cx="50292" cy="1508760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83880" y="1234440"/>
            <a:ext cx="3383280" cy="150876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1C2530"/>
                </a:solidFill>
                <a:latin typeface="Aptos"/>
              </a:defRPr>
            </a:pPr>
            <a:r>
              <a:t>3  Validate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Data • performance • fairness • robustness • explainability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80" y="1234440"/>
            <a:ext cx="50292" cy="1508760"/>
          </a:xfrm>
          <a:prstGeom prst="rect">
            <a:avLst/>
          </a:prstGeom>
          <a:solidFill>
            <a:srgbClr val="64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3383280"/>
            <a:ext cx="3383280" cy="150876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1C2530"/>
                </a:solidFill>
                <a:latin typeface="Aptos"/>
              </a:defRPr>
            </a:pPr>
            <a:r>
              <a:t>4  Approve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Risk appetite • controls • human oversight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383280"/>
            <a:ext cx="50292" cy="1508760"/>
          </a:xfrm>
          <a:prstGeom prst="rect">
            <a:avLst/>
          </a:prstGeom>
          <a:solidFill>
            <a:srgbClr val="3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3383280"/>
            <a:ext cx="3383280" cy="150876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1C2530"/>
                </a:solidFill>
                <a:latin typeface="Aptos"/>
              </a:defRPr>
            </a:pPr>
            <a:r>
              <a:t>5  Monitor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Drift • fairness • incidents • overrides • complaints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383280"/>
            <a:ext cx="50292" cy="150876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0" y="3383280"/>
            <a:ext cx="3383280" cy="1508760"/>
          </a:xfrm>
          <a:prstGeom prst="roundRect">
            <a:avLst/>
          </a:prstGeom>
          <a:solidFill>
            <a:srgbClr val="F4F6F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1C2530"/>
                </a:solidFill>
                <a:latin typeface="Aptos"/>
              </a:defRPr>
            </a:pPr>
            <a:r>
              <a:t>6  Retire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Triggers • decommission • evidence archive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3383280"/>
            <a:ext cx="50292" cy="150876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11680" y="5623560"/>
            <a:ext cx="8138160" cy="50292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950" b="1">
                <a:solidFill>
                  <a:srgbClr val="1C2530"/>
                </a:solidFill>
                <a:latin typeface="Aptos"/>
              </a:defRPr>
            </a:pPr>
            <a:r>
              <a:t>Minimum evidence pack</a:t>
            </a:r>
          </a:p>
          <a:p>
            <a:pPr>
              <a:spcBef>
                <a:spcPts val="500"/>
              </a:spcBef>
              <a:defRPr sz="800">
                <a:solidFill>
                  <a:srgbClr val="505C6C"/>
                </a:solidFill>
                <a:latin typeface="Aptos"/>
              </a:defRPr>
            </a:pPr>
            <a:r>
              <a:t>Model card • data lineage • validation report • fairness assessment • approvals • monitoring thresholds • incident 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5623560"/>
            <a:ext cx="50292" cy="50292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Align with existing model-risk governance; add AI-specific controls where autonomy, GenAI and vendor dependencies increase exposure.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Four perspectives, one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Good governance translates technical evidence into business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166360" cy="160020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400" b="1">
                <a:solidFill>
                  <a:srgbClr val="1C2530"/>
                </a:solidFill>
                <a:latin typeface="Aptos"/>
              </a:defRPr>
            </a:pPr>
            <a:r>
              <a:t>Credit Analyst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Is the decision economically sensible and explainable to the customer?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0292" cy="160020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166360" cy="1600200"/>
          </a:xfrm>
          <a:prstGeom prst="roundRect">
            <a:avLst/>
          </a:prstGeom>
          <a:solidFill>
            <a:srgbClr val="E4F2E9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400" b="1">
                <a:solidFill>
                  <a:srgbClr val="1C2530"/>
                </a:solidFill>
                <a:latin typeface="Aptos"/>
              </a:defRPr>
            </a:pPr>
            <a:r>
              <a:t>Data Scientist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Is the data representative, model stable, calibrated and robust?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25880"/>
            <a:ext cx="50292" cy="1600200"/>
          </a:xfrm>
          <a:prstGeom prst="rect">
            <a:avLst/>
          </a:prstGeom>
          <a:solidFill>
            <a:srgbClr val="3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5166360" cy="1600200"/>
          </a:xfrm>
          <a:prstGeom prst="roundRect">
            <a:avLst/>
          </a:prstGeom>
          <a:solidFill>
            <a:srgbClr val="F7EFD8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400" b="1">
                <a:solidFill>
                  <a:srgbClr val="1C2530"/>
                </a:solidFill>
                <a:latin typeface="Aptos"/>
              </a:defRPr>
            </a:pPr>
            <a:r>
              <a:t>MRM / Validation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Can the model's limitations, controls and outcomes be independently challenged?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74720"/>
            <a:ext cx="50292" cy="160020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474720"/>
            <a:ext cx="5166360" cy="1600200"/>
          </a:xfrm>
          <a:prstGeom prst="roundRect">
            <a:avLst/>
          </a:prstGeom>
          <a:solidFill>
            <a:srgbClr val="F8E5E5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400" b="1">
                <a:solidFill>
                  <a:srgbClr val="1C2530"/>
                </a:solidFill>
                <a:latin typeface="Aptos"/>
              </a:defRPr>
            </a:pPr>
            <a:r>
              <a:t>CFO / CRO</a:t>
            </a:r>
          </a:p>
          <a:p>
            <a:pPr>
              <a:spcBef>
                <a:spcPts val="500"/>
              </a:spcBef>
              <a:defRPr sz="1000">
                <a:solidFill>
                  <a:srgbClr val="505C6C"/>
                </a:solidFill>
                <a:latin typeface="Aptos"/>
              </a:defRPr>
            </a:pPr>
            <a:r>
              <a:t>Is the risk within appetite—and is the value worth the residual exposure?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474720"/>
            <a:ext cx="50292" cy="160020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74519" y="5532120"/>
            <a:ext cx="8458200" cy="594360"/>
          </a:xfrm>
          <a:prstGeom prst="roundRect">
            <a:avLst/>
          </a:prstGeom>
          <a:solidFill>
            <a:srgbClr val="101C2E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Shared language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ptos"/>
              </a:defRPr>
            </a:pPr>
            <a:r>
              <a:t>Risk appetite • materiality • evidence • control effectiveness • residual risk • decision 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5532120"/>
            <a:ext cx="50292" cy="59436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Executive dashboard | What should the CRO ask?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D2DCE8"/>
                </a:solidFill>
                <a:latin typeface="Aptos"/>
              </a:defRPr>
            </a:pPr>
            <a:r>
              <a:t>A practical board / risk-committee scorecard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383280" cy="1417320"/>
          </a:xfrm>
          <a:prstGeom prst="roundRect">
            <a:avLst/>
          </a:prstGeom>
          <a:solidFill>
            <a:srgbClr val="1C2B3E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FAIRNESS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ptos"/>
              </a:defRPr>
            </a:pPr>
            <a:r>
              <a:t>Are materially different outcomes understood, justified and monitored?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50292" cy="141732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34840" y="1234440"/>
            <a:ext cx="3383280" cy="1417320"/>
          </a:xfrm>
          <a:prstGeom prst="roundRect">
            <a:avLst/>
          </a:prstGeom>
          <a:solidFill>
            <a:srgbClr val="1C2B3E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EXPLAINABILITY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ptos"/>
              </a:defRPr>
            </a:pPr>
            <a:r>
              <a:t>Can we reconstruct why the system produced this decision?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234440"/>
            <a:ext cx="50292" cy="1417320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0" y="1234440"/>
            <a:ext cx="3383280" cy="1417320"/>
          </a:xfrm>
          <a:prstGeom prst="roundRect">
            <a:avLst/>
          </a:prstGeom>
          <a:solidFill>
            <a:srgbClr val="1C2B3E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AUTONOMY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ptos"/>
              </a:defRPr>
            </a:pPr>
            <a:r>
              <a:t>What can the AI do without human approval—and what is irreversible?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234440"/>
            <a:ext cx="50292" cy="1417320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200400"/>
            <a:ext cx="3383280" cy="1417320"/>
          </a:xfrm>
          <a:prstGeom prst="roundRect">
            <a:avLst/>
          </a:prstGeom>
          <a:solidFill>
            <a:srgbClr val="1C2B3E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SAFETY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ptos"/>
              </a:defRPr>
            </a:pPr>
            <a:r>
              <a:t>What failure mode could cause the largest customer or balance-sheet harm?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50292" cy="1417320"/>
          </a:xfrm>
          <a:prstGeom prst="rect">
            <a:avLst/>
          </a:prstGeom>
          <a:solidFill>
            <a:srgbClr val="B5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3200400"/>
            <a:ext cx="3383280" cy="1417320"/>
          </a:xfrm>
          <a:prstGeom prst="roundRect">
            <a:avLst/>
          </a:prstGeom>
          <a:solidFill>
            <a:srgbClr val="1C2B3E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REPUTATION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ptos"/>
              </a:defRPr>
            </a:pPr>
            <a:r>
              <a:t>How quickly can one bad output become a public trust event?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3200400"/>
            <a:ext cx="50292" cy="1417320"/>
          </a:xfrm>
          <a:prstGeom prst="rect">
            <a:avLst/>
          </a:prstGeom>
          <a:solidFill>
            <a:srgbClr val="64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3200400"/>
            <a:ext cx="3383280" cy="1417320"/>
          </a:xfrm>
          <a:prstGeom prst="roundRect">
            <a:avLst/>
          </a:prstGeom>
          <a:solidFill>
            <a:srgbClr val="1C2B3E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GENAI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ptos"/>
              </a:defRPr>
            </a:pPr>
            <a:r>
              <a:t>What data, tools, vendors and permissions can the model touch?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200400"/>
            <a:ext cx="50292" cy="1417320"/>
          </a:xfrm>
          <a:prstGeom prst="rect">
            <a:avLst/>
          </a:prstGeom>
          <a:solidFill>
            <a:srgbClr val="3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800" y="5486400"/>
            <a:ext cx="8595360" cy="566928"/>
          </a:xfrm>
          <a:prstGeom prst="roundRect">
            <a:avLst/>
          </a:prstGeom>
          <a:solidFill>
            <a:srgbClr val="23324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Bottom line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ptos"/>
              </a:defRPr>
            </a:pPr>
            <a:r>
              <a:t>Trust is not a communication layer. It is a measurable control system around high-impact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5486400"/>
            <a:ext cx="50292" cy="566928"/>
          </a:xfrm>
          <a:prstGeom prst="rect">
            <a:avLst/>
          </a:prstGeom>
          <a:solidFill>
            <a:srgbClr val="C1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Executive takeaway | Risk appetite should determine where AI can recommend, decide, or 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1C2E"/>
                </a:solidFill>
                <a:latin typeface="Aptos Display"/>
              </a:defRPr>
            </a:pPr>
            <a:r>
              <a:t>Selected references &amp; source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05C6C"/>
                </a:solidFill>
                <a:latin typeface="Aptos"/>
              </a:defRPr>
            </a:pPr>
            <a:r>
              <a:t>Primary / authoritative sources used to frame the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42416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C2530"/>
                </a:solidFill>
                <a:latin typeface="Aptos"/>
              </a:defRPr>
            </a:pPr>
            <a:r>
              <a:t>• NIST — AI Risk Management Framework (AI RMF 1.0) and AI RMF Generative AI Profile (NIST AI 600-1).</a:t>
            </a:r>
          </a:p>
          <a:p>
            <a:pPr>
              <a:spcAft>
                <a:spcPts val="700"/>
              </a:spcAft>
              <a:defRPr sz="1100">
                <a:solidFill>
                  <a:srgbClr val="1C2530"/>
                </a:solidFill>
                <a:latin typeface="Aptos"/>
              </a:defRPr>
            </a:pPr>
            <a:r>
              <a:t>• Financial Stability Board — The Financial Stability Implications of Artificial Intelligence (14 Nov 2024).</a:t>
            </a:r>
          </a:p>
          <a:p>
            <a:pPr>
              <a:spcAft>
                <a:spcPts val="700"/>
              </a:spcAft>
              <a:defRPr sz="1100">
                <a:solidFill>
                  <a:srgbClr val="1C2530"/>
                </a:solidFill>
                <a:latin typeface="Aptos"/>
              </a:defRPr>
            </a:pPr>
            <a:r>
              <a:t>• Financial Stability Board — OECD–FSB Roundtable on AI in Finance (30 Sep 2024).</a:t>
            </a:r>
          </a:p>
          <a:p>
            <a:pPr>
              <a:spcAft>
                <a:spcPts val="700"/>
              </a:spcAft>
              <a:defRPr sz="1100">
                <a:solidFill>
                  <a:srgbClr val="1C2530"/>
                </a:solidFill>
                <a:latin typeface="Aptos"/>
              </a:defRPr>
            </a:pPr>
            <a:r>
              <a:t>• European Commission — AI Act risk-based framework and transparency obligations; transparency rules from Aug 2026.</a:t>
            </a:r>
          </a:p>
          <a:p>
            <a:pPr>
              <a:spcAft>
                <a:spcPts val="700"/>
              </a:spcAft>
              <a:defRPr sz="1100">
                <a:solidFill>
                  <a:srgbClr val="1C2530"/>
                </a:solidFill>
                <a:latin typeface="Aptos"/>
              </a:defRPr>
            </a:pPr>
            <a:r>
              <a:t>• Hong Kong Government / Police — deepfake fraud case statements (June 2024), including the reported ≈HK$200m CFO impersonation case.</a:t>
            </a:r>
          </a:p>
          <a:p>
            <a:pPr>
              <a:spcAft>
                <a:spcPts val="700"/>
              </a:spcAft>
              <a:defRPr sz="1100">
                <a:solidFill>
                  <a:srgbClr val="1C2530"/>
                </a:solidFill>
                <a:latin typeface="Aptos"/>
              </a:defRPr>
            </a:pPr>
            <a:r>
              <a:t>• Moffatt v. Air Canada, 2024 BCCRT 149 — chatbot information / corporate responsibility decision.</a:t>
            </a:r>
          </a:p>
          <a:p>
            <a:pPr>
              <a:spcAft>
                <a:spcPts val="700"/>
              </a:spcAft>
              <a:defRPr sz="1100">
                <a:solidFill>
                  <a:srgbClr val="1C2530"/>
                </a:solidFill>
                <a:latin typeface="Aptos"/>
              </a:defRPr>
            </a:pPr>
            <a:r>
              <a:t>• All numerical examples in this deck are illustrative unless explicitly labelled as a real incident.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440680"/>
            <a:ext cx="10424160" cy="640080"/>
          </a:xfrm>
          <a:prstGeom prst="roundRect">
            <a:avLst/>
          </a:prstGeom>
          <a:solidFill>
            <a:srgbClr val="E1EBF6"/>
          </a:solidFill>
          <a:ln>
            <a:solidFill>
              <a:srgbClr val="D5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91440"/>
          <a:lstStyle/>
          <a:p>
            <a:pPr algn="ctr">
              <a:defRPr sz="1100" b="1">
                <a:solidFill>
                  <a:srgbClr val="1C2530"/>
                </a:solidFill>
                <a:latin typeface="Aptos"/>
              </a:defRPr>
            </a:pPr>
            <a:r>
              <a:t>Recommended governance anchor</a:t>
            </a:r>
          </a:p>
          <a:p>
            <a:pPr>
              <a:spcBef>
                <a:spcPts val="500"/>
              </a:spcBef>
              <a:defRPr sz="900">
                <a:solidFill>
                  <a:srgbClr val="505C6C"/>
                </a:solidFill>
                <a:latin typeface="Aptos"/>
              </a:defRPr>
            </a:pPr>
            <a:r>
              <a:t>NIST AI RMF + existing MRM / operational-risk framework + jurisdiction-specific regulation + documented risk appetite.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440680"/>
            <a:ext cx="50292" cy="64008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5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05C6C"/>
                </a:solidFill>
                <a:latin typeface="Aptos"/>
              </a:defRPr>
            </a:pPr>
            <a:r>
              <a:t>Prepared as an executive learning / business-risk deck; not legal advice or regulatory guidance.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92240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05C6C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