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6400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009999"/>
                </a:solidFill>
                <a:latin typeface="Aptos"/>
              </a:rPr>
              <a:t>MODEL GOVERNANCE • PORTFOLIO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15568"/>
            <a:ext cx="1078992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ptos Display"/>
              </a:rPr>
              <a:t>Model Inventory, Findings &amp; Remediation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93392"/>
            <a:ext cx="98755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0">
                <a:solidFill>
                  <a:srgbClr val="CDDAE8"/>
                </a:solidFill>
                <a:latin typeface="Aptos"/>
              </a:rPr>
              <a:t>How organizations classify models, manage issues and turn findings into controlled remediation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063240"/>
            <a:ext cx="1600200" cy="310896"/>
          </a:xfrm>
          <a:prstGeom prst="roundRect">
            <a:avLst/>
          </a:prstGeom>
          <a:solidFill>
            <a:srgbClr val="193553"/>
          </a:solidFill>
          <a:ln>
            <a:solidFill>
              <a:srgbClr val="193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" y="3113532"/>
            <a:ext cx="152704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19" b="1">
                <a:solidFill>
                  <a:srgbClr val="B4CDE0"/>
                </a:solidFill>
                <a:latin typeface="Aptos"/>
              </a:rPr>
              <a:t>INVENTORY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313432" y="3218688"/>
            <a:ext cx="182880" cy="0"/>
          </a:xfrm>
          <a:prstGeom prst="line">
            <a:avLst/>
          </a:prstGeom>
          <a:ln w="2540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560320" y="3063240"/>
            <a:ext cx="1600200" cy="310896"/>
          </a:xfrm>
          <a:prstGeom prst="roundRect">
            <a:avLst/>
          </a:prstGeom>
          <a:solidFill>
            <a:srgbClr val="193553"/>
          </a:solidFill>
          <a:ln>
            <a:solidFill>
              <a:srgbClr val="193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96896" y="3113532"/>
            <a:ext cx="152704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19" b="1">
                <a:solidFill>
                  <a:srgbClr val="B4CDE0"/>
                </a:solidFill>
                <a:latin typeface="Aptos"/>
              </a:rPr>
              <a:t>CLASSIFY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187952" y="3218688"/>
            <a:ext cx="182879" cy="0"/>
          </a:xfrm>
          <a:prstGeom prst="line">
            <a:avLst/>
          </a:prstGeom>
          <a:ln w="2540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434840" y="3063240"/>
            <a:ext cx="1600200" cy="310896"/>
          </a:xfrm>
          <a:prstGeom prst="roundRect">
            <a:avLst/>
          </a:prstGeom>
          <a:solidFill>
            <a:srgbClr val="193553"/>
          </a:solidFill>
          <a:ln>
            <a:solidFill>
              <a:srgbClr val="193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71416" y="3113532"/>
            <a:ext cx="152704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19" b="1">
                <a:solidFill>
                  <a:srgbClr val="B4CDE0"/>
                </a:solidFill>
                <a:latin typeface="Aptos"/>
              </a:rPr>
              <a:t>TIER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62472" y="3218688"/>
            <a:ext cx="182880" cy="0"/>
          </a:xfrm>
          <a:prstGeom prst="line">
            <a:avLst/>
          </a:prstGeom>
          <a:ln w="2540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309359" y="3063240"/>
            <a:ext cx="1600200" cy="310896"/>
          </a:xfrm>
          <a:prstGeom prst="roundRect">
            <a:avLst/>
          </a:prstGeom>
          <a:solidFill>
            <a:srgbClr val="193553"/>
          </a:solidFill>
          <a:ln>
            <a:solidFill>
              <a:srgbClr val="193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5936" y="3113532"/>
            <a:ext cx="152704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19" b="1">
                <a:solidFill>
                  <a:srgbClr val="B4CDE0"/>
                </a:solidFill>
                <a:latin typeface="Aptos"/>
              </a:rPr>
              <a:t>FIND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936992" y="3218688"/>
            <a:ext cx="182879" cy="0"/>
          </a:xfrm>
          <a:prstGeom prst="line">
            <a:avLst/>
          </a:prstGeom>
          <a:ln w="2540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183879" y="3063240"/>
            <a:ext cx="1600200" cy="310896"/>
          </a:xfrm>
          <a:prstGeom prst="roundRect">
            <a:avLst/>
          </a:prstGeom>
          <a:solidFill>
            <a:srgbClr val="193553"/>
          </a:solidFill>
          <a:ln>
            <a:solidFill>
              <a:srgbClr val="193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0455" y="3113532"/>
            <a:ext cx="152704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19" b="1">
                <a:solidFill>
                  <a:srgbClr val="B4CDE0"/>
                </a:solidFill>
                <a:latin typeface="Aptos"/>
              </a:rPr>
              <a:t>REMEDIATE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811511" y="3218688"/>
            <a:ext cx="182881" cy="0"/>
          </a:xfrm>
          <a:prstGeom prst="line">
            <a:avLst/>
          </a:prstGeom>
          <a:ln w="2540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0058400" y="3063240"/>
            <a:ext cx="1600200" cy="310896"/>
          </a:xfrm>
          <a:prstGeom prst="roundRect">
            <a:avLst/>
          </a:prstGeom>
          <a:solidFill>
            <a:srgbClr val="193553"/>
          </a:solidFill>
          <a:ln>
            <a:solidFill>
              <a:srgbClr val="193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94976" y="3113532"/>
            <a:ext cx="152704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19" b="1">
                <a:solidFill>
                  <a:srgbClr val="B4CDE0"/>
                </a:solidFill>
                <a:latin typeface="Aptos"/>
              </a:rPr>
              <a:t>MONITOR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6053328"/>
            <a:ext cx="10515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0">
                <a:solidFill>
                  <a:srgbClr val="AABCCF"/>
                </a:solidFill>
                <a:latin typeface="Aptos"/>
              </a:rPr>
              <a:t>Premium corporate learning deck • Banking, finance &amp; enterprise decision-making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972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009999"/>
                </a:solidFill>
                <a:latin typeface="Aptos"/>
              </a:rPr>
              <a:t>01 • EXECUTIVE FRAMING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0A182C"/>
                </a:solidFill>
                <a:latin typeface="Aptos Display"/>
              </a:rPr>
              <a:t>Why model inventory and issue management matter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61872"/>
            <a:ext cx="106984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0">
                <a:solidFill>
                  <a:srgbClr val="657282"/>
                </a:solidFill>
                <a:latin typeface="Aptos"/>
              </a:rPr>
              <a:t>You cannot govern what you cannot see—and you cannot control issues without ownership, severity and closure.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09928"/>
            <a:ext cx="914400" cy="41148"/>
          </a:xfrm>
          <a:prstGeom prst="rect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2084831"/>
            <a:ext cx="2578608" cy="2148840"/>
          </a:xfrm>
          <a:prstGeom prst="roundRect">
            <a:avLst/>
          </a:prstGeom>
          <a:solidFill>
            <a:srgbClr val="F4F7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2084831"/>
            <a:ext cx="54864" cy="2148840"/>
          </a:xfrm>
          <a:prstGeom prst="rect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2221991"/>
            <a:ext cx="225856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0A182C"/>
                </a:solidFill>
                <a:latin typeface="Aptos"/>
              </a:rPr>
              <a:t>VISIBILITY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615184"/>
            <a:ext cx="2258568" cy="1527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40" b="0">
                <a:solidFill>
                  <a:srgbClr val="1F2834"/>
                </a:solidFill>
                <a:latin typeface="Aptos"/>
              </a:rPr>
              <a:t>Know every model, owner, purpose, criticality and status.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084831"/>
            <a:ext cx="2578608" cy="2148840"/>
          </a:xfrm>
          <a:prstGeom prst="roundRect">
            <a:avLst/>
          </a:prstGeom>
          <a:solidFill>
            <a:srgbClr val="F4F7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2084831"/>
            <a:ext cx="54864" cy="2148840"/>
          </a:xfrm>
          <a:prstGeom prst="rect">
            <a:avLst/>
          </a:prstGeom>
          <a:solidFill>
            <a:srgbClr val="2C69B4"/>
          </a:solidFill>
          <a:ln>
            <a:solidFill>
              <a:srgbClr val="2C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9312" y="2221991"/>
            <a:ext cx="225856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0A182C"/>
                </a:solidFill>
                <a:latin typeface="Aptos"/>
              </a:rPr>
              <a:t>PRIORITIZATION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2" y="2615184"/>
            <a:ext cx="2258568" cy="1527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40" b="0">
                <a:solidFill>
                  <a:srgbClr val="1F2834"/>
                </a:solidFill>
                <a:latin typeface="Aptos"/>
              </a:rPr>
              <a:t>Materiality and risk tiers determine where controls are strongest.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91072" y="2084831"/>
            <a:ext cx="2578608" cy="2148840"/>
          </a:xfrm>
          <a:prstGeom prst="roundRect">
            <a:avLst/>
          </a:prstGeom>
          <a:solidFill>
            <a:srgbClr val="F4F7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91072" y="2084831"/>
            <a:ext cx="54864" cy="2148840"/>
          </a:xfrm>
          <a:prstGeom prst="rect">
            <a:avLst/>
          </a:prstGeom>
          <a:solidFill>
            <a:srgbClr val="CD9D37"/>
          </a:solidFill>
          <a:ln>
            <a:solidFill>
              <a:srgbClr val="CD9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55664" y="2221991"/>
            <a:ext cx="225856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0A182C"/>
                </a:solidFill>
                <a:latin typeface="Aptos"/>
              </a:rPr>
              <a:t>ACCOUNTABILITY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5664" y="2615184"/>
            <a:ext cx="2258568" cy="1527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40" b="0">
                <a:solidFill>
                  <a:srgbClr val="1F2834"/>
                </a:solidFill>
                <a:latin typeface="Aptos"/>
              </a:rPr>
              <a:t>Findings need owners, deadlines, evidence and escalation.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07424" y="2084831"/>
            <a:ext cx="2578608" cy="2148840"/>
          </a:xfrm>
          <a:prstGeom prst="roundRect">
            <a:avLst/>
          </a:prstGeom>
          <a:solidFill>
            <a:srgbClr val="F4F7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07424" y="2084831"/>
            <a:ext cx="54864" cy="2148840"/>
          </a:xfrm>
          <a:prstGeom prst="rect">
            <a:avLst/>
          </a:prstGeom>
          <a:solidFill>
            <a:srgbClr val="BE4141"/>
          </a:solidFill>
          <a:ln>
            <a:solidFill>
              <a:srgbClr val="BE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72016" y="2221991"/>
            <a:ext cx="225856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0A182C"/>
                </a:solidFill>
                <a:latin typeface="Aptos"/>
              </a:rPr>
              <a:t>RESILIENCE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72016" y="2615184"/>
            <a:ext cx="2258568" cy="1527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40" b="0">
                <a:solidFill>
                  <a:srgbClr val="1F2834"/>
                </a:solidFill>
                <a:latin typeface="Aptos"/>
              </a:rPr>
              <a:t>Limitations and overrides must feed decisions and remediation.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800600"/>
            <a:ext cx="29260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009999"/>
                </a:solidFill>
                <a:latin typeface="Aptos"/>
              </a:rPr>
              <a:t>WHAT → WHY → HOW → SO WHAT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212080"/>
            <a:ext cx="106070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0A182C"/>
                </a:solidFill>
                <a:latin typeface="Aptos"/>
              </a:rPr>
              <a:t>What: identify and classify models • Why: focus resources on material risk • How: tier, monitor and remediate • So what: stronger decision 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28816"/>
            <a:ext cx="91440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20" b="1">
                <a:solidFill>
                  <a:srgbClr val="657282"/>
                </a:solidFill>
                <a:latin typeface="Aptos"/>
              </a:rPr>
              <a:t>MODEL INVENTORY • FINDINGS • LIMITATIONS • OVERRIDES • REMEDIATION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50" b="1">
                <a:solidFill>
                  <a:srgbClr val="657282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972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009999"/>
                </a:solidFill>
                <a:latin typeface="Aptos"/>
              </a:rPr>
              <a:t>02 • MODEL INVENTORY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0A182C"/>
                </a:solidFill>
                <a:latin typeface="Aptos Display"/>
              </a:rPr>
              <a:t>What is a model inventory?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61872"/>
            <a:ext cx="106984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0">
                <a:solidFill>
                  <a:srgbClr val="657282"/>
                </a:solidFill>
                <a:latin typeface="Aptos"/>
              </a:rPr>
              <a:t>A controlled register that gives the organization a single view of its model portfolio.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09928"/>
            <a:ext cx="914400" cy="41148"/>
          </a:xfrm>
          <a:prstGeom prst="rect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2011680"/>
            <a:ext cx="4754880" cy="3429000"/>
          </a:xfrm>
          <a:prstGeom prst="roundRect">
            <a:avLst/>
          </a:prstGeom>
          <a:solidFill>
            <a:srgbClr val="0A182C"/>
          </a:solidFill>
          <a:ln>
            <a:solidFill>
              <a:srgbClr val="0A18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304288"/>
            <a:ext cx="42062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MODEL INVENTORY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2834640"/>
            <a:ext cx="4023360" cy="274320"/>
          </a:xfrm>
          <a:prstGeom prst="roundRect">
            <a:avLst/>
          </a:prstGeom>
          <a:solidFill>
            <a:srgbClr val="193553"/>
          </a:solidFill>
          <a:ln>
            <a:solidFill>
              <a:srgbClr val="193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2889504"/>
            <a:ext cx="3749039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80" b="1">
                <a:solidFill>
                  <a:srgbClr val="CDDAE8"/>
                </a:solidFill>
                <a:latin typeface="Aptos"/>
              </a:rPr>
              <a:t>Model ID / Name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1560" y="3182112"/>
            <a:ext cx="4023360" cy="274320"/>
          </a:xfrm>
          <a:prstGeom prst="roundRect">
            <a:avLst/>
          </a:prstGeom>
          <a:solidFill>
            <a:srgbClr val="193553"/>
          </a:solidFill>
          <a:ln>
            <a:solidFill>
              <a:srgbClr val="193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3236976"/>
            <a:ext cx="3749039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80" b="1">
                <a:solidFill>
                  <a:srgbClr val="CDDAE8"/>
                </a:solidFill>
                <a:latin typeface="Aptos"/>
              </a:rPr>
              <a:t>Business Purpose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1560" y="3529584"/>
            <a:ext cx="4023360" cy="274320"/>
          </a:xfrm>
          <a:prstGeom prst="roundRect">
            <a:avLst/>
          </a:prstGeom>
          <a:solidFill>
            <a:srgbClr val="193553"/>
          </a:solidFill>
          <a:ln>
            <a:solidFill>
              <a:srgbClr val="193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3584448"/>
            <a:ext cx="3749039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80" b="1">
                <a:solidFill>
                  <a:srgbClr val="CDDAE8"/>
                </a:solidFill>
                <a:latin typeface="Aptos"/>
              </a:rPr>
              <a:t>Owner &amp; Developer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51560" y="3877056"/>
            <a:ext cx="4023360" cy="274320"/>
          </a:xfrm>
          <a:prstGeom prst="roundRect">
            <a:avLst/>
          </a:prstGeom>
          <a:solidFill>
            <a:srgbClr val="193553"/>
          </a:solidFill>
          <a:ln>
            <a:solidFill>
              <a:srgbClr val="193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0432" y="3931920"/>
            <a:ext cx="3749039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80" b="1">
                <a:solidFill>
                  <a:srgbClr val="CDDAE8"/>
                </a:solidFill>
                <a:latin typeface="Aptos"/>
              </a:rPr>
              <a:t>Materiality / Risk Tier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1560" y="4224528"/>
            <a:ext cx="4023360" cy="274320"/>
          </a:xfrm>
          <a:prstGeom prst="roundRect">
            <a:avLst/>
          </a:prstGeom>
          <a:solidFill>
            <a:srgbClr val="193553"/>
          </a:solidFill>
          <a:ln>
            <a:solidFill>
              <a:srgbClr val="193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70432" y="4279392"/>
            <a:ext cx="3749039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80" b="1">
                <a:solidFill>
                  <a:srgbClr val="CDDAE8"/>
                </a:solidFill>
                <a:latin typeface="Aptos"/>
              </a:rPr>
              <a:t>Validation Status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51560" y="4572000"/>
            <a:ext cx="4023360" cy="274320"/>
          </a:xfrm>
          <a:prstGeom prst="roundRect">
            <a:avLst/>
          </a:prstGeom>
          <a:solidFill>
            <a:srgbClr val="193553"/>
          </a:solidFill>
          <a:ln>
            <a:solidFill>
              <a:srgbClr val="193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70432" y="4626864"/>
            <a:ext cx="3749039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80" b="1">
                <a:solidFill>
                  <a:srgbClr val="CDDAE8"/>
                </a:solidFill>
                <a:latin typeface="Aptos"/>
              </a:rPr>
              <a:t>Production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51560" y="4919472"/>
            <a:ext cx="4023360" cy="274320"/>
          </a:xfrm>
          <a:prstGeom prst="roundRect">
            <a:avLst/>
          </a:prstGeom>
          <a:solidFill>
            <a:srgbClr val="193553"/>
          </a:solidFill>
          <a:ln>
            <a:solidFill>
              <a:srgbClr val="193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70432" y="4974336"/>
            <a:ext cx="3749039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80" b="1">
                <a:solidFill>
                  <a:srgbClr val="CDDAE8"/>
                </a:solidFill>
                <a:latin typeface="Aptos"/>
              </a:rPr>
              <a:t>Next Review / Change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06440" y="1993392"/>
            <a:ext cx="54406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806440" y="1993392"/>
            <a:ext cx="54864" cy="749808"/>
          </a:xfrm>
          <a:prstGeom prst="rect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71031" y="2130552"/>
            <a:ext cx="5120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0A182C"/>
                </a:solidFill>
                <a:latin typeface="Aptos"/>
              </a:rPr>
              <a:t>Traceability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71031" y="2523744"/>
            <a:ext cx="5120640" cy="128015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19" b="0">
                <a:solidFill>
                  <a:srgbClr val="1F2834"/>
                </a:solidFill>
                <a:latin typeface="Aptos"/>
              </a:rPr>
              <a:t>Every model has a clear identity and accountable owner.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06440" y="2889504"/>
            <a:ext cx="54406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806440" y="2889504"/>
            <a:ext cx="54864" cy="749808"/>
          </a:xfrm>
          <a:prstGeom prst="rect">
            <a:avLst/>
          </a:prstGeom>
          <a:solidFill>
            <a:srgbClr val="2C69B4"/>
          </a:solidFill>
          <a:ln>
            <a:solidFill>
              <a:srgbClr val="2C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71031" y="3026664"/>
            <a:ext cx="5120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0A182C"/>
                </a:solidFill>
                <a:latin typeface="Aptos"/>
              </a:rPr>
              <a:t>Prioritization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71031" y="3419856"/>
            <a:ext cx="5120640" cy="128015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19" b="0">
                <a:solidFill>
                  <a:srgbClr val="1F2834"/>
                </a:solidFill>
                <a:latin typeface="Aptos"/>
              </a:rPr>
              <a:t>Critical models receive proportionate validation and monitoring.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06440" y="3785616"/>
            <a:ext cx="54406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806440" y="3785616"/>
            <a:ext cx="54864" cy="749808"/>
          </a:xfrm>
          <a:prstGeom prst="rect">
            <a:avLst/>
          </a:prstGeom>
          <a:solidFill>
            <a:srgbClr val="CD9D37"/>
          </a:solidFill>
          <a:ln>
            <a:solidFill>
              <a:srgbClr val="CD9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71031" y="3922776"/>
            <a:ext cx="5120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0A182C"/>
                </a:solidFill>
                <a:latin typeface="Aptos"/>
              </a:rPr>
              <a:t>Auditability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71031" y="4315968"/>
            <a:ext cx="5120640" cy="128015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19" b="0">
                <a:solidFill>
                  <a:srgbClr val="1F2834"/>
                </a:solidFill>
                <a:latin typeface="Aptos"/>
              </a:rPr>
              <a:t>Status, approvals and review dates can be evidenced.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806440" y="4681728"/>
            <a:ext cx="54406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806440" y="4681728"/>
            <a:ext cx="54864" cy="749808"/>
          </a:xfrm>
          <a:prstGeom prst="rect">
            <a:avLst/>
          </a:prstGeom>
          <a:solidFill>
            <a:srgbClr val="BE4141"/>
          </a:solidFill>
          <a:ln>
            <a:solidFill>
              <a:srgbClr val="BE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71031" y="4818888"/>
            <a:ext cx="5120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0A182C"/>
                </a:solidFill>
                <a:latin typeface="Aptos"/>
              </a:rPr>
              <a:t>Change control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71031" y="5212080"/>
            <a:ext cx="5120640" cy="128015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19" b="0">
                <a:solidFill>
                  <a:srgbClr val="1F2834"/>
                </a:solidFill>
                <a:latin typeface="Aptos"/>
              </a:rPr>
              <a:t>Material changes become visible rather than hidden.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6528816"/>
            <a:ext cx="91440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20" b="1">
                <a:solidFill>
                  <a:srgbClr val="657282"/>
                </a:solidFill>
                <a:latin typeface="Aptos"/>
              </a:rPr>
              <a:t>MODEL INVENTORY • FINDINGS • LIMITATIONS • OVERRIDES • REMEDIATION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50" b="1">
                <a:solidFill>
                  <a:srgbClr val="657282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972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009999"/>
                </a:solidFill>
                <a:latin typeface="Aptos"/>
              </a:rPr>
              <a:t>03 • MATERIALITY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0A182C"/>
                </a:solidFill>
                <a:latin typeface="Aptos Display"/>
              </a:rPr>
              <a:t>Model materiality: how much does the model matter?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61872"/>
            <a:ext cx="106984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0">
                <a:solidFill>
                  <a:srgbClr val="657282"/>
                </a:solidFill>
                <a:latin typeface="Aptos"/>
              </a:rPr>
              <a:t>Materiality links a model to the potential business, financial, customer or regulatory consequences of failure.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09928"/>
            <a:ext cx="914400" cy="41148"/>
          </a:xfrm>
          <a:prstGeom prst="rect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2057400"/>
            <a:ext cx="5166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2057400"/>
            <a:ext cx="54864" cy="1143000"/>
          </a:xfrm>
          <a:prstGeom prst="rect">
            <a:avLst/>
          </a:prstGeom>
          <a:solidFill>
            <a:srgbClr val="2C69B4"/>
          </a:solidFill>
          <a:ln>
            <a:solidFill>
              <a:srgbClr val="2C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2194560"/>
            <a:ext cx="48463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0A182C"/>
                </a:solidFill>
                <a:latin typeface="Aptos"/>
              </a:rPr>
              <a:t>Financial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587752"/>
            <a:ext cx="4846320" cy="52120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1F2834"/>
                </a:solidFill>
                <a:latin typeface="Aptos"/>
              </a:rPr>
              <a:t>Potential P&amp;L, capital, provision or loss impact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81928" y="2057400"/>
            <a:ext cx="5166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81928" y="2057400"/>
            <a:ext cx="54864" cy="1143000"/>
          </a:xfrm>
          <a:prstGeom prst="rect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194560"/>
            <a:ext cx="48463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0A182C"/>
                </a:solidFill>
                <a:latin typeface="Aptos"/>
              </a:rPr>
              <a:t>Customer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587752"/>
            <a:ext cx="4846320" cy="52120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1F2834"/>
                </a:solidFill>
                <a:latin typeface="Aptos"/>
              </a:rPr>
              <a:t>Potential impact on customer outcomes or access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474720"/>
            <a:ext cx="5166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3474720"/>
            <a:ext cx="54864" cy="1143000"/>
          </a:xfrm>
          <a:prstGeom prst="rect">
            <a:avLst/>
          </a:prstGeom>
          <a:solidFill>
            <a:srgbClr val="BE4141"/>
          </a:solidFill>
          <a:ln>
            <a:solidFill>
              <a:srgbClr val="BE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" y="3611879"/>
            <a:ext cx="48463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0A182C"/>
                </a:solidFill>
                <a:latin typeface="Aptos"/>
              </a:rPr>
              <a:t>Regulatory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4005072"/>
            <a:ext cx="4846320" cy="52120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1F2834"/>
                </a:solidFill>
                <a:latin typeface="Aptos"/>
              </a:rPr>
              <a:t>Potential compliance or supervisory consequence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81928" y="3474720"/>
            <a:ext cx="5166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81928" y="3474720"/>
            <a:ext cx="54864" cy="1143000"/>
          </a:xfrm>
          <a:prstGeom prst="rect">
            <a:avLst/>
          </a:prstGeom>
          <a:solidFill>
            <a:srgbClr val="CD9D37"/>
          </a:solidFill>
          <a:ln>
            <a:solidFill>
              <a:srgbClr val="CD9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611879"/>
            <a:ext cx="48463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0A182C"/>
                </a:solidFill>
                <a:latin typeface="Aptos"/>
              </a:rPr>
              <a:t>Strategic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005072"/>
            <a:ext cx="4846320" cy="52120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1F2834"/>
                </a:solidFill>
                <a:latin typeface="Aptos"/>
              </a:rPr>
              <a:t>Impact on major business decisions or strategy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983480"/>
            <a:ext cx="36576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009999"/>
                </a:solidFill>
                <a:latin typeface="Aptos"/>
              </a:rPr>
              <a:t>ILLUSTRATIVE MATERIALITY SCORE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376672"/>
            <a:ext cx="14173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19" b="1">
                <a:solidFill>
                  <a:srgbClr val="1F2834"/>
                </a:solidFill>
                <a:latin typeface="Aptos"/>
              </a:rPr>
              <a:t>Financial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5687568"/>
            <a:ext cx="1920240" cy="237744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85800" y="5687568"/>
            <a:ext cx="1920240" cy="237744"/>
          </a:xfrm>
          <a:prstGeom prst="roundRect">
            <a:avLst/>
          </a:prstGeom>
          <a:solidFill>
            <a:srgbClr val="2C69B4"/>
          </a:solidFill>
          <a:ln>
            <a:solidFill>
              <a:srgbClr val="2C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79192" y="5641848"/>
            <a:ext cx="502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2C69B4"/>
                </a:solidFill>
                <a:latin typeface="Aptos"/>
              </a:rPr>
              <a:t>5/5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5376672"/>
            <a:ext cx="14173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19" b="1">
                <a:solidFill>
                  <a:srgbClr val="1F2834"/>
                </a:solidFill>
                <a:latin typeface="Aptos"/>
              </a:rPr>
              <a:t>Customer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91840" y="5687568"/>
            <a:ext cx="1920240" cy="237744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291840" y="5687568"/>
            <a:ext cx="1536192" cy="237744"/>
          </a:xfrm>
          <a:prstGeom prst="roundRect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85232" y="5641848"/>
            <a:ext cx="502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009999"/>
                </a:solidFill>
                <a:latin typeface="Aptos"/>
              </a:rPr>
              <a:t>4/5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97880" y="5376672"/>
            <a:ext cx="14173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19" b="1">
                <a:solidFill>
                  <a:srgbClr val="1F2834"/>
                </a:solidFill>
                <a:latin typeface="Aptos"/>
              </a:rPr>
              <a:t>Regulatory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897880" y="5687568"/>
            <a:ext cx="1920240" cy="237744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897880" y="5687568"/>
            <a:ext cx="1920240" cy="237744"/>
          </a:xfrm>
          <a:prstGeom prst="roundRect">
            <a:avLst/>
          </a:prstGeom>
          <a:solidFill>
            <a:srgbClr val="BE4141"/>
          </a:solidFill>
          <a:ln>
            <a:solidFill>
              <a:srgbClr val="BE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91272" y="5641848"/>
            <a:ext cx="502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BE4141"/>
                </a:solidFill>
                <a:latin typeface="Aptos"/>
              </a:rPr>
              <a:t>5/5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5376672"/>
            <a:ext cx="14173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19" b="1">
                <a:solidFill>
                  <a:srgbClr val="1F2834"/>
                </a:solidFill>
                <a:latin typeface="Aptos"/>
              </a:rPr>
              <a:t>Strategic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503920" y="5687568"/>
            <a:ext cx="1920240" cy="237744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503920" y="5687568"/>
            <a:ext cx="1152144" cy="237744"/>
          </a:xfrm>
          <a:prstGeom prst="roundRect">
            <a:avLst/>
          </a:prstGeom>
          <a:solidFill>
            <a:srgbClr val="CD9D37"/>
          </a:solidFill>
          <a:ln>
            <a:solidFill>
              <a:srgbClr val="CD9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497312" y="5641848"/>
            <a:ext cx="502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CD9D37"/>
                </a:solidFill>
                <a:latin typeface="Aptos"/>
              </a:rPr>
              <a:t>3/5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60920" y="5806440"/>
            <a:ext cx="3794760" cy="310896"/>
          </a:xfrm>
          <a:prstGeom prst="roundRect">
            <a:avLst/>
          </a:prstGeom>
          <a:solidFill>
            <a:srgbClr val="F9F2E0"/>
          </a:solidFill>
          <a:ln>
            <a:solidFill>
              <a:srgbClr val="F9F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97496" y="5856731"/>
            <a:ext cx="372160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19" b="1">
                <a:solidFill>
                  <a:srgbClr val="CD9D37"/>
                </a:solidFill>
                <a:latin typeface="Aptos"/>
              </a:rPr>
              <a:t>Example: high materiality → stronger governance expectations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6528816"/>
            <a:ext cx="91440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20" b="1">
                <a:solidFill>
                  <a:srgbClr val="657282"/>
                </a:solidFill>
                <a:latin typeface="Aptos"/>
              </a:rPr>
              <a:t>MODEL INVENTORY • FINDINGS • LIMITATIONS • OVERRIDES • REMEDIATION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50" b="1">
                <a:solidFill>
                  <a:srgbClr val="657282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972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009999"/>
                </a:solidFill>
                <a:latin typeface="Aptos"/>
              </a:rPr>
              <a:t>04 • CLASSIFICATION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0A182C"/>
                </a:solidFill>
                <a:latin typeface="Aptos Display"/>
              </a:rPr>
              <a:t>Model classification: group models by what they do and how they are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61872"/>
            <a:ext cx="106984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0">
                <a:solidFill>
                  <a:srgbClr val="657282"/>
                </a:solidFill>
                <a:latin typeface="Aptos"/>
              </a:rPr>
              <a:t>Classification creates consistent language for governance, ownership, validation and reporting.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09928"/>
            <a:ext cx="914400" cy="41148"/>
          </a:xfrm>
          <a:prstGeom prst="rect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2057400"/>
            <a:ext cx="5166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2057400"/>
            <a:ext cx="54864" cy="1143000"/>
          </a:xfrm>
          <a:prstGeom prst="rect">
            <a:avLst/>
          </a:prstGeom>
          <a:solidFill>
            <a:srgbClr val="2C69B4"/>
          </a:solidFill>
          <a:ln>
            <a:solidFill>
              <a:srgbClr val="2C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2194560"/>
            <a:ext cx="48463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0A182C"/>
                </a:solidFill>
                <a:latin typeface="Aptos"/>
              </a:rPr>
              <a:t>Credit 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587752"/>
            <a:ext cx="4846320" cy="52120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1F2834"/>
                </a:solidFill>
                <a:latin typeface="Aptos"/>
              </a:rPr>
              <a:t>PD, LGD, EAD, scorecards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81928" y="2057400"/>
            <a:ext cx="5166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81928" y="2057400"/>
            <a:ext cx="54864" cy="1143000"/>
          </a:xfrm>
          <a:prstGeom prst="rect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194560"/>
            <a:ext cx="48463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0A182C"/>
                </a:solidFill>
                <a:latin typeface="Aptos"/>
              </a:rPr>
              <a:t>Market Risk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587752"/>
            <a:ext cx="4846320" cy="52120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1F2834"/>
                </a:solidFill>
                <a:latin typeface="Aptos"/>
              </a:rPr>
              <a:t>Pricing, VaR, stress / scenario models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474720"/>
            <a:ext cx="5166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3474720"/>
            <a:ext cx="54864" cy="1143000"/>
          </a:xfrm>
          <a:prstGeom prst="rect">
            <a:avLst/>
          </a:prstGeom>
          <a:solidFill>
            <a:srgbClr val="CD9D37"/>
          </a:solidFill>
          <a:ln>
            <a:solidFill>
              <a:srgbClr val="CD9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" y="3611879"/>
            <a:ext cx="48463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0A182C"/>
                </a:solidFill>
                <a:latin typeface="Aptos"/>
              </a:rPr>
              <a:t>Finance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4005072"/>
            <a:ext cx="4846320" cy="52120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1F2834"/>
                </a:solidFill>
                <a:latin typeface="Aptos"/>
              </a:rPr>
              <a:t>Forecasting, valuation, impairment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81928" y="3474720"/>
            <a:ext cx="5166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81928" y="3474720"/>
            <a:ext cx="54864" cy="1143000"/>
          </a:xfrm>
          <a:prstGeom prst="rect">
            <a:avLst/>
          </a:prstGeom>
          <a:solidFill>
            <a:srgbClr val="BE4141"/>
          </a:solidFill>
          <a:ln>
            <a:solidFill>
              <a:srgbClr val="BE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611879"/>
            <a:ext cx="48463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0A182C"/>
                </a:solidFill>
                <a:latin typeface="Aptos"/>
              </a:rPr>
              <a:t>Operations / 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005072"/>
            <a:ext cx="4846320" cy="52120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1F2834"/>
                </a:solidFill>
                <a:latin typeface="Aptos"/>
              </a:rPr>
              <a:t>Fraud, workflow, GenAI or decision support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983480"/>
            <a:ext cx="36576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009999"/>
                </a:solidFill>
                <a:latin typeface="Aptos"/>
              </a:rPr>
              <a:t>CLASSIFICATION SHOULD ANSWER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5394960"/>
            <a:ext cx="4617720" cy="310896"/>
          </a:xfrm>
          <a:prstGeom prst="roundRect">
            <a:avLst/>
          </a:prstGeom>
          <a:solidFill>
            <a:srgbClr val="E7EFF9"/>
          </a:solidFill>
          <a:ln>
            <a:solidFill>
              <a:srgbClr val="E7E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2376" y="5445252"/>
            <a:ext cx="45445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19" b="1">
                <a:solidFill>
                  <a:srgbClr val="2C69B4"/>
                </a:solidFill>
                <a:latin typeface="Aptos"/>
              </a:rPr>
              <a:t>What decision does it support?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60720" y="5394960"/>
            <a:ext cx="4617720" cy="310896"/>
          </a:xfrm>
          <a:prstGeom prst="roundRect">
            <a:avLst/>
          </a:prstGeom>
          <a:solidFill>
            <a:srgbClr val="E7EFF9"/>
          </a:solidFill>
          <a:ln>
            <a:solidFill>
              <a:srgbClr val="E7E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97296" y="5445252"/>
            <a:ext cx="45445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19" b="1">
                <a:solidFill>
                  <a:srgbClr val="2C69B4"/>
                </a:solidFill>
                <a:latin typeface="Aptos"/>
              </a:rPr>
              <a:t>Who relies on the output?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5897880"/>
            <a:ext cx="4617720" cy="310896"/>
          </a:xfrm>
          <a:prstGeom prst="roundRect">
            <a:avLst/>
          </a:prstGeom>
          <a:solidFill>
            <a:srgbClr val="E7EFF9"/>
          </a:solidFill>
          <a:ln>
            <a:solidFill>
              <a:srgbClr val="E7E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2376" y="5948172"/>
            <a:ext cx="45445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19" b="1">
                <a:solidFill>
                  <a:srgbClr val="2C69B4"/>
                </a:solidFill>
                <a:latin typeface="Aptos"/>
              </a:rPr>
              <a:t>What population / horizon?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760720" y="5897880"/>
            <a:ext cx="4617720" cy="310896"/>
          </a:xfrm>
          <a:prstGeom prst="roundRect">
            <a:avLst/>
          </a:prstGeom>
          <a:solidFill>
            <a:srgbClr val="E7EFF9"/>
          </a:solidFill>
          <a:ln>
            <a:solidFill>
              <a:srgbClr val="E7E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97296" y="5948172"/>
            <a:ext cx="45445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19" b="1">
                <a:solidFill>
                  <a:srgbClr val="2C69B4"/>
                </a:solidFill>
                <a:latin typeface="Aptos"/>
              </a:rPr>
              <a:t>What happens if it fails?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528816"/>
            <a:ext cx="91440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20" b="1">
                <a:solidFill>
                  <a:srgbClr val="657282"/>
                </a:solidFill>
                <a:latin typeface="Aptos"/>
              </a:rPr>
              <a:t>MODEL INVENTORY • FINDINGS • LIMITATIONS • OVERRIDES • REMEDIATION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50" b="1">
                <a:solidFill>
                  <a:srgbClr val="657282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972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009999"/>
                </a:solidFill>
                <a:latin typeface="Aptos"/>
              </a:rPr>
              <a:t>05 • RISK TIERS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0A182C"/>
                </a:solidFill>
                <a:latin typeface="Aptos Display"/>
              </a:rPr>
              <a:t>Model risk tiers: not every model needs the same control intensity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61872"/>
            <a:ext cx="106984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0">
                <a:solidFill>
                  <a:srgbClr val="657282"/>
                </a:solidFill>
                <a:latin typeface="Aptos"/>
              </a:rPr>
              <a:t>Tiering allocates validation, monitoring and governance effort in proportion to risk.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09928"/>
            <a:ext cx="914400" cy="41148"/>
          </a:xfrm>
          <a:prstGeom prst="rect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965960"/>
            <a:ext cx="107442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965960"/>
            <a:ext cx="100584" cy="960120"/>
          </a:xfrm>
          <a:prstGeom prst="rect">
            <a:avLst/>
          </a:prstGeom>
          <a:solidFill>
            <a:srgbClr val="BE4141"/>
          </a:solidFill>
          <a:ln>
            <a:solidFill>
              <a:srgbClr val="BE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121408"/>
            <a:ext cx="21031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BE4141"/>
                </a:solidFill>
                <a:latin typeface="Aptos"/>
              </a:rPr>
              <a:t>TIER 1 • HIGH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2112264"/>
            <a:ext cx="25603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0A182C"/>
                </a:solidFill>
                <a:latin typeface="Aptos"/>
              </a:rPr>
              <a:t>Material decision / high impact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0" y="2093976"/>
            <a:ext cx="534924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30" b="0">
                <a:solidFill>
                  <a:srgbClr val="1F2834"/>
                </a:solidFill>
                <a:latin typeface="Aptos"/>
              </a:rPr>
              <a:t>Full independent validation • frequent monitoring • senior oversight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172968"/>
            <a:ext cx="107442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3172968"/>
            <a:ext cx="100584" cy="960120"/>
          </a:xfrm>
          <a:prstGeom prst="rect">
            <a:avLst/>
          </a:prstGeom>
          <a:solidFill>
            <a:srgbClr val="CD9D37"/>
          </a:solidFill>
          <a:ln>
            <a:solidFill>
              <a:srgbClr val="CD9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328415"/>
            <a:ext cx="21031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CD9D37"/>
                </a:solidFill>
                <a:latin typeface="Aptos"/>
              </a:rPr>
              <a:t>TIER 2 • MEDIUM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3319272"/>
            <a:ext cx="25603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0A182C"/>
                </a:solidFill>
                <a:latin typeface="Aptos"/>
              </a:rPr>
              <a:t>Meaningful decision / moderate impact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0" y="3300984"/>
            <a:ext cx="534924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30" b="0">
                <a:solidFill>
                  <a:srgbClr val="1F2834"/>
                </a:solidFill>
                <a:latin typeface="Aptos"/>
              </a:rPr>
              <a:t>Standard validation • periodic monitoring • documented approval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379976"/>
            <a:ext cx="107442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4379976"/>
            <a:ext cx="100584" cy="960120"/>
          </a:xfrm>
          <a:prstGeom prst="rect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535424"/>
            <a:ext cx="21031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009999"/>
                </a:solidFill>
                <a:latin typeface="Aptos"/>
              </a:rPr>
              <a:t>TIER 3 • 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3240" y="4526280"/>
            <a:ext cx="25603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0A182C"/>
                </a:solidFill>
                <a:latin typeface="Aptos"/>
              </a:rPr>
              <a:t>Limited impact / supporting use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0" y="4507992"/>
            <a:ext cx="534924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30" b="0">
                <a:solidFill>
                  <a:srgbClr val="1F2834"/>
                </a:solidFill>
                <a:latin typeface="Aptos"/>
              </a:rPr>
              <a:t>Proportionate review • basic controls • periodic confirmation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80360" y="5806440"/>
            <a:ext cx="6400800" cy="310896"/>
          </a:xfrm>
          <a:prstGeom prst="roundRect">
            <a:avLst/>
          </a:prstGeom>
          <a:solidFill>
            <a:srgbClr val="E5F4F3"/>
          </a:solidFill>
          <a:ln>
            <a:solidFill>
              <a:srgbClr val="E5F4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16936" y="5856731"/>
            <a:ext cx="632764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19" b="1">
                <a:solidFill>
                  <a:srgbClr val="009999"/>
                </a:solidFill>
                <a:latin typeface="Aptos"/>
              </a:rPr>
              <a:t>CONTROL INTENSITY ∝ MATERIALITY × MODEL RISK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28816"/>
            <a:ext cx="91440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20" b="1">
                <a:solidFill>
                  <a:srgbClr val="657282"/>
                </a:solidFill>
                <a:latin typeface="Aptos"/>
              </a:rPr>
              <a:t>MODEL INVENTORY • FINDINGS • LIMITATIONS • OVERRIDES • REMEDIATION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50" b="1">
                <a:solidFill>
                  <a:srgbClr val="657282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972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009999"/>
                </a:solidFill>
                <a:latin typeface="Aptos"/>
              </a:rPr>
              <a:t>06 • PRACTICAL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0A182C"/>
                </a:solidFill>
                <a:latin typeface="Aptos Display"/>
              </a:rPr>
              <a:t>Model inventory &amp; tiering — illustrative portfolio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61872"/>
            <a:ext cx="106984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0">
                <a:solidFill>
                  <a:srgbClr val="657282"/>
                </a:solidFill>
                <a:latin typeface="Aptos"/>
              </a:rPr>
              <a:t>A portfolio view shows why tiering is a management decision, not just an administrative label.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09928"/>
            <a:ext cx="914400" cy="41148"/>
          </a:xfrm>
          <a:prstGeom prst="rect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93392"/>
            <a:ext cx="1828800" cy="438912"/>
          </a:xfrm>
          <a:prstGeom prst="rect">
            <a:avLst/>
          </a:prstGeom>
          <a:solidFill>
            <a:srgbClr val="0A182C"/>
          </a:solidFill>
          <a:ln>
            <a:solidFill>
              <a:srgbClr val="0A18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2103120"/>
            <a:ext cx="17373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19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2395728" y="1993392"/>
            <a:ext cx="2468880" cy="438912"/>
          </a:xfrm>
          <a:prstGeom prst="rect">
            <a:avLst/>
          </a:prstGeom>
          <a:solidFill>
            <a:srgbClr val="0A182C"/>
          </a:solidFill>
          <a:ln>
            <a:solidFill>
              <a:srgbClr val="0A18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41448" y="2103120"/>
            <a:ext cx="23774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19" b="1">
                <a:solidFill>
                  <a:srgbClr val="FFFFFF"/>
                </a:solidFill>
                <a:latin typeface="Aptos"/>
              </a:rPr>
              <a:t>Purpose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64608" y="1993392"/>
            <a:ext cx="1508760" cy="438912"/>
          </a:xfrm>
          <a:prstGeom prst="rect">
            <a:avLst/>
          </a:prstGeom>
          <a:solidFill>
            <a:srgbClr val="0A182C"/>
          </a:solidFill>
          <a:ln>
            <a:solidFill>
              <a:srgbClr val="0A18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10328" y="2103120"/>
            <a:ext cx="1417319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19" b="1">
                <a:solidFill>
                  <a:srgbClr val="FFFFFF"/>
                </a:solidFill>
                <a:latin typeface="Aptos"/>
              </a:rPr>
              <a:t>Materiality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73368" y="1993392"/>
            <a:ext cx="1097280" cy="438912"/>
          </a:xfrm>
          <a:prstGeom prst="rect">
            <a:avLst/>
          </a:prstGeom>
          <a:solidFill>
            <a:srgbClr val="0A182C"/>
          </a:solidFill>
          <a:ln>
            <a:solidFill>
              <a:srgbClr val="0A18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2103120"/>
            <a:ext cx="1005839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19" b="1">
                <a:solidFill>
                  <a:srgbClr val="FFFFFF"/>
                </a:solidFill>
                <a:latin typeface="Aptos"/>
              </a:rPr>
              <a:t>Tier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70648" y="1993392"/>
            <a:ext cx="3794760" cy="438912"/>
          </a:xfrm>
          <a:prstGeom prst="rect">
            <a:avLst/>
          </a:prstGeom>
          <a:solidFill>
            <a:srgbClr val="0A182C"/>
          </a:solidFill>
          <a:ln>
            <a:solidFill>
              <a:srgbClr val="0A18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16368" y="2103120"/>
            <a:ext cx="37033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19" b="1">
                <a:solidFill>
                  <a:srgbClr val="FFFFFF"/>
                </a:solidFill>
                <a:latin typeface="Aptos"/>
              </a:rPr>
              <a:t>Control response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2432304"/>
            <a:ext cx="1828800" cy="576072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2551176"/>
            <a:ext cx="171907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19" b="1">
                <a:solidFill>
                  <a:srgbClr val="1F2834"/>
                </a:solidFill>
                <a:latin typeface="Aptos"/>
              </a:rPr>
              <a:t>Retail PD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95728" y="2432304"/>
            <a:ext cx="2468880" cy="576072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50592" y="2551176"/>
            <a:ext cx="235915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19" b="0">
                <a:solidFill>
                  <a:srgbClr val="1F2834"/>
                </a:solidFill>
                <a:latin typeface="Aptos"/>
              </a:rPr>
              <a:t>Credit underwriting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64608" y="2432304"/>
            <a:ext cx="1508760" cy="576072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19472" y="2551176"/>
            <a:ext cx="1399031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19" b="0">
                <a:solidFill>
                  <a:srgbClr val="1F2834"/>
                </a:solidFill>
                <a:latin typeface="Aptos"/>
              </a:rPr>
              <a:t>High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73368" y="2432304"/>
            <a:ext cx="1097280" cy="576072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28232" y="2551176"/>
            <a:ext cx="98755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19" b="1">
                <a:solidFill>
                  <a:srgbClr val="BE4141"/>
                </a:solidFill>
                <a:latin typeface="Aptos"/>
              </a:rPr>
              <a:t>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70648" y="2432304"/>
            <a:ext cx="3794760" cy="576072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25512" y="2551176"/>
            <a:ext cx="368503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19" b="0">
                <a:solidFill>
                  <a:srgbClr val="1F2834"/>
                </a:solidFill>
                <a:latin typeface="Aptos"/>
              </a:rPr>
              <a:t>Full validation + frequent monitoring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054096"/>
            <a:ext cx="1828800" cy="576072"/>
          </a:xfrm>
          <a:prstGeom prst="rect">
            <a:avLst/>
          </a:prstGeom>
          <a:solidFill>
            <a:srgbClr val="F4F7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" y="3172968"/>
            <a:ext cx="171907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19" b="1">
                <a:solidFill>
                  <a:srgbClr val="1F2834"/>
                </a:solidFill>
                <a:latin typeface="Aptos"/>
              </a:rPr>
              <a:t>Collections score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95728" y="3054096"/>
            <a:ext cx="2468880" cy="576072"/>
          </a:xfrm>
          <a:prstGeom prst="rect">
            <a:avLst/>
          </a:prstGeom>
          <a:solidFill>
            <a:srgbClr val="F4F7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450592" y="3172968"/>
            <a:ext cx="235915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19" b="0">
                <a:solidFill>
                  <a:srgbClr val="1F2834"/>
                </a:solidFill>
                <a:latin typeface="Aptos"/>
              </a:rPr>
              <a:t>Collections prioritization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64608" y="3054096"/>
            <a:ext cx="1508760" cy="576072"/>
          </a:xfrm>
          <a:prstGeom prst="rect">
            <a:avLst/>
          </a:prstGeom>
          <a:solidFill>
            <a:srgbClr val="F4F7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19472" y="3172968"/>
            <a:ext cx="1399031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19" b="0">
                <a:solidFill>
                  <a:srgbClr val="1F2834"/>
                </a:solidFill>
                <a:latin typeface="Aptos"/>
              </a:rPr>
              <a:t>Medium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73368" y="3054096"/>
            <a:ext cx="1097280" cy="576072"/>
          </a:xfrm>
          <a:prstGeom prst="rect">
            <a:avLst/>
          </a:prstGeom>
          <a:solidFill>
            <a:srgbClr val="F4F7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28232" y="3172968"/>
            <a:ext cx="98755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19" b="1">
                <a:solidFill>
                  <a:srgbClr val="CD9D37"/>
                </a:solidFill>
                <a:latin typeface="Aptos"/>
              </a:rPr>
              <a:t>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70648" y="3054096"/>
            <a:ext cx="3794760" cy="576072"/>
          </a:xfrm>
          <a:prstGeom prst="rect">
            <a:avLst/>
          </a:prstGeom>
          <a:solidFill>
            <a:srgbClr val="F4F7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25512" y="3172968"/>
            <a:ext cx="368503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19" b="0">
                <a:solidFill>
                  <a:srgbClr val="1F2834"/>
                </a:solidFill>
                <a:latin typeface="Aptos"/>
              </a:rPr>
              <a:t>Standard validation + monitoring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3675888"/>
            <a:ext cx="1828800" cy="576072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1792" y="3794760"/>
            <a:ext cx="171907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19" b="1">
                <a:solidFill>
                  <a:srgbClr val="1F2834"/>
                </a:solidFill>
                <a:latin typeface="Aptos"/>
              </a:rPr>
              <a:t>Branch forecast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395728" y="3675888"/>
            <a:ext cx="2468880" cy="576072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450592" y="3794760"/>
            <a:ext cx="235915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19" b="0">
                <a:solidFill>
                  <a:srgbClr val="1F2834"/>
                </a:solidFill>
                <a:latin typeface="Aptos"/>
              </a:rPr>
              <a:t>Planning support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864608" y="3675888"/>
            <a:ext cx="1508760" cy="576072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19472" y="3794760"/>
            <a:ext cx="1399031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19" b="0">
                <a:solidFill>
                  <a:srgbClr val="1F2834"/>
                </a:solidFill>
                <a:latin typeface="Aptos"/>
              </a:rPr>
              <a:t>Low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73368" y="3675888"/>
            <a:ext cx="1097280" cy="576072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28232" y="3794760"/>
            <a:ext cx="98755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19" b="1">
                <a:solidFill>
                  <a:srgbClr val="CD9D37"/>
                </a:solidFill>
                <a:latin typeface="Aptos"/>
              </a:rPr>
              <a:t>3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70648" y="3675888"/>
            <a:ext cx="3794760" cy="576072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25512" y="3794760"/>
            <a:ext cx="368503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19" b="0">
                <a:solidFill>
                  <a:srgbClr val="1F2834"/>
                </a:solidFill>
                <a:latin typeface="Aptos"/>
              </a:rPr>
              <a:t>Proportionate review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66928" y="4297680"/>
            <a:ext cx="1828800" cy="576072"/>
          </a:xfrm>
          <a:prstGeom prst="rect">
            <a:avLst/>
          </a:prstGeom>
          <a:solidFill>
            <a:srgbClr val="F4F7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1792" y="4416552"/>
            <a:ext cx="171907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19" b="1">
                <a:solidFill>
                  <a:srgbClr val="1F2834"/>
                </a:solidFill>
                <a:latin typeface="Aptos"/>
              </a:rPr>
              <a:t>Pricing model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395728" y="4297680"/>
            <a:ext cx="2468880" cy="576072"/>
          </a:xfrm>
          <a:prstGeom prst="rect">
            <a:avLst/>
          </a:prstGeom>
          <a:solidFill>
            <a:srgbClr val="F4F7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450592" y="4416552"/>
            <a:ext cx="235915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19" b="0">
                <a:solidFill>
                  <a:srgbClr val="1F2834"/>
                </a:solidFill>
                <a:latin typeface="Aptos"/>
              </a:rPr>
              <a:t>Loan pricing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864608" y="4297680"/>
            <a:ext cx="1508760" cy="576072"/>
          </a:xfrm>
          <a:prstGeom prst="rect">
            <a:avLst/>
          </a:prstGeom>
          <a:solidFill>
            <a:srgbClr val="F4F7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919472" y="4416552"/>
            <a:ext cx="1399031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19" b="0">
                <a:solidFill>
                  <a:srgbClr val="1F2834"/>
                </a:solidFill>
                <a:latin typeface="Aptos"/>
              </a:rPr>
              <a:t>High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373368" y="4297680"/>
            <a:ext cx="1097280" cy="576072"/>
          </a:xfrm>
          <a:prstGeom prst="rect">
            <a:avLst/>
          </a:prstGeom>
          <a:solidFill>
            <a:srgbClr val="F4F7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28232" y="4416552"/>
            <a:ext cx="98755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19" b="1">
                <a:solidFill>
                  <a:srgbClr val="BE4141"/>
                </a:solidFill>
                <a:latin typeface="Aptos"/>
              </a:rPr>
              <a:t>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470648" y="4297680"/>
            <a:ext cx="3794760" cy="576072"/>
          </a:xfrm>
          <a:prstGeom prst="rect">
            <a:avLst/>
          </a:prstGeom>
          <a:solidFill>
            <a:srgbClr val="F4F7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25512" y="4416552"/>
            <a:ext cx="368503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19" b="0">
                <a:solidFill>
                  <a:srgbClr val="1F2834"/>
                </a:solidFill>
                <a:latin typeface="Aptos"/>
              </a:rPr>
              <a:t>Independent challenge + strong change control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66928" y="4919472"/>
            <a:ext cx="1828800" cy="576072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21792" y="5038344"/>
            <a:ext cx="171907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19" b="1">
                <a:solidFill>
                  <a:srgbClr val="1F2834"/>
                </a:solidFill>
                <a:latin typeface="Aptos"/>
              </a:rPr>
              <a:t>Fraud model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395728" y="4919472"/>
            <a:ext cx="2468880" cy="576072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450592" y="5038344"/>
            <a:ext cx="235915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19" b="0">
                <a:solidFill>
                  <a:srgbClr val="1F2834"/>
                </a:solidFill>
                <a:latin typeface="Aptos"/>
              </a:rPr>
              <a:t>Transaction screening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864608" y="4919472"/>
            <a:ext cx="1508760" cy="576072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919472" y="5038344"/>
            <a:ext cx="1399031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19" b="0">
                <a:solidFill>
                  <a:srgbClr val="1F2834"/>
                </a:solidFill>
                <a:latin typeface="Aptos"/>
              </a:rPr>
              <a:t>High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373368" y="4919472"/>
            <a:ext cx="1097280" cy="576072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28232" y="5038344"/>
            <a:ext cx="98755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19" b="1">
                <a:solidFill>
                  <a:srgbClr val="BE4141"/>
                </a:solidFill>
                <a:latin typeface="Aptos"/>
              </a:rPr>
              <a:t>1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470648" y="4919472"/>
            <a:ext cx="3794760" cy="576072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525512" y="5038344"/>
            <a:ext cx="368503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19" b="0">
                <a:solidFill>
                  <a:srgbClr val="1F2834"/>
                </a:solidFill>
                <a:latin typeface="Aptos"/>
              </a:rPr>
              <a:t>Continuous monitoring + escalation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58368" y="5715000"/>
            <a:ext cx="1554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009999"/>
                </a:solidFill>
                <a:latin typeface="Aptos"/>
              </a:rPr>
              <a:t>Management implication: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057400" y="5715000"/>
            <a:ext cx="91440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0A182C"/>
                </a:solidFill>
                <a:latin typeface="Aptos"/>
              </a:rPr>
              <a:t>Tiering helps direct scarce validation and governance capacity toward the models where failure matters most.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94360" y="6528816"/>
            <a:ext cx="91440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20" b="1">
                <a:solidFill>
                  <a:srgbClr val="657282"/>
                </a:solidFill>
                <a:latin typeface="Aptos"/>
              </a:rPr>
              <a:t>MODEL INVENTORY • FINDINGS • LIMITATIONS • OVERRIDES • REMEDIATION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50" b="1">
                <a:solidFill>
                  <a:srgbClr val="657282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972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009999"/>
                </a:solidFill>
                <a:latin typeface="Aptos"/>
              </a:rPr>
              <a:t>07 •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0A182C"/>
                </a:solidFill>
                <a:latin typeface="Aptos Display"/>
              </a:rPr>
              <a:t>What are model findings?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61872"/>
            <a:ext cx="106984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0">
                <a:solidFill>
                  <a:srgbClr val="657282"/>
                </a:solidFill>
                <a:latin typeface="Aptos"/>
              </a:rPr>
              <a:t>Findings are identified weaknesses, gaps or observations that require assessment, ownership and—where applicable—remediation.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09928"/>
            <a:ext cx="914400" cy="41148"/>
          </a:xfrm>
          <a:prstGeom prst="rect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2148840"/>
            <a:ext cx="1938528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89304" y="2304288"/>
            <a:ext cx="438912" cy="438912"/>
          </a:xfrm>
          <a:prstGeom prst="ellipse">
            <a:avLst/>
          </a:prstGeom>
          <a:solidFill>
            <a:srgbClr val="2C69B4"/>
          </a:solidFill>
          <a:ln>
            <a:solidFill>
              <a:srgbClr val="2C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9304" y="2422794"/>
            <a:ext cx="438912" cy="19751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2816352"/>
            <a:ext cx="171907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50" b="1">
                <a:solidFill>
                  <a:srgbClr val="0A182C"/>
                </a:solidFill>
                <a:latin typeface="Aptos"/>
              </a:rPr>
              <a:t>IDENTIFY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3127248"/>
            <a:ext cx="171907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80" b="0">
                <a:solidFill>
                  <a:srgbClr val="1F2834"/>
                </a:solidFill>
                <a:latin typeface="Aptos"/>
              </a:rPr>
              <a:t>Evidence shows a gap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05456" y="2852928"/>
            <a:ext cx="283464" cy="0"/>
          </a:xfrm>
          <a:prstGeom prst="line">
            <a:avLst/>
          </a:prstGeom>
          <a:ln w="25400">
            <a:solidFill>
              <a:srgbClr val="D7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34640" y="2148840"/>
            <a:ext cx="1938528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57016" y="2304288"/>
            <a:ext cx="438912" cy="438912"/>
          </a:xfrm>
          <a:prstGeom prst="ellipse">
            <a:avLst/>
          </a:prstGeom>
          <a:solidFill>
            <a:srgbClr val="CD9D37"/>
          </a:solidFill>
          <a:ln>
            <a:solidFill>
              <a:srgbClr val="CD9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57016" y="2422794"/>
            <a:ext cx="438912" cy="19751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44368" y="2816352"/>
            <a:ext cx="171907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50" b="1">
                <a:solidFill>
                  <a:srgbClr val="0A182C"/>
                </a:solidFill>
                <a:latin typeface="Aptos"/>
              </a:rPr>
              <a:t>ASSESS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44368" y="3127248"/>
            <a:ext cx="171907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80" b="0">
                <a:solidFill>
                  <a:srgbClr val="1F2834"/>
                </a:solidFill>
                <a:latin typeface="Aptos"/>
              </a:rPr>
              <a:t>Understand severity &amp; root cause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773168" y="2852928"/>
            <a:ext cx="283464" cy="0"/>
          </a:xfrm>
          <a:prstGeom prst="line">
            <a:avLst/>
          </a:prstGeom>
          <a:ln w="25400">
            <a:solidFill>
              <a:srgbClr val="D7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102352" y="2148840"/>
            <a:ext cx="1938528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824728" y="2304288"/>
            <a:ext cx="438912" cy="438912"/>
          </a:xfrm>
          <a:prstGeom prst="ellipse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24728" y="2422794"/>
            <a:ext cx="438912" cy="19751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2816352"/>
            <a:ext cx="171907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50" b="1">
                <a:solidFill>
                  <a:srgbClr val="0A182C"/>
                </a:solidFill>
                <a:latin typeface="Aptos"/>
              </a:rPr>
              <a:t>ASSIGN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3127248"/>
            <a:ext cx="171907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80" b="0">
                <a:solidFill>
                  <a:srgbClr val="1F2834"/>
                </a:solidFill>
                <a:latin typeface="Aptos"/>
              </a:rPr>
              <a:t>Name an accountable owner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040880" y="2852928"/>
            <a:ext cx="283464" cy="0"/>
          </a:xfrm>
          <a:prstGeom prst="line">
            <a:avLst/>
          </a:prstGeom>
          <a:ln w="25400">
            <a:solidFill>
              <a:srgbClr val="D7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370063" y="2148840"/>
            <a:ext cx="1938528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092439" y="2304288"/>
            <a:ext cx="438912" cy="438912"/>
          </a:xfrm>
          <a:prstGeom prst="ellipse">
            <a:avLst/>
          </a:prstGeom>
          <a:solidFill>
            <a:srgbClr val="369161"/>
          </a:solidFill>
          <a:ln>
            <a:solidFill>
              <a:srgbClr val="369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92439" y="2422794"/>
            <a:ext cx="438912" cy="19751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79791" y="2816352"/>
            <a:ext cx="171907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50" b="1">
                <a:solidFill>
                  <a:srgbClr val="0A182C"/>
                </a:solidFill>
                <a:latin typeface="Aptos"/>
              </a:rPr>
              <a:t>REMEDIATE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79791" y="3127248"/>
            <a:ext cx="171907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80" b="0">
                <a:solidFill>
                  <a:srgbClr val="1F2834"/>
                </a:solidFill>
                <a:latin typeface="Aptos"/>
              </a:rPr>
              <a:t>Fix or mitigate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308592" y="2852928"/>
            <a:ext cx="283463" cy="0"/>
          </a:xfrm>
          <a:prstGeom prst="line">
            <a:avLst/>
          </a:prstGeom>
          <a:ln w="25400">
            <a:solidFill>
              <a:srgbClr val="D7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37776" y="2148840"/>
            <a:ext cx="1938528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360151" y="2304288"/>
            <a:ext cx="438912" cy="438912"/>
          </a:xfrm>
          <a:prstGeom prst="ellipse">
            <a:avLst/>
          </a:prstGeom>
          <a:solidFill>
            <a:srgbClr val="BE4141"/>
          </a:solidFill>
          <a:ln>
            <a:solidFill>
              <a:srgbClr val="BE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360151" y="2422794"/>
            <a:ext cx="438912" cy="19751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3" y="2816352"/>
            <a:ext cx="171907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50" b="1">
                <a:solidFill>
                  <a:srgbClr val="0A182C"/>
                </a:solidFill>
                <a:latin typeface="Aptos"/>
              </a:rPr>
              <a:t>VERIFY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47503" y="3127248"/>
            <a:ext cx="171907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80" b="0">
                <a:solidFill>
                  <a:srgbClr val="1F2834"/>
                </a:solidFill>
                <a:latin typeface="Aptos"/>
              </a:rPr>
              <a:t>Confirm closure evidence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5800" y="4160520"/>
            <a:ext cx="3337560" cy="1234440"/>
          </a:xfrm>
          <a:prstGeom prst="roundRect">
            <a:avLst/>
          </a:prstGeom>
          <a:solidFill>
            <a:srgbClr val="FBEDED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85800" y="4160520"/>
            <a:ext cx="54864" cy="1234440"/>
          </a:xfrm>
          <a:prstGeom prst="rect">
            <a:avLst/>
          </a:prstGeom>
          <a:solidFill>
            <a:srgbClr val="BE4141"/>
          </a:solidFill>
          <a:ln>
            <a:solidFill>
              <a:srgbClr val="BE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0392" y="4297680"/>
            <a:ext cx="30175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0A182C"/>
                </a:solidFill>
                <a:latin typeface="Aptos"/>
              </a:rPr>
              <a:t>Example finding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0392" y="4690872"/>
            <a:ext cx="3017520" cy="6126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1F2834"/>
                </a:solidFill>
                <a:latin typeface="Aptos"/>
              </a:rPr>
              <a:t>Validation evidence does not demonstrate stability across the current portfolio.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407408" y="4160520"/>
            <a:ext cx="3337560" cy="1234440"/>
          </a:xfrm>
          <a:prstGeom prst="roundRect">
            <a:avLst/>
          </a:prstGeom>
          <a:solidFill>
            <a:srgbClr val="F9F2E0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407408" y="4160520"/>
            <a:ext cx="54864" cy="1234440"/>
          </a:xfrm>
          <a:prstGeom prst="rect">
            <a:avLst/>
          </a:prstGeom>
          <a:solidFill>
            <a:srgbClr val="CD9D37"/>
          </a:solidFill>
          <a:ln>
            <a:solidFill>
              <a:srgbClr val="CD9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0" y="4297680"/>
            <a:ext cx="30175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0A182C"/>
                </a:solidFill>
                <a:latin typeface="Aptos"/>
              </a:rPr>
              <a:t>Why it matters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0" y="4690872"/>
            <a:ext cx="3017520" cy="6126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1F2834"/>
                </a:solidFill>
                <a:latin typeface="Aptos"/>
              </a:rPr>
              <a:t>Model output may be less reliable for the current population.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138160" y="4160520"/>
            <a:ext cx="3337560" cy="1234440"/>
          </a:xfrm>
          <a:prstGeom prst="roundRect">
            <a:avLst/>
          </a:prstGeom>
          <a:solidFill>
            <a:srgbClr val="E5F4F3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138160" y="4160520"/>
            <a:ext cx="54864" cy="1234440"/>
          </a:xfrm>
          <a:prstGeom prst="rect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02752" y="4297680"/>
            <a:ext cx="30175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0A182C"/>
                </a:solidFill>
                <a:latin typeface="Aptos"/>
              </a:rPr>
              <a:t>Expected response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02752" y="4690872"/>
            <a:ext cx="3017520" cy="6126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1F2834"/>
                </a:solidFill>
                <a:latin typeface="Aptos"/>
              </a:rPr>
              <a:t>Investigate, document, assign, remediate and verify.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4360" y="6528816"/>
            <a:ext cx="91440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20" b="1">
                <a:solidFill>
                  <a:srgbClr val="657282"/>
                </a:solidFill>
                <a:latin typeface="Aptos"/>
              </a:rPr>
              <a:t>MODEL INVENTORY • FINDINGS • LIMITATIONS • OVERRIDES • REMEDIATION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50" b="1">
                <a:solidFill>
                  <a:srgbClr val="657282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972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009999"/>
                </a:solidFill>
                <a:latin typeface="Aptos"/>
              </a:rPr>
              <a:t>08 •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0A182C"/>
                </a:solidFill>
                <a:latin typeface="Aptos Display"/>
              </a:rPr>
              <a:t>Model limitations: what the model cannot reliably tell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61872"/>
            <a:ext cx="106984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0">
                <a:solidFill>
                  <a:srgbClr val="657282"/>
                </a:solidFill>
                <a:latin typeface="Aptos"/>
              </a:rPr>
              <a:t>A limitation is not automatically a model failure—it is a boundary that users and governance must understand.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09928"/>
            <a:ext cx="914400" cy="41148"/>
          </a:xfrm>
          <a:prstGeom prst="rect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993392"/>
            <a:ext cx="5166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993392"/>
            <a:ext cx="54864" cy="1143000"/>
          </a:xfrm>
          <a:prstGeom prst="rect">
            <a:avLst/>
          </a:prstGeom>
          <a:solidFill>
            <a:srgbClr val="2C69B4"/>
          </a:solidFill>
          <a:ln>
            <a:solidFill>
              <a:srgbClr val="2C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2130552"/>
            <a:ext cx="48463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0A182C"/>
                </a:solidFill>
                <a:latin typeface="Aptos"/>
              </a:rPr>
              <a:t>Data 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523744"/>
            <a:ext cx="4846320" cy="52120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1F2834"/>
                </a:solidFill>
                <a:latin typeface="Aptos"/>
              </a:rPr>
              <a:t>Sparse data, missing variables, measurement error or limited representativeness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81928" y="1993392"/>
            <a:ext cx="5166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81928" y="1993392"/>
            <a:ext cx="54864" cy="1143000"/>
          </a:xfrm>
          <a:prstGeom prst="rect">
            <a:avLst/>
          </a:prstGeom>
          <a:solidFill>
            <a:srgbClr val="CD9D37"/>
          </a:solidFill>
          <a:ln>
            <a:solidFill>
              <a:srgbClr val="CD9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130552"/>
            <a:ext cx="48463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0A182C"/>
                </a:solidFill>
                <a:latin typeface="Aptos"/>
              </a:rPr>
              <a:t>Methodology limitations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523744"/>
            <a:ext cx="4846320" cy="52120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1F2834"/>
                </a:solidFill>
                <a:latin typeface="Aptos"/>
              </a:rPr>
              <a:t>Assumptions or functional form may not capture all relevant behaviour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410712"/>
            <a:ext cx="5166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3410712"/>
            <a:ext cx="54864" cy="1143000"/>
          </a:xfrm>
          <a:prstGeom prst="rect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" y="3547872"/>
            <a:ext cx="48463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0A182C"/>
                </a:solidFill>
                <a:latin typeface="Aptos"/>
              </a:rPr>
              <a:t>Population limitations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3941064"/>
            <a:ext cx="4846320" cy="52120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1F2834"/>
                </a:solidFill>
                <a:latin typeface="Aptos"/>
              </a:rPr>
              <a:t>Performance may differ for segments outside development scope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81928" y="3410712"/>
            <a:ext cx="5166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81928" y="3410712"/>
            <a:ext cx="54864" cy="1143000"/>
          </a:xfrm>
          <a:prstGeom prst="rect">
            <a:avLst/>
          </a:prstGeom>
          <a:solidFill>
            <a:srgbClr val="BE4141"/>
          </a:solidFill>
          <a:ln>
            <a:solidFill>
              <a:srgbClr val="BE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547872"/>
            <a:ext cx="48463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0A182C"/>
                </a:solidFill>
                <a:latin typeface="Aptos"/>
              </a:rPr>
              <a:t>Temporal limitations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941064"/>
            <a:ext cx="4846320" cy="52120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1F2834"/>
                </a:solidFill>
                <a:latin typeface="Aptos"/>
              </a:rPr>
              <a:t>Past relationships may weaken when the environment changes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074920"/>
            <a:ext cx="10744200" cy="822960"/>
          </a:xfrm>
          <a:prstGeom prst="roundRect">
            <a:avLst/>
          </a:prstGeom>
          <a:solidFill>
            <a:srgbClr val="E7EFF9"/>
          </a:solidFill>
          <a:ln>
            <a:solidFill>
              <a:srgbClr val="E7E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21808"/>
            <a:ext cx="102870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0A182C"/>
                </a:solidFill>
                <a:latin typeface="Aptos"/>
              </a:rPr>
              <a:t>GOOD GOVERNANCE = LIMITATION IDENTIFIED + USER AWARENESS + CONTROL / MITIGATION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989320"/>
            <a:ext cx="10287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80" b="0">
                <a:solidFill>
                  <a:srgbClr val="657282"/>
                </a:solidFill>
                <a:latin typeface="Aptos"/>
              </a:rPr>
              <a:t>Example: a model may be acceptable for prime borrowers but require caution for thin-file customers.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28816"/>
            <a:ext cx="91440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20" b="1">
                <a:solidFill>
                  <a:srgbClr val="657282"/>
                </a:solidFill>
                <a:latin typeface="Aptos"/>
              </a:rPr>
              <a:t>MODEL INVENTORY • FINDINGS • LIMITATIONS • OVERRIDES • REMEDIATION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50" b="1">
                <a:solidFill>
                  <a:srgbClr val="657282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972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009999"/>
                </a:solidFill>
                <a:latin typeface="Aptos"/>
              </a:rPr>
              <a:t>09 • OVERRIDES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0A182C"/>
                </a:solidFill>
                <a:latin typeface="Aptos Display"/>
              </a:rPr>
              <a:t>Model overrides: when humans change the model's 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61872"/>
            <a:ext cx="106984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0">
                <a:solidFill>
                  <a:srgbClr val="657282"/>
                </a:solidFill>
                <a:latin typeface="Aptos"/>
              </a:rPr>
              <a:t>Overrides can be valuable expert judgement—but unexplained or excessive overrides can become a model-risk signal.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09928"/>
            <a:ext cx="914400" cy="41148"/>
          </a:xfrm>
          <a:prstGeom prst="rect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993392"/>
            <a:ext cx="2423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21488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100" b="1">
                <a:solidFill>
                  <a:srgbClr val="2C69B4"/>
                </a:solidFill>
                <a:latin typeface="Aptos"/>
              </a:rPr>
              <a:t>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96312"/>
            <a:ext cx="214884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19" b="1">
                <a:solidFill>
                  <a:srgbClr val="657282"/>
                </a:solidFill>
                <a:latin typeface="Aptos"/>
              </a:rPr>
              <a:t>Illustrative override rate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993392"/>
            <a:ext cx="2423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2103120"/>
            <a:ext cx="21488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100" b="1">
                <a:solidFill>
                  <a:srgbClr val="CD9D37"/>
                </a:solidFill>
                <a:latin typeface="Aptos"/>
              </a:rPr>
              <a:t>15%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496312"/>
            <a:ext cx="214884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19" b="1">
                <a:solidFill>
                  <a:srgbClr val="657282"/>
                </a:solidFill>
                <a:latin typeface="Aptos"/>
              </a:rPr>
              <a:t>Escalation threshold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1993392"/>
            <a:ext cx="2423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2103120"/>
            <a:ext cx="21488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100" b="1">
                <a:solidFill>
                  <a:srgbClr val="BE4141"/>
                </a:solidFill>
                <a:latin typeface="Aptos"/>
              </a:rPr>
              <a:t>+7 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496312"/>
            <a:ext cx="214884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19" b="1">
                <a:solidFill>
                  <a:srgbClr val="657282"/>
                </a:solidFill>
                <a:latin typeface="Aptos"/>
              </a:rPr>
              <a:t>Gap requiring review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41080" y="1993392"/>
            <a:ext cx="2423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0" y="2103120"/>
            <a:ext cx="21488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100" b="1">
                <a:solidFill>
                  <a:srgbClr val="009999"/>
                </a:solidFill>
                <a:latin typeface="Aptos"/>
              </a:rPr>
              <a:t>2×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2496312"/>
            <a:ext cx="214884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19" b="1">
                <a:solidFill>
                  <a:srgbClr val="657282"/>
                </a:solidFill>
                <a:latin typeface="Aptos"/>
              </a:rPr>
              <a:t>Illustrative segment increase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429000"/>
            <a:ext cx="1554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0A182C"/>
                </a:solidFill>
                <a:latin typeface="Aptos"/>
              </a:rPr>
              <a:t>MODEL SCORE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06040" y="3310128"/>
            <a:ext cx="1920240" cy="658368"/>
          </a:xfrm>
          <a:prstGeom prst="rect">
            <a:avLst/>
          </a:prstGeom>
          <a:solidFill>
            <a:srgbClr val="E7EFF9"/>
          </a:solidFill>
          <a:ln>
            <a:solidFill>
              <a:srgbClr val="E7E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97480" y="3511296"/>
            <a:ext cx="17373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2C69B4"/>
                </a:solidFill>
                <a:latin typeface="Aptos"/>
              </a:rPr>
              <a:t>Automated decision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20640" y="3310128"/>
            <a:ext cx="1920240" cy="658368"/>
          </a:xfrm>
          <a:prstGeom prst="rect">
            <a:avLst/>
          </a:prstGeom>
          <a:solidFill>
            <a:srgbClr val="F9F2E0"/>
          </a:solidFill>
          <a:ln>
            <a:solidFill>
              <a:srgbClr val="F9F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9" y="3511296"/>
            <a:ext cx="17373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CD9D37"/>
                </a:solidFill>
                <a:latin typeface="Aptos"/>
              </a:rPr>
              <a:t>Human review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26679" y="3310128"/>
            <a:ext cx="1920240" cy="658368"/>
          </a:xfrm>
          <a:prstGeom prst="rect">
            <a:avLst/>
          </a:prstGeom>
          <a:solidFill>
            <a:srgbClr val="E5F4F3"/>
          </a:solidFill>
          <a:ln>
            <a:solidFill>
              <a:srgbClr val="E5F4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18119" y="3511296"/>
            <a:ext cx="17373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009999"/>
                </a:solidFill>
                <a:latin typeface="Aptos"/>
              </a:rPr>
              <a:t>Final decision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526280" y="3639312"/>
            <a:ext cx="594360" cy="0"/>
          </a:xfrm>
          <a:prstGeom prst="line">
            <a:avLst/>
          </a:prstGeom>
          <a:ln w="25400">
            <a:solidFill>
              <a:srgbClr val="D7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040880" y="3639312"/>
            <a:ext cx="685799" cy="0"/>
          </a:xfrm>
          <a:prstGeom prst="line">
            <a:avLst/>
          </a:prstGeom>
          <a:ln w="25400">
            <a:solidFill>
              <a:srgbClr val="D7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85800" y="4434840"/>
            <a:ext cx="52120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85800" y="4434840"/>
            <a:ext cx="54864" cy="1143000"/>
          </a:xfrm>
          <a:prstGeom prst="rect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572000"/>
            <a:ext cx="48920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0A182C"/>
                </a:solidFill>
                <a:latin typeface="Aptos"/>
              </a:rPr>
              <a:t>Healthy override practice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" y="4965192"/>
            <a:ext cx="4892040" cy="52120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1F2834"/>
                </a:solidFill>
                <a:latin typeface="Aptos"/>
              </a:rPr>
              <a:t>Document reason, authority, evidence and outcome; monitor patterns by segment.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72200" y="4434840"/>
            <a:ext cx="52120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72200" y="4434840"/>
            <a:ext cx="54864" cy="1143000"/>
          </a:xfrm>
          <a:prstGeom prst="rect">
            <a:avLst/>
          </a:prstGeom>
          <a:solidFill>
            <a:srgbClr val="BE4141"/>
          </a:solidFill>
          <a:ln>
            <a:solidFill>
              <a:srgbClr val="BE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36792" y="4572000"/>
            <a:ext cx="48920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0A182C"/>
                </a:solidFill>
                <a:latin typeface="Aptos"/>
              </a:rPr>
              <a:t>Red flag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36792" y="4965192"/>
            <a:ext cx="4892040" cy="52120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1F2834"/>
                </a:solidFill>
                <a:latin typeface="Aptos"/>
              </a:rPr>
              <a:t>Override rates spike, cluster in one segment, or consistently move decisions in one direction.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528816"/>
            <a:ext cx="91440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20" b="1">
                <a:solidFill>
                  <a:srgbClr val="657282"/>
                </a:solidFill>
                <a:latin typeface="Aptos"/>
              </a:rPr>
              <a:t>MODEL INVENTORY • FINDINGS • LIMITATIONS • OVERRIDES • REMEDIATION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50" b="1">
                <a:solidFill>
                  <a:srgbClr val="657282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972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009999"/>
                </a:solidFill>
                <a:latin typeface="Aptos"/>
              </a:rPr>
              <a:t>10 • REMEDIATION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0A182C"/>
                </a:solidFill>
                <a:latin typeface="Aptos Display"/>
              </a:rPr>
              <a:t>Model remediation: fixing the problem without losing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61872"/>
            <a:ext cx="106984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0">
                <a:solidFill>
                  <a:srgbClr val="657282"/>
                </a:solidFill>
                <a:latin typeface="Aptos"/>
              </a:rPr>
              <a:t>Remediation should address root cause, business impact, interim controls and evidence of closure.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09928"/>
            <a:ext cx="914400" cy="41148"/>
          </a:xfrm>
          <a:prstGeom prst="rect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2057400"/>
            <a:ext cx="2578608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2057400"/>
            <a:ext cx="54864" cy="2148840"/>
          </a:xfrm>
          <a:prstGeom prst="rect">
            <a:avLst/>
          </a:prstGeom>
          <a:solidFill>
            <a:srgbClr val="BE4141"/>
          </a:solidFill>
          <a:ln>
            <a:solidFill>
              <a:srgbClr val="BE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225856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0A182C"/>
                </a:solidFill>
                <a:latin typeface="Aptos"/>
              </a:rPr>
              <a:t>CONTAIN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87752"/>
            <a:ext cx="2258568" cy="1527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69" b="0">
                <a:solidFill>
                  <a:srgbClr val="1F2834"/>
                </a:solidFill>
                <a:latin typeface="Aptos"/>
              </a:rPr>
              <a:t>Reduce immediate exposure
Temporary usage limits / manual review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2057400"/>
            <a:ext cx="2578608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3280" y="2057400"/>
            <a:ext cx="54864" cy="2148840"/>
          </a:xfrm>
          <a:prstGeom prst="rect">
            <a:avLst/>
          </a:prstGeom>
          <a:solidFill>
            <a:srgbClr val="CD9D37"/>
          </a:solidFill>
          <a:ln>
            <a:solidFill>
              <a:srgbClr val="CD9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47872" y="2194560"/>
            <a:ext cx="225856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0A182C"/>
                </a:solidFill>
                <a:latin typeface="Aptos"/>
              </a:rPr>
              <a:t>DIAGNOSE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7872" y="2587752"/>
            <a:ext cx="2258568" cy="1527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69" b="0">
                <a:solidFill>
                  <a:srgbClr val="1F2834"/>
                </a:solidFill>
                <a:latin typeface="Aptos"/>
              </a:rPr>
              <a:t>Find root cause
Data, code, methodology, implementation or use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2057400"/>
            <a:ext cx="2578608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2057400"/>
            <a:ext cx="54864" cy="2148840"/>
          </a:xfrm>
          <a:prstGeom prst="rect">
            <a:avLst/>
          </a:prstGeom>
          <a:solidFill>
            <a:srgbClr val="2C69B4"/>
          </a:solidFill>
          <a:ln>
            <a:solidFill>
              <a:srgbClr val="2C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4224" y="2194560"/>
            <a:ext cx="225856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0A182C"/>
                </a:solidFill>
                <a:latin typeface="Aptos"/>
              </a:rPr>
              <a:t>FIX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4224" y="2587752"/>
            <a:ext cx="2258568" cy="1527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69" b="0">
                <a:solidFill>
                  <a:srgbClr val="1F2834"/>
                </a:solidFill>
                <a:latin typeface="Aptos"/>
              </a:rPr>
              <a:t>Correct the issue
Recalibrate, redevelop, change process or documentation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15984" y="2057400"/>
            <a:ext cx="2578608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15984" y="2057400"/>
            <a:ext cx="54864" cy="2148840"/>
          </a:xfrm>
          <a:prstGeom prst="rect">
            <a:avLst/>
          </a:prstGeom>
          <a:solidFill>
            <a:srgbClr val="369161"/>
          </a:solidFill>
          <a:ln>
            <a:solidFill>
              <a:srgbClr val="369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0576" y="2194560"/>
            <a:ext cx="225856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0A182C"/>
                </a:solidFill>
                <a:latin typeface="Aptos"/>
              </a:rPr>
              <a:t>VERIFY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0576" y="2587752"/>
            <a:ext cx="2258568" cy="1527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69" b="0">
                <a:solidFill>
                  <a:srgbClr val="1F2834"/>
                </a:solidFill>
                <a:latin typeface="Aptos"/>
              </a:rPr>
              <a:t>Prove the fix works
Testing, validation, approval and closure evidence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617720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009999"/>
                </a:solidFill>
                <a:latin typeface="Aptos"/>
              </a:rPr>
              <a:t>ILLUSTRATIVE REMEDIATION TIMELINE</a:t>
            </a:r>
          </a:p>
        </p:txBody>
      </p:sp>
      <p:sp>
        <p:nvSpPr>
          <p:cNvPr id="23" name="Oval 22"/>
          <p:cNvSpPr/>
          <p:nvPr/>
        </p:nvSpPr>
        <p:spPr>
          <a:xfrm>
            <a:off x="685800" y="5074920"/>
            <a:ext cx="420624" cy="420624"/>
          </a:xfrm>
          <a:prstGeom prst="ellipse">
            <a:avLst/>
          </a:prstGeom>
          <a:solidFill>
            <a:srgbClr val="BE4141"/>
          </a:solidFill>
          <a:ln>
            <a:solidFill>
              <a:srgbClr val="BE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5188488"/>
            <a:ext cx="420624" cy="1892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577840"/>
            <a:ext cx="8229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50" b="1">
                <a:solidFill>
                  <a:srgbClr val="657282"/>
                </a:solidFill>
                <a:latin typeface="Aptos"/>
              </a:rPr>
              <a:t>Day 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39" y="5833872"/>
            <a:ext cx="15544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10" b="1">
                <a:solidFill>
                  <a:srgbClr val="0A182C"/>
                </a:solidFill>
                <a:latin typeface="Aptos"/>
              </a:rPr>
              <a:t>Issue detected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106424" y="5285232"/>
            <a:ext cx="1481328" cy="0"/>
          </a:xfrm>
          <a:prstGeom prst="line">
            <a:avLst/>
          </a:prstGeom>
          <a:ln w="25400">
            <a:solidFill>
              <a:srgbClr val="D7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2834640" y="5074920"/>
            <a:ext cx="420624" cy="420624"/>
          </a:xfrm>
          <a:prstGeom prst="ellipse">
            <a:avLst/>
          </a:prstGeom>
          <a:solidFill>
            <a:srgbClr val="CD9D37"/>
          </a:solidFill>
          <a:ln>
            <a:solidFill>
              <a:srgbClr val="CD9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34640" y="5188488"/>
            <a:ext cx="420624" cy="1892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51760" y="5577840"/>
            <a:ext cx="8229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50" b="1">
                <a:solidFill>
                  <a:srgbClr val="657282"/>
                </a:solidFill>
                <a:latin typeface="Aptos"/>
              </a:rPr>
              <a:t>Day 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5833872"/>
            <a:ext cx="15544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10" b="1">
                <a:solidFill>
                  <a:srgbClr val="0A182C"/>
                </a:solidFill>
                <a:latin typeface="Aptos"/>
              </a:rPr>
              <a:t>Containment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255264" y="5285232"/>
            <a:ext cx="1481328" cy="0"/>
          </a:xfrm>
          <a:prstGeom prst="line">
            <a:avLst/>
          </a:prstGeom>
          <a:ln w="25400">
            <a:solidFill>
              <a:srgbClr val="D7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4983480" y="5074920"/>
            <a:ext cx="420624" cy="420624"/>
          </a:xfrm>
          <a:prstGeom prst="ellipse">
            <a:avLst/>
          </a:prstGeom>
          <a:solidFill>
            <a:srgbClr val="2C69B4"/>
          </a:solidFill>
          <a:ln>
            <a:solidFill>
              <a:srgbClr val="2C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83480" y="5188488"/>
            <a:ext cx="420624" cy="1892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00600" y="5577840"/>
            <a:ext cx="8229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50" b="1">
                <a:solidFill>
                  <a:srgbClr val="657282"/>
                </a:solidFill>
                <a:latin typeface="Aptos"/>
              </a:rPr>
              <a:t>Day 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89120" y="5833872"/>
            <a:ext cx="15544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10" b="1">
                <a:solidFill>
                  <a:srgbClr val="0A182C"/>
                </a:solidFill>
                <a:latin typeface="Aptos"/>
              </a:rPr>
              <a:t>Root cause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404104" y="5285232"/>
            <a:ext cx="1481328" cy="0"/>
          </a:xfrm>
          <a:prstGeom prst="line">
            <a:avLst/>
          </a:prstGeom>
          <a:ln w="25400">
            <a:solidFill>
              <a:srgbClr val="D7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7132320" y="5074920"/>
            <a:ext cx="420624" cy="420624"/>
          </a:xfrm>
          <a:prstGeom prst="ellipse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32320" y="5188488"/>
            <a:ext cx="420624" cy="1892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0" y="5577840"/>
            <a:ext cx="8229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50" b="1">
                <a:solidFill>
                  <a:srgbClr val="657282"/>
                </a:solidFill>
                <a:latin typeface="Aptos"/>
              </a:rPr>
              <a:t>Day 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37960" y="5833872"/>
            <a:ext cx="15544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10" b="1">
                <a:solidFill>
                  <a:srgbClr val="0A182C"/>
                </a:solidFill>
                <a:latin typeface="Aptos"/>
              </a:rPr>
              <a:t>Fix tested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552944" y="5285232"/>
            <a:ext cx="1481328" cy="0"/>
          </a:xfrm>
          <a:prstGeom prst="line">
            <a:avLst/>
          </a:prstGeom>
          <a:ln w="25400">
            <a:solidFill>
              <a:srgbClr val="D7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9281160" y="5074920"/>
            <a:ext cx="420624" cy="420624"/>
          </a:xfrm>
          <a:prstGeom prst="ellipse">
            <a:avLst/>
          </a:prstGeom>
          <a:solidFill>
            <a:srgbClr val="369161"/>
          </a:solidFill>
          <a:ln>
            <a:solidFill>
              <a:srgbClr val="369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81160" y="5188488"/>
            <a:ext cx="420624" cy="1892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98280" y="5577840"/>
            <a:ext cx="8229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50" b="1">
                <a:solidFill>
                  <a:srgbClr val="657282"/>
                </a:solidFill>
                <a:latin typeface="Aptos"/>
              </a:rPr>
              <a:t>Day 30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86800" y="5833872"/>
            <a:ext cx="15544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10" b="1">
                <a:solidFill>
                  <a:srgbClr val="0A182C"/>
                </a:solidFill>
                <a:latin typeface="Aptos"/>
              </a:rPr>
              <a:t>Closure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4360" y="6528816"/>
            <a:ext cx="91440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20" b="1">
                <a:solidFill>
                  <a:srgbClr val="657282"/>
                </a:solidFill>
                <a:latin typeface="Aptos"/>
              </a:rPr>
              <a:t>MODEL INVENTORY • FINDINGS • LIMITATIONS • OVERRIDES • REMEDIATION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50" b="1">
                <a:solidFill>
                  <a:srgbClr val="657282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972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009999"/>
                </a:solidFill>
                <a:latin typeface="Aptos"/>
              </a:rPr>
              <a:t>11 • ISSUE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0A182C"/>
                </a:solidFill>
                <a:latin typeface="Aptos Display"/>
              </a:rPr>
              <a:t>Model issue management — complete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61872"/>
            <a:ext cx="106984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0">
                <a:solidFill>
                  <a:srgbClr val="657282"/>
                </a:solidFill>
                <a:latin typeface="Aptos"/>
              </a:rPr>
              <a:t>A finding should move through a controlled workflow from detection to evidence-based closure.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09928"/>
            <a:ext cx="914400" cy="41148"/>
          </a:xfrm>
          <a:prstGeom prst="rect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19" y="2148840"/>
            <a:ext cx="530352" cy="530352"/>
          </a:xfrm>
          <a:prstGeom prst="ellipse">
            <a:avLst/>
          </a:prstGeom>
          <a:solidFill>
            <a:srgbClr val="BE4141"/>
          </a:solidFill>
          <a:ln>
            <a:solidFill>
              <a:srgbClr val="BE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19" y="2292035"/>
            <a:ext cx="530352" cy="23865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2816352"/>
            <a:ext cx="157276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80" b="1">
                <a:solidFill>
                  <a:srgbClr val="0A182C"/>
                </a:solidFill>
                <a:latin typeface="Aptos"/>
              </a:rPr>
              <a:t>Detect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3154680"/>
            <a:ext cx="1572768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40" b="0">
                <a:solidFill>
                  <a:srgbClr val="1F2834"/>
                </a:solidFill>
                <a:latin typeface="Aptos"/>
              </a:rPr>
              <a:t>Finding / limitation / incident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517904" y="2414016"/>
            <a:ext cx="521208" cy="0"/>
          </a:xfrm>
          <a:prstGeom prst="line">
            <a:avLst/>
          </a:prstGeom>
          <a:ln w="22860">
            <a:solidFill>
              <a:srgbClr val="D7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2624327" y="2148840"/>
            <a:ext cx="530352" cy="530352"/>
          </a:xfrm>
          <a:prstGeom prst="ellipse">
            <a:avLst/>
          </a:prstGeom>
          <a:solidFill>
            <a:srgbClr val="2C69B4"/>
          </a:solidFill>
          <a:ln>
            <a:solidFill>
              <a:srgbClr val="2C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24327" y="2292035"/>
            <a:ext cx="530352" cy="23865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2816352"/>
            <a:ext cx="157276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80" b="1">
                <a:solidFill>
                  <a:srgbClr val="0A182C"/>
                </a:solidFill>
                <a:latin typeface="Aptos"/>
              </a:rPr>
              <a:t>Log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3154680"/>
            <a:ext cx="1572768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40" b="0">
                <a:solidFill>
                  <a:srgbClr val="1F2834"/>
                </a:solidFill>
                <a:latin typeface="Aptos"/>
              </a:rPr>
              <a:t>Issue ID, evidence, owner, due date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182111" y="2414016"/>
            <a:ext cx="521209" cy="0"/>
          </a:xfrm>
          <a:prstGeom prst="line">
            <a:avLst/>
          </a:prstGeom>
          <a:ln w="22860">
            <a:solidFill>
              <a:srgbClr val="D7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4288536" y="2148840"/>
            <a:ext cx="530352" cy="530352"/>
          </a:xfrm>
          <a:prstGeom prst="ellipse">
            <a:avLst/>
          </a:prstGeom>
          <a:solidFill>
            <a:srgbClr val="CD9D37"/>
          </a:solidFill>
          <a:ln>
            <a:solidFill>
              <a:srgbClr val="CD9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88536" y="2292035"/>
            <a:ext cx="530352" cy="23865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67328" y="2816352"/>
            <a:ext cx="157276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80" b="1">
                <a:solidFill>
                  <a:srgbClr val="0A182C"/>
                </a:solidFill>
                <a:latin typeface="Aptos"/>
              </a:rPr>
              <a:t>Assess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67328" y="3154680"/>
            <a:ext cx="1572768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40" b="0">
                <a:solidFill>
                  <a:srgbClr val="1F2834"/>
                </a:solidFill>
                <a:latin typeface="Aptos"/>
              </a:rPr>
              <a:t>Severity, materiality, root cause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46320" y="2414016"/>
            <a:ext cx="521208" cy="0"/>
          </a:xfrm>
          <a:prstGeom prst="line">
            <a:avLst/>
          </a:prstGeom>
          <a:ln w="22860">
            <a:solidFill>
              <a:srgbClr val="D7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5952744" y="2148840"/>
            <a:ext cx="530352" cy="530352"/>
          </a:xfrm>
          <a:prstGeom prst="ellipse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52744" y="2292035"/>
            <a:ext cx="530352" cy="23865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31536" y="2816352"/>
            <a:ext cx="157276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80" b="1">
                <a:solidFill>
                  <a:srgbClr val="0A182C"/>
                </a:solidFill>
                <a:latin typeface="Aptos"/>
              </a:rPr>
              <a:t>Decide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31536" y="3154680"/>
            <a:ext cx="1572768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40" b="0">
                <a:solidFill>
                  <a:srgbClr val="1F2834"/>
                </a:solidFill>
                <a:latin typeface="Aptos"/>
              </a:rPr>
              <a:t>Accept, mitigate, remediate or escalate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510527" y="2414016"/>
            <a:ext cx="521209" cy="0"/>
          </a:xfrm>
          <a:prstGeom prst="line">
            <a:avLst/>
          </a:prstGeom>
          <a:ln w="22860">
            <a:solidFill>
              <a:srgbClr val="D7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7616952" y="2148840"/>
            <a:ext cx="530352" cy="530352"/>
          </a:xfrm>
          <a:prstGeom prst="ellipse">
            <a:avLst/>
          </a:prstGeom>
          <a:solidFill>
            <a:srgbClr val="2C69B4"/>
          </a:solidFill>
          <a:ln>
            <a:solidFill>
              <a:srgbClr val="2C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16952" y="2292035"/>
            <a:ext cx="530352" cy="23865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95744" y="2816352"/>
            <a:ext cx="157276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80" b="1">
                <a:solidFill>
                  <a:srgbClr val="0A182C"/>
                </a:solidFill>
                <a:latin typeface="Aptos"/>
              </a:rPr>
              <a:t>Execute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95744" y="3154680"/>
            <a:ext cx="1572768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40" b="0">
                <a:solidFill>
                  <a:srgbClr val="1F2834"/>
                </a:solidFill>
                <a:latin typeface="Aptos"/>
              </a:rPr>
              <a:t>Action plan and milestones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174736" y="2414016"/>
            <a:ext cx="521208" cy="0"/>
          </a:xfrm>
          <a:prstGeom prst="line">
            <a:avLst/>
          </a:prstGeom>
          <a:ln w="22860">
            <a:solidFill>
              <a:srgbClr val="D7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9281160" y="2148840"/>
            <a:ext cx="530352" cy="530352"/>
          </a:xfrm>
          <a:prstGeom prst="ellipse">
            <a:avLst/>
          </a:prstGeom>
          <a:solidFill>
            <a:srgbClr val="369161"/>
          </a:solidFill>
          <a:ln>
            <a:solidFill>
              <a:srgbClr val="369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81160" y="2292035"/>
            <a:ext cx="530352" cy="23865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59952" y="2816352"/>
            <a:ext cx="157276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80" b="1">
                <a:solidFill>
                  <a:srgbClr val="0A182C"/>
                </a:solidFill>
                <a:latin typeface="Aptos"/>
              </a:rPr>
              <a:t>Validate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59952" y="3154680"/>
            <a:ext cx="1572768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40" b="0">
                <a:solidFill>
                  <a:srgbClr val="1F2834"/>
                </a:solidFill>
                <a:latin typeface="Aptos"/>
              </a:rPr>
              <a:t>Independent closure evidence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838944" y="2414016"/>
            <a:ext cx="521208" cy="0"/>
          </a:xfrm>
          <a:prstGeom prst="line">
            <a:avLst/>
          </a:prstGeom>
          <a:ln w="22860">
            <a:solidFill>
              <a:srgbClr val="D7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10945368" y="2148840"/>
            <a:ext cx="530352" cy="530352"/>
          </a:xfrm>
          <a:prstGeom prst="ellipse">
            <a:avLst/>
          </a:prstGeom>
          <a:solidFill>
            <a:srgbClr val="0A182C"/>
          </a:solidFill>
          <a:ln>
            <a:solidFill>
              <a:srgbClr val="0A18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945368" y="2292035"/>
            <a:ext cx="530352" cy="23865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24160" y="2816352"/>
            <a:ext cx="157276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80" b="1">
                <a:solidFill>
                  <a:srgbClr val="0A182C"/>
                </a:solidFill>
                <a:latin typeface="Aptos"/>
              </a:rPr>
              <a:t>Close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24160" y="3154680"/>
            <a:ext cx="1572768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40" b="0">
                <a:solidFill>
                  <a:srgbClr val="1F2834"/>
                </a:solidFill>
                <a:latin typeface="Aptos"/>
              </a:rPr>
              <a:t>Approval, audit trail, lessons learned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5800" y="4251960"/>
            <a:ext cx="1920240" cy="365760"/>
          </a:xfrm>
          <a:prstGeom prst="rect">
            <a:avLst/>
          </a:prstGeom>
          <a:solidFill>
            <a:srgbClr val="0A182C"/>
          </a:solidFill>
          <a:ln>
            <a:solidFill>
              <a:srgbClr val="0A18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4334256"/>
            <a:ext cx="18288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Issue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606040" y="4251960"/>
            <a:ext cx="1371600" cy="365760"/>
          </a:xfrm>
          <a:prstGeom prst="rect">
            <a:avLst/>
          </a:prstGeom>
          <a:solidFill>
            <a:srgbClr val="0A182C"/>
          </a:solidFill>
          <a:ln>
            <a:solidFill>
              <a:srgbClr val="0A18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651760" y="4334256"/>
            <a:ext cx="12801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Severity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977639" y="4251960"/>
            <a:ext cx="2468880" cy="365760"/>
          </a:xfrm>
          <a:prstGeom prst="rect">
            <a:avLst/>
          </a:prstGeom>
          <a:solidFill>
            <a:srgbClr val="0A182C"/>
          </a:solidFill>
          <a:ln>
            <a:solidFill>
              <a:srgbClr val="0A18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023359" y="4334256"/>
            <a:ext cx="23774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Owner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46520" y="4251960"/>
            <a:ext cx="1371600" cy="365760"/>
          </a:xfrm>
          <a:prstGeom prst="rect">
            <a:avLst/>
          </a:prstGeom>
          <a:solidFill>
            <a:srgbClr val="0A182C"/>
          </a:solidFill>
          <a:ln>
            <a:solidFill>
              <a:srgbClr val="0A18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92240" y="4334256"/>
            <a:ext cx="12801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Due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818120" y="4251960"/>
            <a:ext cx="1920240" cy="365760"/>
          </a:xfrm>
          <a:prstGeom prst="rect">
            <a:avLst/>
          </a:prstGeom>
          <a:solidFill>
            <a:srgbClr val="0A182C"/>
          </a:solidFill>
          <a:ln>
            <a:solidFill>
              <a:srgbClr val="0A18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863840" y="4334256"/>
            <a:ext cx="18288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Status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85800" y="4617720"/>
            <a:ext cx="1920240" cy="402336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31520" y="4709160"/>
            <a:ext cx="18288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80" b="1">
                <a:solidFill>
                  <a:srgbClr val="1F2834"/>
                </a:solidFill>
                <a:latin typeface="Aptos"/>
              </a:rPr>
              <a:t>MR-024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606040" y="4617720"/>
            <a:ext cx="1371600" cy="402336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651760" y="4709160"/>
            <a:ext cx="12801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80" b="1">
                <a:solidFill>
                  <a:srgbClr val="BE4141"/>
                </a:solidFill>
                <a:latin typeface="Aptos"/>
              </a:rPr>
              <a:t>High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977639" y="4617720"/>
            <a:ext cx="2468880" cy="402336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023359" y="4709160"/>
            <a:ext cx="23774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80" b="0">
                <a:solidFill>
                  <a:srgbClr val="1F2834"/>
                </a:solidFill>
                <a:latin typeface="Aptos"/>
              </a:rPr>
              <a:t>Model Owner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446520" y="4617720"/>
            <a:ext cx="1371600" cy="402336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92240" y="4709160"/>
            <a:ext cx="12801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80" b="0">
                <a:solidFill>
                  <a:srgbClr val="1F2834"/>
                </a:solidFill>
                <a:latin typeface="Aptos"/>
              </a:rPr>
              <a:t>30 Sep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818120" y="4617720"/>
            <a:ext cx="1920240" cy="402336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863840" y="4709160"/>
            <a:ext cx="18288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80" b="0">
                <a:solidFill>
                  <a:srgbClr val="1F2834"/>
                </a:solidFill>
                <a:latin typeface="Aptos"/>
              </a:rPr>
              <a:t>In remediation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85800" y="5056632"/>
            <a:ext cx="1920240" cy="402336"/>
          </a:xfrm>
          <a:prstGeom prst="rect">
            <a:avLst/>
          </a:prstGeom>
          <a:solidFill>
            <a:srgbClr val="F4F7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31520" y="5148072"/>
            <a:ext cx="18288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80" b="1">
                <a:solidFill>
                  <a:srgbClr val="1F2834"/>
                </a:solidFill>
                <a:latin typeface="Aptos"/>
              </a:rPr>
              <a:t>MR-031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606040" y="5056632"/>
            <a:ext cx="1371600" cy="402336"/>
          </a:xfrm>
          <a:prstGeom prst="rect">
            <a:avLst/>
          </a:prstGeom>
          <a:solidFill>
            <a:srgbClr val="F4F7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651760" y="5148072"/>
            <a:ext cx="12801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80" b="1">
                <a:solidFill>
                  <a:srgbClr val="1F2834"/>
                </a:solidFill>
                <a:latin typeface="Aptos"/>
              </a:rPr>
              <a:t>Medium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977639" y="5056632"/>
            <a:ext cx="2468880" cy="402336"/>
          </a:xfrm>
          <a:prstGeom prst="rect">
            <a:avLst/>
          </a:prstGeom>
          <a:solidFill>
            <a:srgbClr val="F4F7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023359" y="5148072"/>
            <a:ext cx="23774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80" b="0">
                <a:solidFill>
                  <a:srgbClr val="1F2834"/>
                </a:solidFill>
                <a:latin typeface="Aptos"/>
              </a:rPr>
              <a:t>Developer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446520" y="5056632"/>
            <a:ext cx="1371600" cy="402336"/>
          </a:xfrm>
          <a:prstGeom prst="rect">
            <a:avLst/>
          </a:prstGeom>
          <a:solidFill>
            <a:srgbClr val="F4F7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492240" y="5148072"/>
            <a:ext cx="12801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80" b="0">
                <a:solidFill>
                  <a:srgbClr val="1F2834"/>
                </a:solidFill>
                <a:latin typeface="Aptos"/>
              </a:rPr>
              <a:t>15 Oct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818120" y="5056632"/>
            <a:ext cx="1920240" cy="402336"/>
          </a:xfrm>
          <a:prstGeom prst="rect">
            <a:avLst/>
          </a:prstGeom>
          <a:solidFill>
            <a:srgbClr val="F4F7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863840" y="5148072"/>
            <a:ext cx="18288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80" b="0">
                <a:solidFill>
                  <a:srgbClr val="1F2834"/>
                </a:solidFill>
                <a:latin typeface="Aptos"/>
              </a:rPr>
              <a:t>Root cause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85800" y="5495544"/>
            <a:ext cx="1920240" cy="402336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31520" y="5586984"/>
            <a:ext cx="18288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80" b="1">
                <a:solidFill>
                  <a:srgbClr val="1F2834"/>
                </a:solidFill>
                <a:latin typeface="Aptos"/>
              </a:rPr>
              <a:t>MR-044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606040" y="5495544"/>
            <a:ext cx="1371600" cy="402336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651760" y="5586984"/>
            <a:ext cx="12801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80" b="1">
                <a:solidFill>
                  <a:srgbClr val="1F2834"/>
                </a:solidFill>
                <a:latin typeface="Aptos"/>
              </a:rPr>
              <a:t>Low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977639" y="5495544"/>
            <a:ext cx="2468880" cy="402336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023359" y="5586984"/>
            <a:ext cx="23774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80" b="0">
                <a:solidFill>
                  <a:srgbClr val="1F2834"/>
                </a:solidFill>
                <a:latin typeface="Aptos"/>
              </a:rPr>
              <a:t>Business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446520" y="5495544"/>
            <a:ext cx="1371600" cy="402336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492240" y="5586984"/>
            <a:ext cx="12801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80" b="0">
                <a:solidFill>
                  <a:srgbClr val="1F2834"/>
                </a:solidFill>
                <a:latin typeface="Aptos"/>
              </a:rPr>
              <a:t>31 Oct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818120" y="5495544"/>
            <a:ext cx="1920240" cy="402336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863840" y="5586984"/>
            <a:ext cx="18288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80" b="0">
                <a:solidFill>
                  <a:srgbClr val="1F2834"/>
                </a:solidFill>
                <a:latin typeface="Aptos"/>
              </a:rPr>
              <a:t>Monitoring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94360" y="6528816"/>
            <a:ext cx="91440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20" b="1">
                <a:solidFill>
                  <a:srgbClr val="657282"/>
                </a:solidFill>
                <a:latin typeface="Aptos"/>
              </a:rPr>
              <a:t>MODEL INVENTORY • FINDINGS • LIMITATIONS • OVERRIDES • REMEDIATION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50" b="1">
                <a:solidFill>
                  <a:srgbClr val="657282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972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009999"/>
                </a:solidFill>
                <a:latin typeface="Aptos"/>
              </a:rPr>
              <a:t>12 • CASE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0A182C"/>
                </a:solidFill>
                <a:latin typeface="Aptos Display"/>
              </a:rPr>
              <a:t>Case study 1: materiality changes the control response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61872"/>
            <a:ext cx="106984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0">
                <a:solidFill>
                  <a:srgbClr val="657282"/>
                </a:solidFill>
                <a:latin typeface="Aptos"/>
              </a:rPr>
              <a:t>Illustrative banking case — the same technical finding can demand different action depending on the model's materiality.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09928"/>
            <a:ext cx="914400" cy="41148"/>
          </a:xfrm>
          <a:prstGeom prst="rect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2011680"/>
            <a:ext cx="498348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011680"/>
            <a:ext cx="54864" cy="3246120"/>
          </a:xfrm>
          <a:prstGeom prst="rect">
            <a:avLst/>
          </a:prstGeom>
          <a:solidFill>
            <a:srgbClr val="2C69B4"/>
          </a:solidFill>
          <a:ln>
            <a:solidFill>
              <a:srgbClr val="2C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148840"/>
            <a:ext cx="46634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0A182C"/>
                </a:solidFill>
                <a:latin typeface="Aptos"/>
              </a:rPr>
              <a:t>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542032"/>
            <a:ext cx="4663440" cy="262432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0">
                <a:solidFill>
                  <a:srgbClr val="1F2834"/>
                </a:solidFill>
                <a:latin typeface="Aptos"/>
              </a:rPr>
              <a:t>Two models show the same validation finding: performance is unstable for a small customer segment.
Model A supports an internal planning dashboard.
Model B drives retail credit approvals.
The technical observation is similar, but the business consequence is very different.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2606040"/>
            <a:ext cx="52578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80" y="2606040"/>
            <a:ext cx="54864" cy="1051560"/>
          </a:xfrm>
          <a:prstGeom prst="rect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1072" y="2743200"/>
            <a:ext cx="49377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0A182C"/>
                </a:solidFill>
                <a:latin typeface="Aptos"/>
              </a:rPr>
              <a:t>Model A • Lower materiality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91072" y="3136392"/>
            <a:ext cx="4937760" cy="42976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1F2834"/>
                </a:solidFill>
                <a:latin typeface="Aptos"/>
              </a:rPr>
              <a:t>Document limitation, monitor and schedule proportionate remediation.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931920"/>
            <a:ext cx="52578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3931920"/>
            <a:ext cx="54864" cy="1051560"/>
          </a:xfrm>
          <a:prstGeom prst="rect">
            <a:avLst/>
          </a:prstGeom>
          <a:solidFill>
            <a:srgbClr val="BE4141"/>
          </a:solidFill>
          <a:ln>
            <a:solidFill>
              <a:srgbClr val="BE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91072" y="4069080"/>
            <a:ext cx="49377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0A182C"/>
                </a:solidFill>
                <a:latin typeface="Aptos"/>
              </a:rPr>
              <a:t>Model B • Higher materiality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91072" y="4462272"/>
            <a:ext cx="4937760" cy="42976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1F2834"/>
                </a:solidFill>
                <a:latin typeface="Aptos"/>
              </a:rPr>
              <a:t>Contain exposure, assess impact, remediate and consider revalidation before continued reliance.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31720" y="5715000"/>
            <a:ext cx="7589520" cy="310896"/>
          </a:xfrm>
          <a:prstGeom prst="roundRect">
            <a:avLst/>
          </a:prstGeom>
          <a:solidFill>
            <a:srgbClr val="F9F2E0"/>
          </a:solidFill>
          <a:ln>
            <a:solidFill>
              <a:srgbClr val="F9F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68296" y="5765292"/>
            <a:ext cx="75163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19" b="1">
                <a:solidFill>
                  <a:srgbClr val="CD9D37"/>
                </a:solidFill>
                <a:latin typeface="Aptos"/>
              </a:rPr>
              <a:t>Materiality changes the urgency—not the evidence standard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28816"/>
            <a:ext cx="91440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20" b="1">
                <a:solidFill>
                  <a:srgbClr val="657282"/>
                </a:solidFill>
                <a:latin typeface="Aptos"/>
              </a:rPr>
              <a:t>MODEL INVENTORY • FINDINGS • LIMITATIONS • OVERRIDES • REMEDIATION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50" b="1">
                <a:solidFill>
                  <a:srgbClr val="657282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972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009999"/>
                </a:solidFill>
                <a:latin typeface="Aptos"/>
              </a:rPr>
              <a:t>13 • CASE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0A182C"/>
                </a:solidFill>
                <a:latin typeface="Aptos Display"/>
              </a:rPr>
              <a:t>Case study 2: override spike as an early warning signal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61872"/>
            <a:ext cx="106984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0">
                <a:solidFill>
                  <a:srgbClr val="657282"/>
                </a:solidFill>
                <a:latin typeface="Aptos"/>
              </a:rPr>
              <a:t>Illustrative lending example — use override behaviour to detect a mismatch between model output and business judgement.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09928"/>
            <a:ext cx="914400" cy="41148"/>
          </a:xfrm>
          <a:prstGeom prst="rect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1828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0A182C"/>
                </a:solidFill>
                <a:latin typeface="Aptos"/>
              </a:rPr>
              <a:t>Override rate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" y="4233672"/>
            <a:ext cx="438912" cy="658368"/>
          </a:xfrm>
          <a:prstGeom prst="rect">
            <a:avLst/>
          </a:prstGeom>
          <a:solidFill>
            <a:srgbClr val="2C69B4"/>
          </a:solidFill>
          <a:ln>
            <a:solidFill>
              <a:srgbClr val="2C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074920"/>
            <a:ext cx="53035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30" b="1">
                <a:solidFill>
                  <a:srgbClr val="657282"/>
                </a:solidFill>
                <a:latin typeface="Aptos"/>
              </a:rPr>
              <a:t>M1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4005072"/>
            <a:ext cx="56692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30" b="1">
                <a:solidFill>
                  <a:srgbClr val="2C69B4"/>
                </a:solidFill>
                <a:latin typeface="Aptos"/>
              </a:rPr>
              <a:t>6%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09928" y="4123944"/>
            <a:ext cx="438912" cy="768096"/>
          </a:xfrm>
          <a:prstGeom prst="rect">
            <a:avLst/>
          </a:prstGeom>
          <a:solidFill>
            <a:srgbClr val="2C69B4"/>
          </a:solidFill>
          <a:ln>
            <a:solidFill>
              <a:srgbClr val="2C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64208" y="5074920"/>
            <a:ext cx="53035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30" b="1">
                <a:solidFill>
                  <a:srgbClr val="657282"/>
                </a:solidFill>
                <a:latin typeface="Aptos"/>
              </a:rPr>
              <a:t>M2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5064" y="3895344"/>
            <a:ext cx="56692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30" b="1">
                <a:solidFill>
                  <a:srgbClr val="2C69B4"/>
                </a:solidFill>
                <a:latin typeface="Aptos"/>
              </a:rPr>
              <a:t>7%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59736" y="4014215"/>
            <a:ext cx="438912" cy="877824"/>
          </a:xfrm>
          <a:prstGeom prst="rect">
            <a:avLst/>
          </a:prstGeom>
          <a:solidFill>
            <a:srgbClr val="2C69B4"/>
          </a:solidFill>
          <a:ln>
            <a:solidFill>
              <a:srgbClr val="2C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14016" y="5074920"/>
            <a:ext cx="53035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30" b="1">
                <a:solidFill>
                  <a:srgbClr val="657282"/>
                </a:solidFill>
                <a:latin typeface="Aptos"/>
              </a:rPr>
              <a:t>M3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04872" y="3785615"/>
            <a:ext cx="56692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30" b="1">
                <a:solidFill>
                  <a:srgbClr val="2C69B4"/>
                </a:solidFill>
                <a:latin typeface="Aptos"/>
              </a:rPr>
              <a:t>8%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9544" y="3904487"/>
            <a:ext cx="438912" cy="987552"/>
          </a:xfrm>
          <a:prstGeom prst="rect">
            <a:avLst/>
          </a:prstGeom>
          <a:solidFill>
            <a:srgbClr val="2C69B4"/>
          </a:solidFill>
          <a:ln>
            <a:solidFill>
              <a:srgbClr val="2C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63824" y="5074920"/>
            <a:ext cx="53035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30" b="1">
                <a:solidFill>
                  <a:srgbClr val="657282"/>
                </a:solidFill>
                <a:latin typeface="Aptos"/>
              </a:rPr>
              <a:t>M4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54679" y="3675887"/>
            <a:ext cx="56692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30" b="1">
                <a:solidFill>
                  <a:srgbClr val="2C69B4"/>
                </a:solidFill>
                <a:latin typeface="Aptos"/>
              </a:rPr>
              <a:t>9%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59352" y="3355848"/>
            <a:ext cx="438912" cy="1536192"/>
          </a:xfrm>
          <a:prstGeom prst="rect">
            <a:avLst/>
          </a:prstGeom>
          <a:solidFill>
            <a:srgbClr val="BE4141"/>
          </a:solidFill>
          <a:ln>
            <a:solidFill>
              <a:srgbClr val="BE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13632" y="5074920"/>
            <a:ext cx="53035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30" b="1">
                <a:solidFill>
                  <a:srgbClr val="657282"/>
                </a:solidFill>
                <a:latin typeface="Aptos"/>
              </a:rPr>
              <a:t>M5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04488" y="3127248"/>
            <a:ext cx="56692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30" b="1">
                <a:solidFill>
                  <a:srgbClr val="BE4141"/>
                </a:solidFill>
                <a:latin typeface="Aptos"/>
              </a:rPr>
              <a:t>14%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09159" y="2916935"/>
            <a:ext cx="438912" cy="1975104"/>
          </a:xfrm>
          <a:prstGeom prst="rect">
            <a:avLst/>
          </a:prstGeom>
          <a:solidFill>
            <a:srgbClr val="BE4141"/>
          </a:solidFill>
          <a:ln>
            <a:solidFill>
              <a:srgbClr val="BE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5074920"/>
            <a:ext cx="53035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30" b="1">
                <a:solidFill>
                  <a:srgbClr val="657282"/>
                </a:solidFill>
                <a:latin typeface="Aptos"/>
              </a:rPr>
              <a:t>M6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54296" y="2688335"/>
            <a:ext cx="56692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30" b="1">
                <a:solidFill>
                  <a:srgbClr val="BE4141"/>
                </a:solidFill>
                <a:latin typeface="Aptos"/>
              </a:rPr>
              <a:t>18%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" y="4892040"/>
            <a:ext cx="4526280" cy="0"/>
          </a:xfrm>
          <a:prstGeom prst="line">
            <a:avLst/>
          </a:prstGeom>
          <a:ln w="12700">
            <a:solidFill>
              <a:srgbClr val="D7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14400" y="3355848"/>
            <a:ext cx="4526280" cy="0"/>
          </a:xfrm>
          <a:prstGeom prst="line">
            <a:avLst/>
          </a:prstGeom>
          <a:ln w="19050">
            <a:solidFill>
              <a:srgbClr val="CD9D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577840" y="3209544"/>
            <a:ext cx="15087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80" b="1">
                <a:solidFill>
                  <a:srgbClr val="CD9D37"/>
                </a:solidFill>
                <a:latin typeface="Aptos"/>
              </a:rPr>
              <a:t>Illustrative threshold = 14%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75120" y="1965960"/>
            <a:ext cx="47548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675120" y="1965960"/>
            <a:ext cx="54864" cy="1097280"/>
          </a:xfrm>
          <a:prstGeom prst="rect">
            <a:avLst/>
          </a:prstGeom>
          <a:solidFill>
            <a:srgbClr val="CD9D37"/>
          </a:solidFill>
          <a:ln>
            <a:solidFill>
              <a:srgbClr val="CD9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39712" y="2103120"/>
            <a:ext cx="44348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0A182C"/>
                </a:solidFill>
                <a:latin typeface="Aptos"/>
              </a:rPr>
              <a:t>Possible causes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39712" y="2496312"/>
            <a:ext cx="4434840" cy="47548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80" b="0">
                <a:solidFill>
                  <a:srgbClr val="1F2834"/>
                </a:solidFill>
                <a:latin typeface="Aptos"/>
              </a:rPr>
              <a:t>Policy change, customer mix shift, model degradation, process change or incentive effects.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675120" y="3337560"/>
            <a:ext cx="47548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675120" y="3337560"/>
            <a:ext cx="54864" cy="1097280"/>
          </a:xfrm>
          <a:prstGeom prst="rect">
            <a:avLst/>
          </a:prstGeom>
          <a:solidFill>
            <a:srgbClr val="2C69B4"/>
          </a:solidFill>
          <a:ln>
            <a:solidFill>
              <a:srgbClr val="2C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39712" y="3474720"/>
            <a:ext cx="44348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0A182C"/>
                </a:solidFill>
                <a:latin typeface="Aptos"/>
              </a:rPr>
              <a:t>Investigation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39712" y="3867911"/>
            <a:ext cx="4434840" cy="47548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80" b="0">
                <a:solidFill>
                  <a:srgbClr val="1F2834"/>
                </a:solidFill>
                <a:latin typeface="Aptos"/>
              </a:rPr>
              <a:t>Segment overrides, compare outcomes, review reasons and check model / process changes.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675120" y="4709160"/>
            <a:ext cx="47548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675120" y="4709160"/>
            <a:ext cx="54864" cy="1097280"/>
          </a:xfrm>
          <a:prstGeom prst="rect">
            <a:avLst/>
          </a:prstGeom>
          <a:solidFill>
            <a:srgbClr val="BE4141"/>
          </a:solidFill>
          <a:ln>
            <a:solidFill>
              <a:srgbClr val="BE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39712" y="4846320"/>
            <a:ext cx="44348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0A182C"/>
                </a:solidFill>
                <a:latin typeface="Aptos"/>
              </a:rPr>
              <a:t>Decision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39712" y="5239512"/>
            <a:ext cx="4434840" cy="47548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80" b="0">
                <a:solidFill>
                  <a:srgbClr val="1F2834"/>
                </a:solidFill>
                <a:latin typeface="Aptos"/>
              </a:rPr>
              <a:t>Escalate if material; apply containment and remediate root cause where required.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" y="6528816"/>
            <a:ext cx="91440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20" b="1">
                <a:solidFill>
                  <a:srgbClr val="657282"/>
                </a:solidFill>
                <a:latin typeface="Aptos"/>
              </a:rPr>
              <a:t>MODEL INVENTORY • FINDINGS • LIMITATIONS • OVERRIDES • REMEDIATION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50" b="1">
                <a:solidFill>
                  <a:srgbClr val="657282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972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009999"/>
                </a:solidFill>
                <a:latin typeface="Aptos"/>
              </a:rPr>
              <a:t>14 • RISK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0A182C"/>
                </a:solidFill>
                <a:latin typeface="Aptos Display"/>
              </a:rPr>
              <a:t>Findings triage: severity × materiality × urgency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61872"/>
            <a:ext cx="106984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0">
                <a:solidFill>
                  <a:srgbClr val="657282"/>
                </a:solidFill>
                <a:latin typeface="Aptos"/>
              </a:rPr>
              <a:t>Issue management should make escalation proportional, transparent and repeatable.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09928"/>
            <a:ext cx="914400" cy="41148"/>
          </a:xfrm>
          <a:prstGeom prst="rect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88720" y="2148840"/>
            <a:ext cx="2103120" cy="822959"/>
          </a:xfrm>
          <a:prstGeom prst="roundRect">
            <a:avLst/>
          </a:prstGeom>
          <a:solidFill>
            <a:srgbClr val="E5F4F3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423160"/>
            <a:ext cx="21031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0A182C"/>
                </a:solidFill>
                <a:latin typeface="Aptos"/>
              </a:rPr>
              <a:t>Monitor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2148840"/>
            <a:ext cx="2103120" cy="822959"/>
          </a:xfrm>
          <a:prstGeom prst="roundRect">
            <a:avLst/>
          </a:prstGeom>
          <a:solidFill>
            <a:srgbClr val="E5F4F3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37560" y="2423160"/>
            <a:ext cx="21031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0A182C"/>
                </a:solidFill>
                <a:latin typeface="Aptos"/>
              </a:rPr>
              <a:t>Monitor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0" y="2148840"/>
            <a:ext cx="2103120" cy="822959"/>
          </a:xfrm>
          <a:prstGeom prst="roundRect">
            <a:avLst/>
          </a:prstGeom>
          <a:solidFill>
            <a:srgbClr val="F9F2E0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0" y="2423160"/>
            <a:ext cx="21031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0A182C"/>
                </a:solidFill>
                <a:latin typeface="Aptos"/>
              </a:rPr>
              <a:t>Review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2148840"/>
            <a:ext cx="2103120" cy="822959"/>
          </a:xfrm>
          <a:prstGeom prst="roundRect">
            <a:avLst/>
          </a:prstGeom>
          <a:solidFill>
            <a:srgbClr val="F9F2E0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35240" y="2423160"/>
            <a:ext cx="21031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0A182C"/>
                </a:solidFill>
                <a:latin typeface="Aptos"/>
              </a:rPr>
              <a:t>Review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88720" y="3017520"/>
            <a:ext cx="2103120" cy="822959"/>
          </a:xfrm>
          <a:prstGeom prst="roundRect">
            <a:avLst/>
          </a:prstGeom>
          <a:solidFill>
            <a:srgbClr val="E5F4F3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3291839"/>
            <a:ext cx="21031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0A182C"/>
                </a:solidFill>
                <a:latin typeface="Aptos"/>
              </a:rPr>
              <a:t>Monitor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37560" y="3017520"/>
            <a:ext cx="2103120" cy="822959"/>
          </a:xfrm>
          <a:prstGeom prst="roundRect">
            <a:avLst/>
          </a:prstGeom>
          <a:solidFill>
            <a:srgbClr val="F9F2E0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37560" y="3291839"/>
            <a:ext cx="21031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0A182C"/>
                </a:solidFill>
                <a:latin typeface="Aptos"/>
              </a:rPr>
              <a:t>Review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0" y="3017520"/>
            <a:ext cx="2103120" cy="822959"/>
          </a:xfrm>
          <a:prstGeom prst="roundRect">
            <a:avLst/>
          </a:prstGeom>
          <a:solidFill>
            <a:srgbClr val="F9F2E0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0" y="3291839"/>
            <a:ext cx="21031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0A182C"/>
                </a:solidFill>
                <a:latin typeface="Aptos"/>
              </a:rPr>
              <a:t>Review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35240" y="3017520"/>
            <a:ext cx="2103120" cy="822959"/>
          </a:xfrm>
          <a:prstGeom prst="roundRect">
            <a:avLst/>
          </a:prstGeom>
          <a:solidFill>
            <a:srgbClr val="FBEDED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35240" y="3291839"/>
            <a:ext cx="21031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0A182C"/>
                </a:solidFill>
                <a:latin typeface="Aptos"/>
              </a:rPr>
              <a:t>Escalate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88720" y="3886200"/>
            <a:ext cx="2103120" cy="822959"/>
          </a:xfrm>
          <a:prstGeom prst="roundRect">
            <a:avLst/>
          </a:prstGeom>
          <a:solidFill>
            <a:srgbClr val="F9F2E0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8720" y="4160520"/>
            <a:ext cx="21031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0A182C"/>
                </a:solidFill>
                <a:latin typeface="Aptos"/>
              </a:rPr>
              <a:t>Review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37560" y="3886200"/>
            <a:ext cx="2103120" cy="822959"/>
          </a:xfrm>
          <a:prstGeom prst="roundRect">
            <a:avLst/>
          </a:prstGeom>
          <a:solidFill>
            <a:srgbClr val="F9F2E0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37560" y="4160520"/>
            <a:ext cx="21031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0A182C"/>
                </a:solidFill>
                <a:latin typeface="Aptos"/>
              </a:rPr>
              <a:t>Review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0" y="3886200"/>
            <a:ext cx="2103120" cy="822959"/>
          </a:xfrm>
          <a:prstGeom prst="roundRect">
            <a:avLst/>
          </a:prstGeom>
          <a:solidFill>
            <a:srgbClr val="FBEDED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0" y="4160520"/>
            <a:ext cx="21031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0A182C"/>
                </a:solidFill>
                <a:latin typeface="Aptos"/>
              </a:rPr>
              <a:t>Escalate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635240" y="3886200"/>
            <a:ext cx="2103120" cy="822959"/>
          </a:xfrm>
          <a:prstGeom prst="roundRect">
            <a:avLst/>
          </a:prstGeom>
          <a:solidFill>
            <a:srgbClr val="F7DEDE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35240" y="4160520"/>
            <a:ext cx="21031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0A182C"/>
                </a:solidFill>
                <a:latin typeface="Aptos"/>
              </a:rPr>
              <a:t>Escalate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2423160"/>
            <a:ext cx="5486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1F2834"/>
                </a:solidFill>
                <a:latin typeface="Aptos"/>
              </a:rPr>
              <a:t>Low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3291839"/>
            <a:ext cx="5486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1F2834"/>
                </a:solidFill>
                <a:latin typeface="Aptos"/>
              </a:rPr>
              <a:t>Medium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4160520"/>
            <a:ext cx="5486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1F2834"/>
                </a:solidFill>
                <a:latin typeface="Aptos"/>
              </a:rPr>
              <a:t>High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20" y="4846319"/>
            <a:ext cx="21031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80" b="1">
                <a:solidFill>
                  <a:srgbClr val="1F2834"/>
                </a:solidFill>
                <a:latin typeface="Aptos"/>
              </a:rPr>
              <a:t>Low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37560" y="4846319"/>
            <a:ext cx="21031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80" b="1">
                <a:solidFill>
                  <a:srgbClr val="1F2834"/>
                </a:solidFill>
                <a:latin typeface="Aptos"/>
              </a:rPr>
              <a:t>Moderate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0" y="4846319"/>
            <a:ext cx="21031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80" b="1">
                <a:solidFill>
                  <a:srgbClr val="1F2834"/>
                </a:solidFill>
                <a:latin typeface="Aptos"/>
              </a:rPr>
              <a:t>High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35240" y="4846319"/>
            <a:ext cx="21031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80" b="1">
                <a:solidFill>
                  <a:srgbClr val="1F2834"/>
                </a:solidFill>
                <a:latin typeface="Aptos"/>
              </a:rPr>
              <a:t>Severe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5532120"/>
            <a:ext cx="1828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657282"/>
                </a:solidFill>
                <a:latin typeface="Aptos"/>
              </a:rPr>
              <a:t>LIKELIHOOD 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1847088"/>
            <a:ext cx="14630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657282"/>
                </a:solidFill>
                <a:latin typeface="Aptos"/>
              </a:rPr>
              <a:t>IMPACT →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60920" y="2148840"/>
            <a:ext cx="406908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360920" y="2148840"/>
            <a:ext cx="54864" cy="3063240"/>
          </a:xfrm>
          <a:prstGeom prst="rect">
            <a:avLst/>
          </a:prstGeom>
          <a:solidFill>
            <a:srgbClr val="BE4141"/>
          </a:solidFill>
          <a:ln>
            <a:solidFill>
              <a:srgbClr val="BE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25512" y="2286000"/>
            <a:ext cx="37490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0A182C"/>
                </a:solidFill>
                <a:latin typeface="Aptos"/>
              </a:rPr>
              <a:t>Escalation triggers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25512" y="2679192"/>
            <a:ext cx="3749040" cy="2441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19" b="0">
                <a:solidFill>
                  <a:srgbClr val="1F2834"/>
                </a:solidFill>
                <a:latin typeface="Aptos"/>
              </a:rPr>
              <a:t>• High materiality finding
• Failed validation / critical test
• Unapproved model change
• Repeated overdue actions
• Material customer / financial impact
• Control failure with no effective compensating control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" y="6528816"/>
            <a:ext cx="91440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20" b="1">
                <a:solidFill>
                  <a:srgbClr val="657282"/>
                </a:solidFill>
                <a:latin typeface="Aptos"/>
              </a:rPr>
              <a:t>MODEL INVENTORY • FINDINGS • LIMITATIONS • OVERRIDES • REMEDIATION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50" b="1">
                <a:solidFill>
                  <a:srgbClr val="657282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972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009999"/>
                </a:solidFill>
                <a:latin typeface="Aptos"/>
              </a:rPr>
              <a:t>15 • MANAGEMENT LENS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0A182C"/>
                </a:solidFill>
                <a:latin typeface="Aptos Display"/>
              </a:rPr>
              <a:t>Credit analyst, banker, CFO and investor perspective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61872"/>
            <a:ext cx="106984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0">
                <a:solidFill>
                  <a:srgbClr val="657282"/>
                </a:solidFill>
                <a:latin typeface="Aptos"/>
              </a:rPr>
              <a:t>The same finding means different things to different decision-makers.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09928"/>
            <a:ext cx="914400" cy="41148"/>
          </a:xfrm>
          <a:prstGeom prst="rect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2011680"/>
            <a:ext cx="52578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2011680"/>
            <a:ext cx="54864" cy="1554480"/>
          </a:xfrm>
          <a:prstGeom prst="rect">
            <a:avLst/>
          </a:prstGeom>
          <a:solidFill>
            <a:srgbClr val="2C69B4"/>
          </a:solidFill>
          <a:ln>
            <a:solidFill>
              <a:srgbClr val="2C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148840"/>
            <a:ext cx="49377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0A182C"/>
                </a:solidFill>
                <a:latin typeface="Aptos"/>
              </a:rPr>
              <a:t>CREDIT ANALYST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542032"/>
            <a:ext cx="4937760" cy="9326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69" b="0">
                <a:solidFill>
                  <a:srgbClr val="1F2834"/>
                </a:solidFill>
                <a:latin typeface="Aptos"/>
              </a:rPr>
              <a:t>Is the model still reliable for the borrower / segment?
Check limitations, overrides and current performance.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011680"/>
            <a:ext cx="52578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2011680"/>
            <a:ext cx="54864" cy="1554480"/>
          </a:xfrm>
          <a:prstGeom prst="rect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2148840"/>
            <a:ext cx="49377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0A182C"/>
                </a:solidFill>
                <a:latin typeface="Aptos"/>
              </a:rPr>
              <a:t>BANKER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2" y="2542032"/>
            <a:ext cx="4937760" cy="9326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69" b="0">
                <a:solidFill>
                  <a:srgbClr val="1F2834"/>
                </a:solidFill>
                <a:latin typeface="Aptos"/>
              </a:rPr>
              <a:t>Can I safely use the output in today's process?
Check approved scope, exceptions and controls.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977639"/>
            <a:ext cx="52578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3977639"/>
            <a:ext cx="54864" cy="1554480"/>
          </a:xfrm>
          <a:prstGeom prst="rect">
            <a:avLst/>
          </a:prstGeom>
          <a:solidFill>
            <a:srgbClr val="CD9D37"/>
          </a:solidFill>
          <a:ln>
            <a:solidFill>
              <a:srgbClr val="CD9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4114800"/>
            <a:ext cx="49377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0A182C"/>
                </a:solidFill>
                <a:latin typeface="Aptos"/>
              </a:rPr>
              <a:t>CFO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4507992"/>
            <a:ext cx="4937760" cy="9326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69" b="0">
                <a:solidFill>
                  <a:srgbClr val="1F2834"/>
                </a:solidFill>
                <a:latin typeface="Aptos"/>
              </a:rPr>
              <a:t>Could this issue change provisions, capital or earnings?
Translate findings into financial sensitivity.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977639"/>
            <a:ext cx="52578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3977639"/>
            <a:ext cx="54864" cy="1554480"/>
          </a:xfrm>
          <a:prstGeom prst="rect">
            <a:avLst/>
          </a:prstGeom>
          <a:solidFill>
            <a:srgbClr val="BE4141"/>
          </a:solidFill>
          <a:ln>
            <a:solidFill>
              <a:srgbClr val="BE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8232" y="4114800"/>
            <a:ext cx="49377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0A182C"/>
                </a:solidFill>
                <a:latin typeface="Aptos"/>
              </a:rPr>
              <a:t>INVESTOR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2" y="4507992"/>
            <a:ext cx="4937760" cy="9326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69" b="0">
                <a:solidFill>
                  <a:srgbClr val="1F2834"/>
                </a:solidFill>
                <a:latin typeface="Aptos"/>
              </a:rPr>
              <a:t>How much confidence should I place in model-dependent outcomes?
Look for transparency, controls and material dependencies.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37560" y="5989320"/>
            <a:ext cx="5486400" cy="310896"/>
          </a:xfrm>
          <a:prstGeom prst="roundRect">
            <a:avLst/>
          </a:prstGeom>
          <a:solidFill>
            <a:srgbClr val="E5F4F3"/>
          </a:solidFill>
          <a:ln>
            <a:solidFill>
              <a:srgbClr val="E5F4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74136" y="6039612"/>
            <a:ext cx="541324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19" b="1">
                <a:solidFill>
                  <a:srgbClr val="009999"/>
                </a:solidFill>
                <a:latin typeface="Aptos"/>
              </a:rPr>
              <a:t>ONE ISSUE • MULTIPLE DECISION LENSES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28816"/>
            <a:ext cx="91440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20" b="1">
                <a:solidFill>
                  <a:srgbClr val="657282"/>
                </a:solidFill>
                <a:latin typeface="Aptos"/>
              </a:rPr>
              <a:t>MODEL INVENTORY • FINDINGS • LIMITATIONS • OVERRIDES • REMEDIATION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50" b="1">
                <a:solidFill>
                  <a:srgbClr val="657282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48640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009999"/>
                </a:solidFill>
                <a:latin typeface="Aptos"/>
              </a:rPr>
              <a:t>EXECUTIVE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1078992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ptos Display"/>
              </a:rPr>
              <a:t>Govern the portfolio, not just the model</a:t>
            </a:r>
          </a:p>
        </p:txBody>
      </p:sp>
      <p:sp>
        <p:nvSpPr>
          <p:cNvPr id="4" name="Oval 3"/>
          <p:cNvSpPr/>
          <p:nvPr/>
        </p:nvSpPr>
        <p:spPr>
          <a:xfrm>
            <a:off x="713232" y="1993392"/>
            <a:ext cx="402336" cy="402336"/>
          </a:xfrm>
          <a:prstGeom prst="ellipse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102022"/>
            <a:ext cx="402336" cy="181051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039112"/>
            <a:ext cx="9966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20" b="0">
                <a:solidFill>
                  <a:srgbClr val="FFFFFF"/>
                </a:solidFill>
                <a:latin typeface="Aptos"/>
              </a:rPr>
              <a:t>Inventory creates visibility.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2578608"/>
            <a:ext cx="402336" cy="402336"/>
          </a:xfrm>
          <a:prstGeom prst="ellipse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687238"/>
            <a:ext cx="402336" cy="181051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624328"/>
            <a:ext cx="9966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20" b="0">
                <a:solidFill>
                  <a:srgbClr val="FFFFFF"/>
                </a:solidFill>
                <a:latin typeface="Aptos"/>
              </a:rPr>
              <a:t>Materiality and classification create consistent governance.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3163824"/>
            <a:ext cx="402336" cy="402336"/>
          </a:xfrm>
          <a:prstGeom prst="ellipse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3272454"/>
            <a:ext cx="402336" cy="181051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209544"/>
            <a:ext cx="9966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20" b="0">
                <a:solidFill>
                  <a:srgbClr val="FFFFFF"/>
                </a:solidFill>
                <a:latin typeface="Aptos"/>
              </a:rPr>
              <a:t>Risk tiers help allocate control intensity.</a:t>
            </a:r>
          </a:p>
        </p:txBody>
      </p:sp>
      <p:sp>
        <p:nvSpPr>
          <p:cNvPr id="13" name="Oval 12"/>
          <p:cNvSpPr/>
          <p:nvPr/>
        </p:nvSpPr>
        <p:spPr>
          <a:xfrm>
            <a:off x="713232" y="3749039"/>
            <a:ext cx="402336" cy="402336"/>
          </a:xfrm>
          <a:prstGeom prst="ellipse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857670"/>
            <a:ext cx="402336" cy="181051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794759"/>
            <a:ext cx="9966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20" b="0">
                <a:solidFill>
                  <a:srgbClr val="FFFFFF"/>
                </a:solidFill>
                <a:latin typeface="Aptos"/>
              </a:rPr>
              <a:t>Findings need ownership, root-cause analysis and evidence-based closure.</a:t>
            </a:r>
          </a:p>
        </p:txBody>
      </p:sp>
      <p:sp>
        <p:nvSpPr>
          <p:cNvPr id="16" name="Oval 15"/>
          <p:cNvSpPr/>
          <p:nvPr/>
        </p:nvSpPr>
        <p:spPr>
          <a:xfrm>
            <a:off x="713232" y="4334256"/>
            <a:ext cx="402336" cy="402336"/>
          </a:xfrm>
          <a:prstGeom prst="ellipse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4442886"/>
            <a:ext cx="402336" cy="181051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379976"/>
            <a:ext cx="9966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20" b="0">
                <a:solidFill>
                  <a:srgbClr val="FFFFFF"/>
                </a:solidFill>
                <a:latin typeface="Aptos"/>
              </a:rPr>
              <a:t>Limitations and overrides are signals—not just footnotes.</a:t>
            </a:r>
          </a:p>
        </p:txBody>
      </p:sp>
      <p:sp>
        <p:nvSpPr>
          <p:cNvPr id="19" name="Oval 18"/>
          <p:cNvSpPr/>
          <p:nvPr/>
        </p:nvSpPr>
        <p:spPr>
          <a:xfrm>
            <a:off x="713232" y="4919472"/>
            <a:ext cx="402336" cy="402336"/>
          </a:xfrm>
          <a:prstGeom prst="ellipse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5028102"/>
            <a:ext cx="402336" cy="181051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4965192"/>
            <a:ext cx="9966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20" b="1">
                <a:solidFill>
                  <a:srgbClr val="FFFFFF"/>
                </a:solidFill>
                <a:latin typeface="Aptos"/>
              </a:rPr>
              <a:t>Remediation is complete only when the fix is verified and approved.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5870448"/>
            <a:ext cx="10789920" cy="45720"/>
          </a:xfrm>
          <a:prstGeom prst="rect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6144768"/>
            <a:ext cx="10789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B4CADD"/>
                </a:solidFill>
                <a:latin typeface="Aptos"/>
              </a:rPr>
              <a:t>INVENTORY → CLASSIFY → TIER → FIND → REMEDIATE → MONITOR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