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881360" cy="7315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Retail vs Corporate Lending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874519"/>
            <a:ext cx="9875520" cy="5943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900" b="0">
                <a:solidFill>
                  <a:srgbClr val="CDDCEB"/>
                </a:solidFill>
              </a:rPr>
              <a:t>Products • Credit Assessment • Lending Mechanics • Real-World Use Cases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743200"/>
            <a:ext cx="1874519" cy="438912"/>
          </a:xfrm>
          <a:prstGeom prst="roundRect">
            <a:avLst/>
          </a:prstGeom>
          <a:solidFill>
            <a:srgbClr val="188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761488"/>
            <a:ext cx="1874519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CORPORATE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749039"/>
            <a:ext cx="1828800" cy="2743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200" b="1">
                <a:solidFill>
                  <a:srgbClr val="AABED2"/>
                </a:solidFill>
              </a:rPr>
              <a:t>Borrower scale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51960"/>
            <a:ext cx="2057400" cy="594360"/>
          </a:xfrm>
          <a:prstGeom prst="roundRect">
            <a:avLst/>
          </a:prstGeom>
          <a:solidFill>
            <a:srgbClr val="24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70248"/>
            <a:ext cx="2057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Individual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88920" y="4544568"/>
            <a:ext cx="429768" cy="0"/>
          </a:xfrm>
          <a:prstGeom prst="line">
            <a:avLst/>
          </a:prstGeom>
          <a:ln w="25400">
            <a:solidFill>
              <a:srgbClr val="96A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337560" y="4251960"/>
            <a:ext cx="2057400" cy="594360"/>
          </a:xfrm>
          <a:prstGeom prst="roundRect">
            <a:avLst/>
          </a:prstGeom>
          <a:solidFill>
            <a:srgbClr val="188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4270248"/>
            <a:ext cx="2057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Household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394960" y="4544568"/>
            <a:ext cx="429768" cy="0"/>
          </a:xfrm>
          <a:prstGeom prst="line">
            <a:avLst/>
          </a:prstGeom>
          <a:ln w="25400">
            <a:solidFill>
              <a:srgbClr val="96A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943600" y="4251960"/>
            <a:ext cx="2057400" cy="594360"/>
          </a:xfrm>
          <a:prstGeom prst="roundRect">
            <a:avLst/>
          </a:prstGeom>
          <a:solidFill>
            <a:srgbClr val="D67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4270248"/>
            <a:ext cx="2057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SME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001000" y="4544568"/>
            <a:ext cx="429768" cy="0"/>
          </a:xfrm>
          <a:prstGeom prst="line">
            <a:avLst/>
          </a:prstGeom>
          <a:ln w="25400">
            <a:solidFill>
              <a:srgbClr val="96A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549640" y="4251960"/>
            <a:ext cx="2057400" cy="594360"/>
          </a:xfrm>
          <a:prstGeom prst="roundRect">
            <a:avLst/>
          </a:prstGeom>
          <a:solidFill>
            <a:srgbClr val="357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9640" y="4270248"/>
            <a:ext cx="2057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Corporate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760720"/>
            <a:ext cx="1042416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200" b="0">
                <a:solidFill>
                  <a:srgbClr val="BECDDC"/>
                </a:solidFill>
              </a:rPr>
              <a:t>Training lens: understand the borrower, cash-flow engine, risk structure and repayment source.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7717D"/>
                </a:solidFill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63F"/>
                </a:solidFill>
              </a:rPr>
              <a:t>Learning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7717D"/>
                </a:solidFill>
              </a:rPr>
              <a:t>A practical framework for frontline, credit, risk and relationship teams</a:t>
            </a:r>
          </a:p>
        </p:txBody>
      </p:sp>
      <p:sp>
        <p:nvSpPr>
          <p:cNvPr id="5" name="Oval 4"/>
          <p:cNvSpPr/>
          <p:nvPr/>
        </p:nvSpPr>
        <p:spPr>
          <a:xfrm>
            <a:off x="1161288" y="1508760"/>
            <a:ext cx="658368" cy="658368"/>
          </a:xfrm>
          <a:prstGeom prst="ellipse">
            <a:avLst/>
          </a:prstGeom>
          <a:solidFill>
            <a:srgbClr val="24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" y="1527048"/>
            <a:ext cx="658368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331720"/>
            <a:ext cx="20574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331720"/>
            <a:ext cx="73152" cy="2057400"/>
          </a:xfrm>
          <a:prstGeom prst="rect">
            <a:avLst/>
          </a:prstGeom>
          <a:solidFill>
            <a:srgbClr val="24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459736"/>
            <a:ext cx="178308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500" b="1">
                <a:solidFill>
                  <a:srgbClr val="13263F"/>
                </a:solidFill>
              </a:rPr>
              <a:t>Retail Lending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862072"/>
            <a:ext cx="1783080" cy="1435607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200" b="0">
                <a:solidFill>
                  <a:srgbClr val="2A3440"/>
                </a:solidFill>
              </a:rPr>
              <a:t>Mass-market borrowers
Standardized products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60320" y="3364992"/>
            <a:ext cx="228600" cy="0"/>
          </a:xfrm>
          <a:prstGeom prst="line">
            <a:avLst/>
          </a:prstGeom>
          <a:ln w="25400">
            <a:solidFill>
              <a:srgbClr val="DDE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493007" y="1508760"/>
            <a:ext cx="658368" cy="658368"/>
          </a:xfrm>
          <a:prstGeom prst="ellipse">
            <a:avLst/>
          </a:prstGeom>
          <a:solidFill>
            <a:srgbClr val="188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3007" y="1527048"/>
            <a:ext cx="658368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39" y="2331720"/>
            <a:ext cx="20574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39" y="2331720"/>
            <a:ext cx="73152" cy="2057400"/>
          </a:xfrm>
          <a:prstGeom prst="rect">
            <a:avLst/>
          </a:prstGeom>
          <a:solidFill>
            <a:srgbClr val="188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99232" y="2459736"/>
            <a:ext cx="178308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500" b="1">
                <a:solidFill>
                  <a:srgbClr val="13263F"/>
                </a:solidFill>
              </a:rPr>
              <a:t>Corporate Lending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9232" y="2862072"/>
            <a:ext cx="1783080" cy="1435607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200" b="0">
                <a:solidFill>
                  <a:srgbClr val="2A3440"/>
                </a:solidFill>
              </a:rPr>
              <a:t>Businesses &amp; institutions
Structured facilities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92040" y="3364992"/>
            <a:ext cx="228600" cy="0"/>
          </a:xfrm>
          <a:prstGeom prst="line">
            <a:avLst/>
          </a:prstGeom>
          <a:ln w="25400">
            <a:solidFill>
              <a:srgbClr val="DDE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824727" y="1508760"/>
            <a:ext cx="658368" cy="658368"/>
          </a:xfrm>
          <a:prstGeom prst="ellipse">
            <a:avLst/>
          </a:prstGeom>
          <a:solidFill>
            <a:srgbClr val="D67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24727" y="1527048"/>
            <a:ext cx="658368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66359" y="2331720"/>
            <a:ext cx="20574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66359" y="2331720"/>
            <a:ext cx="73152" cy="2057400"/>
          </a:xfrm>
          <a:prstGeom prst="rect">
            <a:avLst/>
          </a:prstGeom>
          <a:solidFill>
            <a:srgbClr val="D67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30951" y="2459736"/>
            <a:ext cx="178308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500" b="1">
                <a:solidFill>
                  <a:srgbClr val="13263F"/>
                </a:solidFill>
              </a:rPr>
              <a:t>Product Mechanics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0951" y="2862072"/>
            <a:ext cx="1783080" cy="1435607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200" b="0">
                <a:solidFill>
                  <a:srgbClr val="2A3440"/>
                </a:solidFill>
              </a:rPr>
              <a:t>Mortgage • Card • SME
How money moves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223759" y="3364992"/>
            <a:ext cx="228600" cy="0"/>
          </a:xfrm>
          <a:prstGeom prst="line">
            <a:avLst/>
          </a:prstGeom>
          <a:ln w="25400">
            <a:solidFill>
              <a:srgbClr val="DDE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8156448" y="1508760"/>
            <a:ext cx="658368" cy="658368"/>
          </a:xfrm>
          <a:prstGeom prst="ellipse">
            <a:avLst/>
          </a:prstGeom>
          <a:solidFill>
            <a:srgbClr val="357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56448" y="1527048"/>
            <a:ext cx="658368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79" y="2331720"/>
            <a:ext cx="20574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8079" y="2331720"/>
            <a:ext cx="73152" cy="2057400"/>
          </a:xfrm>
          <a:prstGeom prst="rect">
            <a:avLst/>
          </a:prstGeom>
          <a:solidFill>
            <a:srgbClr val="357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62671" y="2459736"/>
            <a:ext cx="178308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500" b="1">
                <a:solidFill>
                  <a:srgbClr val="13263F"/>
                </a:solidFill>
              </a:rPr>
              <a:t>Risk Lens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62671" y="2862072"/>
            <a:ext cx="1783080" cy="1435607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200" b="0">
                <a:solidFill>
                  <a:srgbClr val="2A3440"/>
                </a:solidFill>
              </a:rPr>
              <a:t>Cash flow • collateral
pricing • monitoring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555480" y="3364992"/>
            <a:ext cx="228600" cy="0"/>
          </a:xfrm>
          <a:prstGeom prst="line">
            <a:avLst/>
          </a:prstGeom>
          <a:ln w="25400">
            <a:solidFill>
              <a:srgbClr val="DDE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10488168" y="1508760"/>
            <a:ext cx="658368" cy="658368"/>
          </a:xfrm>
          <a:prstGeom prst="ellipse">
            <a:avLst/>
          </a:prstGeom>
          <a:solidFill>
            <a:srgbClr val="B0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88168" y="1527048"/>
            <a:ext cx="658368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29800" y="2331720"/>
            <a:ext cx="20574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829800" y="2331720"/>
            <a:ext cx="73152" cy="2057400"/>
          </a:xfrm>
          <a:prstGeom prst="rect">
            <a:avLst/>
          </a:prstGeom>
          <a:solidFill>
            <a:srgbClr val="B0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94392" y="2459736"/>
            <a:ext cx="178308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500" b="1">
                <a:solidFill>
                  <a:srgbClr val="13263F"/>
                </a:solidFill>
              </a:rPr>
              <a:t>Case Decisions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94392" y="2862072"/>
            <a:ext cx="1783080" cy="1435607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200" b="0">
                <a:solidFill>
                  <a:srgbClr val="2A3440"/>
                </a:solidFill>
              </a:rPr>
              <a:t>Approve • decline •
restructure • monitor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892040"/>
            <a:ext cx="10881360" cy="5943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/>
            <a:r>
              <a:rPr sz="2100" b="1">
                <a:solidFill>
                  <a:srgbClr val="13263F"/>
                </a:solidFill>
              </a:rPr>
              <a:t>Core question for every loan: “What is the primary source of repayment, and what evidence supports it?”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7717D"/>
                </a:solidFill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63F"/>
                </a:solidFill>
              </a:rPr>
              <a:t>What is Retail Lending?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7717D"/>
                </a:solidFill>
              </a:rPr>
              <a:t>High-volume lending to individuals and households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3832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73152" cy="4297680"/>
          </a:xfrm>
          <a:prstGeom prst="rect">
            <a:avLst/>
          </a:prstGeom>
          <a:solidFill>
            <a:srgbClr val="24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453895"/>
            <a:ext cx="310896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700" b="1">
                <a:solidFill>
                  <a:srgbClr val="13263F"/>
                </a:solidFill>
              </a:rPr>
              <a:t>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56231"/>
            <a:ext cx="3108960" cy="367588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400" b="0">
                <a:solidFill>
                  <a:srgbClr val="2A3440"/>
                </a:solidFill>
              </a:rPr>
              <a:t>Credit provided primarily to individuals for personal consumption, housing, education, vehicles or short-term liquidity.
Decisioning is often standardized, data-driven and highly scalable.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325880"/>
            <a:ext cx="33832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0520" y="1325880"/>
            <a:ext cx="73152" cy="4297680"/>
          </a:xfrm>
          <a:prstGeom prst="rect">
            <a:avLst/>
          </a:prstGeom>
          <a:solidFill>
            <a:srgbClr val="188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5112" y="1453895"/>
            <a:ext cx="310896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700" b="1">
                <a:solidFill>
                  <a:srgbClr val="13263F"/>
                </a:solidFill>
              </a:rPr>
              <a:t>Typical products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5112" y="1856231"/>
            <a:ext cx="3108960" cy="367588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400" b="0">
                <a:solidFill>
                  <a:srgbClr val="2A3440"/>
                </a:solidFill>
              </a:rPr>
              <a:t>• Home / mortgage loans
• Auto / two-wheeler loans
• Personal loans
• Credit cards
• Education loans
• Consumer durable finance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325880"/>
            <a:ext cx="38404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1325880"/>
            <a:ext cx="73152" cy="4297680"/>
          </a:xfrm>
          <a:prstGeom prst="rect">
            <a:avLst/>
          </a:prstGeom>
          <a:solidFill>
            <a:srgbClr val="D67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36992" y="1453895"/>
            <a:ext cx="356616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700" b="1">
                <a:solidFill>
                  <a:srgbClr val="13263F"/>
                </a:solidFill>
              </a:rPr>
              <a:t>Risk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36992" y="1856231"/>
            <a:ext cx="3566160" cy="367588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400" b="0">
                <a:solidFill>
                  <a:srgbClr val="2A3440"/>
                </a:solidFill>
              </a:rPr>
              <a:t>Identity &amp; bureau data → income verification → affordability → score/policy rules → exposure limits → pricing → collections.
Key idea: manage risk across a large portfolio, not only one borrower.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897880"/>
            <a:ext cx="2834640" cy="438912"/>
          </a:xfrm>
          <a:prstGeom prst="roundRect">
            <a:avLst/>
          </a:prstGeom>
          <a:solidFill>
            <a:srgbClr val="24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916168"/>
            <a:ext cx="283464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STANDARDIZATION 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5897880"/>
            <a:ext cx="2834640" cy="438912"/>
          </a:xfrm>
          <a:prstGeom prst="roundRect">
            <a:avLst/>
          </a:prstGeom>
          <a:solidFill>
            <a:srgbClr val="188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5916168"/>
            <a:ext cx="283464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VOLUME 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5897880"/>
            <a:ext cx="3246120" cy="438912"/>
          </a:xfrm>
          <a:prstGeom prst="roundRect">
            <a:avLst/>
          </a:prstGeom>
          <a:solidFill>
            <a:srgbClr val="D67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1000" y="5916168"/>
            <a:ext cx="32461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INDIVIDUAL TICKET SIZE 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7717D"/>
                </a:solidFill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63F"/>
                </a:solidFill>
              </a:rPr>
              <a:t>What is Corporate Lending?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7717D"/>
                </a:solidFill>
              </a:rPr>
              <a:t>Credit designed around the business model, cash flows and transaction structure</a:t>
            </a:r>
          </a:p>
        </p:txBody>
      </p:sp>
      <p:sp>
        <p:nvSpPr>
          <p:cNvPr id="5" name="Oval 4"/>
          <p:cNvSpPr/>
          <p:nvPr/>
        </p:nvSpPr>
        <p:spPr>
          <a:xfrm>
            <a:off x="5394960" y="2103120"/>
            <a:ext cx="1143000" cy="1143000"/>
          </a:xfrm>
          <a:prstGeom prst="ellipse">
            <a:avLst/>
          </a:prstGeom>
          <a:solidFill>
            <a:srgbClr val="13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94960" y="2121408"/>
            <a:ext cx="1143000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$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25603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417320"/>
            <a:ext cx="73152" cy="1234440"/>
          </a:xfrm>
          <a:prstGeom prst="rect">
            <a:avLst/>
          </a:prstGeom>
          <a:solidFill>
            <a:srgbClr val="24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545336"/>
            <a:ext cx="228600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400" b="1">
                <a:solidFill>
                  <a:srgbClr val="13263F"/>
                </a:solidFill>
              </a:rPr>
              <a:t>Working Capital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1947672"/>
            <a:ext cx="2286000" cy="61264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00" b="0">
                <a:solidFill>
                  <a:srgbClr val="2A3440"/>
                </a:solidFill>
              </a:rPr>
              <a:t>Facility matched to purpose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474720" y="2039112"/>
            <a:ext cx="1920240" cy="612648"/>
          </a:xfrm>
          <a:prstGeom prst="line">
            <a:avLst/>
          </a:prstGeom>
          <a:ln w="25400">
            <a:solidFill>
              <a:srgbClr val="24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869680" y="1417320"/>
            <a:ext cx="25603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869680" y="1417320"/>
            <a:ext cx="73152" cy="1234440"/>
          </a:xfrm>
          <a:prstGeom prst="rect">
            <a:avLst/>
          </a:prstGeom>
          <a:solidFill>
            <a:srgbClr val="188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34272" y="1545336"/>
            <a:ext cx="228600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400" b="1">
                <a:solidFill>
                  <a:srgbClr val="13263F"/>
                </a:solidFill>
              </a:rPr>
              <a:t>Term Loan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34272" y="1947672"/>
            <a:ext cx="2286000" cy="61264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00" b="0">
                <a:solidFill>
                  <a:srgbClr val="2A3440"/>
                </a:solidFill>
              </a:rPr>
              <a:t>Facility matched to purpose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6537960" y="2039112"/>
            <a:ext cx="2331720" cy="612648"/>
          </a:xfrm>
          <a:prstGeom prst="line">
            <a:avLst/>
          </a:prstGeom>
          <a:ln w="25400">
            <a:solidFill>
              <a:srgbClr val="1882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14400" y="4069080"/>
            <a:ext cx="25603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4069080"/>
            <a:ext cx="73152" cy="1234440"/>
          </a:xfrm>
          <a:prstGeom prst="rect">
            <a:avLst/>
          </a:prstGeom>
          <a:solidFill>
            <a:srgbClr val="D67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197096"/>
            <a:ext cx="228600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400" b="1">
                <a:solidFill>
                  <a:srgbClr val="13263F"/>
                </a:solidFill>
              </a:rPr>
              <a:t>Trade Finance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4599432"/>
            <a:ext cx="2286000" cy="61264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00" b="0">
                <a:solidFill>
                  <a:srgbClr val="2A3440"/>
                </a:solidFill>
              </a:rPr>
              <a:t>Facility matched to purpose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3474720" y="2651760"/>
            <a:ext cx="1920240" cy="2039112"/>
          </a:xfrm>
          <a:prstGeom prst="line">
            <a:avLst/>
          </a:prstGeom>
          <a:ln w="25400">
            <a:solidFill>
              <a:srgbClr val="D67D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869680" y="4069080"/>
            <a:ext cx="25603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69680" y="4069080"/>
            <a:ext cx="73152" cy="1234440"/>
          </a:xfrm>
          <a:prstGeom prst="rect">
            <a:avLst/>
          </a:prstGeom>
          <a:solidFill>
            <a:srgbClr val="357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34272" y="4197096"/>
            <a:ext cx="228600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400" b="1">
                <a:solidFill>
                  <a:srgbClr val="13263F"/>
                </a:solidFill>
              </a:rPr>
              <a:t>Project / Capex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34272" y="4599432"/>
            <a:ext cx="2286000" cy="61264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00" b="0">
                <a:solidFill>
                  <a:srgbClr val="2A3440"/>
                </a:solidFill>
              </a:rPr>
              <a:t>Facility matched to purpose</a:t>
            </a:r>
          </a:p>
        </p:txBody>
      </p:sp>
      <p:cxnSp>
        <p:nvCxnSpPr>
          <p:cNvPr id="26" name="Connector 25"/>
          <p:cNvCxnSpPr/>
          <p:nvPr/>
        </p:nvCxnSpPr>
        <p:spPr>
          <a:xfrm flipH="1" flipV="1">
            <a:off x="6537960" y="2651760"/>
            <a:ext cx="2331720" cy="2039112"/>
          </a:xfrm>
          <a:prstGeom prst="line">
            <a:avLst/>
          </a:prstGeom>
          <a:ln w="25400">
            <a:solidFill>
              <a:srgbClr val="357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657600" y="3886200"/>
            <a:ext cx="4846320" cy="10058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/>
            <a:r>
              <a:rPr sz="1600" b="1">
                <a:solidFill>
                  <a:srgbClr val="13263F"/>
                </a:solidFill>
              </a:rPr>
              <a:t>Borrower analysis
Business model + financials + management + industry + security + covenants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715000"/>
            <a:ext cx="10698480" cy="4114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/>
            <a:r>
              <a:rPr sz="1300" b="0">
                <a:solidFill>
                  <a:srgbClr val="67717D"/>
                </a:solidFill>
              </a:rPr>
              <a:t>Corporate lending is usually bespoke: structure, tenor, repayment profile and covenants are negotiated to fit the cash-flow cycle.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7717D"/>
                </a:solidFill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63F"/>
                </a:solidFill>
              </a:rPr>
              <a:t>Retail Loans vs Corporate Loans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7717D"/>
                </a:solidFill>
              </a:rPr>
              <a:t>Same banking principle—very different underwriting operating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2103120" cy="502920"/>
          </a:xfrm>
          <a:prstGeom prst="rect">
            <a:avLst/>
          </a:prstGeom>
          <a:solidFill>
            <a:srgbClr val="1326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307592"/>
            <a:ext cx="1956815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Dimension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606039" y="1234440"/>
            <a:ext cx="4297680" cy="502920"/>
          </a:xfrm>
          <a:prstGeom prst="rect">
            <a:avLst/>
          </a:prstGeom>
          <a:solidFill>
            <a:srgbClr val="1326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79191" y="1307592"/>
            <a:ext cx="4151376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Retail</a:t>
            </a:r>
          </a:p>
        </p:txBody>
      </p:sp>
      <p:sp>
        <p:nvSpPr>
          <p:cNvPr id="9" name="Rectangle 8"/>
          <p:cNvSpPr/>
          <p:nvPr/>
        </p:nvSpPr>
        <p:spPr>
          <a:xfrm>
            <a:off x="6903720" y="1234440"/>
            <a:ext cx="4754880" cy="502920"/>
          </a:xfrm>
          <a:prstGeom prst="rect">
            <a:avLst/>
          </a:prstGeom>
          <a:solidFill>
            <a:srgbClr val="1326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76872" y="1307592"/>
            <a:ext cx="4608576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Corporate / SME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737360"/>
            <a:ext cx="2103120" cy="612648"/>
          </a:xfrm>
          <a:prstGeom prst="rect">
            <a:avLst/>
          </a:prstGeom>
          <a:solidFill>
            <a:srgbClr val="F4F7FA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1819656"/>
            <a:ext cx="1956815" cy="43891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50" b="1">
                <a:solidFill>
                  <a:srgbClr val="13263F"/>
                </a:solidFill>
              </a:rPr>
              <a:t>Borrower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39" y="1737360"/>
            <a:ext cx="4297680" cy="612648"/>
          </a:xfrm>
          <a:prstGeom prst="rect">
            <a:avLst/>
          </a:prstGeom>
          <a:solidFill>
            <a:srgbClr val="F4F7FA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79191" y="1819656"/>
            <a:ext cx="4151376" cy="43891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50" b="0">
                <a:solidFill>
                  <a:srgbClr val="2A3440"/>
                </a:solidFill>
              </a:rPr>
              <a:t>Individual / household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03720" y="1737360"/>
            <a:ext cx="4754880" cy="612648"/>
          </a:xfrm>
          <a:prstGeom prst="rect">
            <a:avLst/>
          </a:prstGeom>
          <a:solidFill>
            <a:srgbClr val="F4F7FA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76872" y="1819656"/>
            <a:ext cx="4608576" cy="43891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50" b="0">
                <a:solidFill>
                  <a:srgbClr val="2A3440"/>
                </a:solidFill>
              </a:rPr>
              <a:t>Company / promoter group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350008"/>
            <a:ext cx="2103120" cy="612648"/>
          </a:xfrm>
          <a:prstGeom prst="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2432304"/>
            <a:ext cx="1956815" cy="43891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50" b="1">
                <a:solidFill>
                  <a:srgbClr val="13263F"/>
                </a:solidFill>
              </a:rPr>
              <a:t>Ticket size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06039" y="2350008"/>
            <a:ext cx="4297680" cy="612648"/>
          </a:xfrm>
          <a:prstGeom prst="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79191" y="2432304"/>
            <a:ext cx="4151376" cy="43891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50" b="0">
                <a:solidFill>
                  <a:srgbClr val="2A3440"/>
                </a:solidFill>
              </a:rPr>
              <a:t>Usually smaller; high volume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2350008"/>
            <a:ext cx="4754880" cy="612648"/>
          </a:xfrm>
          <a:prstGeom prst="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76872" y="2432304"/>
            <a:ext cx="4608576" cy="43891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50" b="0">
                <a:solidFill>
                  <a:srgbClr val="2A3440"/>
                </a:solidFill>
              </a:rPr>
              <a:t>Typically larger; lower volume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962656"/>
            <a:ext cx="2103120" cy="612648"/>
          </a:xfrm>
          <a:prstGeom prst="rect">
            <a:avLst/>
          </a:prstGeom>
          <a:solidFill>
            <a:srgbClr val="F4F7FA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" y="3044952"/>
            <a:ext cx="1956815" cy="43891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50" b="1">
                <a:solidFill>
                  <a:srgbClr val="13263F"/>
                </a:solidFill>
              </a:rPr>
              <a:t>Underwriting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06039" y="2962656"/>
            <a:ext cx="4297680" cy="612648"/>
          </a:xfrm>
          <a:prstGeom prst="rect">
            <a:avLst/>
          </a:prstGeom>
          <a:solidFill>
            <a:srgbClr val="F4F7FA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79191" y="3044952"/>
            <a:ext cx="4151376" cy="43891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50" b="0">
                <a:solidFill>
                  <a:srgbClr val="2A3440"/>
                </a:solidFill>
              </a:rPr>
              <a:t>Scorecards + policy + income checks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03720" y="2962656"/>
            <a:ext cx="4754880" cy="612648"/>
          </a:xfrm>
          <a:prstGeom prst="rect">
            <a:avLst/>
          </a:prstGeom>
          <a:solidFill>
            <a:srgbClr val="F4F7FA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76872" y="3044952"/>
            <a:ext cx="4608576" cy="43891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50" b="0">
                <a:solidFill>
                  <a:srgbClr val="2A3440"/>
                </a:solidFill>
              </a:rPr>
              <a:t>Financial analysis + industry + management + structure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575304"/>
            <a:ext cx="2103120" cy="612648"/>
          </a:xfrm>
          <a:prstGeom prst="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" y="3657600"/>
            <a:ext cx="1956815" cy="43891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50" b="1">
                <a:solidFill>
                  <a:srgbClr val="13263F"/>
                </a:solidFill>
              </a:rPr>
              <a:t>Repayment source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06039" y="3575304"/>
            <a:ext cx="4297680" cy="612648"/>
          </a:xfrm>
          <a:prstGeom prst="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79191" y="3657600"/>
            <a:ext cx="4151376" cy="43891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50" b="0">
                <a:solidFill>
                  <a:srgbClr val="2A3440"/>
                </a:solidFill>
              </a:rPr>
              <a:t>Salary / household cash flow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03720" y="3575304"/>
            <a:ext cx="4754880" cy="612648"/>
          </a:xfrm>
          <a:prstGeom prst="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76872" y="3657600"/>
            <a:ext cx="4608576" cy="43891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50" b="0">
                <a:solidFill>
                  <a:srgbClr val="2A3440"/>
                </a:solidFill>
              </a:rPr>
              <a:t>Operating cash flow, receivables, asset sale/refinancing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187952"/>
            <a:ext cx="2103120" cy="612648"/>
          </a:xfrm>
          <a:prstGeom prst="rect">
            <a:avLst/>
          </a:prstGeom>
          <a:solidFill>
            <a:srgbClr val="F4F7FA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72" y="4270248"/>
            <a:ext cx="1956815" cy="43891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50" b="1">
                <a:solidFill>
                  <a:srgbClr val="13263F"/>
                </a:solidFill>
              </a:rPr>
              <a:t>Security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06039" y="4187952"/>
            <a:ext cx="4297680" cy="612648"/>
          </a:xfrm>
          <a:prstGeom prst="rect">
            <a:avLst/>
          </a:prstGeom>
          <a:solidFill>
            <a:srgbClr val="F4F7FA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79191" y="4270248"/>
            <a:ext cx="4151376" cy="43891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50" b="0">
                <a:solidFill>
                  <a:srgbClr val="2A3440"/>
                </a:solidFill>
              </a:rPr>
              <a:t>May be secured or unsecured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03720" y="4187952"/>
            <a:ext cx="4754880" cy="612648"/>
          </a:xfrm>
          <a:prstGeom prst="rect">
            <a:avLst/>
          </a:prstGeom>
          <a:solidFill>
            <a:srgbClr val="F4F7FA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76872" y="4270248"/>
            <a:ext cx="4608576" cy="43891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50" b="0">
                <a:solidFill>
                  <a:srgbClr val="2A3440"/>
                </a:solidFill>
              </a:rPr>
              <a:t>Often structured with collateral, guarantees, covenants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4800600"/>
            <a:ext cx="2103120" cy="612648"/>
          </a:xfrm>
          <a:prstGeom prst="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6072" y="4882896"/>
            <a:ext cx="1956815" cy="43891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50" b="1">
                <a:solidFill>
                  <a:srgbClr val="13263F"/>
                </a:solidFill>
              </a:rPr>
              <a:t>Monitoring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06039" y="4800600"/>
            <a:ext cx="4297680" cy="612648"/>
          </a:xfrm>
          <a:prstGeom prst="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79191" y="4882896"/>
            <a:ext cx="4151376" cy="43891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50" b="0">
                <a:solidFill>
                  <a:srgbClr val="2A3440"/>
                </a:solidFill>
              </a:rPr>
              <a:t>Portfolio analytics &amp; automated triggers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03720" y="4800600"/>
            <a:ext cx="4754880" cy="612648"/>
          </a:xfrm>
          <a:prstGeom prst="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76872" y="4882896"/>
            <a:ext cx="4608576" cy="43891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50" b="0">
                <a:solidFill>
                  <a:srgbClr val="2A3440"/>
                </a:solidFill>
              </a:rPr>
              <a:t>Relationship-led + periodic financial / covenant review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5413248"/>
            <a:ext cx="2103120" cy="612648"/>
          </a:xfrm>
          <a:prstGeom prst="rect">
            <a:avLst/>
          </a:prstGeom>
          <a:solidFill>
            <a:srgbClr val="F4F7FA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76072" y="5495544"/>
            <a:ext cx="1956815" cy="43891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50" b="1">
                <a:solidFill>
                  <a:srgbClr val="13263F"/>
                </a:solidFill>
              </a:rPr>
              <a:t>Pricing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06039" y="5413248"/>
            <a:ext cx="4297680" cy="612648"/>
          </a:xfrm>
          <a:prstGeom prst="rect">
            <a:avLst/>
          </a:prstGeom>
          <a:solidFill>
            <a:srgbClr val="F4F7FA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79191" y="5495544"/>
            <a:ext cx="4151376" cy="43891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50" b="0">
                <a:solidFill>
                  <a:srgbClr val="2A3440"/>
                </a:solidFill>
              </a:rPr>
              <a:t>Segment / risk-based grids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03720" y="5413248"/>
            <a:ext cx="4754880" cy="612648"/>
          </a:xfrm>
          <a:prstGeom prst="rect">
            <a:avLst/>
          </a:prstGeom>
          <a:solidFill>
            <a:srgbClr val="F4F7FA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76872" y="5495544"/>
            <a:ext cx="4608576" cy="43891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50" b="0">
                <a:solidFill>
                  <a:srgbClr val="2A3440"/>
                </a:solidFill>
              </a:rPr>
              <a:t>Risk, structure, tenor &amp; relationship-based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/>
            <a:r>
              <a:rPr sz="1300" b="1">
                <a:solidFill>
                  <a:srgbClr val="13263F"/>
                </a:solidFill>
              </a:rPr>
              <a:t>Manager takeaway: retail optimizes for consistency and scale; corporate optimizes for structure, judgement and ongoing monitoring.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7717D"/>
                </a:solidFill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63F"/>
                </a:solidFill>
              </a:rPr>
              <a:t>How Mortgage Lending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7717D"/>
                </a:solidFill>
              </a:rPr>
              <a:t>Illustrative home-loan journey from application to amortization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399032"/>
            <a:ext cx="502920" cy="502920"/>
          </a:xfrm>
          <a:prstGeom prst="ellipse">
            <a:avLst/>
          </a:prstGeom>
          <a:solidFill>
            <a:srgbClr val="24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61288" y="1325880"/>
            <a:ext cx="2971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1288" y="1325880"/>
            <a:ext cx="73152" cy="1417320"/>
          </a:xfrm>
          <a:prstGeom prst="rect">
            <a:avLst/>
          </a:prstGeom>
          <a:solidFill>
            <a:srgbClr val="24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1453895"/>
            <a:ext cx="269748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400" b="1">
                <a:solidFill>
                  <a:srgbClr val="13263F"/>
                </a:solidFill>
              </a:rPr>
              <a:t>Property + borrower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856231"/>
            <a:ext cx="2697480" cy="79552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080" b="0">
                <a:solidFill>
                  <a:srgbClr val="2A3440"/>
                </a:solidFill>
              </a:rPr>
              <a:t>Income, bureau, obligations, property documents</a:t>
            </a:r>
          </a:p>
        </p:txBody>
      </p:sp>
      <p:sp>
        <p:nvSpPr>
          <p:cNvPr id="11" name="Oval 10"/>
          <p:cNvSpPr/>
          <p:nvPr/>
        </p:nvSpPr>
        <p:spPr>
          <a:xfrm>
            <a:off x="4297680" y="1399032"/>
            <a:ext cx="502920" cy="502920"/>
          </a:xfrm>
          <a:prstGeom prst="ellipse">
            <a:avLst/>
          </a:prstGeom>
          <a:solidFill>
            <a:srgbClr val="188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41732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56048" y="1325880"/>
            <a:ext cx="2971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56048" y="1325880"/>
            <a:ext cx="73152" cy="1417320"/>
          </a:xfrm>
          <a:prstGeom prst="rect">
            <a:avLst/>
          </a:prstGeom>
          <a:solidFill>
            <a:srgbClr val="188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1453895"/>
            <a:ext cx="269748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400" b="1">
                <a:solidFill>
                  <a:srgbClr val="13263F"/>
                </a:solidFill>
              </a:rPr>
              <a:t>Affordability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1856231"/>
            <a:ext cx="2697480" cy="79552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080" b="0">
                <a:solidFill>
                  <a:srgbClr val="2A3440"/>
                </a:solidFill>
              </a:rPr>
              <a:t>FOIR/DTI, down payment, tenor, interest-rate sensitivity</a:t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1399032"/>
            <a:ext cx="502920" cy="502920"/>
          </a:xfrm>
          <a:prstGeom prst="ellipse">
            <a:avLst/>
          </a:prstGeom>
          <a:solidFill>
            <a:srgbClr val="D67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141732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50808" y="1325880"/>
            <a:ext cx="2971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50808" y="1325880"/>
            <a:ext cx="73152" cy="1417320"/>
          </a:xfrm>
          <a:prstGeom prst="rect">
            <a:avLst/>
          </a:prstGeom>
          <a:solidFill>
            <a:srgbClr val="D67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1453895"/>
            <a:ext cx="269748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400" b="1">
                <a:solidFill>
                  <a:srgbClr val="13263F"/>
                </a:solidFill>
              </a:rPr>
              <a:t>Credit 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1856231"/>
            <a:ext cx="2697480" cy="79552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080" b="0">
                <a:solidFill>
                  <a:srgbClr val="2A3440"/>
                </a:solidFill>
              </a:rPr>
              <a:t>Policy + score + underwriting + legal/technical checks</a:t>
            </a:r>
          </a:p>
        </p:txBody>
      </p:sp>
      <p:sp>
        <p:nvSpPr>
          <p:cNvPr id="23" name="Oval 22"/>
          <p:cNvSpPr/>
          <p:nvPr/>
        </p:nvSpPr>
        <p:spPr>
          <a:xfrm>
            <a:off x="502920" y="3456432"/>
            <a:ext cx="502920" cy="502920"/>
          </a:xfrm>
          <a:prstGeom prst="ellipse">
            <a:avLst/>
          </a:prstGeom>
          <a:solidFill>
            <a:srgbClr val="357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47472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61288" y="3383280"/>
            <a:ext cx="2971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61288" y="3383280"/>
            <a:ext cx="73152" cy="1417320"/>
          </a:xfrm>
          <a:prstGeom prst="rect">
            <a:avLst/>
          </a:prstGeom>
          <a:solidFill>
            <a:srgbClr val="357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25880" y="3511296"/>
            <a:ext cx="269748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400" b="1">
                <a:solidFill>
                  <a:srgbClr val="13263F"/>
                </a:solidFill>
              </a:rPr>
              <a:t>Disbursement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3913632"/>
            <a:ext cx="2697480" cy="79552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080" b="0">
                <a:solidFill>
                  <a:srgbClr val="2A3440"/>
                </a:solidFill>
              </a:rPr>
              <a:t>Loan released per construction / purchase milestones</a:t>
            </a:r>
          </a:p>
        </p:txBody>
      </p:sp>
      <p:sp>
        <p:nvSpPr>
          <p:cNvPr id="29" name="Oval 28"/>
          <p:cNvSpPr/>
          <p:nvPr/>
        </p:nvSpPr>
        <p:spPr>
          <a:xfrm>
            <a:off x="4297680" y="3456432"/>
            <a:ext cx="502920" cy="502920"/>
          </a:xfrm>
          <a:prstGeom prst="ellipse">
            <a:avLst/>
          </a:prstGeom>
          <a:solidFill>
            <a:srgbClr val="B0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0" y="347472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56048" y="3383280"/>
            <a:ext cx="2971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956048" y="3383280"/>
            <a:ext cx="73152" cy="1417320"/>
          </a:xfrm>
          <a:prstGeom prst="rect">
            <a:avLst/>
          </a:prstGeom>
          <a:solidFill>
            <a:srgbClr val="B0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0640" y="3511296"/>
            <a:ext cx="269748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400" b="1">
                <a:solidFill>
                  <a:srgbClr val="13263F"/>
                </a:solidFill>
              </a:rPr>
              <a:t>Repayment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3913632"/>
            <a:ext cx="2697480" cy="79552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080" b="0">
                <a:solidFill>
                  <a:srgbClr val="2A3440"/>
                </a:solidFill>
              </a:rPr>
              <a:t>EMIs split between interest and principal</a:t>
            </a:r>
          </a:p>
        </p:txBody>
      </p:sp>
      <p:sp>
        <p:nvSpPr>
          <p:cNvPr id="35" name="Oval 34"/>
          <p:cNvSpPr/>
          <p:nvPr/>
        </p:nvSpPr>
        <p:spPr>
          <a:xfrm>
            <a:off x="8092440" y="3456432"/>
            <a:ext cx="502920" cy="502920"/>
          </a:xfrm>
          <a:prstGeom prst="ellipse">
            <a:avLst/>
          </a:prstGeom>
          <a:solidFill>
            <a:srgbClr val="13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92440" y="347472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50808" y="3383280"/>
            <a:ext cx="2971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750808" y="3383280"/>
            <a:ext cx="73152" cy="1417320"/>
          </a:xfrm>
          <a:prstGeom prst="rect">
            <a:avLst/>
          </a:prstGeom>
          <a:solidFill>
            <a:srgbClr val="13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15400" y="3511296"/>
            <a:ext cx="269748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400" b="1">
                <a:solidFill>
                  <a:srgbClr val="13263F"/>
                </a:solidFill>
              </a:rPr>
              <a:t>Monitoring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15400" y="3913632"/>
            <a:ext cx="2697480" cy="79552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080" b="0">
                <a:solidFill>
                  <a:srgbClr val="2A3440"/>
                </a:solidFill>
              </a:rPr>
              <a:t>Early warning, overdue management, collateral coverage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715000"/>
            <a:ext cx="10698480" cy="4572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/>
            <a:r>
              <a:rPr sz="1300" b="1">
                <a:solidFill>
                  <a:srgbClr val="13263F"/>
                </a:solidFill>
              </a:rPr>
              <a:t>Real-world risk point: a strong salary profile does not eliminate property, documentation, leverage and interest-rate risks.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7717D"/>
                </a:solidFill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63F"/>
                </a:solidFill>
              </a:rPr>
              <a:t>Mortgage Use Case | The Affordability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7717D"/>
                </a:solidFill>
              </a:rPr>
              <a:t>Illustrative case for training—not a lending recommendation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80160"/>
            <a:ext cx="27432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280160"/>
            <a:ext cx="73152" cy="4480560"/>
          </a:xfrm>
          <a:prstGeom prst="rect">
            <a:avLst/>
          </a:prstGeom>
          <a:solidFill>
            <a:srgbClr val="24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408176"/>
            <a:ext cx="246888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600" b="1">
                <a:solidFill>
                  <a:srgbClr val="13263F"/>
                </a:solidFill>
              </a:rPr>
              <a:t>Borrower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810512"/>
            <a:ext cx="2468880" cy="385876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300" b="0">
                <a:solidFill>
                  <a:srgbClr val="2A3440"/>
                </a:solidFill>
              </a:rPr>
              <a:t>Age 34
Stable salaried employment
Monthly net income: ₹1.80 lakh
Existing EMI: ₹20,000
Target property: ₹1.20 crore
Down payment: ₹30 lakh
Loan requested: ₹90 lakh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280160"/>
            <a:ext cx="3657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0" y="1280160"/>
            <a:ext cx="73152" cy="4480560"/>
          </a:xfrm>
          <a:prstGeom prst="rect">
            <a:avLst/>
          </a:prstGeom>
          <a:solidFill>
            <a:srgbClr val="188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30752" y="1408176"/>
            <a:ext cx="338328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600" b="1">
                <a:solidFill>
                  <a:srgbClr val="13263F"/>
                </a:solidFill>
              </a:rPr>
              <a:t>Credit 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0752" y="1810512"/>
            <a:ext cx="3383280" cy="385876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300" b="0">
                <a:solidFill>
                  <a:srgbClr val="2A3440"/>
                </a:solidFill>
              </a:rPr>
              <a:t>1. Is the proposed EMI affordable after existing obligations?
2. Is income stable and verifiable?
3. Is the property legally/technically acceptable?
4. Does the borrower retain a liquidity buffer after down payment?
5. What happens if rates rise or income falls?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1280160"/>
            <a:ext cx="4114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280160"/>
            <a:ext cx="73152" cy="4480560"/>
          </a:xfrm>
          <a:prstGeom prst="rect">
            <a:avLst/>
          </a:prstGeom>
          <a:solidFill>
            <a:srgbClr val="D67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16952" y="1408176"/>
            <a:ext cx="384048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600" b="1">
                <a:solidFill>
                  <a:srgbClr val="13263F"/>
                </a:solidFill>
              </a:rPr>
              <a:t>Decision logic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6952" y="1810512"/>
            <a:ext cx="3840480" cy="385876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250" b="0">
                <a:solidFill>
                  <a:srgbClr val="2A3440"/>
                </a:solidFill>
              </a:rPr>
              <a:t>Primary repayment: household cash flow
Secondary comfort: property security
Key red flags:
• stretched affordability
• unstable income
• weak documentation
• thin post-purchase liquidity
• collateral / title issues
Training lesson: collateral supports recovery; it does not replace repayment capacity.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7717D"/>
                </a:solidFill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63F"/>
                </a:solidFill>
              </a:rPr>
              <a:t>How Credit Card Lending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7717D"/>
                </a:solidFill>
              </a:rPr>
              <a:t>A revolving line where utilization, repayment behaviour and risk controls interact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00600" y="1234440"/>
            <a:ext cx="22860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00600" y="1234440"/>
            <a:ext cx="73152" cy="1234440"/>
          </a:xfrm>
          <a:prstGeom prst="rect">
            <a:avLst/>
          </a:prstGeom>
          <a:solidFill>
            <a:srgbClr val="24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65192" y="1362456"/>
            <a:ext cx="201168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400" b="1">
                <a:solidFill>
                  <a:srgbClr val="13263F"/>
                </a:solidFill>
              </a:rPr>
              <a:t>Credit limit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65192" y="1764792"/>
            <a:ext cx="2011680" cy="61264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00" b="0">
                <a:solidFill>
                  <a:srgbClr val="2A3440"/>
                </a:solidFill>
              </a:rPr>
              <a:t>₹L
approved exposure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2057400"/>
            <a:ext cx="22860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38160" y="2057400"/>
            <a:ext cx="73152" cy="1234440"/>
          </a:xfrm>
          <a:prstGeom prst="rect">
            <a:avLst/>
          </a:prstGeom>
          <a:solidFill>
            <a:srgbClr val="188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2185416"/>
            <a:ext cx="201168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400" b="1">
                <a:solidFill>
                  <a:srgbClr val="13263F"/>
                </a:solidFill>
              </a:rPr>
              <a:t>Purchase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2587752"/>
            <a:ext cx="2011680" cy="61264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00" b="0">
                <a:solidFill>
                  <a:srgbClr val="2A3440"/>
                </a:solidFill>
              </a:rPr>
              <a:t>Merchant
transaction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4160520"/>
            <a:ext cx="22860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03720" y="4160520"/>
            <a:ext cx="73152" cy="1234440"/>
          </a:xfrm>
          <a:prstGeom prst="rect">
            <a:avLst/>
          </a:prstGeom>
          <a:solidFill>
            <a:srgbClr val="D67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68312" y="4288536"/>
            <a:ext cx="201168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400" b="1">
                <a:solidFill>
                  <a:srgbClr val="13263F"/>
                </a:solidFill>
              </a:rPr>
              <a:t>Statement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68312" y="4690872"/>
            <a:ext cx="2011680" cy="61264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00" b="0">
                <a:solidFill>
                  <a:srgbClr val="2A3440"/>
                </a:solidFill>
              </a:rPr>
              <a:t>Total due /
minimum due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4160520"/>
            <a:ext cx="22860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0" y="4160520"/>
            <a:ext cx="73152" cy="1234440"/>
          </a:xfrm>
          <a:prstGeom prst="rect">
            <a:avLst/>
          </a:prstGeom>
          <a:solidFill>
            <a:srgbClr val="357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07792" y="4288536"/>
            <a:ext cx="201168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400" b="1">
                <a:solidFill>
                  <a:srgbClr val="13263F"/>
                </a:solidFill>
              </a:rPr>
              <a:t>Repayment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7792" y="4690872"/>
            <a:ext cx="2011680" cy="61264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00" b="0">
                <a:solidFill>
                  <a:srgbClr val="2A3440"/>
                </a:solidFill>
              </a:rPr>
              <a:t>Full / partial
payment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2057400"/>
            <a:ext cx="22860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" y="2057400"/>
            <a:ext cx="73152" cy="1234440"/>
          </a:xfrm>
          <a:prstGeom prst="rect">
            <a:avLst/>
          </a:prstGeom>
          <a:solidFill>
            <a:srgbClr val="B0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4712" y="2185416"/>
            <a:ext cx="201168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400" b="1">
                <a:solidFill>
                  <a:srgbClr val="13263F"/>
                </a:solidFill>
              </a:rPr>
              <a:t>Revolve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" y="2587752"/>
            <a:ext cx="2011680" cy="61264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00" b="0">
                <a:solidFill>
                  <a:srgbClr val="2A3440"/>
                </a:solidFill>
              </a:rPr>
              <a:t>Interest on
carried balance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943600" y="1856232"/>
            <a:ext cx="3337560" cy="822960"/>
          </a:xfrm>
          <a:prstGeom prst="line">
            <a:avLst/>
          </a:prstGeom>
          <a:ln w="25400">
            <a:solidFill>
              <a:srgbClr val="DDE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8046720" y="2679192"/>
            <a:ext cx="1234440" cy="2103120"/>
          </a:xfrm>
          <a:prstGeom prst="line">
            <a:avLst/>
          </a:prstGeom>
          <a:ln w="25400">
            <a:solidFill>
              <a:srgbClr val="DDE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3886200" y="4782312"/>
            <a:ext cx="4160520" cy="0"/>
          </a:xfrm>
          <a:prstGeom prst="line">
            <a:avLst/>
          </a:prstGeom>
          <a:ln w="25400">
            <a:solidFill>
              <a:srgbClr val="DDE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2103120" y="2679192"/>
            <a:ext cx="1783080" cy="2103120"/>
          </a:xfrm>
          <a:prstGeom prst="line">
            <a:avLst/>
          </a:prstGeom>
          <a:ln w="25400">
            <a:solidFill>
              <a:srgbClr val="DDE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103120" y="1856232"/>
            <a:ext cx="3840480" cy="822960"/>
          </a:xfrm>
          <a:prstGeom prst="line">
            <a:avLst/>
          </a:prstGeom>
          <a:ln w="25400">
            <a:solidFill>
              <a:srgbClr val="DDE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069080" y="2788920"/>
            <a:ext cx="3840480" cy="7315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/>
            <a:r>
              <a:rPr sz="1500" b="1">
                <a:solidFill>
                  <a:srgbClr val="13263F"/>
                </a:solidFill>
              </a:rPr>
              <a:t>Risk signals
Utilization • delinquency • payment ratio • spending pattern • bureau behaviour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806440"/>
            <a:ext cx="1069848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/>
            <a:r>
              <a:rPr sz="1300" b="0">
                <a:solidFill>
                  <a:srgbClr val="67717D"/>
                </a:solidFill>
              </a:rPr>
              <a:t>Key concept: a card is not just a payment instrument—it is an unsecured revolving credit portfolio.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7717D"/>
                </a:solidFill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63F"/>
                </a:solidFill>
              </a:rPr>
              <a:t>Credit Card Use Case | Early-Warning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7717D"/>
                </a:solidFill>
              </a:rPr>
              <a:t>Illustrative portfolio-monitoring scenario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2004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73152" cy="4297680"/>
          </a:xfrm>
          <a:prstGeom prst="rect">
            <a:avLst/>
          </a:prstGeom>
          <a:solidFill>
            <a:srgbClr val="357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453895"/>
            <a:ext cx="292608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600" b="1">
                <a:solidFill>
                  <a:srgbClr val="13263F"/>
                </a:solidFill>
              </a:rPr>
              <a:t>Month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856231"/>
            <a:ext cx="2926080" cy="367588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400" b="0">
                <a:solidFill>
                  <a:srgbClr val="2A3440"/>
                </a:solidFill>
              </a:rPr>
              <a:t>Limit: ₹3.0 lakh
Utilization: 32%
Payment: full statement
No overdue
Stable income profile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325880"/>
            <a:ext cx="32004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325880"/>
            <a:ext cx="73152" cy="4297680"/>
          </a:xfrm>
          <a:prstGeom prst="rect">
            <a:avLst/>
          </a:prstGeom>
          <a:solidFill>
            <a:srgbClr val="D67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1453895"/>
            <a:ext cx="292608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600" b="1">
                <a:solidFill>
                  <a:srgbClr val="13263F"/>
                </a:solidFill>
              </a:rPr>
              <a:t>Month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1856231"/>
            <a:ext cx="2926080" cy="367588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400" b="0">
                <a:solidFill>
                  <a:srgbClr val="2A3440"/>
                </a:solidFill>
              </a:rPr>
              <a:t>Utilization: 78%
Payment: minimum due
Cash withdrawals rise
Spending concentration changes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1325880"/>
            <a:ext cx="32004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66760" y="1325880"/>
            <a:ext cx="73152" cy="4297680"/>
          </a:xfrm>
          <a:prstGeom prst="rect">
            <a:avLst/>
          </a:prstGeom>
          <a:solidFill>
            <a:srgbClr val="B0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31352" y="1453895"/>
            <a:ext cx="292608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600" b="1">
                <a:solidFill>
                  <a:srgbClr val="13263F"/>
                </a:solidFill>
              </a:rPr>
              <a:t>Risk 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1352" y="1856231"/>
            <a:ext cx="2926080" cy="367588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300" b="0">
                <a:solidFill>
                  <a:srgbClr val="2A3440"/>
                </a:solidFill>
              </a:rPr>
              <a:t>Trigger review
→ reduce incremental exposure
→ targeted customer contact
→ reassess affordability
→ intensify monitoring if delinquency emerges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897880"/>
            <a:ext cx="1069848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/>
            <a:r>
              <a:rPr sz="1300" b="1">
                <a:solidFill>
                  <a:srgbClr val="13263F"/>
                </a:solidFill>
              </a:rPr>
              <a:t>Training lesson: risk often deteriorates before the first missed payment. Behavioural data can create an early-warning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7717D"/>
                </a:solidFill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63F"/>
                </a:solidFill>
              </a:rPr>
              <a:t>How SME Lending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7717D"/>
                </a:solidFill>
              </a:rPr>
              <a:t>Underwrite the operating cycle—not just the balance sheet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1828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920240"/>
            <a:ext cx="73152" cy="1417320"/>
          </a:xfrm>
          <a:prstGeom prst="rect">
            <a:avLst/>
          </a:prstGeom>
          <a:solidFill>
            <a:srgbClr val="24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048256"/>
            <a:ext cx="155448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400" b="1">
                <a:solidFill>
                  <a:srgbClr val="13263F"/>
                </a:solidFill>
              </a:rPr>
              <a:t>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1554480" cy="79552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00" b="0">
                <a:solidFill>
                  <a:srgbClr val="2A3440"/>
                </a:solidFill>
              </a:rPr>
              <a:t>₹10 Cr
annual sales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23160" y="2633472"/>
            <a:ext cx="411480" cy="0"/>
          </a:xfrm>
          <a:prstGeom prst="line">
            <a:avLst/>
          </a:prstGeom>
          <a:ln w="25400">
            <a:solidFill>
              <a:srgbClr val="24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80360" y="1920240"/>
            <a:ext cx="1828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80360" y="1920240"/>
            <a:ext cx="73152" cy="1417320"/>
          </a:xfrm>
          <a:prstGeom prst="rect">
            <a:avLst/>
          </a:prstGeom>
          <a:solidFill>
            <a:srgbClr val="188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2048256"/>
            <a:ext cx="155448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400" b="1">
                <a:solidFill>
                  <a:srgbClr val="13263F"/>
                </a:solidFill>
              </a:rPr>
              <a:t>Receivables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2" y="2450592"/>
            <a:ext cx="1554480" cy="79552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00" b="0">
                <a:solidFill>
                  <a:srgbClr val="2A3440"/>
                </a:solidFill>
              </a:rPr>
              <a:t>30–60 day
customer credit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09160" y="2633472"/>
            <a:ext cx="411480" cy="0"/>
          </a:xfrm>
          <a:prstGeom prst="line">
            <a:avLst/>
          </a:prstGeom>
          <a:ln w="25400">
            <a:solidFill>
              <a:srgbClr val="1882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66360" y="1920240"/>
            <a:ext cx="1828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66360" y="1920240"/>
            <a:ext cx="73152" cy="1417320"/>
          </a:xfrm>
          <a:prstGeom prst="rect">
            <a:avLst/>
          </a:prstGeom>
          <a:solidFill>
            <a:srgbClr val="D67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30952" y="2048256"/>
            <a:ext cx="155448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400" b="1">
                <a:solidFill>
                  <a:srgbClr val="13263F"/>
                </a:solidFill>
              </a:rPr>
              <a:t>Inventory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0952" y="2450592"/>
            <a:ext cx="1554480" cy="79552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00" b="0">
                <a:solidFill>
                  <a:srgbClr val="2A3440"/>
                </a:solidFill>
              </a:rPr>
              <a:t>Raw material /
finished goods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995160" y="2633472"/>
            <a:ext cx="411480" cy="0"/>
          </a:xfrm>
          <a:prstGeom prst="line">
            <a:avLst/>
          </a:prstGeom>
          <a:ln w="25400">
            <a:solidFill>
              <a:srgbClr val="D67D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52360" y="1920240"/>
            <a:ext cx="1828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52360" y="1920240"/>
            <a:ext cx="73152" cy="1417320"/>
          </a:xfrm>
          <a:prstGeom prst="rect">
            <a:avLst/>
          </a:prstGeom>
          <a:solidFill>
            <a:srgbClr val="357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16952" y="2048256"/>
            <a:ext cx="155448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400" b="1">
                <a:solidFill>
                  <a:srgbClr val="13263F"/>
                </a:solidFill>
              </a:rPr>
              <a:t>Payables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6952" y="2450592"/>
            <a:ext cx="1554480" cy="79552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00" b="0">
                <a:solidFill>
                  <a:srgbClr val="2A3440"/>
                </a:solidFill>
              </a:rPr>
              <a:t>Supplier
credit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281160" y="2633472"/>
            <a:ext cx="411480" cy="0"/>
          </a:xfrm>
          <a:prstGeom prst="line">
            <a:avLst/>
          </a:prstGeom>
          <a:ln w="25400">
            <a:solidFill>
              <a:srgbClr val="357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738360" y="1920240"/>
            <a:ext cx="1828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38360" y="1920240"/>
            <a:ext cx="73152" cy="1417320"/>
          </a:xfrm>
          <a:prstGeom prst="rect">
            <a:avLst/>
          </a:prstGeom>
          <a:solidFill>
            <a:srgbClr val="13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02952" y="2048256"/>
            <a:ext cx="155448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400" b="1">
                <a:solidFill>
                  <a:srgbClr val="13263F"/>
                </a:solidFill>
              </a:rPr>
              <a:t>Cash 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2952" y="2450592"/>
            <a:ext cx="1554480" cy="79552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00" b="0">
                <a:solidFill>
                  <a:srgbClr val="2A3440"/>
                </a:solidFill>
              </a:rPr>
              <a:t>Collections
fund next cycle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28800" y="3977639"/>
            <a:ext cx="3566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828800" y="3977639"/>
            <a:ext cx="73152" cy="1234440"/>
          </a:xfrm>
          <a:prstGeom prst="rect">
            <a:avLst/>
          </a:prstGeom>
          <a:solidFill>
            <a:srgbClr val="24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993392" y="4105655"/>
            <a:ext cx="329184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400" b="1">
                <a:solidFill>
                  <a:srgbClr val="13263F"/>
                </a:solidFill>
              </a:rPr>
              <a:t>Facility A | Cash Credit / WC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93392" y="4507992"/>
            <a:ext cx="3291840" cy="61264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50" b="0">
                <a:solidFill>
                  <a:srgbClr val="2A3440"/>
                </a:solidFill>
              </a:rPr>
              <a:t>Funds inventory + receivables gap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0" y="3977639"/>
            <a:ext cx="3566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92240" y="3977639"/>
            <a:ext cx="73152" cy="1234440"/>
          </a:xfrm>
          <a:prstGeom prst="rect">
            <a:avLst/>
          </a:prstGeom>
          <a:solidFill>
            <a:srgbClr val="357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56831" y="4105655"/>
            <a:ext cx="329184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400" b="1">
                <a:solidFill>
                  <a:srgbClr val="13263F"/>
                </a:solidFill>
              </a:rPr>
              <a:t>Facility B | Term Loan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56831" y="4507992"/>
            <a:ext cx="3291840" cy="61264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50" b="0">
                <a:solidFill>
                  <a:srgbClr val="2A3440"/>
                </a:solidFill>
              </a:rPr>
              <a:t>Funds equipment / capacity expansion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806440"/>
            <a:ext cx="10789920" cy="3657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/>
            <a:r>
              <a:rPr sz="1300" b="1">
                <a:solidFill>
                  <a:srgbClr val="13263F"/>
                </a:solidFill>
              </a:rPr>
              <a:t>Key underwriting lens: cash conversion cycle + debtor quality + promoter contribution + banking conduct + leverage + security.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7717D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63F"/>
                </a:solidFill>
              </a:rPr>
              <a:t>SME Use Case | Working Capital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7717D"/>
                </a:solidFill>
              </a:rPr>
              <a:t>Illustrative manufacturing business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27432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73152" cy="4526280"/>
          </a:xfrm>
          <a:prstGeom prst="rect">
            <a:avLst/>
          </a:prstGeom>
          <a:solidFill>
            <a:srgbClr val="24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362456"/>
            <a:ext cx="246888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600" b="1">
                <a:solidFill>
                  <a:srgbClr val="13263F"/>
                </a:solidFill>
              </a:rPr>
              <a:t>Business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764792"/>
            <a:ext cx="2468880" cy="390448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300" b="0">
                <a:solidFill>
                  <a:srgbClr val="2A3440"/>
                </a:solidFill>
              </a:rPr>
              <a:t>Annual sales: ₹10 Cr
Gross margin: 18%
Receivable days: 45
Inventory days: 30
Payable days: 25
Promoter contribution: meaningful
Customer concentration: moderate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234440"/>
            <a:ext cx="36576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0" y="1234440"/>
            <a:ext cx="73152" cy="4526280"/>
          </a:xfrm>
          <a:prstGeom prst="rect">
            <a:avLst/>
          </a:prstGeom>
          <a:solidFill>
            <a:srgbClr val="188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30752" y="1362456"/>
            <a:ext cx="338328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600" b="1">
                <a:solidFill>
                  <a:srgbClr val="13263F"/>
                </a:solidFill>
              </a:rPr>
              <a:t>Credit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0752" y="1764792"/>
            <a:ext cx="3383280" cy="390448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250" b="0">
                <a:solidFill>
                  <a:srgbClr val="2A3440"/>
                </a:solidFill>
              </a:rPr>
              <a:t>Estimate operating working-capital need from the cash cycle.
Stress-test:
• slower collections
• lower sales
• margin compression
• top-customer loss
• higher input costs
Validate through GST / bank statements / audited financials / stock &amp; debtor data as applicable.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1234440"/>
            <a:ext cx="41148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234440"/>
            <a:ext cx="73152" cy="4526280"/>
          </a:xfrm>
          <a:prstGeom prst="rect">
            <a:avLst/>
          </a:prstGeom>
          <a:solidFill>
            <a:srgbClr val="D67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16952" y="1362456"/>
            <a:ext cx="384048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600" b="1">
                <a:solidFill>
                  <a:srgbClr val="13263F"/>
                </a:solidFill>
              </a:rPr>
              <a:t>Structure the facility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6952" y="1764792"/>
            <a:ext cx="3840480" cy="390448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250" b="0">
                <a:solidFill>
                  <a:srgbClr val="2A3440"/>
                </a:solidFill>
              </a:rPr>
              <a:t>Primary repayment: business collections
Possible structure:
• working-capital line
• drawing power linked to eligible receivables / inventory
• periodic stock / debtor reporting
• covenants / triggers
• collateral or guarantees where appropriate
Lesson: structure can reduce risk when it matches the cash-flow cycle.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7717D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63F"/>
                </a:solidFill>
              </a:rPr>
              <a:t>Corporate Lending | Match Facility to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7717D"/>
                </a:solidFill>
              </a:rPr>
              <a:t>The same company can need multiple facilities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36576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73152" cy="749808"/>
          </a:xfrm>
          <a:prstGeom prst="rect">
            <a:avLst/>
          </a:prstGeom>
          <a:solidFill>
            <a:srgbClr val="24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362456"/>
            <a:ext cx="338328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400" b="1">
                <a:solidFill>
                  <a:srgbClr val="13263F"/>
                </a:solidFill>
              </a:rPr>
              <a:t>Working Capital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764792"/>
            <a:ext cx="3383280" cy="128015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050" b="0">
                <a:solidFill>
                  <a:srgbClr val="2A3440"/>
                </a:solidFill>
              </a:rPr>
              <a:t>Bridge timing gap between purchases, production and collections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389888"/>
            <a:ext cx="2103120" cy="393192"/>
          </a:xfrm>
          <a:prstGeom prst="roundRect">
            <a:avLst/>
          </a:prstGeom>
          <a:solidFill>
            <a:srgbClr val="13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408176"/>
            <a:ext cx="2103120" cy="3931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PRIMARY REPAYMENT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353312"/>
            <a:ext cx="4297680" cy="47548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250" b="1">
                <a:solidFill>
                  <a:srgbClr val="2A3440"/>
                </a:solidFill>
              </a:rPr>
              <a:t>Cash conversion cycle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167128"/>
            <a:ext cx="36576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167128"/>
            <a:ext cx="73152" cy="749808"/>
          </a:xfrm>
          <a:prstGeom prst="rect">
            <a:avLst/>
          </a:prstGeom>
          <a:solidFill>
            <a:srgbClr val="188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2295144"/>
            <a:ext cx="338328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400" b="1">
                <a:solidFill>
                  <a:srgbClr val="13263F"/>
                </a:solidFill>
              </a:rPr>
              <a:t>Capex / Term Loan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697480"/>
            <a:ext cx="3383280" cy="128015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050" b="0">
                <a:solidFill>
                  <a:srgbClr val="2A3440"/>
                </a:solidFill>
              </a:rPr>
              <a:t>Fund plant, machinery, technology or expansion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2322576"/>
            <a:ext cx="2103120" cy="393192"/>
          </a:xfrm>
          <a:prstGeom prst="roundRect">
            <a:avLst/>
          </a:prstGeom>
          <a:solidFill>
            <a:srgbClr val="13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340864"/>
            <a:ext cx="2103120" cy="3931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PRIMARY REPAYMENT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2286000"/>
            <a:ext cx="4297680" cy="47548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250" b="1">
                <a:solidFill>
                  <a:srgbClr val="2A3440"/>
                </a:solidFill>
              </a:rPr>
              <a:t>Future operating cash flow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099816"/>
            <a:ext cx="36576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3099816"/>
            <a:ext cx="73152" cy="749808"/>
          </a:xfrm>
          <a:prstGeom prst="rect">
            <a:avLst/>
          </a:prstGeom>
          <a:solidFill>
            <a:srgbClr val="D67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3227832"/>
            <a:ext cx="338328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400" b="1">
                <a:solidFill>
                  <a:srgbClr val="13263F"/>
                </a:solidFill>
              </a:rPr>
              <a:t>Trade Finance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" y="3630168"/>
            <a:ext cx="3383280" cy="128015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050" b="0">
                <a:solidFill>
                  <a:srgbClr val="2A3440"/>
                </a:solidFill>
              </a:rPr>
              <a:t>Support imports/exports and supplier/customer transactions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3255264"/>
            <a:ext cx="2103120" cy="393192"/>
          </a:xfrm>
          <a:prstGeom prst="roundRect">
            <a:avLst/>
          </a:prstGeom>
          <a:solidFill>
            <a:srgbClr val="13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3273552"/>
            <a:ext cx="2103120" cy="3931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PRIMARY REPAYMENT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3218688"/>
            <a:ext cx="4297680" cy="47548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250" b="1">
                <a:solidFill>
                  <a:srgbClr val="2A3440"/>
                </a:solidFill>
              </a:rPr>
              <a:t>Underlying trade flow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032504"/>
            <a:ext cx="36576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" y="4032504"/>
            <a:ext cx="73152" cy="749808"/>
          </a:xfrm>
          <a:prstGeom prst="rect">
            <a:avLst/>
          </a:prstGeom>
          <a:solidFill>
            <a:srgbClr val="357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" y="4160520"/>
            <a:ext cx="338328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400" b="1">
                <a:solidFill>
                  <a:srgbClr val="13263F"/>
                </a:solidFill>
              </a:rPr>
              <a:t>Project Finance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562856"/>
            <a:ext cx="3383280" cy="128015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050" b="0">
                <a:solidFill>
                  <a:srgbClr val="2A3440"/>
                </a:solidFill>
              </a:rPr>
              <a:t>Fund ring-fenced project with defined cash flows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0" y="4187952"/>
            <a:ext cx="2103120" cy="393192"/>
          </a:xfrm>
          <a:prstGeom prst="roundRect">
            <a:avLst/>
          </a:prstGeom>
          <a:solidFill>
            <a:srgbClr val="13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4206240"/>
            <a:ext cx="2103120" cy="3931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PRIMARY REPAYMENT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4151376"/>
            <a:ext cx="4297680" cy="47548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250" b="1">
                <a:solidFill>
                  <a:srgbClr val="2A3440"/>
                </a:solidFill>
              </a:rPr>
              <a:t>Project cash flows + security package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4965192"/>
            <a:ext cx="36576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4360" y="4965192"/>
            <a:ext cx="73152" cy="749808"/>
          </a:xfrm>
          <a:prstGeom prst="rect">
            <a:avLst/>
          </a:prstGeom>
          <a:solidFill>
            <a:srgbClr val="B0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8952" y="5093207"/>
            <a:ext cx="338328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400" b="1">
                <a:solidFill>
                  <a:srgbClr val="13263F"/>
                </a:solidFill>
              </a:rPr>
              <a:t>Acquisition / Structured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" y="5495544"/>
            <a:ext cx="3383280" cy="128015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050" b="0">
                <a:solidFill>
                  <a:srgbClr val="2A3440"/>
                </a:solidFill>
              </a:rPr>
              <a:t>Finance strategic acquisition or complex capital need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5120640"/>
            <a:ext cx="2103120" cy="393192"/>
          </a:xfrm>
          <a:prstGeom prst="roundRect">
            <a:avLst/>
          </a:prstGeom>
          <a:solidFill>
            <a:srgbClr val="13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5138927"/>
            <a:ext cx="2103120" cy="3931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PRIMARY REPAYMENT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5084064"/>
            <a:ext cx="4297680" cy="47548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250" b="1">
                <a:solidFill>
                  <a:srgbClr val="2A3440"/>
                </a:solidFill>
              </a:rPr>
              <a:t>Combined / transaction cash flows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989320"/>
            <a:ext cx="10789920" cy="2743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/>
            <a:r>
              <a:rPr sz="1300" b="1">
                <a:solidFill>
                  <a:srgbClr val="13263F"/>
                </a:solidFill>
              </a:rPr>
              <a:t>Structuring principle: purpose → cash-flow profile → tenor → security → covenants → pricing.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7717D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63F"/>
                </a:solidFill>
              </a:rPr>
              <a:t>Credit Underwriting Lens | From Application to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7717D"/>
                </a:solidFill>
              </a:rPr>
              <a:t>A common framework across retail, SME and corporate lending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73152" cy="1828800"/>
          </a:xfrm>
          <a:prstGeom prst="rect">
            <a:avLst/>
          </a:prstGeom>
          <a:solidFill>
            <a:srgbClr val="24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62456"/>
            <a:ext cx="315468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500" b="1">
                <a:solidFill>
                  <a:srgbClr val="13263F"/>
                </a:solidFill>
              </a:rPr>
              <a:t>1. Identity &amp; KYC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764792"/>
            <a:ext cx="3154680" cy="1207007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200" b="0">
                <a:solidFill>
                  <a:srgbClr val="2A3440"/>
                </a:solidFill>
              </a:rPr>
              <a:t>Who is the borrower?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313432"/>
            <a:ext cx="306324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50" b="0">
                <a:solidFill>
                  <a:srgbClr val="67717D"/>
                </a:solidFill>
              </a:rPr>
              <a:t>Identity, ownership, legal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23444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234440"/>
            <a:ext cx="73152" cy="1828800"/>
          </a:xfrm>
          <a:prstGeom prst="rect">
            <a:avLst/>
          </a:prstGeom>
          <a:solidFill>
            <a:srgbClr val="188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362456"/>
            <a:ext cx="315468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500" b="1">
                <a:solidFill>
                  <a:srgbClr val="13263F"/>
                </a:solidFill>
              </a:rPr>
              <a:t>2. Capacity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1764792"/>
            <a:ext cx="3154680" cy="1207007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200" b="0">
                <a:solidFill>
                  <a:srgbClr val="2A3440"/>
                </a:solidFill>
              </a:rPr>
              <a:t>Can the borrower repay?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313432"/>
            <a:ext cx="306324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50" b="0">
                <a:solidFill>
                  <a:srgbClr val="67717D"/>
                </a:solidFill>
              </a:rPr>
              <a:t>Income / EBITDA / DSCR / cash 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23444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234440"/>
            <a:ext cx="73152" cy="1828800"/>
          </a:xfrm>
          <a:prstGeom prst="rect">
            <a:avLst/>
          </a:prstGeom>
          <a:solidFill>
            <a:srgbClr val="D67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1362456"/>
            <a:ext cx="315468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500" b="1">
                <a:solidFill>
                  <a:srgbClr val="13263F"/>
                </a:solidFill>
              </a:rPr>
              <a:t>3. Capital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1764792"/>
            <a:ext cx="3154680" cy="1207007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200" b="0">
                <a:solidFill>
                  <a:srgbClr val="2A3440"/>
                </a:solidFill>
              </a:rPr>
              <a:t>What is the borrower’s own stake?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313432"/>
            <a:ext cx="306324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50" b="0">
                <a:solidFill>
                  <a:srgbClr val="67717D"/>
                </a:solidFill>
              </a:rPr>
              <a:t>Equity, net worth, leverage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56616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566160"/>
            <a:ext cx="73152" cy="1828800"/>
          </a:xfrm>
          <a:prstGeom prst="rect">
            <a:avLst/>
          </a:prstGeom>
          <a:solidFill>
            <a:srgbClr val="357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694176"/>
            <a:ext cx="315468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500" b="1">
                <a:solidFill>
                  <a:srgbClr val="13263F"/>
                </a:solidFill>
              </a:rPr>
              <a:t>4. Collateral &amp; Structure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096511"/>
            <a:ext cx="3154680" cy="1207007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200" b="0">
                <a:solidFill>
                  <a:srgbClr val="2A3440"/>
                </a:solidFill>
              </a:rPr>
              <a:t>What protects downside?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645152"/>
            <a:ext cx="306324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50" b="0">
                <a:solidFill>
                  <a:srgbClr val="67717D"/>
                </a:solidFill>
              </a:rPr>
              <a:t>Security, guarantees, covenants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356616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3566160"/>
            <a:ext cx="73152" cy="1828800"/>
          </a:xfrm>
          <a:prstGeom prst="rect">
            <a:avLst/>
          </a:prstGeom>
          <a:solidFill>
            <a:srgbClr val="B0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07992" y="3694176"/>
            <a:ext cx="315468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500" b="1">
                <a:solidFill>
                  <a:srgbClr val="13263F"/>
                </a:solidFill>
              </a:rPr>
              <a:t>5. Conditions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07992" y="4096511"/>
            <a:ext cx="3154680" cy="1207007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200" b="0">
                <a:solidFill>
                  <a:srgbClr val="2A3440"/>
                </a:solidFill>
              </a:rPr>
              <a:t>What could change the risk?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07992" y="4645152"/>
            <a:ext cx="306324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50" b="0">
                <a:solidFill>
                  <a:srgbClr val="67717D"/>
                </a:solidFill>
              </a:rPr>
              <a:t>Industry, rates, regulation, concentration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356616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3566160"/>
            <a:ext cx="73152" cy="1828800"/>
          </a:xfrm>
          <a:prstGeom prst="rect">
            <a:avLst/>
          </a:prstGeom>
          <a:solidFill>
            <a:srgbClr val="13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2752" y="3694176"/>
            <a:ext cx="315468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500" b="1">
                <a:solidFill>
                  <a:srgbClr val="13263F"/>
                </a:solidFill>
              </a:rPr>
              <a:t>6. Monitoring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2" y="4096511"/>
            <a:ext cx="3154680" cy="1207007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200" b="0">
                <a:solidFill>
                  <a:srgbClr val="2A3440"/>
                </a:solidFill>
              </a:rPr>
              <a:t>What happens after disbursement?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752" y="4645152"/>
            <a:ext cx="306324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50" b="0">
                <a:solidFill>
                  <a:srgbClr val="67717D"/>
                </a:solidFill>
              </a:rPr>
              <a:t>Triggers, reporting, conduct, early warning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989320"/>
            <a:ext cx="10789920" cy="2743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/>
            <a:r>
              <a:rPr sz="1300" b="1">
                <a:solidFill>
                  <a:srgbClr val="13263F"/>
                </a:solidFill>
              </a:rPr>
              <a:t>The decision is strongest when evidence, structure and monitoring all point to the same repayment story.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7717D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63F"/>
                </a:solidFill>
              </a:rPr>
              <a:t>Integrated Case Study | Retail → SME → Corporate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7717D"/>
                </a:solidFill>
              </a:rPr>
              <a:t>One borrower journey, three lending lenses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35204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73152" cy="4434840"/>
          </a:xfrm>
          <a:prstGeom prst="rect">
            <a:avLst/>
          </a:prstGeom>
          <a:solidFill>
            <a:srgbClr val="24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408176"/>
            <a:ext cx="324612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500" b="1">
                <a:solidFill>
                  <a:srgbClr val="13263F"/>
                </a:solidFill>
              </a:rPr>
              <a:t>Stage 1 | Individual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810512"/>
            <a:ext cx="3246120" cy="381304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250" b="0">
                <a:solidFill>
                  <a:srgbClr val="2A3440"/>
                </a:solidFill>
              </a:rPr>
              <a:t>Promoter earns salary / draws business income.
Retail lens:
• personal bureau
• household obligations
• mortgage affordability
• card utilization
Question: is personal leverage manageable?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80160"/>
            <a:ext cx="35204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280160"/>
            <a:ext cx="73152" cy="4434840"/>
          </a:xfrm>
          <a:prstGeom prst="rect">
            <a:avLst/>
          </a:prstGeom>
          <a:solidFill>
            <a:srgbClr val="188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408176"/>
            <a:ext cx="324612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500" b="1">
                <a:solidFill>
                  <a:srgbClr val="13263F"/>
                </a:solidFill>
              </a:rPr>
              <a:t>Stage 2 | SME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1810512"/>
            <a:ext cx="3246120" cy="381304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250" b="0">
                <a:solidFill>
                  <a:srgbClr val="2A3440"/>
                </a:solidFill>
              </a:rPr>
              <a:t>Business expands and requests working capital.
SME lens:
• sales &amp; margins
• receivables / inventory
• bank conduct
• promoter contribution
Question: does the facility fit the operating cycle?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280160"/>
            <a:ext cx="35204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280160"/>
            <a:ext cx="73152" cy="4434840"/>
          </a:xfrm>
          <a:prstGeom prst="rect">
            <a:avLst/>
          </a:prstGeom>
          <a:solidFill>
            <a:srgbClr val="357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1" y="1408176"/>
            <a:ext cx="324612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500" b="1">
                <a:solidFill>
                  <a:srgbClr val="13263F"/>
                </a:solidFill>
              </a:rPr>
              <a:t>Stage 3 | Corporate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1" y="1810512"/>
            <a:ext cx="3246120" cy="381304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250" b="0">
                <a:solidFill>
                  <a:srgbClr val="2A3440"/>
                </a:solidFill>
              </a:rPr>
              <a:t>Business scales and needs capex / structured finance.
Corporate lens:
• consolidated cash flows
• leverage
• covenants
• security package
• industry outlook
Question: can the structure survive stress?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989320"/>
            <a:ext cx="10789920" cy="2743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/>
            <a:r>
              <a:rPr sz="1300" b="1">
                <a:solidFill>
                  <a:srgbClr val="13263F"/>
                </a:solidFill>
              </a:rPr>
              <a:t>Key lesson: borrower size changes the process—but the core discipline remains repayment capacity + risk-adjusted structure.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7717D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63F"/>
                </a:solidFill>
              </a:rPr>
              <a:t>Red Flags | What Experienced Credit Teams Notice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7717D"/>
                </a:solidFill>
              </a:rPr>
              <a:t>Signals differ by product, but the underlying themes repeat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26060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73152" cy="4343400"/>
          </a:xfrm>
          <a:prstGeom prst="rect">
            <a:avLst/>
          </a:prstGeom>
          <a:solidFill>
            <a:srgbClr val="B0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499616"/>
            <a:ext cx="233172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600" b="1">
                <a:solidFill>
                  <a:srgbClr val="13263F"/>
                </a:solidFill>
              </a:rPr>
              <a:t>Retail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901952"/>
            <a:ext cx="2331720" cy="372160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300" b="0">
                <a:solidFill>
                  <a:srgbClr val="2A3440"/>
                </a:solidFill>
              </a:rPr>
              <a:t>Rapid debt build-up
High card utilization
Frequent bureau enquiries
Income inconsistency
Missed / minimum payments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371600"/>
            <a:ext cx="26060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73152" cy="4343400"/>
          </a:xfrm>
          <a:prstGeom prst="rect">
            <a:avLst/>
          </a:prstGeom>
          <a:solidFill>
            <a:srgbClr val="D67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1499616"/>
            <a:ext cx="233172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600" b="1">
                <a:solidFill>
                  <a:srgbClr val="13263F"/>
                </a:solidFill>
              </a:rPr>
              <a:t>Mortgage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1901952"/>
            <a:ext cx="2331720" cy="372160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300" b="0">
                <a:solidFill>
                  <a:srgbClr val="2A3440"/>
                </a:solidFill>
              </a:rPr>
              <a:t>High leverage
Thin liquidity buffer
Property title / valuation concerns
Rate sensitivity
Unstable employment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371600"/>
            <a:ext cx="26060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371600"/>
            <a:ext cx="73152" cy="4343400"/>
          </a:xfrm>
          <a:prstGeom prst="rect">
            <a:avLst/>
          </a:prstGeom>
          <a:solidFill>
            <a:srgbClr val="188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1" y="1499616"/>
            <a:ext cx="233172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600" b="1">
                <a:solidFill>
                  <a:srgbClr val="13263F"/>
                </a:solidFill>
              </a:rPr>
              <a:t>SME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1" y="1901952"/>
            <a:ext cx="2331720" cy="372160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300" b="0">
                <a:solidFill>
                  <a:srgbClr val="2A3440"/>
                </a:solidFill>
              </a:rPr>
              <a:t>Receivable ageing
Customer concentration
Frequent cheque returns / irregular banking
Margin decline
Related-party transactions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371600"/>
            <a:ext cx="26060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0" y="1371600"/>
            <a:ext cx="73152" cy="4343400"/>
          </a:xfrm>
          <a:prstGeom prst="rect">
            <a:avLst/>
          </a:prstGeom>
          <a:solidFill>
            <a:srgbClr val="13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08592" y="1499616"/>
            <a:ext cx="233172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600" b="1">
                <a:solidFill>
                  <a:srgbClr val="13263F"/>
                </a:solidFill>
              </a:rPr>
              <a:t>Corporate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8592" y="1901952"/>
            <a:ext cx="2331720" cy="372160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300" b="0">
                <a:solidFill>
                  <a:srgbClr val="2A3440"/>
                </a:solidFill>
              </a:rPr>
              <a:t>Rising leverage
Covenant pressure
Cash-flow mismatch
Aggressive accounting
Industry / regulatory shock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989320"/>
            <a:ext cx="10789920" cy="2743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/>
            <a:r>
              <a:rPr sz="1300" b="1">
                <a:solidFill>
                  <a:srgbClr val="13263F"/>
                </a:solidFill>
              </a:rPr>
              <a:t>Red flags are prompts for deeper investigation—not automatic decline decisions.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7717D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881360" cy="5486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1965960" cy="438912"/>
          </a:xfrm>
          <a:prstGeom prst="roundRect">
            <a:avLst/>
          </a:prstGeom>
          <a:solidFill>
            <a:srgbClr val="24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35608"/>
            <a:ext cx="19659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Retail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435608"/>
            <a:ext cx="8503920" cy="4572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Scale + standardization + behavioural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58568"/>
            <a:ext cx="1965960" cy="438912"/>
          </a:xfrm>
          <a:prstGeom prst="roundRect">
            <a:avLst/>
          </a:prstGeom>
          <a:solidFill>
            <a:srgbClr val="188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76856"/>
            <a:ext cx="19659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Mortgage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276856"/>
            <a:ext cx="8503920" cy="4572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Long tenor + affordability + property security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99816"/>
            <a:ext cx="1965960" cy="438912"/>
          </a:xfrm>
          <a:prstGeom prst="roundRect">
            <a:avLst/>
          </a:prstGeom>
          <a:solidFill>
            <a:srgbClr val="D67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118104"/>
            <a:ext cx="19659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Credit Card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118104"/>
            <a:ext cx="8503920" cy="4572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Revolving exposure + utilization + payment behaviour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941064"/>
            <a:ext cx="1965960" cy="438912"/>
          </a:xfrm>
          <a:prstGeom prst="roundRect">
            <a:avLst/>
          </a:prstGeom>
          <a:solidFill>
            <a:srgbClr val="188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959352"/>
            <a:ext cx="19659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959352"/>
            <a:ext cx="8503920" cy="4572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Cash conversion cycle + promoter stake + banking conduct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782312"/>
            <a:ext cx="1965960" cy="438912"/>
          </a:xfrm>
          <a:prstGeom prst="roundRect">
            <a:avLst/>
          </a:prstGeom>
          <a:solidFill>
            <a:srgbClr val="357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800600"/>
            <a:ext cx="19659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Corporate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800600"/>
            <a:ext cx="8503920" cy="4572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Purpose-built structure + cash flow + covenants + 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698480" cy="4114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/>
            <a:r>
              <a:rPr sz="1500" b="0">
                <a:solidFill>
                  <a:srgbClr val="CDDCEB"/>
                </a:solidFill>
              </a:rPr>
              <a:t>Final question for any credit decision: “What is the primary repayment source, how resilient is it under stress, and what protects the bank if it fails?”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7717D"/>
                </a:solidFill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vs Corporate Lending</dc:title>
  <dc:subject>Corporate training: retail loans, mortgages, credit cards, SME and corporate lending</dc:subject>
  <dc:creator>OpenAI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