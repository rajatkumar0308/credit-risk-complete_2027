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Illustrative data-quality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Completeness %</c:v>
                </c:pt>
              </c:strCache>
            </c:strRef>
          </c:tx>
          <c:spPr>
            <a:ln w="31750"/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91</c:v>
                </c:pt>
                <c:pt idx="1">
                  <c:v>92</c:v>
                </c:pt>
                <c:pt idx="2">
                  <c:v>94</c:v>
                </c:pt>
                <c:pt idx="3">
                  <c:v>95</c:v>
                </c:pt>
                <c:pt idx="4">
                  <c:v>97</c:v>
                </c:pt>
                <c:pt idx="5">
                  <c:v>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Reconciliation %</c:v>
                </c:pt>
              </c:strCache>
            </c:strRef>
          </c:tx>
          <c:spPr>
            <a:ln w="31750"/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96</c:v>
                </c:pt>
                <c:pt idx="1">
                  <c:v>96.5</c:v>
                </c:pt>
                <c:pt idx="2">
                  <c:v>97.5</c:v>
                </c:pt>
                <c:pt idx="3">
                  <c:v>98</c:v>
                </c:pt>
                <c:pt idx="4">
                  <c:v>99</c:v>
                </c:pt>
                <c:pt idx="5">
                  <c:v>99.3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88.0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  <c:majorUnit val="2.0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40080"/>
            <a:ext cx="82296" cy="914400"/>
          </a:xfrm>
          <a:prstGeom prst="rect">
            <a:avLst/>
          </a:prstGeom>
          <a:solidFill>
            <a:srgbClr val="22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8952" y="640080"/>
            <a:ext cx="82296" cy="914400"/>
          </a:xfrm>
          <a:prstGeom prst="rect">
            <a:avLst/>
          </a:prstGeom>
          <a:solidFill>
            <a:srgbClr val="2FA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" y="640080"/>
            <a:ext cx="82296" cy="914400"/>
          </a:xfrm>
          <a:prstGeom prst="rect">
            <a:avLst/>
          </a:prstGeom>
          <a:solidFill>
            <a:srgbClr val="21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658368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FA6BF"/>
                </a:solidFill>
                <a:latin typeface="Aptos"/>
              </a:defRPr>
            </a:pPr>
            <a:r>
              <a:t>MODULE 2  |  TOOLS &amp; TECHNIQUES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234440"/>
            <a:ext cx="99669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  <a:latin typeface="Aptos Display"/>
              </a:defRPr>
            </a:pPr>
            <a:r>
              <a:t>AI/ML TOOLS &amp; DATA PREPARATION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9418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E8EEF5"/>
                </a:solidFill>
                <a:latin typeface="Aptos"/>
              </a:defRPr>
            </a:pPr>
            <a:r>
              <a:t>From raw enterprise data to decision-ready models — with banking use cases, quantitative examples and model-risk controls.</a:t>
            </a:r>
          </a:p>
        </p:txBody>
      </p:sp>
      <p:sp>
        <p:nvSpPr>
          <p:cNvPr id="8" name="Oval 7"/>
          <p:cNvSpPr/>
          <p:nvPr/>
        </p:nvSpPr>
        <p:spPr>
          <a:xfrm>
            <a:off x="9509760" y="3657600"/>
            <a:ext cx="219456" cy="219456"/>
          </a:xfrm>
          <a:prstGeom prst="ellipse">
            <a:avLst/>
          </a:prstGeom>
          <a:solidFill>
            <a:srgbClr val="22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87000" y="3657600"/>
            <a:ext cx="219456" cy="219456"/>
          </a:xfrm>
          <a:prstGeom prst="ellipse">
            <a:avLst/>
          </a:prstGeom>
          <a:solidFill>
            <a:srgbClr val="2FA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09760" y="4434840"/>
            <a:ext cx="219456" cy="219456"/>
          </a:xfrm>
          <a:prstGeom prst="ellipse">
            <a:avLst/>
          </a:prstGeom>
          <a:solidFill>
            <a:srgbClr val="21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87000" y="4434840"/>
            <a:ext cx="219456" cy="219456"/>
          </a:xfrm>
          <a:prstGeom prst="ellipse">
            <a:avLst/>
          </a:prstGeom>
          <a:solidFill>
            <a:srgbClr val="D5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09760" y="5212080"/>
            <a:ext cx="219456" cy="219456"/>
          </a:xfrm>
          <a:prstGeom prst="ellipse">
            <a:avLst/>
          </a:prstGeom>
          <a:solidFill>
            <a:srgbClr val="674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287000" y="5212080"/>
            <a:ext cx="219456" cy="219456"/>
          </a:xfrm>
          <a:prstGeom prst="ellipse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619488" y="3767328"/>
            <a:ext cx="777240" cy="0"/>
          </a:xfrm>
          <a:prstGeom prst="line">
            <a:avLst/>
          </a:prstGeom>
          <a:ln w="19050">
            <a:solidFill>
              <a:srgbClr val="9A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19488" y="3767328"/>
            <a:ext cx="0" cy="777240"/>
          </a:xfrm>
          <a:prstGeom prst="line">
            <a:avLst/>
          </a:prstGeom>
          <a:ln w="19050">
            <a:solidFill>
              <a:srgbClr val="9A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396728" y="3767328"/>
            <a:ext cx="0" cy="777240"/>
          </a:xfrm>
          <a:prstGeom prst="line">
            <a:avLst/>
          </a:prstGeom>
          <a:ln w="19050">
            <a:solidFill>
              <a:srgbClr val="9A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619488" y="4544568"/>
            <a:ext cx="777240" cy="0"/>
          </a:xfrm>
          <a:prstGeom prst="line">
            <a:avLst/>
          </a:prstGeom>
          <a:ln w="19050">
            <a:solidFill>
              <a:srgbClr val="9A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9619488" y="3767328"/>
            <a:ext cx="777240" cy="1554480"/>
          </a:xfrm>
          <a:prstGeom prst="line">
            <a:avLst/>
          </a:prstGeom>
          <a:ln w="19050">
            <a:solidFill>
              <a:srgbClr val="9A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619488" y="4544568"/>
            <a:ext cx="777240" cy="777240"/>
          </a:xfrm>
          <a:prstGeom prst="line">
            <a:avLst/>
          </a:prstGeom>
          <a:ln w="19050">
            <a:solidFill>
              <a:srgbClr val="9A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97280" y="5349240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AA9BC"/>
                </a:solidFill>
                <a:latin typeface="Aptos"/>
              </a:defRPr>
            </a:pPr>
            <a:r>
              <a:t>Practical AI/ML foundations for banking, finance &amp; enterprise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9893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8FAFC"/>
                </a:solidFill>
                <a:latin typeface="Aptos"/>
              </a:defRPr>
            </a:pPr>
            <a:r>
              <a:t>Module 2  •  Tools &amp; Techniques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628"/>
                </a:solidFill>
                <a:latin typeface="Aptos Display"/>
              </a:defRPr>
            </a:pPr>
            <a:r>
              <a:t>The module in one decision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411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25BA0"/>
                </a:solidFill>
                <a:latin typeface="Aptos"/>
              </a:defRPr>
            </a:pPr>
            <a:r>
              <a:t>EXECUTIVE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B1628"/>
                </a:solidFill>
                <a:latin typeface="Aptos"/>
              </a:defRPr>
            </a:pPr>
            <a:r>
              <a:t>The objective is not to “use AI”. It is to build a reliable decision pipeline where data quality, tooling and controls are designed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920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54864" cy="2423160"/>
          </a:xfrm>
          <a:prstGeom prst="rect">
            <a:avLst/>
          </a:prstGeom>
          <a:solidFill>
            <a:srgbClr val="22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2002536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B1628"/>
                </a:solidFill>
                <a:latin typeface="Aptos"/>
              </a:defRPr>
            </a:pPr>
            <a:r>
              <a:t>BUSINESS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359152"/>
            <a:ext cx="1600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22C3A"/>
                </a:solidFill>
                <a:latin typeface="Aptos"/>
              </a:defRPr>
            </a:pPr>
            <a:r>
              <a:t>What decision are we improving?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475488" cy="310896"/>
          </a:xfrm>
          <a:prstGeom prst="roundRect">
            <a:avLst/>
          </a:prstGeom>
          <a:solidFill>
            <a:srgbClr val="22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01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78608" y="3017520"/>
            <a:ext cx="256032" cy="0"/>
          </a:xfrm>
          <a:prstGeom prst="line">
            <a:avLst/>
          </a:prstGeom>
          <a:ln w="19050">
            <a:solidFill>
              <a:srgbClr val="9A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74519"/>
            <a:ext cx="1920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80360" y="1874519"/>
            <a:ext cx="54864" cy="2423160"/>
          </a:xfrm>
          <a:prstGeom prst="rect">
            <a:avLst/>
          </a:prstGeom>
          <a:solidFill>
            <a:srgbClr val="2FA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2002536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B1628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2359152"/>
            <a:ext cx="1600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22C3A"/>
                </a:solidFill>
                <a:latin typeface="Aptos"/>
              </a:defRPr>
            </a:pPr>
            <a:r>
              <a:t>What evidence exists — and can we trust it?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1600200"/>
            <a:ext cx="475488" cy="310896"/>
          </a:xfrm>
          <a:prstGeom prst="roundRect">
            <a:avLst/>
          </a:prstGeom>
          <a:solidFill>
            <a:srgbClr val="2FA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02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18888" y="3017520"/>
            <a:ext cx="256032" cy="0"/>
          </a:xfrm>
          <a:prstGeom prst="line">
            <a:avLst/>
          </a:prstGeom>
          <a:ln w="19050">
            <a:solidFill>
              <a:srgbClr val="9A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20640" y="1874519"/>
            <a:ext cx="1920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0" y="1874519"/>
            <a:ext cx="54864" cy="2423160"/>
          </a:xfrm>
          <a:prstGeom prst="rect">
            <a:avLst/>
          </a:prstGeom>
          <a:solidFill>
            <a:srgbClr val="21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85231" y="2002536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B1628"/>
                </a:solidFill>
                <a:latin typeface="Aptos"/>
              </a:defRPr>
            </a:pPr>
            <a:r>
              <a:t>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5231" y="2359152"/>
            <a:ext cx="1600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22C3A"/>
                </a:solidFill>
                <a:latin typeface="Aptos"/>
              </a:defRPr>
            </a:pPr>
            <a:r>
              <a:t>Which tools fit the scale, latency and risk?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57800" y="1600200"/>
            <a:ext cx="475488" cy="310896"/>
          </a:xfrm>
          <a:prstGeom prst="roundRect">
            <a:avLst/>
          </a:prstGeom>
          <a:solidFill>
            <a:srgbClr val="21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03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59168" y="3017520"/>
            <a:ext cx="256032" cy="0"/>
          </a:xfrm>
          <a:prstGeom prst="line">
            <a:avLst/>
          </a:prstGeom>
          <a:ln w="19050">
            <a:solidFill>
              <a:srgbClr val="9A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360920" y="1874519"/>
            <a:ext cx="1920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60920" y="1874519"/>
            <a:ext cx="54864" cy="2423160"/>
          </a:xfrm>
          <a:prstGeom prst="rect">
            <a:avLst/>
          </a:prstGeom>
          <a:solidFill>
            <a:srgbClr val="D5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25512" y="2002536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B1628"/>
                </a:solidFill>
                <a:latin typeface="Aptos"/>
              </a:defRPr>
            </a:pPr>
            <a:r>
              <a:t>MODEL /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5512" y="2359152"/>
            <a:ext cx="1600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22C3A"/>
                </a:solidFill>
                <a:latin typeface="Aptos"/>
              </a:defRPr>
            </a:pPr>
            <a:r>
              <a:t>How is the signal converted into action?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0" y="1600200"/>
            <a:ext cx="475488" cy="310896"/>
          </a:xfrm>
          <a:prstGeom prst="roundRect">
            <a:avLst/>
          </a:prstGeom>
          <a:solidFill>
            <a:srgbClr val="D5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04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299448" y="3017520"/>
            <a:ext cx="256032" cy="0"/>
          </a:xfrm>
          <a:prstGeom prst="line">
            <a:avLst/>
          </a:prstGeom>
          <a:ln w="19050">
            <a:solidFill>
              <a:srgbClr val="9A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601200" y="1874519"/>
            <a:ext cx="1920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01200" y="1874519"/>
            <a:ext cx="54864" cy="2423160"/>
          </a:xfrm>
          <a:prstGeom prst="rect">
            <a:avLst/>
          </a:prstGeom>
          <a:solidFill>
            <a:srgbClr val="BA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65792" y="2002536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B1628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65792" y="2359152"/>
            <a:ext cx="1600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22C3A"/>
                </a:solidFill>
                <a:latin typeface="Aptos"/>
              </a:defRPr>
            </a:pPr>
            <a:r>
              <a:t>How do we monitor drift, bias and failure?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38360" y="1600200"/>
            <a:ext cx="475488" cy="310896"/>
          </a:xfrm>
          <a:prstGeom prst="roundRect">
            <a:avLst/>
          </a:prstGeom>
          <a:solidFill>
            <a:srgbClr val="BA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80060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25BA0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166360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22C3A"/>
                </a:solidFill>
                <a:latin typeface="Aptos"/>
              </a:defRPr>
            </a:pPr>
            <a:r>
              <a:t>A sophisticated model cannot compensate for weak data lineage, leakage, inconsistent definitions or uncontrolled production changes.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9AA9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655624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87586"/>
                </a:solidFill>
                <a:latin typeface="Aptos"/>
              </a:defRPr>
            </a:pPr>
            <a:r>
              <a:t>MODULE 2  |  TOOLS &amp; TECHNIQUES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528816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87586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628"/>
                </a:solidFill>
                <a:latin typeface="Aptos Display"/>
              </a:defRPr>
            </a:pPr>
            <a:r>
              <a:t>AI/ML tools: choose by the job, not by the brand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411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25BA0"/>
                </a:solidFill>
                <a:latin typeface="Aptos"/>
              </a:defRPr>
            </a:pPr>
            <a:r>
              <a:t>TOOLS LANDSCAPE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2487168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54864" cy="3520440"/>
          </a:xfrm>
          <a:prstGeom prst="rect">
            <a:avLst/>
          </a:prstGeom>
          <a:solidFill>
            <a:srgbClr val="22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453895"/>
            <a:ext cx="21671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B1628"/>
                </a:solidFill>
                <a:latin typeface="Aptos"/>
              </a:defRPr>
            </a:pPr>
            <a:r>
              <a:t>DATA &amp;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810512"/>
            <a:ext cx="2167128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22C3A"/>
                </a:solidFill>
                <a:latin typeface="Aptos"/>
              </a:defRPr>
            </a:pPr>
            <a:r>
              <a:t>SQL • Spark • Python</a:t>
            </a:r>
            <a:br/>
            <a:r>
              <a:t>Warehouse / Lakehouse</a:t>
            </a:r>
            <a:br/>
            <a:br/>
            <a:r>
              <a:t>Extract, join, profile, aggregate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325880"/>
            <a:ext cx="2487168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56432" y="1325880"/>
            <a:ext cx="54864" cy="3520440"/>
          </a:xfrm>
          <a:prstGeom prst="rect">
            <a:avLst/>
          </a:prstGeom>
          <a:solidFill>
            <a:srgbClr val="2FA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1024" y="1453895"/>
            <a:ext cx="21671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B1628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1024" y="1810512"/>
            <a:ext cx="2167128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22C3A"/>
                </a:solidFill>
                <a:latin typeface="Aptos"/>
              </a:defRPr>
            </a:pPr>
            <a:r>
              <a:t>Pandas • Polars • BI</a:t>
            </a:r>
            <a:br/>
            <a:r>
              <a:t>Notebooks</a:t>
            </a:r>
            <a:br/>
            <a:br/>
            <a:r>
              <a:t>Explore distributions, segments, anomalies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1325880"/>
            <a:ext cx="2487168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2784" y="1325880"/>
            <a:ext cx="54864" cy="352044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453895"/>
            <a:ext cx="21671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B1628"/>
                </a:solidFill>
                <a:latin typeface="Aptos"/>
              </a:defRPr>
            </a:pPr>
            <a:r>
              <a:t>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810512"/>
            <a:ext cx="2167128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22C3A"/>
                </a:solidFill>
                <a:latin typeface="Aptos"/>
              </a:defRPr>
            </a:pPr>
            <a:r>
              <a:t>scikit-learn • XGBoost</a:t>
            </a:r>
            <a:br/>
            <a:r>
              <a:t>PyTorch / TensorFlow</a:t>
            </a:r>
            <a:br/>
            <a:br/>
            <a:r>
              <a:t>Train, validate, score, explain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89136" y="1325880"/>
            <a:ext cx="2487168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89136" y="1325880"/>
            <a:ext cx="54864" cy="3520440"/>
          </a:xfrm>
          <a:prstGeom prst="rect">
            <a:avLst/>
          </a:prstGeom>
          <a:solidFill>
            <a:srgbClr val="21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53728" y="1453895"/>
            <a:ext cx="21671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B1628"/>
                </a:solidFill>
                <a:latin typeface="Aptos"/>
              </a:defRPr>
            </a:pPr>
            <a:r>
              <a:t>MLOps / 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3728" y="1810512"/>
            <a:ext cx="2167128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22C3A"/>
                </a:solidFill>
                <a:latin typeface="Aptos"/>
              </a:defRPr>
            </a:pPr>
            <a:r>
              <a:t>MLflow • CI/CD • Registry</a:t>
            </a:r>
            <a:br/>
            <a:r>
              <a:t>Monitoring • Feature store</a:t>
            </a:r>
            <a:br/>
            <a:br/>
            <a:r>
              <a:t>Version, deploy, monitor, 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663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25BA0"/>
                </a:solidFill>
                <a:latin typeface="Aptos"/>
              </a:defRPr>
            </a:pPr>
            <a:r>
              <a:t>TOOL SELECTION LENS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4760" y="5102352"/>
            <a:ext cx="1417320" cy="310896"/>
          </a:xfrm>
          <a:prstGeom prst="roundRect">
            <a:avLst/>
          </a:prstGeom>
          <a:solidFill>
            <a:srgbClr val="22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Scale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5102352"/>
            <a:ext cx="1417320" cy="310896"/>
          </a:xfrm>
          <a:prstGeom prst="roundRect">
            <a:avLst/>
          </a:prstGeom>
          <a:solidFill>
            <a:srgbClr val="2FA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Latency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5102352"/>
            <a:ext cx="1417320" cy="310896"/>
          </a:xfrm>
          <a:prstGeom prst="roundRect">
            <a:avLst/>
          </a:prstGeom>
          <a:solidFill>
            <a:srgbClr val="674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Explainability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81160" y="5102352"/>
            <a:ext cx="1417320" cy="310896"/>
          </a:xfrm>
          <a:prstGeom prst="roundRect">
            <a:avLst/>
          </a:prstGeom>
          <a:solidFill>
            <a:srgbClr val="21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71500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87586"/>
                </a:solidFill>
                <a:latin typeface="Aptos"/>
              </a:defRPr>
            </a:pPr>
            <a:r>
              <a:t>CRO / MRM lens: the “best” tool is the one that meets the use case while preserving reproducibility, lineage, access control and validation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9AA9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655624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87586"/>
                </a:solidFill>
                <a:latin typeface="Aptos"/>
              </a:defRPr>
            </a:pPr>
            <a:r>
              <a:t>MODULE 2  |  TOOLS &amp; TECHNIQUES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28816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87586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628"/>
                </a:solidFill>
                <a:latin typeface="Aptos Display"/>
              </a:defRPr>
            </a:pPr>
            <a:r>
              <a:t>Data preparation is the hidden engine of 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411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25BA0"/>
                </a:solidFill>
                <a:latin typeface="Aptos"/>
              </a:defRPr>
            </a:pPr>
            <a:r>
              <a:t>WHAT → WHY → HOW → SO WHAT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0749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54864" cy="2057400"/>
          </a:xfrm>
          <a:prstGeom prst="rect">
            <a:avLst/>
          </a:prstGeom>
          <a:solidFill>
            <a:srgbClr val="22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362456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B1628"/>
                </a:solidFill>
                <a:latin typeface="Aptos"/>
              </a:defRPr>
            </a:pPr>
            <a:r>
              <a:t>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719072"/>
            <a:ext cx="4754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22C3A"/>
                </a:solidFill>
                <a:latin typeface="Aptos"/>
              </a:defRPr>
            </a:pPr>
            <a:r>
              <a:t>Turn raw records into a consistent analytical dataset.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313432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22C3A"/>
                </a:solidFill>
                <a:latin typeface="Aptos"/>
              </a:defRPr>
            </a:pPr>
            <a:r>
              <a:t>Raw → profiled → cleaned → transformed → validated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" y="2807208"/>
            <a:ext cx="1234440" cy="310896"/>
          </a:xfrm>
          <a:prstGeom prst="roundRect">
            <a:avLst/>
          </a:prstGeom>
          <a:solidFill>
            <a:srgbClr val="22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Data scientist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34440"/>
            <a:ext cx="50749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234440"/>
            <a:ext cx="54864" cy="2057400"/>
          </a:xfrm>
          <a:prstGeom prst="rect">
            <a:avLst/>
          </a:prstGeom>
          <a:solidFill>
            <a:srgbClr val="2FA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362456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B1628"/>
                </a:solidFill>
                <a:latin typeface="Aptos"/>
              </a:defRPr>
            </a:pPr>
            <a: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1719072"/>
            <a:ext cx="4754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22C3A"/>
                </a:solidFill>
                <a:latin typeface="Aptos"/>
              </a:defRPr>
            </a:pPr>
            <a:r>
              <a:t>Most model failures begin upstream: missingness, leakage, duplicates, stale fields or inconsistent definitions.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2313432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22C3A"/>
                </a:solidFill>
                <a:latin typeface="Aptos"/>
              </a:defRPr>
            </a:pPr>
            <a:r>
              <a:t>Bad input → unstable signal → bad decision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6792" y="2807208"/>
            <a:ext cx="1234440" cy="310896"/>
          </a:xfrm>
          <a:prstGeom prst="roundRect">
            <a:avLst/>
          </a:prstGeom>
          <a:solidFill>
            <a:srgbClr val="2FA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Credit analyst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57600"/>
            <a:ext cx="50749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657600"/>
            <a:ext cx="54864" cy="2057400"/>
          </a:xfrm>
          <a:prstGeom prst="rect">
            <a:avLst/>
          </a:prstGeom>
          <a:solidFill>
            <a:srgbClr val="21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" y="3785615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B1628"/>
                </a:solidFill>
                <a:latin typeface="Aptos"/>
              </a:defRPr>
            </a:pPr>
            <a:r>
              <a:t>HOW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4142232"/>
            <a:ext cx="4754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22C3A"/>
                </a:solidFill>
                <a:latin typeface="Aptos"/>
              </a:defRPr>
            </a:pPr>
            <a:r>
              <a:t>Profile → define → clean → engineer → split → test → document.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4736592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22C3A"/>
                </a:solidFill>
                <a:latin typeface="Aptos"/>
              </a:defRPr>
            </a:pPr>
            <a:r>
              <a:t>Every transformation should be reproducible and explainable.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" y="5230368"/>
            <a:ext cx="1234440" cy="310896"/>
          </a:xfrm>
          <a:prstGeom prst="roundRect">
            <a:avLst/>
          </a:prstGeom>
          <a:solidFill>
            <a:srgbClr val="21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MRM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657600"/>
            <a:ext cx="50749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657600"/>
            <a:ext cx="54864" cy="2057400"/>
          </a:xfrm>
          <a:prstGeom prst="rect">
            <a:avLst/>
          </a:prstGeom>
          <a:solidFill>
            <a:srgbClr val="D5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3785615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B1628"/>
                </a:solidFill>
                <a:latin typeface="Aptos"/>
              </a:defRPr>
            </a:pPr>
            <a:r>
              <a:t>SO WHAT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4142232"/>
            <a:ext cx="4754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22C3A"/>
                </a:solidFill>
                <a:latin typeface="Aptos"/>
              </a:defRPr>
            </a:pPr>
            <a:r>
              <a:t>Data preparation is a control activity, not a cosmetic pre-processing step.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4736592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22C3A"/>
                </a:solidFill>
                <a:latin typeface="Aptos"/>
              </a:defRPr>
            </a:pPr>
            <a:r>
              <a:t>Data quality becomes model-risk exposure.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36792" y="5230368"/>
            <a:ext cx="1234440" cy="310896"/>
          </a:xfrm>
          <a:prstGeom prst="roundRect">
            <a:avLst/>
          </a:prstGeom>
          <a:solidFill>
            <a:srgbClr val="D5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CRO / CFO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9AA9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655624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87586"/>
                </a:solidFill>
                <a:latin typeface="Aptos"/>
              </a:defRPr>
            </a:pPr>
            <a:r>
              <a:t>MODULE 2  |  TOOLS &amp; TECHNIQUES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28816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87586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628"/>
                </a:solidFill>
                <a:latin typeface="Aptos Display"/>
              </a:defRPr>
            </a:pPr>
            <a:r>
              <a:t>A bank-grade data preparation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411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25BA0"/>
                </a:solidFill>
                <a:latin typeface="Aptos"/>
              </a:defRPr>
            </a:pPr>
            <a:r>
              <a:t>HOW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828800"/>
            <a:ext cx="1691640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" y="205740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225BA0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" y="2606040"/>
            <a:ext cx="1463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222C3A"/>
                </a:solidFill>
                <a:latin typeface="Aptos"/>
              </a:defRPr>
            </a:pPr>
            <a:r>
              <a:t>Core banking</a:t>
            </a:r>
            <a:br/>
            <a:r>
              <a:t>Cards • Loans • CRM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21408" y="2788920"/>
            <a:ext cx="210312" cy="0"/>
          </a:xfrm>
          <a:prstGeom prst="line">
            <a:avLst/>
          </a:prstGeom>
          <a:ln w="17780">
            <a:solidFill>
              <a:srgbClr val="9A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1828800"/>
            <a:ext cx="1691640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FA6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05740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2FA6BF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7168" y="2606040"/>
            <a:ext cx="1463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222C3A"/>
                </a:solidFill>
                <a:latin typeface="Aptos"/>
              </a:defRPr>
            </a:pPr>
            <a:r>
              <a:t>Nulls • duplicates</a:t>
            </a:r>
            <a:br/>
            <a:r>
              <a:t>ranges • distributions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87368" y="2788920"/>
            <a:ext cx="210312" cy="0"/>
          </a:xfrm>
          <a:prstGeom prst="line">
            <a:avLst/>
          </a:prstGeom>
          <a:ln w="17780">
            <a:solidFill>
              <a:srgbClr val="9A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43400" y="1828800"/>
            <a:ext cx="1691640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1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205740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217D7D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606040"/>
            <a:ext cx="1463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222C3A"/>
                </a:solidFill>
                <a:latin typeface="Aptos"/>
              </a:defRPr>
            </a:pPr>
            <a:r>
              <a:t>Impute • dedupe</a:t>
            </a:r>
            <a:br/>
            <a:r>
              <a:t>standardise • reconcile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53328" y="2788920"/>
            <a:ext cx="210312" cy="0"/>
          </a:xfrm>
          <a:prstGeom prst="line">
            <a:avLst/>
          </a:prstGeom>
          <a:ln w="17780">
            <a:solidFill>
              <a:srgbClr val="9A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09359" y="1828800"/>
            <a:ext cx="1691640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4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205740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674EA7"/>
                </a:solidFill>
                <a:latin typeface="Aptos"/>
              </a:defRPr>
            </a:pPr>
            <a:r>
              <a:t>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606040"/>
            <a:ext cx="1463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222C3A"/>
                </a:solidFill>
                <a:latin typeface="Aptos"/>
              </a:defRPr>
            </a:pPr>
            <a:r>
              <a:t>Ratios • lags</a:t>
            </a:r>
            <a:br/>
            <a:r>
              <a:t>rolling windows • flags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019288" y="2788920"/>
            <a:ext cx="210312" cy="0"/>
          </a:xfrm>
          <a:prstGeom prst="line">
            <a:avLst/>
          </a:prstGeom>
          <a:ln w="17780">
            <a:solidFill>
              <a:srgbClr val="9A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75319" y="1828800"/>
            <a:ext cx="1691640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5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7" y="205740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D5912D"/>
                </a:solidFill>
                <a:latin typeface="Aptos"/>
              </a:defRPr>
            </a:pPr>
            <a:r>
              <a:t>SPLIT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7" y="2606040"/>
            <a:ext cx="1463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222C3A"/>
                </a:solidFill>
                <a:latin typeface="Aptos"/>
              </a:defRPr>
            </a:pPr>
            <a:r>
              <a:t>Train / validate / test</a:t>
            </a:r>
            <a:br/>
            <a:r>
              <a:t>Time-aware where needed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985247" y="2788920"/>
            <a:ext cx="210312" cy="0"/>
          </a:xfrm>
          <a:prstGeom prst="line">
            <a:avLst/>
          </a:prstGeom>
          <a:ln w="17780">
            <a:solidFill>
              <a:srgbClr val="9AA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241280" y="1828800"/>
            <a:ext cx="1691640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A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51007" y="205740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BA4444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51007" y="2606040"/>
            <a:ext cx="1463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222C3A"/>
                </a:solidFill>
                <a:latin typeface="Aptos"/>
              </a:defRPr>
            </a:pPr>
            <a:r>
              <a:t>Lineage • quality gates</a:t>
            </a:r>
            <a:br/>
            <a:r>
              <a:t>version • sign-off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3434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BA4444"/>
                </a:solidFill>
                <a:latin typeface="Aptos"/>
              </a:defRPr>
            </a:pPr>
            <a:r>
              <a:t>QUALITY GATES — stop the pipeline when critical assumptions fail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4800600"/>
            <a:ext cx="3337560" cy="310896"/>
          </a:xfrm>
          <a:prstGeom prst="roundRect">
            <a:avLst/>
          </a:prstGeom>
          <a:solidFill>
            <a:srgbClr val="BA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Schema / type checks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0" y="4800600"/>
            <a:ext cx="3337560" cy="310896"/>
          </a:xfrm>
          <a:prstGeom prst="roundRect">
            <a:avLst/>
          </a:prstGeom>
          <a:solidFill>
            <a:srgbClr val="D5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Missingness thresholds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1000" y="4800600"/>
            <a:ext cx="3337560" cy="310896"/>
          </a:xfrm>
          <a:prstGeom prst="roundRect">
            <a:avLst/>
          </a:prstGeom>
          <a:solidFill>
            <a:srgbClr val="22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Outlier / range checks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330952"/>
            <a:ext cx="3337560" cy="310896"/>
          </a:xfrm>
          <a:prstGeom prst="roundRect">
            <a:avLst/>
          </a:prstGeom>
          <a:solidFill>
            <a:srgbClr val="21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Point-in-time integrity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5330952"/>
            <a:ext cx="3337560" cy="310896"/>
          </a:xfrm>
          <a:prstGeom prst="roundRect">
            <a:avLst/>
          </a:prstGeom>
          <a:solidFill>
            <a:srgbClr val="674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Target leakage checks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01000" y="5330952"/>
            <a:ext cx="3337560" cy="310896"/>
          </a:xfrm>
          <a:prstGeom prst="roundRect">
            <a:avLst/>
          </a:prstGeom>
          <a:solidFill>
            <a:srgbClr val="2FA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Reconciliation to source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9436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87586"/>
                </a:solidFill>
                <a:latin typeface="Aptos"/>
              </a:defRPr>
            </a:pPr>
            <a:r>
              <a:t>Key principle: “garbage in” is not merely a data problem — in regulated decisions it becomes an evidence and governance problem.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9AA9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655624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87586"/>
                </a:solidFill>
                <a:latin typeface="Aptos"/>
              </a:defRPr>
            </a:pPr>
            <a:r>
              <a:t>MODULE 2  |  TOOLS &amp; TECHNIQUES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528816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87586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628"/>
                </a:solidFill>
                <a:latin typeface="Aptos Display"/>
              </a:defRPr>
            </a:pPr>
            <a:r>
              <a:t>Numerical example: missing income data can change credit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411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25BA0"/>
                </a:solidFill>
                <a:latin typeface="Aptos"/>
              </a:defRPr>
            </a:pPr>
            <a:r>
              <a:t>ILLUSTRATIVE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B1628"/>
                </a:solidFill>
                <a:latin typeface="Aptos"/>
              </a:defRPr>
            </a:pPr>
            <a:r>
              <a:t>Illustrative SME underwriting dataset: 10,000 applications; annual income is missing for 12%.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45920"/>
          <a:ext cx="480059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74519"/>
              </a:tblGrid>
              <a:tr h="4724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B1628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2C3A"/>
                          </a:solidFill>
                          <a:latin typeface="Aptos"/>
                        </a:defRPr>
                      </a:pPr>
                      <a:r>
                        <a:t>Applications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C3A"/>
                          </a:solidFill>
                          <a:latin typeface="Aptos"/>
                        </a:defRPr>
                      </a:pPr>
                      <a:r>
                        <a:t>10,000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2C3A"/>
                          </a:solidFill>
                          <a:latin typeface="Aptos"/>
                        </a:defRPr>
                      </a:pPr>
                      <a:r>
                        <a:t>Missing income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C3A"/>
                          </a:solidFill>
                          <a:latin typeface="Aptos"/>
                        </a:defRPr>
                      </a:pPr>
                      <a:r>
                        <a:t>1,200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2C3A"/>
                          </a:solidFill>
                          <a:latin typeface="Aptos"/>
                        </a:defRPr>
                      </a:pPr>
                      <a:r>
                        <a:t>Observed income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C3A"/>
                          </a:solidFill>
                          <a:latin typeface="Aptos"/>
                        </a:defRPr>
                      </a:pPr>
                      <a:r>
                        <a:t>8,800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2C3A"/>
                          </a:solidFill>
                          <a:latin typeface="Aptos"/>
                        </a:defRPr>
                      </a:pPr>
                      <a:r>
                        <a:t>Observed default 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C3A"/>
                          </a:solidFill>
                          <a:latin typeface="Aptos"/>
                        </a:defRPr>
                      </a:pPr>
                      <a:r>
                        <a:t>3.0%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2C3A"/>
                          </a:solidFill>
                          <a:latin typeface="Aptos"/>
                        </a:defRPr>
                      </a:pPr>
                      <a:r>
                        <a:t>Missing-income default rate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C3A"/>
                          </a:solidFill>
                          <a:latin typeface="Aptos"/>
                        </a:defRPr>
                      </a:pPr>
                      <a:r>
                        <a:t>7.5%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806440" y="1645920"/>
            <a:ext cx="566928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06440" y="1645920"/>
            <a:ext cx="54864" cy="2834640"/>
          </a:xfrm>
          <a:prstGeom prst="rect">
            <a:avLst/>
          </a:prstGeom>
          <a:solidFill>
            <a:srgbClr val="2FA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71031" y="1773936"/>
            <a:ext cx="5349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B1628"/>
                </a:solidFill>
                <a:latin typeface="Aptos"/>
              </a:defRPr>
            </a:pPr>
            <a:r>
              <a:t>STEP-BY-STEP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71031" y="2130552"/>
            <a:ext cx="534924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222C3A"/>
                </a:solidFill>
                <a:latin typeface="Aptos"/>
              </a:defRPr>
            </a:pPr>
            <a:r>
              <a:t>1. If missing cases are dropped: 1,200 applications disappear from the training signal.</a:t>
            </a:r>
            <a:br/>
            <a:r>
              <a:t>2. If missing income is blindly imputed to the median: the model may erase a risk-relevant pattern.</a:t>
            </a:r>
            <a:br/>
            <a:r>
              <a:t>3. A missingness flag preserves the information: MissingIncome = 1.</a:t>
            </a:r>
            <a:br/>
            <a:r>
              <a:t>4. Estimated defaults in missing group = 1,200 × 7.5% = 90.</a:t>
            </a:r>
            <a:br/>
            <a:r>
              <a:t>5. Observed group defaults = 8,800 × 3.0% = 264.</a:t>
            </a:r>
            <a:br/>
            <a:r>
              <a:t>Total illustrative defaults = 354.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A4444"/>
                </a:solidFill>
                <a:latin typeface="Aptos"/>
              </a:defRPr>
            </a:pPr>
            <a:r>
              <a:t>DECISION IMPLICATION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57800"/>
            <a:ext cx="10698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222C3A"/>
                </a:solidFill>
                <a:latin typeface="Aptos"/>
              </a:defRPr>
            </a:pPr>
            <a:r>
              <a:t>Missingness is itself a feature only when it is stable, explainable and governed. Otherwise it can become a hidden proxy or process artifact.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9AA9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55624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87586"/>
                </a:solidFill>
                <a:latin typeface="Aptos"/>
              </a:defRPr>
            </a:pPr>
            <a:r>
              <a:t>MODULE 2  |  TOOLS &amp; TECHNIQUES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28816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87586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628"/>
                </a:solidFill>
                <a:latin typeface="Aptos Display"/>
              </a:defRPr>
            </a:pPr>
            <a:r>
              <a:t>Feature engineering: convert transactions into economically meaningful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411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25BA0"/>
                </a:solidFill>
                <a:latin typeface="Aptos"/>
              </a:defRPr>
            </a:pPr>
            <a:r>
              <a:t>BANKING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B1628"/>
                </a:solidFill>
                <a:latin typeface="Aptos"/>
              </a:defRPr>
            </a:pPr>
            <a:r>
              <a:t>A raw transaction stream becomes useful when transformed into features tied to customer behaviour and risk.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074920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54864" cy="1627632"/>
          </a:xfrm>
          <a:prstGeom prst="rect">
            <a:avLst/>
          </a:prstGeom>
          <a:solidFill>
            <a:srgbClr val="22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819656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B1628"/>
                </a:solidFill>
                <a:latin typeface="Aptos"/>
              </a:defRPr>
            </a:pPr>
            <a:r>
              <a:t>UTILISATION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176272"/>
            <a:ext cx="4754880" cy="10332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22C3A"/>
                </a:solidFill>
                <a:latin typeface="Aptos"/>
              </a:defRPr>
            </a:pPr>
            <a:r>
              <a:t>Average card balance ÷ limit</a:t>
            </a:r>
            <a:br/>
            <a:br/>
            <a:r>
              <a:t>₹45k ÷ ₹100k = 45%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2880360"/>
            <a:ext cx="1417320" cy="310896"/>
          </a:xfrm>
          <a:prstGeom prst="roundRect">
            <a:avLst/>
          </a:prstGeom>
          <a:solidFill>
            <a:srgbClr val="22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Credit risk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91640"/>
            <a:ext cx="5074920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691640"/>
            <a:ext cx="54864" cy="1627632"/>
          </a:xfrm>
          <a:prstGeom prst="rect">
            <a:avLst/>
          </a:prstGeom>
          <a:solidFill>
            <a:srgbClr val="2FA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819656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B1628"/>
                </a:solidFill>
                <a:latin typeface="Aptos"/>
              </a:defRPr>
            </a:pPr>
            <a:r>
              <a:t>CASH-FLOW STRESS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2176272"/>
            <a:ext cx="4754880" cy="10332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22C3A"/>
                </a:solidFill>
                <a:latin typeface="Aptos"/>
              </a:defRPr>
            </a:pPr>
            <a:r>
              <a:t>3-month inflow volatility</a:t>
            </a:r>
            <a:br/>
            <a:br/>
            <a:r>
              <a:t>σ(inflows) / mean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2880360"/>
            <a:ext cx="1417320" cy="310896"/>
          </a:xfrm>
          <a:prstGeom prst="roundRect">
            <a:avLst/>
          </a:prstGeom>
          <a:solidFill>
            <a:srgbClr val="2FA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Affordability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57600"/>
            <a:ext cx="5074920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657600"/>
            <a:ext cx="54864" cy="1627632"/>
          </a:xfrm>
          <a:prstGeom prst="rect">
            <a:avLst/>
          </a:prstGeom>
          <a:solidFill>
            <a:srgbClr val="21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3785615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B1628"/>
                </a:solidFill>
                <a:latin typeface="Aptos"/>
              </a:defRPr>
            </a:pPr>
            <a:r>
              <a:t>DELINQUENCY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4142232"/>
            <a:ext cx="4754880" cy="10332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22C3A"/>
                </a:solidFill>
                <a:latin typeface="Aptos"/>
              </a:defRPr>
            </a:pPr>
            <a:r>
              <a:t>Days past due in last 12m</a:t>
            </a:r>
            <a:br/>
            <a:br/>
            <a:r>
              <a:t>max(DPD) = 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69080" y="4846320"/>
            <a:ext cx="1417320" cy="310896"/>
          </a:xfrm>
          <a:prstGeom prst="roundRect">
            <a:avLst/>
          </a:prstGeom>
          <a:solidFill>
            <a:srgbClr val="21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Collections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657600"/>
            <a:ext cx="5074920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657600"/>
            <a:ext cx="54864" cy="1627632"/>
          </a:xfrm>
          <a:prstGeom prst="rect">
            <a:avLst/>
          </a:prstGeom>
          <a:solidFill>
            <a:srgbClr val="D5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3785615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B1628"/>
                </a:solidFill>
                <a:latin typeface="Aptos"/>
              </a:defRPr>
            </a:pPr>
            <a:r>
              <a:t>VELOCITY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4142232"/>
            <a:ext cx="4754880" cy="10332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22C3A"/>
                </a:solidFill>
                <a:latin typeface="Aptos"/>
              </a:defRPr>
            </a:pPr>
            <a:r>
              <a:t>Txn count change vs baseline</a:t>
            </a:r>
            <a:br/>
            <a:br/>
            <a:r>
              <a:t>(420−300)/300 = 40%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4846320"/>
            <a:ext cx="1417320" cy="310896"/>
          </a:xfrm>
          <a:prstGeom prst="roundRect">
            <a:avLst/>
          </a:prstGeom>
          <a:solidFill>
            <a:srgbClr val="D5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Fraud / AML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5778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BA4444"/>
                </a:solidFill>
                <a:latin typeface="Aptos"/>
              </a:defRPr>
            </a:pPr>
            <a:r>
              <a:t>MRM red flag: features must respect the decision timestamp. A feature unavailable at origination is leakage, even if it predicts perfectly.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9AA9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655624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87586"/>
                </a:solidFill>
                <a:latin typeface="Aptos"/>
              </a:defRPr>
            </a:pPr>
            <a:r>
              <a:t>MODULE 2  |  TOOLS &amp; TECHNIQUES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28816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87586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628"/>
                </a:solidFill>
                <a:latin typeface="Aptos Display"/>
              </a:defRPr>
            </a:pPr>
            <a:r>
              <a:t>Case study 1 — credit underwriting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411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25BA0"/>
                </a:solidFill>
                <a:latin typeface="Aptos"/>
              </a:defRPr>
            </a:pPr>
            <a:r>
              <a:t>ILLUSTRATIVE CASE STUDY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280160" cy="310896"/>
          </a:xfrm>
          <a:prstGeom prst="roundRect">
            <a:avLst/>
          </a:prstGeom>
          <a:solidFill>
            <a:srgbClr val="674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ILLUSTRATIVE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42415"/>
            <a:ext cx="9235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B1628"/>
                </a:solidFill>
                <a:latin typeface="Aptos"/>
              </a:defRPr>
            </a:pPr>
            <a:r>
              <a:t>Objective: reduce avoidable credit-decision noise without changing the policy.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3375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54864" cy="3291840"/>
          </a:xfrm>
          <a:prstGeom prst="rect">
            <a:avLst/>
          </a:prstGeom>
          <a:solidFill>
            <a:srgbClr val="BA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773936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B1628"/>
                </a:solidFill>
                <a:latin typeface="Aptos"/>
              </a:defRPr>
            </a:pPr>
            <a: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130552"/>
            <a:ext cx="3017520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22C3A"/>
                </a:solidFill>
                <a:latin typeface="Aptos"/>
              </a:defRPr>
            </a:pPr>
            <a:r>
              <a:t>12% income missing</a:t>
            </a:r>
            <a:br/>
            <a:r>
              <a:t>8% duplicate applications</a:t>
            </a:r>
            <a:br/>
            <a:r>
              <a:t>Multiple bureau date formats</a:t>
            </a:r>
            <a:br/>
            <a:r>
              <a:t>No point-in-time feature store</a:t>
            </a:r>
            <a:br/>
            <a:r>
              <a:t>Manual spreadsheet overrides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45920"/>
            <a:ext cx="33375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45920"/>
            <a:ext cx="54864" cy="3291840"/>
          </a:xfrm>
          <a:prstGeom prst="rect">
            <a:avLst/>
          </a:prstGeom>
          <a:solidFill>
            <a:srgbClr val="21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773936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B1628"/>
                </a:solidFill>
                <a:latin typeface="Aptos"/>
              </a:defRPr>
            </a:pPr>
            <a:r>
              <a:t>CONTROLLED PREP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2130552"/>
            <a:ext cx="3017520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22C3A"/>
                </a:solidFill>
                <a:latin typeface="Aptos"/>
              </a:defRPr>
            </a:pPr>
            <a:r>
              <a:t>Deduplicate by application key</a:t>
            </a:r>
            <a:br/>
            <a:r>
              <a:t>Standardise dates / currency</a:t>
            </a:r>
            <a:br/>
            <a:r>
              <a:t>Add missingness indicators</a:t>
            </a:r>
            <a:br/>
            <a:r>
              <a:t>Point-in-time feature joins</a:t>
            </a:r>
            <a:br/>
            <a:r>
              <a:t>Versioned transformation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45920"/>
            <a:ext cx="32461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645920"/>
            <a:ext cx="54864" cy="3291840"/>
          </a:xfrm>
          <a:prstGeom prst="rect">
            <a:avLst/>
          </a:prstGeom>
          <a:solidFill>
            <a:srgbClr val="22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773936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B1628"/>
                </a:solidFill>
                <a:latin typeface="Aptos"/>
              </a:defRPr>
            </a:pPr>
            <a:r>
              <a:t>OUTCOME 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130552"/>
            <a:ext cx="2926079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22C3A"/>
                </a:solidFill>
                <a:latin typeface="Aptos"/>
              </a:defRPr>
            </a:pPr>
            <a:r>
              <a:t>Data completeness: 88% → 97%</a:t>
            </a:r>
            <a:br/>
            <a:r>
              <a:t>Duplicate rate: 8% → &lt;1%</a:t>
            </a:r>
            <a:br/>
            <a:r>
              <a:t>Reconciliation breaks: 3.2% → 0.4%</a:t>
            </a:r>
            <a:br/>
            <a:r>
              <a:t>Model performance: measure only after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2578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22C3A"/>
                </a:solidFill>
                <a:latin typeface="Aptos"/>
              </a:defRPr>
            </a:pPr>
            <a:r>
              <a:t>CFO / CRO question: Did the data process improve the decision, or simply make the model look better? Answer with out-of-time validation and controlled back-testing.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9AA9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55624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87586"/>
                </a:solidFill>
                <a:latin typeface="Aptos"/>
              </a:defRPr>
            </a:pPr>
            <a:r>
              <a:t>MODULE 2  |  TOOLS &amp; TECHNIQUES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28816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87586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628"/>
                </a:solidFill>
                <a:latin typeface="Aptos Display"/>
              </a:defRPr>
            </a:pPr>
            <a:r>
              <a:t>Case study 2 — transaction anomaly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411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25BA0"/>
                </a:solidFill>
                <a:latin typeface="Aptos"/>
              </a:defRPr>
            </a:pPr>
            <a:r>
              <a:t>ILLUSTRATIVE CASE STUDY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280160" cy="310896"/>
          </a:xfrm>
          <a:prstGeom prst="roundRect">
            <a:avLst/>
          </a:prstGeom>
          <a:solidFill>
            <a:srgbClr val="D5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ILLUSTRATIVE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42415"/>
            <a:ext cx="9235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B1628"/>
                </a:solidFill>
                <a:latin typeface="Aptos"/>
              </a:defRPr>
            </a:pPr>
            <a:r>
              <a:t>Use case: flag unusual card transactions for review while controlling false positives.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2423160" cy="11430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BA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85623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BA4444"/>
                </a:solidFill>
                <a:latin typeface="Aptos"/>
              </a:defRPr>
            </a:pPr>
            <a:r>
              <a:t>True fraud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22199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B1628"/>
                </a:solidFill>
                <a:latin typeface="Aptos"/>
              </a:defRPr>
            </a:pPr>
            <a:r>
              <a:t>80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691640"/>
            <a:ext cx="2423160" cy="11430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D5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185623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D5912D"/>
                </a:solidFill>
                <a:latin typeface="Aptos"/>
              </a:defRPr>
            </a:pPr>
            <a:r>
              <a:t>False positive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222199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B1628"/>
                </a:solidFill>
                <a:latin typeface="Aptos"/>
              </a:defRPr>
            </a:pPr>
            <a:r>
              <a:t>920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08960"/>
            <a:ext cx="2423160" cy="11430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674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327355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674EA7"/>
                </a:solidFill>
                <a:latin typeface="Aptos"/>
              </a:defRPr>
            </a:pPr>
            <a:r>
              <a:t>Missed fraud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63931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B1628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3108960"/>
            <a:ext cx="2423160" cy="11430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348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0168" y="327355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348B66"/>
                </a:solidFill>
                <a:latin typeface="Aptos"/>
              </a:defRPr>
            </a:pPr>
            <a:r>
              <a:t>True non-fraud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363931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B1628"/>
                </a:solidFill>
                <a:latin typeface="Aptos"/>
              </a:defRPr>
            </a:pPr>
            <a:r>
              <a:t>8,980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1691640"/>
            <a:ext cx="493776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37960" y="1691640"/>
            <a:ext cx="54864" cy="2834640"/>
          </a:xfrm>
          <a:prstGeom prst="rect">
            <a:avLst/>
          </a:prstGeom>
          <a:solidFill>
            <a:srgbClr val="2FA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2552" y="1819656"/>
            <a:ext cx="4617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B1628"/>
                </a:solidFill>
                <a:latin typeface="Aptos"/>
              </a:defRPr>
            </a:pPr>
            <a:r>
              <a:t>METRICS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2552" y="2176272"/>
            <a:ext cx="461772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22C3A"/>
                </a:solidFill>
                <a:latin typeface="Aptos"/>
              </a:defRPr>
            </a:pPr>
            <a:r>
              <a:t>Precision = 80 / (80 + 920) = 8.0%</a:t>
            </a:r>
            <a:br/>
            <a:r>
              <a:t>Recall = 80 / (80 + 20) = 80.0%</a:t>
            </a:r>
            <a:br/>
            <a:r>
              <a:t>False-positive burden = 920 reviews</a:t>
            </a:r>
            <a:br/>
            <a:br/>
            <a:r>
              <a:t>Business trade-off: raising recall may increase investigator workload.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61772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22C3A"/>
                </a:solidFill>
                <a:latin typeface="Aptos"/>
              </a:defRPr>
            </a:pPr>
            <a:r>
              <a:t>Why this matters: accuracy alone can mislead when fraud is rare. Operational capacity and the cost of false negatives must be explicit.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21208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87586"/>
                </a:solidFill>
                <a:latin typeface="Aptos"/>
              </a:defRPr>
            </a:pPr>
            <a:r>
              <a:t>MRM / Fraud lens: monitor population drift, threshold stability, investigator feedback loops and adverse-impact indicators where applicable.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9AA9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655624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87586"/>
                </a:solidFill>
                <a:latin typeface="Aptos"/>
              </a:defRPr>
            </a:pPr>
            <a:r>
              <a:t>MODULE 2  |  TOOLS &amp; TECHNIQUES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28816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87586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628"/>
                </a:solidFill>
                <a:latin typeface="Aptos Display"/>
              </a:defRPr>
            </a:pPr>
            <a:r>
              <a:t>The control matrix: where tools and data become model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411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25BA0"/>
                </a:solidFill>
                <a:latin typeface="Aptos"/>
              </a:defRPr>
            </a:pPr>
            <a:r>
              <a:t>MRM / CRO PERSPECTIVE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20140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26080"/>
                <a:gridCol w="3246120"/>
                <a:gridCol w="3200400"/>
              </a:tblGrid>
              <a:tr h="7391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Risk</a:t>
                      </a:r>
                    </a:p>
                  </a:txBody>
                  <a:tcPr marL="73152" marR="45720"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Typical signal</a:t>
                      </a:r>
                    </a:p>
                  </a:txBody>
                  <a:tcPr marL="73152" marR="45720"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Control</a:t>
                      </a:r>
                    </a:p>
                  </a:txBody>
                  <a:tcPr marL="73152" marR="45720"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Decision implication</a:t>
                      </a:r>
                    </a:p>
                  </a:txBody>
                  <a:tcPr marL="73152" marR="45720">
                    <a:solidFill>
                      <a:srgbClr val="0B1628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22C3A"/>
                          </a:solidFill>
                          <a:latin typeface="Aptos"/>
                        </a:defRPr>
                      </a:pPr>
                      <a:r>
                        <a:t>Data leakage</a:t>
                      </a:r>
                    </a:p>
                  </a:txBody>
                  <a:tcPr marL="73152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C3A"/>
                          </a:solidFill>
                          <a:latin typeface="Aptos"/>
                        </a:defRPr>
                      </a:pPr>
                      <a:r>
                        <a:t>Feature uses post-decision information</a:t>
                      </a:r>
                    </a:p>
                  </a:txBody>
                  <a:tcPr marL="73152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C3A"/>
                          </a:solidFill>
                          <a:latin typeface="Aptos"/>
                        </a:defRPr>
                      </a:pPr>
                      <a:r>
                        <a:t>Point-in-time joins + leakage tests</a:t>
                      </a:r>
                    </a:p>
                  </a:txBody>
                  <a:tcPr marL="73152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C3A"/>
                          </a:solidFill>
                          <a:latin typeface="Aptos"/>
                        </a:defRPr>
                      </a:pPr>
                      <a:r>
                        <a:t>Invalidates apparent performance</a:t>
                      </a:r>
                    </a:p>
                  </a:txBody>
                  <a:tcPr marL="73152" marR="45720">
                    <a:solidFill>
                      <a:srgbClr val="F8FAFC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22C3A"/>
                          </a:solidFill>
                          <a:latin typeface="Aptos"/>
                        </a:defRPr>
                      </a:pPr>
                      <a:r>
                        <a:t>Data drift</a:t>
                      </a:r>
                    </a:p>
                  </a:txBody>
                  <a:tcPr marL="73152" marR="4572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C3A"/>
                          </a:solidFill>
                          <a:latin typeface="Aptos"/>
                        </a:defRPr>
                      </a:pPr>
                      <a:r>
                        <a:t>Feature distribution shifts</a:t>
                      </a:r>
                    </a:p>
                  </a:txBody>
                  <a:tcPr marL="73152" marR="4572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C3A"/>
                          </a:solidFill>
                          <a:latin typeface="Aptos"/>
                        </a:defRPr>
                      </a:pPr>
                      <a:r>
                        <a:t>PSI / distribution monitoring</a:t>
                      </a:r>
                    </a:p>
                  </a:txBody>
                  <a:tcPr marL="73152" marR="4572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C3A"/>
                          </a:solidFill>
                          <a:latin typeface="Aptos"/>
                        </a:defRPr>
                      </a:pPr>
                      <a:r>
                        <a:t>Recalibrate or investigate</a:t>
                      </a:r>
                    </a:p>
                  </a:txBody>
                  <a:tcPr marL="73152" marR="45720">
                    <a:solidFill>
                      <a:srgbClr val="F5F8FB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22C3A"/>
                          </a:solidFill>
                          <a:latin typeface="Aptos"/>
                        </a:defRPr>
                      </a:pPr>
                      <a:r>
                        <a:t>Label instability</a:t>
                      </a:r>
                    </a:p>
                  </a:txBody>
                  <a:tcPr marL="73152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C3A"/>
                          </a:solidFill>
                          <a:latin typeface="Aptos"/>
                        </a:defRPr>
                      </a:pPr>
                      <a:r>
                        <a:t>Outcome definition changes</a:t>
                      </a:r>
                    </a:p>
                  </a:txBody>
                  <a:tcPr marL="73152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C3A"/>
                          </a:solidFill>
                          <a:latin typeface="Aptos"/>
                        </a:defRPr>
                      </a:pPr>
                      <a:r>
                        <a:t>Versioned labels + policy mapping</a:t>
                      </a:r>
                    </a:p>
                  </a:txBody>
                  <a:tcPr marL="73152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C3A"/>
                          </a:solidFill>
                          <a:latin typeface="Aptos"/>
                        </a:defRPr>
                      </a:pPr>
                      <a:r>
                        <a:t>Breaks comparability</a:t>
                      </a:r>
                    </a:p>
                  </a:txBody>
                  <a:tcPr marL="73152" marR="45720">
                    <a:solidFill>
                      <a:srgbClr val="F8FAFC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22C3A"/>
                          </a:solidFill>
                          <a:latin typeface="Aptos"/>
                        </a:defRPr>
                      </a:pPr>
                      <a:r>
                        <a:t>Tool / code change</a:t>
                      </a:r>
                    </a:p>
                  </a:txBody>
                  <a:tcPr marL="73152" marR="4572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C3A"/>
                          </a:solidFill>
                          <a:latin typeface="Aptos"/>
                        </a:defRPr>
                      </a:pPr>
                      <a:r>
                        <a:t>Library or pipeline changes</a:t>
                      </a:r>
                    </a:p>
                  </a:txBody>
                  <a:tcPr marL="73152" marR="4572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C3A"/>
                          </a:solidFill>
                          <a:latin typeface="Aptos"/>
                        </a:defRPr>
                      </a:pPr>
                      <a:r>
                        <a:t>Versioning + regression tests</a:t>
                      </a:r>
                    </a:p>
                  </a:txBody>
                  <a:tcPr marL="73152" marR="4572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C3A"/>
                          </a:solidFill>
                          <a:latin typeface="Aptos"/>
                        </a:defRPr>
                      </a:pPr>
                      <a:r>
                        <a:t>Revalidate material changes</a:t>
                      </a:r>
                    </a:p>
                  </a:txBody>
                  <a:tcPr marL="73152" marR="45720">
                    <a:solidFill>
                      <a:srgbClr val="F5F8FB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22C3A"/>
                          </a:solidFill>
                          <a:latin typeface="Aptos"/>
                        </a:defRPr>
                      </a:pPr>
                      <a:r>
                        <a:t>Bias / proxy risk</a:t>
                      </a:r>
                    </a:p>
                  </a:txBody>
                  <a:tcPr marL="73152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C3A"/>
                          </a:solidFill>
                          <a:latin typeface="Aptos"/>
                        </a:defRPr>
                      </a:pPr>
                      <a:r>
                        <a:t>Feature correlates with protected attribute</a:t>
                      </a:r>
                    </a:p>
                  </a:txBody>
                  <a:tcPr marL="73152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C3A"/>
                          </a:solidFill>
                          <a:latin typeface="Aptos"/>
                        </a:defRPr>
                      </a:pPr>
                      <a:r>
                        <a:t>Feature review + fairness testing</a:t>
                      </a:r>
                    </a:p>
                  </a:txBody>
                  <a:tcPr marL="73152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C3A"/>
                          </a:solidFill>
                          <a:latin typeface="Aptos"/>
                        </a:defRPr>
                      </a:pPr>
                      <a:r>
                        <a:t>Escalate before deployment</a:t>
                      </a:r>
                    </a:p>
                  </a:txBody>
                  <a:tcPr marL="73152" marR="4572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92531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BA4444"/>
                </a:solidFill>
                <a:latin typeface="Aptos"/>
              </a:defRPr>
            </a:pPr>
            <a:r>
              <a:t>Governance principle: controls should be testable, evidenced and owned — not merely described in policy.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9AA9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5624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87586"/>
                </a:solidFill>
                <a:latin typeface="Aptos"/>
              </a:defRPr>
            </a:pPr>
            <a:r>
              <a:t>MODULE 2  |  TOOLS &amp; TECHNIQUES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87586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628"/>
                </a:solidFill>
                <a:latin typeface="Aptos Display"/>
              </a:defRPr>
            </a:pPr>
            <a:r>
              <a:t>Data quality metrics should behave like operational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411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25BA0"/>
                </a:solidFill>
                <a:latin typeface="Aptos"/>
              </a:defRPr>
            </a:pPr>
            <a:r>
              <a:t>DASHBOARD VIEW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85800" y="1417320"/>
          <a:ext cx="66294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635240" y="1508760"/>
            <a:ext cx="38404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35240" y="1508760"/>
            <a:ext cx="54864" cy="1143000"/>
          </a:xfrm>
          <a:prstGeom prst="rect">
            <a:avLst/>
          </a:prstGeom>
          <a:solidFill>
            <a:srgbClr val="21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1" y="1636776"/>
            <a:ext cx="3520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B1628"/>
                </a:solidFill>
                <a:latin typeface="Aptos"/>
              </a:defRPr>
            </a:pPr>
            <a:r>
              <a:t>COMPLETENESS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9831" y="1993391"/>
            <a:ext cx="3520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22C3A"/>
                </a:solidFill>
                <a:latin typeface="Aptos"/>
              </a:defRPr>
            </a:pPr>
            <a:r>
              <a:t>97%  |  +6 pp vs Jan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788920"/>
            <a:ext cx="38404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0" y="2788920"/>
            <a:ext cx="54864" cy="1143000"/>
          </a:xfrm>
          <a:prstGeom prst="rect">
            <a:avLst/>
          </a:prstGeom>
          <a:solidFill>
            <a:srgbClr val="22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1" y="2916936"/>
            <a:ext cx="3520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B1628"/>
                </a:solidFill>
                <a:latin typeface="Aptos"/>
              </a:defRPr>
            </a:pPr>
            <a:r>
              <a:t>RECONCILIATION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9831" y="3273552"/>
            <a:ext cx="3520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22C3A"/>
                </a:solidFill>
                <a:latin typeface="Aptos"/>
              </a:defRPr>
            </a:pPr>
            <a:r>
              <a:t>99.3%  |  +3.3 pp vs Jan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4069080"/>
            <a:ext cx="38404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4069080"/>
            <a:ext cx="54864" cy="1143000"/>
          </a:xfrm>
          <a:prstGeom prst="rect">
            <a:avLst/>
          </a:prstGeom>
          <a:solidFill>
            <a:srgbClr val="BA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9831" y="4197096"/>
            <a:ext cx="3520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B1628"/>
                </a:solidFill>
                <a:latin typeface="Aptos"/>
              </a:defRPr>
            </a:pPr>
            <a:r>
              <a:t>ESCALATION TRIGGER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9831" y="4553712"/>
            <a:ext cx="3520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22C3A"/>
                </a:solidFill>
                <a:latin typeface="Aptos"/>
              </a:defRPr>
            </a:pPr>
            <a:r>
              <a:t>&lt;95% completeness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806440"/>
            <a:ext cx="6629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22C3A"/>
                </a:solidFill>
                <a:latin typeface="Aptos"/>
              </a:defRPr>
            </a:pPr>
            <a:r>
              <a:t>Executive point: data quality deserves thresholds, owners and escalation — just like credit or liquidity risk.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9AA9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55624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87586"/>
                </a:solidFill>
                <a:latin typeface="Aptos"/>
              </a:defRPr>
            </a:pPr>
            <a:r>
              <a:t>MODULE 2  |  TOOLS &amp; TECHNIQUES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28816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87586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628"/>
                </a:solidFill>
                <a:latin typeface="Aptos Display"/>
              </a:defRPr>
            </a:pPr>
            <a:r>
              <a:t>One pipeline, four professional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411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25BA0"/>
                </a:solidFill>
                <a:latin typeface="Aptos"/>
              </a:defRPr>
            </a:pPr>
            <a:r>
              <a:t>DECISION IMPLICATIONS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63040"/>
            <a:ext cx="2542032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463040"/>
            <a:ext cx="54864" cy="3566160"/>
          </a:xfrm>
          <a:prstGeom prst="rect">
            <a:avLst/>
          </a:prstGeom>
          <a:solidFill>
            <a:srgbClr val="22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591056"/>
            <a:ext cx="222199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B1628"/>
                </a:solidFill>
                <a:latin typeface="Aptos"/>
              </a:defRPr>
            </a:pPr>
            <a:r>
              <a:t>CREDIT ANALYST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947672"/>
            <a:ext cx="2221991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22C3A"/>
                </a:solidFill>
                <a:latin typeface="Aptos"/>
              </a:defRPr>
            </a:pPr>
            <a:r>
              <a:t>Can I trust the borrower signal?</a:t>
            </a:r>
            <a:br/>
            <a:r>
              <a:t>Check affordability, timing, overrides and exception patterns.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4069080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225BA0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1463040"/>
            <a:ext cx="2542032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10712" y="1463040"/>
            <a:ext cx="54864" cy="3566160"/>
          </a:xfrm>
          <a:prstGeom prst="rect">
            <a:avLst/>
          </a:prstGeom>
          <a:solidFill>
            <a:srgbClr val="2FA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75304" y="1591056"/>
            <a:ext cx="222199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B1628"/>
                </a:solidFill>
                <a:latin typeface="Aptos"/>
              </a:defRPr>
            </a:pPr>
            <a:r>
              <a:t>DATA SCIENTIST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4" y="1947672"/>
            <a:ext cx="2221991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22C3A"/>
                </a:solidFill>
                <a:latin typeface="Aptos"/>
              </a:defRPr>
            </a:pPr>
            <a:r>
              <a:t>Can I reproduce the signal?</a:t>
            </a:r>
            <a:br/>
            <a:r>
              <a:t>Check leakage, drift, feature stability and validation design.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5304" y="4069080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2FA6BF"/>
                </a:solidFill>
                <a:latin typeface="Aptos"/>
              </a:defRPr>
            </a:pPr>
            <a:r>
              <a:t>REPRODUCIBILITY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463040"/>
            <a:ext cx="2542032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7064" y="1463040"/>
            <a:ext cx="54864" cy="356616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1591056"/>
            <a:ext cx="222199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B1628"/>
                </a:solidFill>
                <a:latin typeface="Aptos"/>
              </a:defRPr>
            </a:pPr>
            <a:r>
              <a:t>MRM PROFESSIONAL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1947672"/>
            <a:ext cx="2221991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22C3A"/>
                </a:solidFill>
                <a:latin typeface="Aptos"/>
              </a:defRPr>
            </a:pPr>
            <a:r>
              <a:t>Can I evidence the control?</a:t>
            </a:r>
            <a:br/>
            <a:r>
              <a:t>Check lineage, assumptions, change management and monitoring.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4069080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74EA7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3416" y="1463040"/>
            <a:ext cx="2542032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43416" y="1463040"/>
            <a:ext cx="54864" cy="3566160"/>
          </a:xfrm>
          <a:prstGeom prst="rect">
            <a:avLst/>
          </a:prstGeom>
          <a:solidFill>
            <a:srgbClr val="BA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08008" y="1591056"/>
            <a:ext cx="222199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B1628"/>
                </a:solidFill>
                <a:latin typeface="Aptos"/>
              </a:defRPr>
            </a:pPr>
            <a:r>
              <a:t>CFO / CRO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8" y="1947672"/>
            <a:ext cx="2221991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22C3A"/>
                </a:solidFill>
                <a:latin typeface="Aptos"/>
              </a:defRPr>
            </a:pPr>
            <a:r>
              <a:t>Can I govern the business outcome?</a:t>
            </a:r>
            <a:br/>
            <a:r>
              <a:t>Check materiality, capacity, risk appetite and accountability.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8008" y="4069080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BA4444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9496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B1628"/>
                </a:solidFill>
                <a:latin typeface="Aptos"/>
              </a:defRPr>
            </a:pPr>
            <a:r>
              <a:t>The same data defect can look different to each role. Strong AI governance connects the technical defect to a business decision and a named owner.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9AA9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655624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87586"/>
                </a:solidFill>
                <a:latin typeface="Aptos"/>
              </a:defRPr>
            </a:pPr>
            <a:r>
              <a:t>MODULE 2  |  TOOLS &amp; TECHNIQUES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28816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87586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1628"/>
                </a:solidFill>
                <a:latin typeface="Aptos Display"/>
              </a:defRPr>
            </a:pPr>
            <a:r>
              <a:t>Red flags that should stop or slow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411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25BA0"/>
                </a:solidFill>
                <a:latin typeface="Aptos"/>
              </a:defRPr>
            </a:pPr>
            <a:r>
              <a:t>PRACTICAL CHECKLIST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54864" cy="1737360"/>
          </a:xfrm>
          <a:prstGeom prst="rect">
            <a:avLst/>
          </a:prstGeom>
          <a:solidFill>
            <a:srgbClr val="BA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453895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B1628"/>
                </a:solidFill>
                <a:latin typeface="Aptos"/>
              </a:defRPr>
            </a:pPr>
            <a:r>
              <a:t>Leakage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810512"/>
            <a:ext cx="31089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22C3A"/>
                </a:solidFill>
                <a:latin typeface="Aptos"/>
              </a:defRPr>
            </a:pPr>
            <a:r>
              <a:t>Post-outcome fields sneak into training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" y="1490472"/>
            <a:ext cx="438912" cy="310896"/>
          </a:xfrm>
          <a:prstGeom prst="roundRect">
            <a:avLst/>
          </a:prstGeom>
          <a:solidFill>
            <a:srgbClr val="BA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54864" cy="1737360"/>
          </a:xfrm>
          <a:prstGeom prst="rect">
            <a:avLst/>
          </a:prstGeom>
          <a:solidFill>
            <a:srgbClr val="D5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453895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B1628"/>
                </a:solidFill>
                <a:latin typeface="Aptos"/>
              </a:defRPr>
            </a:pPr>
            <a:r>
              <a:t>Silent imputation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810512"/>
            <a:ext cx="31089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22C3A"/>
                </a:solidFill>
                <a:latin typeface="Aptos"/>
              </a:defRPr>
            </a:pPr>
            <a:r>
              <a:t>Missing values are filled without business logic or monitoring.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53712" y="1490472"/>
            <a:ext cx="438912" cy="310896"/>
          </a:xfrm>
          <a:prstGeom prst="roundRect">
            <a:avLst/>
          </a:prstGeom>
          <a:solidFill>
            <a:srgbClr val="D5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132588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59" y="1325880"/>
            <a:ext cx="54864" cy="173736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1" y="1453895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B1628"/>
                </a:solidFill>
                <a:latin typeface="Aptos"/>
              </a:defRPr>
            </a:pPr>
            <a:r>
              <a:t>Duplicate entities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1" y="1810512"/>
            <a:ext cx="31089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22C3A"/>
                </a:solidFill>
                <a:latin typeface="Aptos"/>
              </a:defRPr>
            </a:pPr>
            <a:r>
              <a:t>Same customer / application appears multiple times across splits.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02751" y="1490472"/>
            <a:ext cx="438912" cy="310896"/>
          </a:xfrm>
          <a:prstGeom prst="roundRect">
            <a:avLst/>
          </a:prstGeom>
          <a:solidFill>
            <a:srgbClr val="674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47472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474720"/>
            <a:ext cx="54864" cy="1737360"/>
          </a:xfrm>
          <a:prstGeom prst="rect">
            <a:avLst/>
          </a:prstGeom>
          <a:solidFill>
            <a:srgbClr val="22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3602736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B1628"/>
                </a:solidFill>
                <a:latin typeface="Aptos"/>
              </a:defRPr>
            </a:pPr>
            <a:r>
              <a:t>Uncontrolled overrides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3959352"/>
            <a:ext cx="31089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22C3A"/>
                </a:solidFill>
                <a:latin typeface="Aptos"/>
              </a:defRPr>
            </a:pPr>
            <a:r>
              <a:t>Manual decisions are not captured as data or policy.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" y="3639312"/>
            <a:ext cx="438912" cy="310896"/>
          </a:xfrm>
          <a:prstGeom prst="roundRect">
            <a:avLst/>
          </a:prstGeom>
          <a:solidFill>
            <a:srgbClr val="22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47472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3474720"/>
            <a:ext cx="54864" cy="1737360"/>
          </a:xfrm>
          <a:prstGeom prst="rect">
            <a:avLst/>
          </a:prstGeom>
          <a:solidFill>
            <a:srgbClr val="2FA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3712" y="3602736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B1628"/>
                </a:solidFill>
                <a:latin typeface="Aptos"/>
              </a:defRPr>
            </a:pPr>
            <a:r>
              <a:t>Tool drift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3959352"/>
            <a:ext cx="31089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22C3A"/>
                </a:solidFill>
                <a:latin typeface="Aptos"/>
              </a:defRPr>
            </a:pPr>
            <a:r>
              <a:t>Library, feature logic or pipeline changes without regression testing.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53712" y="3639312"/>
            <a:ext cx="438912" cy="310896"/>
          </a:xfrm>
          <a:prstGeom prst="roundRect">
            <a:avLst/>
          </a:prstGeom>
          <a:solidFill>
            <a:srgbClr val="2FA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59" y="347472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59" y="3474720"/>
            <a:ext cx="54864" cy="1737360"/>
          </a:xfrm>
          <a:prstGeom prst="rect">
            <a:avLst/>
          </a:prstGeom>
          <a:solidFill>
            <a:srgbClr val="21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2751" y="3602736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B1628"/>
                </a:solidFill>
                <a:latin typeface="Aptos"/>
              </a:defRPr>
            </a:pPr>
            <a:r>
              <a:t>Metric myopia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1" y="3959352"/>
            <a:ext cx="31089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22C3A"/>
                </a:solidFill>
                <a:latin typeface="Aptos"/>
              </a:defRPr>
            </a:pPr>
            <a:r>
              <a:t>AUC / accuracy improves while operational loss or workload worsens.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02751" y="3639312"/>
            <a:ext cx="438912" cy="310896"/>
          </a:xfrm>
          <a:prstGeom prst="roundRect">
            <a:avLst/>
          </a:prstGeom>
          <a:solidFill>
            <a:srgbClr val="21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71500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BA4444"/>
                </a:solidFill>
                <a:latin typeface="Aptos"/>
              </a:defRPr>
            </a:pPr>
            <a:r>
              <a:t>Rule of thumb: if a reviewer cannot reproduce how a feature was created and why it was allowed, the pipeline is not production-ready.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9AA9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655624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87586"/>
                </a:solidFill>
                <a:latin typeface="Aptos"/>
              </a:defRPr>
            </a:pPr>
            <a:r>
              <a:t>MODULE 2  |  TOOLS &amp; TECHNIQUES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528816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87586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ptos Display"/>
              </a:defRPr>
            </a:pPr>
            <a:r>
              <a:t>Executive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411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FA6BF"/>
                </a:solidFill>
                <a:latin typeface="Aptos"/>
              </a:defRPr>
            </a:pPr>
            <a:r>
              <a:t>SO WHAT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457200" cy="310896"/>
          </a:xfrm>
          <a:prstGeom prst="roundRect">
            <a:avLst/>
          </a:prstGeom>
          <a:solidFill>
            <a:srgbClr val="22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124712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t>TOOLS ARE MEANS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3320" y="1124712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E8EEF5"/>
                </a:solidFill>
                <a:latin typeface="Aptos"/>
              </a:defRPr>
            </a:pPr>
            <a:r>
              <a:t>Choose for scale, reproducibility, explainability and control — not novelty.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75688"/>
            <a:ext cx="457200" cy="310896"/>
          </a:xfrm>
          <a:prstGeom prst="roundRect">
            <a:avLst/>
          </a:prstGeom>
          <a:solidFill>
            <a:srgbClr val="2FA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5740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t>DATA IS A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057400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E8EEF5"/>
                </a:solidFill>
                <a:latin typeface="Aptos"/>
              </a:defRPr>
            </a:pPr>
            <a:r>
              <a:t>Profiling, lineage, point-in-time integrity and reconciliation are part of model risk.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08376"/>
            <a:ext cx="457200" cy="310896"/>
          </a:xfrm>
          <a:prstGeom prst="roundRect">
            <a:avLst/>
          </a:prstGeom>
          <a:solidFill>
            <a:srgbClr val="21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90088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t>FEATURES NEED ECONOMICS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990088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E8EEF5"/>
                </a:solidFill>
                <a:latin typeface="Aptos"/>
              </a:defRPr>
            </a:pPr>
            <a:r>
              <a:t>A useful feature should map to a plausible business mechanism and decision timestamp.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941064"/>
            <a:ext cx="457200" cy="310896"/>
          </a:xfrm>
          <a:prstGeom prst="roundRect">
            <a:avLst/>
          </a:prstGeom>
          <a:solidFill>
            <a:srgbClr val="D5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922776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t>METRICS NEED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922776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E8EEF5"/>
                </a:solidFill>
                <a:latin typeface="Aptos"/>
              </a:defRPr>
            </a:pPr>
            <a:r>
              <a:t>Model performance must be translated into loss, workload, customer and capital implications.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873752"/>
            <a:ext cx="457200" cy="310896"/>
          </a:xfrm>
          <a:prstGeom prst="roundRect">
            <a:avLst/>
          </a:prstGeom>
          <a:solidFill>
            <a:srgbClr val="BA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8FAF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855464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t>GOVERNANCE STARTS UPSTREAM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855464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E8EEF5"/>
                </a:solidFill>
                <a:latin typeface="Aptos"/>
              </a:defRPr>
            </a:pPr>
            <a:r>
              <a:t>The cheapest model-risk issue to fix is the one prevented before training.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97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FA6BF"/>
                </a:solidFill>
                <a:latin typeface="Aptos"/>
              </a:defRPr>
            </a:pPr>
            <a:r>
              <a:t>NEXT MODULE LOGIC  →  move from prepared data to model development, validation and deployment discipline.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9AA9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5624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9AA9BC"/>
                </a:solidFill>
                <a:latin typeface="Aptos"/>
              </a:defRPr>
            </a:pPr>
            <a:r>
              <a:t>MODULE 2  |  TOOLS &amp; TECHNIQUES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28816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9AA9BC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 – AI/ML Tools &amp; Data Preparation</dc:title>
  <dc:subject>Premium corporate training deck for banking, finance, business and model risk</dc:subject>
  <dc:creator>OpenAI</dc:creator>
  <cp:keywords>AI, ML, data preparation, banking, model risk, MRM, credit, CFO, CRO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