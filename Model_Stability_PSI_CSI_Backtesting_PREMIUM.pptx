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PD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default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</c:v>
                </c:pt>
                <c:pt idx="1">
                  <c:v>5.4</c:v>
                </c:pt>
                <c:pt idx="2">
                  <c:v>7.2</c:v>
                </c:pt>
                <c:pt idx="3">
                  <c:v>8.1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6400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MODEL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8E4F0"/>
                </a:solidFill>
                <a:latin typeface="Aptos"/>
              </a:defRPr>
            </a:pPr>
            <a:r>
              <a:t>Backtesting • PSI • CSI • Population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3C6D3"/>
                </a:solidFill>
                <a:latin typeface="Aptos"/>
              </a:defRPr>
            </a:pPr>
            <a:r>
              <a:t>CREDIT RISK  |  MODEL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965960"/>
            <a:ext cx="1371600" cy="150876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17627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8312" y="2697480"/>
            <a:ext cx="12252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BACKTESTING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65960"/>
            <a:ext cx="1371600" cy="150876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17627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2697480"/>
            <a:ext cx="12252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965960"/>
            <a:ext cx="1371600" cy="1508760"/>
          </a:xfrm>
          <a:prstGeom prst="round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217627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7272" y="2697480"/>
            <a:ext cx="12252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Is the model still reliable when the portfolio, customer mix or economic environment changes?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8E4F0"/>
                </a:solidFill>
                <a:latin typeface="Aptos"/>
              </a:defRPr>
            </a:pPr>
            <a:r>
              <a:t>Stability monitoring turns model performance into an early-warning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8076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FC1D3"/>
                </a:solidFill>
                <a:latin typeface="Aptos"/>
              </a:defRPr>
            </a:pPr>
            <a:r>
              <a:t>Premium Corporate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What Is Model Stability?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54864" cy="192024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17319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83080"/>
            <a:ext cx="316382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Model stability is the ability of a model's inputs, risk ranking and predictive relationship to remain sufficiently reliable as time, portfolio mix and conditions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54864" cy="19202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17319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783080"/>
            <a:ext cx="316382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A model can perform well in development but weaken after portfolio growth, policy changes, economic shocks or customer-mix shifts.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80160"/>
            <a:ext cx="54864" cy="19202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417319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783080"/>
            <a:ext cx="316382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Monitor population drift, characteristic drift, discrimination, calibration and forecast-vs-actual outcomes across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20440"/>
            <a:ext cx="1097280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764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69AA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85032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43E"/>
                </a:solidFill>
                <a:latin typeface="Aptos"/>
              </a:defRPr>
            </a:pPr>
            <a:r>
              <a:t>Stability monitoring is not about proving that every metric stays unchanged. It is about detecting material change early enough to investigate, control and 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257800"/>
            <a:ext cx="18288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2144" y="5317236"/>
            <a:ext cx="17190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769AA"/>
                </a:solidFill>
                <a:latin typeface="Aptos"/>
              </a:defRPr>
            </a:pPr>
            <a:r>
              <a:t>Portfolio changes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257800"/>
            <a:ext cx="18288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9544" y="5317236"/>
            <a:ext cx="17190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8C95"/>
                </a:solidFill>
                <a:latin typeface="Aptos"/>
              </a:defRPr>
            </a:pPr>
            <a:r>
              <a:t>Economic changes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5257800"/>
            <a:ext cx="18288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5317236"/>
            <a:ext cx="17190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D49A2A"/>
                </a:solidFill>
                <a:latin typeface="Aptos"/>
              </a:defRPr>
            </a:pPr>
            <a:r>
              <a:t>Policy changes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5257800"/>
            <a:ext cx="18288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4344" y="5317236"/>
            <a:ext cx="17190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94C4C"/>
                </a:solidFill>
                <a:latin typeface="Aptos"/>
              </a:defRPr>
            </a:pPr>
            <a:r>
              <a:t>Data changes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5257800"/>
            <a:ext cx="18288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5317236"/>
            <a:ext cx="17190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Model decay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Model Stability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38988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44932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4081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Who is entering the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2313432"/>
            <a:ext cx="23317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372868"/>
            <a:ext cx="222199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8C95"/>
                </a:solidFill>
                <a:latin typeface="Aptos"/>
              </a:defRPr>
            </a:pPr>
            <a:r>
              <a:t>PSI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34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7992" y="138988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144932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14081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CHARACTERISTICS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How are input variables changing?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2313432"/>
            <a:ext cx="23317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5" y="2372868"/>
            <a:ext cx="222199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8C95"/>
                </a:solidFill>
                <a:latin typeface="Aptos"/>
              </a:defRPr>
            </a:pPr>
            <a:r>
              <a:t>CSI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2344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57031" y="138988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44932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14081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Does ranking remain effective?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1" y="2313432"/>
            <a:ext cx="23317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2372868"/>
            <a:ext cx="222199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8C95"/>
                </a:solidFill>
                <a:latin typeface="Aptos"/>
              </a:defRPr>
            </a:pPr>
            <a:r>
              <a:t>KS / AUC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1089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952" y="326440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32384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9032" y="328269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3730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Do PDs still match outcomes?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" y="4187952"/>
            <a:ext cx="23317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4247388"/>
            <a:ext cx="222199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8C95"/>
                </a:solidFill>
                <a:latin typeface="Aptos"/>
              </a:defRPr>
            </a:pPr>
            <a:r>
              <a:t>Observed vs predicted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1089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07992" y="326440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5" y="332384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328269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BACKTESTING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3730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Are forecasts aligned with actuals?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07992" y="4187952"/>
            <a:ext cx="23317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5" y="4247388"/>
            <a:ext cx="222199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8C95"/>
                </a:solidFill>
                <a:latin typeface="Aptos"/>
              </a:defRPr>
            </a:pPr>
            <a:r>
              <a:t>Forecast vs actual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31089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57031" y="326440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3323844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7112" y="328269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1" y="3730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What should the institution do?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57031" y="4187952"/>
            <a:ext cx="23317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1896" y="4247388"/>
            <a:ext cx="222199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8C95"/>
                </a:solidFill>
                <a:latin typeface="Aptos"/>
              </a:defRPr>
            </a:pPr>
            <a:r>
              <a:t>Trigger → investigate → remediate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5212080"/>
            <a:ext cx="11018520" cy="59436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394960"/>
            <a:ext cx="10652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KEY PRINCIPLE  →  Stability = population + characteristics + performance + calibration + outcome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BACKTESTING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— Forecast vs Actual Defaults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Aptos"/>
              </a:defRPr>
            </a:pPr>
            <a:r>
              <a:t>Backtesting asks: did the model predict the level of risk that actually materialised?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691640"/>
          <a:ext cx="6492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64592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645920"/>
            <a:ext cx="54864" cy="123444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1783080"/>
            <a:ext cx="35478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CORE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148840"/>
            <a:ext cx="35295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Compare forecasted default rates with realised defaults over the defined performance horizon.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06324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063240"/>
            <a:ext cx="54864" cy="12344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3200400"/>
            <a:ext cx="35478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STATISTICAL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566160"/>
            <a:ext cx="35295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Is the deviation consistent with sampling noise, or does it indicate systematic forecast error?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48056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480560"/>
            <a:ext cx="54864" cy="12344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4617720"/>
            <a:ext cx="35478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4983480"/>
            <a:ext cx="3529584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Should the model remain unchanged, be monitored more closely, recalibrated or redeveloped?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BACKTESTING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— Step-by-Step Numerical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50876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4173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234440"/>
            <a:ext cx="201168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39" y="137160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Forecast PD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34440"/>
            <a:ext cx="251460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7160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Actual defaults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234440"/>
            <a:ext cx="201168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37160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1508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865376"/>
            <a:ext cx="14173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169164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39" y="186537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4.0%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691640"/>
            <a:ext cx="2514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865376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4.5%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69164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86537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+0.5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313432"/>
            <a:ext cx="1508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487168"/>
            <a:ext cx="14173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231343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39" y="248716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5.0%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313432"/>
            <a:ext cx="2514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487168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5.4%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31343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48716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+0.4 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35224"/>
            <a:ext cx="1508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08960"/>
            <a:ext cx="14173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93522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39" y="310896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6.0%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935224"/>
            <a:ext cx="2514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108960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7.2%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293522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310896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+1.2 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57016"/>
            <a:ext cx="1508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730752"/>
            <a:ext cx="14173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1720" y="355701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39" y="373075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7.0%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557016"/>
            <a:ext cx="2514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373075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8.1%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355701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373075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+1.1 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0" y="141732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11512" y="1527048"/>
            <a:ext cx="1408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C94C4C"/>
                </a:solidFill>
                <a:latin typeface="Aptos"/>
              </a:defRPr>
            </a:pPr>
            <a:r>
              <a:t>+0.8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1512" y="1984248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Average gap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5720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69AA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8760" y="45262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Measure forecast error by period.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5720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C95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45262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Check whether the gap is persistent.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5720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49A2A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45262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Investigate drivers before recalibration.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83480" y="5486400"/>
            <a:ext cx="18288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38344" y="5545836"/>
            <a:ext cx="17190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667085"/>
                </a:solidFill>
                <a:latin typeface="Aptos"/>
              </a:defRPr>
            </a:pPr>
            <a:r>
              <a:t>Illustrative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BACKTESTING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Backtesting — Statistical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8288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CALIBRATION /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3163824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Compare average predicted PD with observed default rate. A persistent positive gap may indicate under-prediction.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54864" cy="1828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71600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BINOMIAL / PROPORTION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737360"/>
            <a:ext cx="3163824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For a defined horizon, test whether the observed number of defaults is plausible given the forecast PD and exposure 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54864" cy="182880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371600"/>
            <a:ext cx="31821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TIME-SERIES / SEGMENT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737360"/>
            <a:ext cx="3163824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Look for persistence across vintages, periods, products and customer segments rather than relying on one aggregate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10881360" cy="13716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75887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4C4C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584448"/>
            <a:ext cx="8869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Aptos"/>
              </a:defRPr>
            </a:pPr>
            <a:r>
              <a:t>Statistical significance is not the same as business materiality. A tiny deviation can be statistically significant in a huge portfolio; a material deviation can be hard to establish in a small sample.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C95"/>
                </a:solidFill>
                <a:latin typeface="Aptos"/>
              </a:defRPr>
            </a:pPr>
            <a:r>
              <a:t>VALIDATOR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16636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Sample size • confidence level • performance window • exposure weighting • segment mix • economic regime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PSI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PSI — Population Stability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43E"/>
                </a:solidFill>
                <a:latin typeface="Aptos"/>
              </a:defRPr>
            </a:pPr>
            <a:r>
              <a:t>PSI measures how the distribution of a population changes between a reference sample and a monitoring sample.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769AA"/>
                </a:solidFill>
                <a:latin typeface="Aptos"/>
              </a:defRPr>
            </a:pPr>
            <a:r>
              <a:t>PSI = Σ (Actual% − Expected%) × ln(Actual% / Expected%)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2468880" cy="41148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Risk band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560320"/>
            <a:ext cx="2103120" cy="41148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2679192"/>
            <a:ext cx="20116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Reference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2103120" cy="41148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9192"/>
            <a:ext cx="20116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Current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71800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Low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971800"/>
            <a:ext cx="2103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59" y="3108960"/>
            <a:ext cx="2011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71800"/>
            <a:ext cx="2103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2011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32%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02152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639312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Medium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502152"/>
            <a:ext cx="2103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59" y="3639312"/>
            <a:ext cx="2011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502152"/>
            <a:ext cx="2103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639312"/>
            <a:ext cx="2011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42%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032504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69664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4032504"/>
            <a:ext cx="2103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59" y="4169664"/>
            <a:ext cx="2011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032504"/>
            <a:ext cx="2103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169664"/>
            <a:ext cx="2011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Aptos"/>
              </a:defRPr>
            </a:pPr>
            <a:r>
              <a:t>26%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27432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5712" y="285292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8C95"/>
                </a:solidFill>
                <a:latin typeface="Aptos"/>
              </a:defRPr>
            </a:pPr>
            <a:r>
              <a:t>≈ 0.04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31012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Illustrative PSI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977639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Interpretation should follow the institution's approved thresholds and business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PSI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PSI — Step-by-Step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96012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Low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1700784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E=40% → A=32%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(A−E) × ln(A/E)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508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769AA"/>
                </a:solidFill>
                <a:latin typeface="Aptos"/>
              </a:defRPr>
            </a:pPr>
            <a:r>
              <a:t>≈ 0.017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6888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54864" cy="96012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260604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971800"/>
            <a:ext cx="1700784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E=40% → A=42%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743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(A−E) × ln(A/E)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743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769AA"/>
                </a:solidFill>
                <a:latin typeface="Aptos"/>
              </a:defRPr>
            </a:pPr>
            <a:r>
              <a:t>≈ 0.001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54864" cy="96012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8404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206240"/>
            <a:ext cx="1700784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E=20% → A=26%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97764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(A−E) × ln(A/E)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769AA"/>
                </a:solidFill>
                <a:latin typeface="Aptos"/>
              </a:defRPr>
            </a:pPr>
            <a:r>
              <a:t>≈ 0.016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881360" cy="640080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85232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TOTAL PSI  ≈  0.034  →  compare against the bank's approved threshold and investigate the drivers.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5897880"/>
            <a:ext cx="402336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4" y="5957316"/>
            <a:ext cx="39136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94C4C"/>
                </a:solidFill>
                <a:latin typeface="Aptos"/>
              </a:defRPr>
            </a:pPr>
            <a:r>
              <a:t>Illustrative calculation — not a universal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CSI — Characteristic Stability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9659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3118104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CSI monitors how an individual model characteristic changes between a reference period and a monitoring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54864" cy="196596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7160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118104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A variable can become materially different even when overall population movement looks modest.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54864" cy="196596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37160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737360"/>
            <a:ext cx="3118104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Calculate distribution shift variable-by-variable, then identify which characteristics are driving the movement.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Income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749039"/>
            <a:ext cx="5029200" cy="2560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0" y="3749039"/>
            <a:ext cx="251459" cy="25603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74903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E8B57"/>
                </a:solidFill>
                <a:latin typeface="Aptos"/>
              </a:defRPr>
            </a:pPr>
            <a:r>
              <a:t>0.01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5195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DTI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251959"/>
            <a:ext cx="5029200" cy="2560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0" y="4251959"/>
            <a:ext cx="2011679" cy="256032"/>
          </a:xfrm>
          <a:prstGeom prst="round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25195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49A2A"/>
                </a:solidFill>
                <a:latin typeface="Aptos"/>
              </a:defRPr>
            </a:pPr>
            <a:r>
              <a:t>0.08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7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Utilisation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754879"/>
            <a:ext cx="5029200" cy="2560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4754879"/>
            <a:ext cx="4777740" cy="256032"/>
          </a:xfrm>
          <a:prstGeom prst="round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75487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94C4C"/>
                </a:solidFill>
                <a:latin typeface="Aptos"/>
              </a:defRPr>
            </a:pPr>
            <a:r>
              <a:t>0.19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Vintage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257800"/>
            <a:ext cx="5029200" cy="2560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0" y="5257800"/>
            <a:ext cx="754380" cy="25603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2578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E8B57"/>
                </a:solidFill>
                <a:latin typeface="Aptos"/>
              </a:defRPr>
            </a:pPr>
            <a:r>
              <a:t>0.03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44068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43E"/>
                </a:solidFill>
                <a:latin typeface="Aptos"/>
              </a:defRPr>
            </a:pPr>
            <a:r>
              <a:t>CSI is especially useful for variable-level diagnosis after a population or performance change is detected.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PSI vs CSI — What Is the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1663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54864" cy="3200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71600"/>
            <a:ext cx="4873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PSI — POPULATION 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4855464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Question: Has the overall distribution of the monitored population changed?</a:t>
            </a:r>
            <a:br/>
            <a:br/>
            <a:r>
              <a:t>Typical use:</a:t>
            </a:r>
            <a:br/>
            <a:r>
              <a:t>• Portfolio mix</a:t>
            </a:r>
            <a:br/>
            <a:r>
              <a:t>• Score bands</a:t>
            </a:r>
            <a:br/>
            <a:r>
              <a:t>• Risk bands</a:t>
            </a:r>
            <a:br/>
            <a:r>
              <a:t>• Customer segments</a:t>
            </a:r>
            <a:br/>
            <a:br/>
            <a:r>
              <a:t>Strength: portfolio-level early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51663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4864" cy="3200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371600"/>
            <a:ext cx="4873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CSI — CHARACTERISTIC 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37360"/>
            <a:ext cx="4855464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Question: Which individual characteristics have changed?</a:t>
            </a:r>
            <a:br/>
            <a:br/>
            <a:r>
              <a:t>Typical use:</a:t>
            </a:r>
            <a:br/>
            <a:r>
              <a:t>• Income</a:t>
            </a:r>
            <a:br/>
            <a:r>
              <a:t>• DTI</a:t>
            </a:r>
            <a:br/>
            <a:r>
              <a:t>• Utilisation</a:t>
            </a:r>
            <a:br/>
            <a:r>
              <a:t>• Age / tenure</a:t>
            </a:r>
            <a:br/>
            <a:r>
              <a:t>• Bureau attributes</a:t>
            </a:r>
            <a:br/>
            <a:br/>
            <a:r>
              <a:t>Strength: diagnostic drill-down.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10789920" cy="731520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6519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PSI says “something changed.”  →  CSI helps explain “what changed.”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Model Stability — Practical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43E"/>
                </a:solidFill>
                <a:latin typeface="Aptos"/>
              </a:defRPr>
            </a:pPr>
            <a:r>
              <a:t>Illustrative retail lending portfolio: current quarter vs development/reference population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664207"/>
            <a:ext cx="18653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769AA"/>
                </a:solidFill>
                <a:latin typeface="Aptos"/>
              </a:defRPr>
            </a:pPr>
            <a:r>
              <a:t>0.034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2121408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Portfolio PSI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55448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664207"/>
            <a:ext cx="18653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C94C4C"/>
                </a:solidFill>
                <a:latin typeface="Aptos"/>
              </a:defRPr>
            </a:pPr>
            <a:r>
              <a:t>0.19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121408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Utilisation CSI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55448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1664207"/>
            <a:ext cx="18653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D49A2A"/>
                </a:solidFill>
                <a:latin typeface="Aptos"/>
              </a:defRPr>
            </a:pPr>
            <a:r>
              <a:t>0.08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121408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DTI CSI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5" y="155448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1664207"/>
            <a:ext cx="18653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C94C4C"/>
                </a:solidFill>
                <a:latin typeface="Aptos"/>
              </a:defRPr>
            </a:pPr>
            <a:r>
              <a:t>−8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121408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KS decline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55448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664207"/>
            <a:ext cx="18653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C94C4C"/>
                </a:solidFill>
                <a:latin typeface="Aptos"/>
              </a:defRPr>
            </a:pPr>
            <a:r>
              <a:t>+1.4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121408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PD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8803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880360"/>
            <a:ext cx="54864" cy="2057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301752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3383280"/>
            <a:ext cx="3118104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Overall PSI is moderate, but utilisation shows a much larger characteristic shift. At the same time, KS has declined and observed defaults exceed predicted PD.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8803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2880360"/>
            <a:ext cx="54864" cy="2057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01752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POSSIBLE DRIVERS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383280"/>
            <a:ext cx="3118104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Portfolio mix, higher revolving utilisation, underwriting changes, macro conditions, acquisition channel changes or data/implementation issues.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8803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2880360"/>
            <a:ext cx="54864" cy="205740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01752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VALIDATOR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3383280"/>
            <a:ext cx="3118104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Segment the shift → test performance by segment → review data lineage → assess calibration → define monitoring / remediation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RISK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Model Stability — Red Flags &amp; 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64592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Threshold-only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311810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Treating PSI/CSI as automatic proof of model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54864" cy="164592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7160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No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11810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Portfolio aggregate hides product or customer-level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234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234440"/>
            <a:ext cx="54864" cy="164592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37160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Ignoring business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1737360"/>
            <a:ext cx="311810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Policy, acquisition, pricing or underwriting changes alter distributions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4864" cy="164592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33756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Ignoring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703320"/>
            <a:ext cx="311810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Drift alone does not prove performance deterioration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004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200400"/>
            <a:ext cx="54864" cy="164592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33756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Small samples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703320"/>
            <a:ext cx="311810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Percentages become noisy and unstable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2004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3200400"/>
            <a:ext cx="54864" cy="164592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3337560"/>
            <a:ext cx="3136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Wrong reference population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3703320"/>
            <a:ext cx="311810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Bad baseline makes drift conclusions misleading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End-to-End Stability Monitoring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13898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53619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59562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38528"/>
            <a:ext cx="12435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BACKTEST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67712"/>
            <a:ext cx="1243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  <a:latin typeface="Aptos"/>
              </a:defRPr>
            </a:pPr>
            <a:r>
              <a:t>Forecast vs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184708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1371600"/>
            <a:ext cx="13898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32304" y="153619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159562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6544" y="1938528"/>
            <a:ext cx="12435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4" y="2267712"/>
            <a:ext cx="1243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  <a:latin typeface="Aptos"/>
              </a:defRPr>
            </a:pPr>
            <a:r>
              <a:t>Population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84708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66744" y="1371600"/>
            <a:ext cx="13898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05656" y="153619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59562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1938528"/>
            <a:ext cx="12435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CSI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2267712"/>
            <a:ext cx="1243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  <a:latin typeface="Aptos"/>
              </a:defRPr>
            </a:pPr>
            <a:r>
              <a:t>Variable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1" y="184708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0096" y="1371600"/>
            <a:ext cx="13898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79008" y="153619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159562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1938528"/>
            <a:ext cx="12435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2267712"/>
            <a:ext cx="1243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  <a:latin typeface="Aptos"/>
              </a:defRPr>
            </a:pPr>
            <a:r>
              <a:t>KS / Gini / 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3" y="184708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1371600"/>
            <a:ext cx="13898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52360" y="153619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224" y="159562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1938528"/>
            <a:ext cx="12435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267712"/>
            <a:ext cx="1243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  <a:latin typeface="Aptos"/>
              </a:defRPr>
            </a:pPr>
            <a:r>
              <a:t>Predicted vs observed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184708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1371600"/>
            <a:ext cx="13898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25712" y="153619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0576" y="159562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1938528"/>
            <a:ext cx="12435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9952" y="2267712"/>
            <a:ext cx="1243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  <a:latin typeface="Aptos"/>
              </a:defRPr>
            </a:pPr>
            <a:r>
              <a:t>Segment / macro /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76688" y="184708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60152" y="1371600"/>
            <a:ext cx="13898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799064" y="153619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53928" y="159562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3304" y="1938528"/>
            <a:ext cx="12435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3304" y="2267712"/>
            <a:ext cx="1243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  <a:latin typeface="Aptos"/>
              </a:defRPr>
            </a:pPr>
            <a:r>
              <a:t>Monitor / recalibrate / redevelop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337560"/>
            <a:ext cx="10927080" cy="15087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361188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69AA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35204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243E"/>
                </a:solidFill>
                <a:latin typeface="Aptos"/>
              </a:defRPr>
            </a:pPr>
            <a:r>
              <a:t>Drift detected?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3749039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6708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35204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243E"/>
                </a:solidFill>
                <a:latin typeface="Aptos"/>
              </a:defRPr>
            </a:pPr>
            <a:r>
              <a:t>Is performance / calibration affected?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3749039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6708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3520440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8C95"/>
                </a:solidFill>
                <a:latin typeface="Aptos"/>
              </a:defRPr>
            </a:pPr>
            <a:r>
              <a:t>Investigate cause → apply approved control / remediation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86200" y="5303520"/>
            <a:ext cx="429768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41063" y="5362956"/>
            <a:ext cx="41879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Monitoring is a closed-loop governance 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Executive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MODEL STABILITY &amp; BACKTESTING  |  CREDIT RISK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02920" cy="31089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202436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124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Stability is multidimensional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11556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Monitor population, characteristics, performance, calibration and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92807"/>
            <a:ext cx="502920" cy="31089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952243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87451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PSI detects population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865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It tells you that the distribution changed — not automatically why or whether the model failed.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42615"/>
            <a:ext cx="502920" cy="31089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702051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24327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CSI diagnoses characteristics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615184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Use variable-level drift to identify potential drivers of portfolio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92424"/>
            <a:ext cx="502920" cy="31089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451860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374136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Backtesting closes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3649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Compare forecast risk with realised defaults and distinguish noise from persistent error.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42231"/>
            <a:ext cx="502920" cy="31089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4201668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123944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Business context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114799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Policy, product, acquisition, macro and data changes can create drift without model defect.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502920" cy="31089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951476"/>
            <a:ext cx="393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8737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Act on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864607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Material drift should trigger investigation, documented controls and—where justified—recalibration or redevelopment.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52744"/>
            <a:ext cx="10469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BOTTOM LINE  →  Stability monitoring is an early-warning system for model risk, not a single-metric pass/fail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