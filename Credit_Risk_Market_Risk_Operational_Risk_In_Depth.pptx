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Understanding Financial Risk</a:t>
            </a:r>
          </a:p>
          <a:p>
            <a:pPr>
              <a:defRPr sz="2500">
                <a:solidFill>
                  <a:srgbClr val="BED7F5"/>
                </a:solidFill>
              </a:defRPr>
            </a:pPr>
            <a:r>
              <a:t>Credit Risk • Market Risk • Operational Risk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Definitions, drivers, measurement, examples, governance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1. The Big Picture: What Is Financial Risk?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Risk is the possibility that an uncertain event produces an adverse financial, business, regulatory or reputational outcome.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Risk ≠ loss. Risk is exposure to variability; loss is one possible realization of that exposure.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Three core bank risk families: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Credit Risk — counterparty fails to meet contractual obligations.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Market Risk — adverse movements in market prices/rates reduce value or earnings.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Operational Risk — failures of people, processes, systems or external events create loss.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These risks interact: a market shock can weaken borrowers, while operational failures can amplify credit or market losses.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2. Credit Risk — Core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 risk is the risk of financial loss because a borrower, issuer or counterparty fails to meet contractual obligations.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Typical exposures: loans, credit cards, mortgages, trade finance, bonds, derivatives and committed credit lines.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Two dimensions matter: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Probability of Default (PD): likelihood that the obligor defaults.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Loss Given Default (LGD): severity of loss after considering recoveries and collateral.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Exposure at Default (EAD): amount exposed when default occurs.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Expected Credit Loss is commonly framed as PD × LGD × EAD, with appropriate timing/discounting and scenario treatment depending on the framework.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 risk is fundamentally about the quality, structure and concentration of exposures.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3. Credit Risk — What Creates the Risk?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Borrower-specific drivers: income/cash flow deterioration, leverage, liquidity stress, management quality, fraud or business failure.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Facility-specific drivers: tenor, collateral, guarantees, covenants, seniority, amortization and utilization.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Portfolio drivers: sector concentration, geography, product concentration, correlated obligors and single-name concentration.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Macroeconomic drivers: unemployment, GDP growth, inflation, interest rates, property prices and commodity cycles.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Risk can migrate before default: rating deterioration, delinquency, covenant breach, utilization increase or declining collateral values can be early-warning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4. Credit Risk — Measurement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PD models estimate default likelihood using borrower, behavioral, bureau, financial and macroeconomic variables.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LGD models estimate loss severity using recovery, collateral, workout, seniority, cure and collection characteristics.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EAD models estimate exposure at the point of default, especially important for revolving facilities and undrawn commitments.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Key portfolio metrics: NPL ratio, Stage 2 migration, coverage ratio, concentration, vintage curves, roll rates, delinquency and loss rates.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Stress testing asks: what happens to defaults, losses and capital under severe but plausible economic conditions?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Model governance requires validation, monitoring, calibration, overrides, data controls and documented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5. Credit Risk —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A bank lends ₹10 crore to a commercial borrower.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Suppose the estimated PD is 3%, LGD is 40%, and EAD is ₹10 crore.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Illustrative one-period expected loss = 3% × 40% × ₹10 crore = ₹12 lakh.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The calculation is not a prediction that the bank will lose ₹12 lakh; it is an expected-value framework.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Actual loss can be zero, ₹4 crore, ₹10 crore, or another amount depending on default and recovery outcomes.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Decision implication: pricing, limit setting, collateral requirements, provisioning and capital allocation should reflect risk—not only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6. Market Risk — Core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 risk is the risk of loss from adverse movements in market variables affecting positions held by a bank or financial institution.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Major risk factors include interest rates, foreign exchange rates, equity prices, commodity prices and credit spreads.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Two broad perspectives: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Trading-book risk: positions held for trading and managed using market-value/P&amp;L measures.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Banking-book interest-rate risk: structural interest-rate exposure arising from assets, liabilities and off-balance-sheet items.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 risk can arise even when every counterparty pays exactly as promised—the market value of the position can still fall.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7. Market Risk — Key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Interest-rate risk: yield-curve shifts change bond prices, funding costs and net interest income.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Duration: approximate sensitivity of a bond's price to interest-rate changes.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Basis risk: related rates or instruments do not move together as expected.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FX risk: exchange-rate movements change the value of foreign-currency assets, liabilities and earnings.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Equity risk: stock-price volatility changes the value of equity positions.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Commodity risk: changes in oil, metals, agricultural products or energy prices affect positions and clients.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Spread risk: widening credit spreads can reduce the value of bonds and other spread-sensitive instruments.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8. Market Risk —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Value at Risk (VaR): estimates a loss threshold over a specified horizon and confidence level under a model/framework.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Expected Shortfall (ES): focuses on the average loss in the tail beyond the VaR threshold and is useful for tail-risk measurement.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Stress testing: evaluates extreme but plausible market moves that may not be well represented by normal historical behavior.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Greeks for derivatives: Delta, Gamma, Vega, Theta and Rho capture sensitivity to underlying risk factors and time/volatility/rates.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Scenario analysis can shock rates, FX, equities, spreads and commodities simultaneously to capture non-linear interactions.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Model choice matters: historical, parametric and simulation approaches have different assumptions and weaknesses.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9. Market Risk —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A bank holds a ₹100 crore portfolio of long-duration government bonds.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If market yields rise sharply, bond prices fall because future cash flows are discounted at higher rates.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The bank may experience mark-to-market losses even though the government continues to make every scheduled payment.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Risk management responses can include duration limits, hedging, stop-loss/escalation rules, position limits, liquidity buffers and stress testing.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Key lesson: credit quality can remain unchanged while market value changes materially.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10. Operational Risk — Core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 risk is the risk of loss resulting from inadequate or failed internal processes, people and systems, or from external events.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Typical sources include process breakdowns, human error, technology failures, cyber incidents, fraud, legal/process failures and third-party disruptions.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 risk differs from credit and market risk because the primary trigger is not a borrower default or market-price movement.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It can occur anywhere: onboarding, underwriting, payments, treasury, reporting, model implementation, customer servicing and regulatory processes.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Some operational events create direct financial loss; others create regulatory, legal, customer or reputational consequences.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11. Operational Risk —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People: unauthorized trading, employee misconduct, inadequate training, segregation-of-duties failures.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Process: incorrect approvals, weak reconciliations, inaccurate data lineage, missed controls, manual processing errors.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Systems: application outage, failed batch jobs, incorrect interfaces, data corruption or model deployment errors.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External events: cyberattacks, vendor outages, natural disasters, infrastructure disruption or widespread service interruption.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Fraud: internal or external fraud can produce direct losses and may also contaminate customer or transaction data.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Third-party risk: a critical outsourced provider can become a single point of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12. Operational Risk — Measurement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Risk and Control Self-Assessments (RCSAs) identify key risks, controls, control owners and residual exposure.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Key Risk Indicators (KRIs) monitor leading signals such as outage frequency, failed transactions, exception volumes and overdue reconciliations.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Loss-event databases capture internal and external operational incidents to identify recurring patterns.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Scenario analysis estimates severe operational events where historical loss data is sparse.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Control testing evaluates whether preventive and detective controls operate effectively.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Strong operational-risk management uses prevention + detection + response + recovery, supported by clear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13. One Scenario, Three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Consider a bank financing a real-estate developer: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Credit Risk: the developer cannot repay because sales collapse and cash flows deteriorate.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Market Risk: property/interest-rate/FX movements reduce the value of hedges or market positions held by the bank.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Operational Risk: a system error approves an excessive limit, collateral is not perfected, or payment processing fails.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The same business event can therefore generate multiple risk types.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Correct classification matters because measurement, ownership, limits, controls and capital treatment can differ.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14. Credit vs Market vs Operational —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 Risk → Counterparty/obligor failure → PD/LGD/EAD, migration, concentration, stress testing.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 Risk → Market-variable movement → VaR/ES, sensitivities, Greeks, stress testing, limits.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 Risk → Process/people/system/external-event failure → KRIs, RCSA, loss events, scenarios, control testing.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Primary question: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Credit: 'Will the counterparty pay, and how much could we lose if they do not?'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Market: 'How much can our position lose if market factors move?'</a:t>
            </a:r>
          </a:p>
          <a:p>
            <a:pPr lvl="1">
              <a:spcAft>
                <a:spcPts val="900"/>
              </a:spcAft>
              <a:defRPr sz="1600">
                <a:solidFill>
                  <a:srgbClr val="232830"/>
                </a:solidFill>
              </a:defRPr>
            </a:pPr>
            <a:r>
              <a:t>Operational: 'What can go wrong in how we operate, and what happens if it does?'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15. How the Risks Interact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Credit–Market link: higher interest rates can increase borrower debt-service burden and default probability.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Market–Credit link: spread widening can signal deteriorating credit quality and reduce the market value of bonds.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Operational–Credit link: weak underwriting or documentation processes can increase credit losses.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Operational–Market link: trading-system errors, limit breaches or incorrect valuations can create market losses.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Liquidity can amplify all three: forced asset sales, funding stress or inability to meet obligations can turn manageable risk into severe loss.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Enterprise risk management therefore needs an integrated view rather than isolated risk silos.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16. Risk Governance — Who Owns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Business/front office owns day-to-day risk-taking within approved appetite and limits.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Second-line risk functions challenge, monitor, aggregate and escalate risk.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Independent model risk/validation teams challenge material risk models and assumptions.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Operations, technology, compliance and control functions manage specific operational/control exposures.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Internal audit provides independent assurance over governance and controls.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Board and senior management define risk appetite, oversee material exposures and ensure capital/liquidity resilience.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17. Risk Appetite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Risk appetite translates strategy into explicit boundaries for acceptable risk.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 examples: portfolio concentration, PD bands, LTV limits, delinquency thresholds, sector limits and large-exposure limits.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 examples: VaR/ES limits, sensitivities, duration, FX position, stress-loss limits and stop-loss triggers.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 examples: outage tolerance, critical-process RTO/RPO, incident thresholds, fraud limits and control KRIs.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Limits are only effective when breaches trigger timely escalation, action and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18. Stress Testing —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Base-case metrics can look healthy while severe scenarios expose hidden vulnerabilities.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 stress: unemployment rises, borrower revenues fall, collateral values decline and defaults increase.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 stress: rates jump, yield curves reshape, FX depreciates and spreads widen together.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 stress: a critical system is unavailable during a market or payment peak, while a third-party provider also fails.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Integrated stress testing reveals second-order effects, such as market shocks causing credit deterioration and liquidity pressure.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19.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 Risk = failure to meet financial obligations.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 Risk = adverse movement in market variables.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 Risk = failure of people, processes, systems or external events.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Credit risk is commonly analyzed through PD, LGD and EAD.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Market risk is analyzed through sensitivities, VaR/ES and stress scenarios.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Operational risk is managed through controls, KRIs, RCSA, loss events, scenarios and resilience.</a:t>
            </a:r>
          </a:p>
          <a:p>
            <a:pPr>
              <a:spcAft>
                <a:spcPts val="900"/>
              </a:spcAft>
              <a:defRPr sz="1800" b="0">
                <a:solidFill>
                  <a:srgbClr val="232830"/>
                </a:solidFill>
              </a:defRPr>
            </a:pPr>
            <a:r>
              <a:t>The strongest risk managers understand both the individual risks and their interactions.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3F"/>
                </a:solidFill>
              </a:defRPr>
            </a:pPr>
            <a:r>
              <a:t>20. Audience Question — Test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830"/>
                </a:solidFill>
              </a:defRPr>
            </a:pPr>
            <a:r>
              <a:t>A bank has a large portfolio of floating-rate corporate loans.</a:t>
            </a:r>
          </a:p>
          <a:p>
            <a:pPr>
              <a:spcAft>
                <a:spcPts val="900"/>
              </a:spcAft>
              <a:defRPr sz="1900" b="0">
                <a:solidFill>
                  <a:srgbClr val="232830"/>
                </a:solidFill>
              </a:defRPr>
            </a:pPr>
            <a:r>
              <a:t>Interest rates rise sharply → borrowers' interest expense increases.</a:t>
            </a:r>
          </a:p>
          <a:p>
            <a:pPr>
              <a:spcAft>
                <a:spcPts val="900"/>
              </a:spcAft>
              <a:defRPr sz="1900" b="0">
                <a:solidFill>
                  <a:srgbClr val="232830"/>
                </a:solidFill>
              </a:defRPr>
            </a:pPr>
            <a:r>
              <a:t>A loan-processing system then fails to apply a covenant correctly.</a:t>
            </a:r>
          </a:p>
          <a:p>
            <a:pPr>
              <a:spcAft>
                <a:spcPts val="900"/>
              </a:spcAft>
              <a:defRPr sz="1900" b="0">
                <a:solidFill>
                  <a:srgbClr val="232830"/>
                </a:solidFill>
              </a:defRPr>
            </a:pPr>
            <a:r>
              <a:t>At the same time, the bank's bond portfolio loses market value because yields rise.</a:t>
            </a:r>
          </a:p>
          <a:p>
            <a:pPr>
              <a:spcAft>
                <a:spcPts val="900"/>
              </a:spcAft>
              <a:defRPr sz="1900" b="0">
                <a:solidFill>
                  <a:srgbClr val="232830"/>
                </a:solidFill>
              </a:defRPr>
            </a:pPr>
            <a:r>
              <a:t>Question: Which parts are Credit Risk, Market Risk and Operational Risk—and where do the risks interact?</a:t>
            </a:r>
          </a:p>
          <a:p>
            <a:pPr>
              <a:spcAft>
                <a:spcPts val="900"/>
              </a:spcAft>
              <a:defRPr sz="1900" b="0">
                <a:solidFill>
                  <a:srgbClr val="232830"/>
                </a:solidFill>
              </a:defRPr>
            </a:pPr>
            <a:r>
              <a:t>Pause here and ask the audience to classify each event and explain the transmission channel.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