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97B0"/>
                </a:solidFill>
                <a:latin typeface="Aptos"/>
              </a:rPr>
              <a:t>CREDIT RISK × NLP ×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From unstructured signals
to governed credit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DD8E5"/>
                </a:solidFill>
                <a:latin typeface="Aptos"/>
              </a:rPr>
              <a:t>NLP concepts &amp; applications | Generative AI &amp;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4C3D6"/>
                </a:solidFill>
                <a:latin typeface="Aptos"/>
              </a:rPr>
              <a:t>A practical framework for Credit Analysts, Data Scientists, MRM, CROs and CFOs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92040"/>
            <a:ext cx="2057400" cy="329184"/>
          </a:xfrm>
          <a:prstGeom prst="roundRect">
            <a:avLst/>
          </a:prstGeom>
          <a:solidFill>
            <a:srgbClr val="1F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946903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44768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BADC2"/>
                </a:solidFill>
                <a:latin typeface="Aptos"/>
              </a:rPr>
              <a:t>Premium corporate / business-school style | Illustrative examples unless stated otherwise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14476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DC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Executive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The credit-risk value is not “AI-generated text”; it is better evidence, earlier signals and controlled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05740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183794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45891"/>
                </a:solidFill>
                <a:latin typeface="Aptos"/>
              </a:rPr>
              <a:t>€100m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4708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illustrative loan 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234440"/>
            <a:ext cx="205740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371600"/>
            <a:ext cx="183794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7A7D"/>
                </a:solidFill>
                <a:latin typeface="Aptos"/>
              </a:rPr>
              <a:t>3.0%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184708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baseline PD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234440"/>
            <a:ext cx="205740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1371600"/>
            <a:ext cx="183794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997B0"/>
                </a:solidFill>
                <a:latin typeface="Aptos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84708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unstructured-data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234440"/>
            <a:ext cx="205740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1371600"/>
            <a:ext cx="183794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BE7D19"/>
                </a:solidFill>
                <a:latin typeface="Aptos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184708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relative PD uplift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234440"/>
            <a:ext cx="1920240" cy="12344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1371600"/>
            <a:ext cx="17007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E7D56"/>
                </a:solidFill>
                <a:latin typeface="Aptos"/>
              </a:rPr>
              <a:t>€450k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1847088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EL benefit*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89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E"/>
                </a:solidFill>
                <a:latin typeface="Aptos"/>
              </a:rPr>
              <a:t>The core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461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246120"/>
            <a:ext cx="50292" cy="2148840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37413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1 | Sense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749039"/>
            <a:ext cx="315468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Extract entities, obligations, events, sentiment and themes from annual reports, filings, news, covenants, call transcripts and correspondence.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2461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246120"/>
            <a:ext cx="50292" cy="2148840"/>
          </a:xfrm>
          <a:prstGeom prst="rect">
            <a:avLst/>
          </a:prstGeom>
          <a:solidFill>
            <a:srgbClr val="299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337413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2 |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3749039"/>
            <a:ext cx="315468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Convert language into features: event flags, scores, ratios, evidence spans, issuer timelines and analyst-ready summaries.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2461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246120"/>
            <a:ext cx="50292" cy="2148840"/>
          </a:xfrm>
          <a:prstGeom prst="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37413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3 | 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749039"/>
            <a:ext cx="315468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Feed governed features into underwriting, monitoring, early-warning and portfolio workflows—never as an uncontrolled black box.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715000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F70"/>
                </a:solidFill>
                <a:latin typeface="Aptos"/>
              </a:rPr>
              <a:t>*Illustrative EL impact: EAD €100m × PD 3.0% × LGD 50% = €1.50m; 25% relative PD reduction → €1.125m, a €375k reduction. Other assumptions can produce different results.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1. What is NLP in credit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Natural Language Processing turns language into machine-readable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0292" cy="2057400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45336"/>
            <a:ext cx="1691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B2E"/>
                </a:solidFill>
                <a:latin typeface="Aptos"/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20240"/>
            <a:ext cx="1691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C232D"/>
                </a:solidFill>
                <a:latin typeface="Aptos"/>
              </a:rPr>
              <a:t>10-K / annual reports
Covenants / legal docs
News / emails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441448"/>
            <a:ext cx="320040" cy="0"/>
          </a:xfrm>
          <a:prstGeom prst="line">
            <a:avLst/>
          </a:prstGeom>
          <a:ln w="1905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417320"/>
            <a:ext cx="50292" cy="2057400"/>
          </a:xfrm>
          <a:prstGeom prst="rect">
            <a:avLst/>
          </a:prstGeom>
          <a:solidFill>
            <a:srgbClr val="299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545336"/>
            <a:ext cx="1691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B2E"/>
                </a:solidFill>
                <a:latin typeface="Aptos"/>
              </a:rPr>
              <a:t>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920240"/>
            <a:ext cx="1691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C232D"/>
                </a:solidFill>
                <a:latin typeface="Aptos"/>
              </a:rPr>
              <a:t>NER • classification
embeddings • extraction
sentiment / topics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79" y="2441448"/>
            <a:ext cx="320041" cy="0"/>
          </a:xfrm>
          <a:prstGeom prst="line">
            <a:avLst/>
          </a:prstGeom>
          <a:ln w="1905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417320"/>
            <a:ext cx="50292" cy="2057400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545336"/>
            <a:ext cx="1691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B2E"/>
                </a:solidFill>
                <a:latin typeface="Aptos"/>
              </a:rP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920240"/>
            <a:ext cx="1691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C232D"/>
                </a:solidFill>
                <a:latin typeface="Aptos"/>
              </a:rPr>
              <a:t>Event flags
obligation breach
management tone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79" y="2441448"/>
            <a:ext cx="320041" cy="0"/>
          </a:xfrm>
          <a:prstGeom prst="line">
            <a:avLst/>
          </a:prstGeom>
          <a:ln w="1905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417320"/>
            <a:ext cx="50292" cy="2057400"/>
          </a:xfrm>
          <a:prstGeom prst="rect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1545336"/>
            <a:ext cx="1691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B2E"/>
                </a:solidFill>
                <a:latin typeface="Aptos"/>
              </a:rPr>
              <a:t>RISK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1920240"/>
            <a:ext cx="1691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C232D"/>
                </a:solidFill>
                <a:latin typeface="Aptos"/>
              </a:rPr>
              <a:t>PD / EWS
limit monitoring
analyst workflow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441448"/>
            <a:ext cx="320040" cy="0"/>
          </a:xfrm>
          <a:prstGeom prst="line">
            <a:avLst/>
          </a:prstGeom>
          <a:ln w="1905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1417320"/>
            <a:ext cx="50292" cy="2057400"/>
          </a:xfrm>
          <a:prstGeom prst="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2" y="1545336"/>
            <a:ext cx="1691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B2E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1920240"/>
            <a:ext cx="1691639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C232D"/>
                </a:solidFill>
                <a:latin typeface="Aptos"/>
              </a:rPr>
              <a:t>Approve / review
monitor / escalate
price / provision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88620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E"/>
                </a:solidFill>
                <a:latin typeface="Aptos"/>
              </a:rPr>
              <a:t>High-value NLP tasks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3434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32D"/>
                </a:solidFill>
                <a:latin typeface="Aptos"/>
              </a:defRPr>
            </a:pPr>
            <a:r>
              <a:t>Named-entity recognition: borrower, subsidiary, lender, regulator</a:t>
            </a:r>
          </a:p>
          <a:p>
            <a:pPr>
              <a:spcAft>
                <a:spcPts val="400"/>
              </a:spcAft>
              <a:defRPr sz="1150">
                <a:solidFill>
                  <a:srgbClr val="1C232D"/>
                </a:solidFill>
                <a:latin typeface="Aptos"/>
              </a:defRPr>
            </a:pPr>
            <a:r>
              <a:t>Event extraction: covenant breach, refinancing, downgrade, litigation</a:t>
            </a:r>
          </a:p>
          <a:p>
            <a:pPr>
              <a:spcAft>
                <a:spcPts val="400"/>
              </a:spcAft>
              <a:defRPr sz="1150">
                <a:solidFill>
                  <a:srgbClr val="1C232D"/>
                </a:solidFill>
                <a:latin typeface="Aptos"/>
              </a:defRPr>
            </a:pPr>
            <a:r>
              <a:t>Document classification: adverse / neutral / positive; document type; issue type</a:t>
            </a:r>
          </a:p>
          <a:p>
            <a:pPr>
              <a:spcAft>
                <a:spcPts val="400"/>
              </a:spcAft>
              <a:defRPr sz="1150">
                <a:solidFill>
                  <a:srgbClr val="1C232D"/>
                </a:solidFill>
                <a:latin typeface="Aptos"/>
              </a:defRPr>
            </a:pPr>
            <a:r>
              <a:t>Information extraction: maturity dates, amounts, guarantees, collateral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8862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E"/>
                </a:solidFill>
                <a:latin typeface="Aptos"/>
              </a:rPr>
              <a:t>Credit-specific “so what”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343400"/>
            <a:ext cx="5303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4343400"/>
            <a:ext cx="50292" cy="1554480"/>
          </a:xfrm>
          <a:prstGeom prst="rect">
            <a:avLst/>
          </a:prstGeom>
          <a:solidFill>
            <a:srgbClr val="B1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447141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B2E"/>
                </a:solidFill>
                <a:latin typeface="Aptos"/>
              </a:rPr>
              <a:t>Language → risk 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4846320"/>
            <a:ext cx="502920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A sentence such as “liquidity headroom fell to 1.1x” can become a structured early-warning feature, linked to the source sentence and date.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2. From text to a credit-risk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A useful model separates extraction, evidence quality and decision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143000"/>
            <a:ext cx="1005840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525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2618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5F70"/>
                </a:solidFill>
                <a:latin typeface="Aptos"/>
              </a:rPr>
              <a:t>L1 | RAW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261872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Document → sentence → page / paragraph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103120"/>
            <a:ext cx="960120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245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22199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45891"/>
                </a:solidFill>
                <a:latin typeface="Aptos"/>
              </a:rPr>
              <a:t>L2 | NLP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21991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Entity / event / relation / sentiment / embedding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063240"/>
            <a:ext cx="914400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299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1821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997B0"/>
                </a:solidFill>
                <a:latin typeface="Aptos"/>
              </a:rPr>
              <a:t>L3 | CREDIT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182112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Breach flag, refinancing pressure, customer loss, litigation severity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4023360"/>
            <a:ext cx="868680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BE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41422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E7D19"/>
                </a:solidFill>
                <a:latin typeface="Aptos"/>
              </a:rPr>
              <a:t>L4 | RISK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142232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PD / LGD / EAD / limit / watchlist / pricing implication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983480"/>
            <a:ext cx="8229600" cy="713232"/>
          </a:xfrm>
          <a:prstGeom prst="roundRect">
            <a:avLst/>
          </a:prstGeom>
          <a:solidFill>
            <a:srgbClr val="EBF6F0"/>
          </a:solidFill>
          <a:ln>
            <a:solidFill>
              <a:srgbClr val="2E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510235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D56"/>
                </a:solidFill>
                <a:latin typeface="Aptos"/>
              </a:rPr>
              <a:t>L5 |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102352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2D"/>
                </a:solidFill>
                <a:latin typeface="Aptos"/>
              </a:rPr>
              <a:t>Analyst review, escalation, covenant cure, exposure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13E3E"/>
                </a:solidFill>
                <a:latin typeface="Aptos"/>
              </a:rPr>
              <a:t>MRM principle: the further downstream the model travels, the stronger the evidence, stability, explainability and override controls must become.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3. Generative AI &amp; LLMs: what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LLMs expand the task from “classify text” to “reason over a corpus”—but introduce new model-risk surfaces.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0292" cy="2011680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6245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Traditional 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3154680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32D"/>
                </a:solidFill>
                <a:latin typeface="Aptos"/>
              </a:rPr>
              <a:t>Purpose-built models
• classify / tag
• extract predefined fields
• predictable output schema
• easier validation
Best fit: stable, narrow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50292" cy="2011680"/>
          </a:xfrm>
          <a:prstGeom prst="rect">
            <a:avLst/>
          </a:prstGeom>
          <a:solidFill>
            <a:srgbClr val="299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36245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LLM / GenAI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737360"/>
            <a:ext cx="3154680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32D"/>
                </a:solidFill>
                <a:latin typeface="Aptos"/>
              </a:rPr>
              <a:t>Flexible language interface
• summarize
• compare documents
• extract with context
• draft analyst questions
Best fit: broad knowledge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50292" cy="2011680"/>
          </a:xfrm>
          <a:prstGeom prst="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36245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RAG +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37360"/>
            <a:ext cx="3154680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32D"/>
                </a:solidFill>
                <a:latin typeface="Aptos"/>
              </a:rPr>
              <a:t>LLM + approved sources
• retrieve evidence
• calculate ratios
• cite source spans
• call policy / data tools
Best fit: governed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E"/>
                </a:solidFill>
                <a:latin typeface="Aptos"/>
              </a:rPr>
              <a:t>LLM risk shifts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B2E"/>
                </a:solidFill>
                <a:latin typeface="Aptos"/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409651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B2E"/>
                </a:solidFill>
                <a:latin typeface="Aptos"/>
              </a:rPr>
              <a:t>Traditional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40965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B2E"/>
                </a:solidFill>
                <a:latin typeface="Aptos"/>
              </a:rPr>
              <a:t>LLM /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80560"/>
            <a:ext cx="1527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Hallucination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4480560"/>
            <a:ext cx="1618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Low–medium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4480560"/>
            <a:ext cx="20299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B13E3E"/>
                </a:solidFill>
                <a:latin typeface="Aptos"/>
              </a:rPr>
              <a:t>Medium–high unless grounded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64608"/>
            <a:ext cx="1527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4864608"/>
            <a:ext cx="1618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Data/model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4864608"/>
            <a:ext cx="20299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Prompt + model + retrieval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48656"/>
            <a:ext cx="1527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Explainability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58568" y="5248656"/>
            <a:ext cx="1618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Feature/model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5248656"/>
            <a:ext cx="20299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Evidence + reasoning trace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632704"/>
            <a:ext cx="1527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5632704"/>
            <a:ext cx="1618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Output 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5632704"/>
            <a:ext cx="20299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Semantic + factual + policy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016752"/>
            <a:ext cx="1527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Cost / latency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58568" y="6016752"/>
            <a:ext cx="1618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Usually 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0208" y="6016752"/>
            <a:ext cx="202996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Can be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E"/>
                </a:solidFill>
                <a:latin typeface="Aptos"/>
              </a:rPr>
              <a:t>High-value GenAI credit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096512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32D"/>
                </a:solidFill>
                <a:latin typeface="Aptos"/>
              </a:defRPr>
            </a:pPr>
            <a:r>
              <a:t>Credit memo copilot: summarize borrower + identify missing evidence</a:t>
            </a:r>
          </a:p>
          <a:p>
            <a:pPr>
              <a:spcAft>
                <a:spcPts val="400"/>
              </a:spcAft>
              <a:defRPr sz="1100">
                <a:solidFill>
                  <a:srgbClr val="1C232D"/>
                </a:solidFill>
                <a:latin typeface="Aptos"/>
              </a:defRPr>
            </a:pPr>
            <a:r>
              <a:t>Covenant copilot: compare definitions, thresholds and reporting periods</a:t>
            </a:r>
          </a:p>
          <a:p>
            <a:pPr>
              <a:spcAft>
                <a:spcPts val="400"/>
              </a:spcAft>
              <a:defRPr sz="1100">
                <a:solidFill>
                  <a:srgbClr val="1C232D"/>
                </a:solidFill>
                <a:latin typeface="Aptos"/>
              </a:defRPr>
            </a:pPr>
            <a:r>
              <a:t>Portfolio surveillance: synthesize news + filings + internal notes</a:t>
            </a:r>
          </a:p>
          <a:p>
            <a:pPr>
              <a:spcAft>
                <a:spcPts val="400"/>
              </a:spcAft>
              <a:defRPr sz="1100">
                <a:solidFill>
                  <a:srgbClr val="1C232D"/>
                </a:solidFill>
                <a:latin typeface="Aptos"/>
              </a:defRPr>
            </a:pPr>
            <a:r>
              <a:t>Policy QA: answer “what does the policy require?” with citations</a:t>
            </a:r>
          </a:p>
          <a:p>
            <a:pPr>
              <a:spcAft>
                <a:spcPts val="400"/>
              </a:spcAft>
              <a:defRPr sz="1100">
                <a:solidFill>
                  <a:srgbClr val="1C232D"/>
                </a:solidFill>
                <a:latin typeface="Aptos"/>
              </a:defRPr>
            </a:pPr>
            <a:r>
              <a:t>Analyst challenge: generate adverse questions, not adverse decisions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4. Quantifying the credit-risk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Small improvements in PD, EAD or LGD can create material expected-loss impact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F1B2E"/>
                </a:solidFill>
                <a:latin typeface="Aptos"/>
              </a:rPr>
              <a:t>Expected Loss (EL) = PD × LGD × 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0292" cy="3154680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5681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Illustrative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31720"/>
            <a:ext cx="5074920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2D"/>
                </a:solidFill>
                <a:latin typeface="Aptos"/>
              </a:rPr>
              <a:t>EAD = €100m
PD = 3.0%
LGD = 50%
EL = 100m × 3.0% × 50%
   = €1.50m
Assume NLP/LLM early-warning improves risk segmentation enough to reduce average PD by 25% relative (3.0% → 2.25%).
New EL = 100m × 2.25% × 50% = €1.125m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0292" cy="3154680"/>
          </a:xfrm>
          <a:prstGeom prst="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5681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Economic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31720"/>
            <a:ext cx="5074920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2D"/>
                </a:solidFill>
                <a:latin typeface="Aptos"/>
              </a:rPr>
              <a:t>EL reduction = €1.50m − €1.125m = €375k
If the solution costs €120k/year:
Net benefit = €375k − €120k = €255k
Simple benefit / cost = €375k / €120k = 3.1×
Important: this is an illustrative business case—not evidence that AI will deliver this PD reduction.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B2E"/>
                </a:solidFill>
                <a:latin typeface="Aptos"/>
              </a:rPr>
              <a:t>PD relative improvement → 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6928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5F70"/>
                </a:solidFill>
                <a:latin typeface="Aptos"/>
              </a:rPr>
              <a:t>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5669280"/>
            <a:ext cx="3200400" cy="128016"/>
          </a:xfrm>
          <a:prstGeom prst="rect">
            <a:avLst/>
          </a:prstGeom>
          <a:solidFill>
            <a:srgbClr val="525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5669280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C232D"/>
                </a:solidFill>
                <a:latin typeface="Aptos"/>
              </a:rPr>
              <a:t>€1.500m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70448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5F70"/>
                </a:solidFill>
                <a:latin typeface="Aptos"/>
              </a:rPr>
              <a:t>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5870448"/>
            <a:ext cx="2880360" cy="128016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5870448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C232D"/>
                </a:solidFill>
                <a:latin typeface="Aptos"/>
              </a:rPr>
              <a:t>€1.350m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7161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5F70"/>
                </a:solidFill>
                <a:latin typeface="Aptos"/>
              </a:rPr>
              <a:t>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6071616"/>
            <a:ext cx="2400300" cy="128016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6071616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C232D"/>
                </a:solidFill>
                <a:latin typeface="Aptos"/>
              </a:rPr>
              <a:t>€1.125m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72784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5F70"/>
                </a:solidFill>
                <a:latin typeface="Aptos"/>
              </a:rPr>
              <a:t>40%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5880" y="6272784"/>
            <a:ext cx="1920240" cy="128016"/>
          </a:xfrm>
          <a:prstGeom prst="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6272784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C232D"/>
                </a:solidFill>
                <a:latin typeface="Aptos"/>
              </a:rPr>
              <a:t>€0.900m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5. Case study A — covenant &amp; liquidity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Illustrative bank case: LLM/RAG reads quarterly disclosures and covenant documents; the decision remains governed.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50292" cy="2331720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16736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B2E"/>
                </a:solidFill>
                <a:latin typeface="Aptos"/>
              </a:rPr>
              <a:t>Signal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3108960" cy="1709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32D"/>
                </a:solidFill>
                <a:latin typeface="Aptos"/>
              </a:rPr>
              <a:t>Input corpus:
• 12 quarterly filings
• 6 covenant documents
• 4 lender calls
Detected:
• liquidity headroom decline
• maturity concentration
• repeated “waiver” language
• supplier-payment stretch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18872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188720"/>
            <a:ext cx="50292" cy="2331720"/>
          </a:xfrm>
          <a:prstGeom prst="rect">
            <a:avLst/>
          </a:prstGeom>
          <a:solidFill>
            <a:srgbClr val="299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16736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B2E"/>
                </a:solidFill>
                <a:latin typeface="Aptos"/>
              </a:rPr>
              <a:t>Structured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3108960" cy="1709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32D"/>
                </a:solidFill>
                <a:latin typeface="Aptos"/>
              </a:rPr>
              <a:t>Event: refinancing pressure
Confidence: 0.91
Evidence: 7 source spans
Feature:
RefinancingRisk = 1
LiquidityHeadroom = 1.1×
MaturityWall_12m = €85m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18872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188720"/>
            <a:ext cx="50292" cy="2331720"/>
          </a:xfrm>
          <a:prstGeom prst="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16736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B2E"/>
                </a:solidFill>
                <a:latin typeface="Aptos"/>
              </a:rPr>
              <a:t>Credit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691640"/>
            <a:ext cx="3108960" cy="1709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32D"/>
                </a:solidFill>
                <a:latin typeface="Aptos"/>
              </a:rPr>
              <a:t>Trigger watchlist review
→ analyst validates evidence
→ update 12-month cash-flow view
→ test covenant headroom
→ consider limit / collateral / pricing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2194560" cy="11430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206240"/>
            <a:ext cx="1975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BE7D19"/>
                </a:solidFill>
                <a:latin typeface="Aptos"/>
              </a:rPr>
              <a:t>€85m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81728"/>
            <a:ext cx="1975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12-month maturities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4069080"/>
            <a:ext cx="2194560" cy="11430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4206240"/>
            <a:ext cx="1975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B13E3E"/>
                </a:solidFill>
                <a:latin typeface="Aptos"/>
              </a:rPr>
              <a:t>1.1×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4681728"/>
            <a:ext cx="1975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liquidity headroom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4069080"/>
            <a:ext cx="2194560" cy="11430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87568" y="4206240"/>
            <a:ext cx="1975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45891"/>
                </a:solidFill>
                <a:latin typeface="Aptos"/>
              </a:rPr>
              <a:t>0.91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4681728"/>
            <a:ext cx="1975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illustrative confidence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069080"/>
            <a:ext cx="2194560" cy="11430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7" y="4206240"/>
            <a:ext cx="1975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7A7D"/>
                </a:solidFill>
                <a:latin typeface="Apto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7" y="4681728"/>
            <a:ext cx="1975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evidence spans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4406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F1B2E"/>
                </a:solidFill>
                <a:latin typeface="Aptos"/>
              </a:rPr>
              <a:t>Control point: the model does not “declare default risk.” It produces an auditable signal, evidence, and suggested questions; the analyst owns the credit conclusion.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0167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25F70"/>
                </a:solidFill>
                <a:latin typeface="Aptos"/>
              </a:rPr>
              <a:t>Data is illustrative; no real borrower is represented.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6. Case study B — credit memo copilot with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Illustrative corporate-credit workflow: reduce analyst search time while improving evidence coverage.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96112"/>
            <a:ext cx="384048" cy="329184"/>
          </a:xfrm>
          <a:prstGeom prst="round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0976"/>
            <a:ext cx="29260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961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Retrieve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34440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C232D"/>
                </a:solidFill>
                <a:latin typeface="Aptos"/>
              </a:rPr>
              <a:t>Approved internal policy + borrower docs + latest filings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1" y="1371600"/>
            <a:ext cx="155448" cy="0"/>
          </a:xfrm>
          <a:prstGeom prst="line">
            <a:avLst/>
          </a:prstGeom>
          <a:ln w="1651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896112"/>
            <a:ext cx="384048" cy="329184"/>
          </a:xfrm>
          <a:prstGeom prst="roundRect">
            <a:avLst/>
          </a:prstGeom>
          <a:solidFill>
            <a:srgbClr val="299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950976"/>
            <a:ext cx="29260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59" y="8961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59" y="1234440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C232D"/>
                </a:solidFill>
                <a:latin typeface="Aptos"/>
              </a:rPr>
              <a:t>Debt, maturities, covenants, customer concentration, litigation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1371600"/>
            <a:ext cx="155447" cy="0"/>
          </a:xfrm>
          <a:prstGeom prst="line">
            <a:avLst/>
          </a:prstGeom>
          <a:ln w="1651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896112"/>
            <a:ext cx="384048" cy="329184"/>
          </a:xfrm>
          <a:prstGeom prst="roundRect">
            <a:avLst/>
          </a:prstGeom>
          <a:solidFill>
            <a:srgbClr val="00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950976"/>
            <a:ext cx="29260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8961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1234440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C232D"/>
                </a:solidFill>
                <a:latin typeface="Aptos"/>
              </a:rPr>
              <a:t>Generate missing-data questions and contradictions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42631" y="1371600"/>
            <a:ext cx="155448" cy="0"/>
          </a:xfrm>
          <a:prstGeom prst="line">
            <a:avLst/>
          </a:prstGeom>
          <a:ln w="1651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896112"/>
            <a:ext cx="384048" cy="329184"/>
          </a:xfrm>
          <a:prstGeom prst="roundRect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950976"/>
            <a:ext cx="29260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8961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234440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C232D"/>
                </a:solidFill>
                <a:latin typeface="Aptos"/>
              </a:rPr>
              <a:t>Memo sections with source citations / evidence links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74351" y="1371600"/>
            <a:ext cx="155449" cy="0"/>
          </a:xfrm>
          <a:prstGeom prst="line">
            <a:avLst/>
          </a:prstGeom>
          <a:ln w="16510">
            <a:solidFill>
              <a:srgbClr val="525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896112"/>
            <a:ext cx="384048" cy="329184"/>
          </a:xfrm>
          <a:prstGeom prst="round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950976"/>
            <a:ext cx="29260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8961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234440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C232D"/>
                </a:solidFill>
                <a:latin typeface="Aptos"/>
              </a:rPr>
              <a:t>Analyst validates facts, calculations and rating rationale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834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E"/>
                </a:solidFill>
                <a:latin typeface="Aptos"/>
              </a:rPr>
              <a:t>Illustrative operating impact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337560"/>
            <a:ext cx="2331720" cy="11887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474720"/>
            <a:ext cx="21122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45891"/>
                </a:solidFill>
                <a:latin typeface="Aptos"/>
              </a:rPr>
              <a:t>90 → 30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3950208"/>
            <a:ext cx="211226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document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3337560"/>
            <a:ext cx="2331720" cy="11887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3474720"/>
            <a:ext cx="21122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7A7D"/>
                </a:solidFill>
                <a:latin typeface="Aptos"/>
              </a:rPr>
              <a:t>+20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5848" y="3950208"/>
            <a:ext cx="211226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evidence coverage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3337560"/>
            <a:ext cx="2331720" cy="11887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16168" y="3474720"/>
            <a:ext cx="21122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E7D56"/>
                </a:solidFill>
                <a:latin typeface="Aptos"/>
              </a:rPr>
              <a:t>−35%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16168" y="3950208"/>
            <a:ext cx="211226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manual search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66760" y="3337560"/>
            <a:ext cx="2331720" cy="11887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3474720"/>
            <a:ext cx="21122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B13E3E"/>
                </a:solidFill>
                <a:latin typeface="Aptos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3950208"/>
            <a:ext cx="211226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25F70"/>
                </a:solidFill>
                <a:latin typeface="Aptos"/>
              </a:rPr>
              <a:t>uncited claims allowed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9834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F1B2E"/>
                </a:solidFill>
                <a:latin typeface="Aptos"/>
              </a:rPr>
              <a:t>The productivity metric is not the only KPI. A credit institution should track factual error rate, unsupported-claim rate, escalation rate, override rate, and downstream decision quality.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486400"/>
            <a:ext cx="8412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0" y="5486400"/>
            <a:ext cx="50292" cy="566928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93392" y="5614416"/>
            <a:ext cx="81381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B2E"/>
                </a:solidFill>
                <a:latin typeface="Aptos"/>
              </a:rPr>
              <a:t>Design principle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3392" y="5989320"/>
            <a:ext cx="8138159" cy="-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C232D"/>
                </a:solidFill>
                <a:latin typeface="Aptos"/>
              </a:rPr>
              <a:t>RAG answers should be traceable to approved sources; calculations should be tool-generated, not “remembered” by the LLM.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7. Credit MRM &amp; governance — the control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Governance must cover the entire system: data → retrieval → prompt → model → output →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4864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50292" cy="585216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088136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B2E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463040"/>
            <a:ext cx="5212080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Completeness • lineage • access • leakage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09928"/>
            <a:ext cx="54864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09928"/>
            <a:ext cx="50292" cy="585216"/>
          </a:xfrm>
          <a:prstGeom prst="rect">
            <a:avLst/>
          </a:prstGeom>
          <a:solidFill>
            <a:srgbClr val="299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37944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B2E"/>
                </a:solidFill>
                <a:latin typeface="Aptos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12848"/>
            <a:ext cx="5212080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Source authority • freshness • chunking • ranking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59736"/>
            <a:ext cx="54864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459736"/>
            <a:ext cx="50292" cy="585216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587752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B2E"/>
                </a:solidFill>
                <a:latin typeface="Apto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962656"/>
            <a:ext cx="5212080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Version • benchmark • robustness • bias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09544"/>
            <a:ext cx="54864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09544"/>
            <a:ext cx="50292" cy="585216"/>
          </a:xfrm>
          <a:prstGeom prst="rect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337560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B2E"/>
                </a:solidFill>
                <a:latin typeface="Aptos"/>
              </a:rPr>
              <a:t>PROMPT /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712463"/>
            <a:ext cx="5212080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Prompt controls • tools • temperature •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59352"/>
            <a:ext cx="54864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59352"/>
            <a:ext cx="50292" cy="585216"/>
          </a:xfrm>
          <a:prstGeom prst="rect">
            <a:avLst/>
          </a:prstGeom>
          <a:solidFill>
            <a:srgbClr val="B1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087368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B2E"/>
                </a:solidFill>
                <a:latin typeface="Aptos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462272"/>
            <a:ext cx="5212080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Factuality • citation coverage • refusal • consistency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09159"/>
            <a:ext cx="54864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709159"/>
            <a:ext cx="50292" cy="585216"/>
          </a:xfrm>
          <a:prstGeom prst="rect">
            <a:avLst/>
          </a:prstGeom>
          <a:solidFill>
            <a:srgbClr val="2E7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837175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B2E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5212079"/>
            <a:ext cx="5212080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1C232D"/>
                </a:solidFill>
                <a:latin typeface="Aptos"/>
              </a:rPr>
              <a:t>Human oversight • override • audit trail •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9601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B2E"/>
                </a:solidFill>
                <a:latin typeface="Aptos"/>
              </a:rPr>
              <a:t>MRM test suite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389888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C232D"/>
                </a:solidFill>
                <a:latin typeface="Aptos"/>
              </a:defRPr>
            </a:pPr>
            <a:r>
              <a:t>Accuracy: extraction / classification / calculation</a:t>
            </a:r>
          </a:p>
          <a:p>
            <a:pPr>
              <a:spcAft>
                <a:spcPts val="400"/>
              </a:spcAft>
              <a:defRPr sz="1080">
                <a:solidFill>
                  <a:srgbClr val="1C232D"/>
                </a:solidFill>
                <a:latin typeface="Aptos"/>
              </a:defRPr>
            </a:pPr>
            <a:r>
              <a:t>Groundedness: answer supported by retrieved evidence</a:t>
            </a:r>
          </a:p>
          <a:p>
            <a:pPr>
              <a:spcAft>
                <a:spcPts val="400"/>
              </a:spcAft>
              <a:defRPr sz="1080">
                <a:solidFill>
                  <a:srgbClr val="1C232D"/>
                </a:solidFill>
                <a:latin typeface="Aptos"/>
              </a:defRPr>
            </a:pPr>
            <a:r>
              <a:t>Stability: output under paraphrase / prompt perturbation</a:t>
            </a:r>
          </a:p>
          <a:p>
            <a:pPr>
              <a:spcAft>
                <a:spcPts val="400"/>
              </a:spcAft>
              <a:defRPr sz="1080">
                <a:solidFill>
                  <a:srgbClr val="1C232D"/>
                </a:solidFill>
                <a:latin typeface="Aptos"/>
              </a:defRPr>
            </a:pPr>
            <a:r>
              <a:t>Coverage: rare events, small borrowers, adverse cases</a:t>
            </a:r>
          </a:p>
          <a:p>
            <a:pPr>
              <a:spcAft>
                <a:spcPts val="400"/>
              </a:spcAft>
              <a:defRPr sz="1080">
                <a:solidFill>
                  <a:srgbClr val="1C232D"/>
                </a:solidFill>
                <a:latin typeface="Aptos"/>
              </a:defRPr>
            </a:pPr>
            <a:r>
              <a:t>Fairness: monitor disparate error patterns where relevant</a:t>
            </a:r>
          </a:p>
          <a:p>
            <a:pPr>
              <a:spcAft>
                <a:spcPts val="400"/>
              </a:spcAft>
              <a:defRPr sz="1080">
                <a:solidFill>
                  <a:srgbClr val="1C232D"/>
                </a:solidFill>
                <a:latin typeface="Aptos"/>
              </a:defRPr>
            </a:pPr>
            <a:r>
              <a:t>Security: prompt injection, data exfiltration, unauthorized tools</a:t>
            </a:r>
          </a:p>
          <a:p>
            <a:pPr>
              <a:spcAft>
                <a:spcPts val="400"/>
              </a:spcAft>
              <a:defRPr sz="1080">
                <a:solidFill>
                  <a:srgbClr val="1C232D"/>
                </a:solidFill>
                <a:latin typeface="Aptos"/>
              </a:defRPr>
            </a:pPr>
            <a:r>
              <a:t>Human factors: automation bias and override discipline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4983480"/>
            <a:ext cx="47548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4983480"/>
            <a:ext cx="50292" cy="841248"/>
          </a:xfrm>
          <a:prstGeom prst="rect">
            <a:avLst/>
          </a:prstGeom>
          <a:solidFill>
            <a:srgbClr val="B1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93992" y="5111496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Red flag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5486400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C232D"/>
                </a:solidFill>
                <a:latin typeface="Aptos"/>
              </a:rPr>
              <a:t>“The model is accurate on average” is insufficient if the tail cases are the ones that drive credit losses.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8. Decision matrix — where to use NLP vs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Choose the least-complex technology that reliably solves the control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468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143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Classic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1143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LLM /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11430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B2E"/>
                </a:solidFill>
                <a:latin typeface="Aptos"/>
              </a:rPr>
              <a:t>Human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45336"/>
            <a:ext cx="10424159" cy="4572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C232D"/>
                </a:solidFill>
                <a:latin typeface="Aptos"/>
              </a:rPr>
              <a:t>Covenant field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0020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60020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C232D"/>
                </a:solidFill>
                <a:latin typeface="Aptos"/>
              </a:rPr>
              <a:t>News event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305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1305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13055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Required for material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06040"/>
            <a:ext cx="10424159" cy="4572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60904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C232D"/>
                </a:solidFill>
                <a:latin typeface="Aptos"/>
              </a:rPr>
              <a:t>Credit memo summarization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66090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266090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66090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91256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C232D"/>
                </a:solidFill>
                <a:latin typeface="Aptos"/>
              </a:rPr>
              <a:t>Policy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19125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319125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191256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Required / citations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66744"/>
            <a:ext cx="10424159" cy="4572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21608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C232D"/>
                </a:solidFill>
                <a:latin typeface="Aptos"/>
              </a:rPr>
              <a:t>PD model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7216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37216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3721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Required; strict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60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C232D"/>
                </a:solidFill>
                <a:latin typeface="Aptos"/>
              </a:rPr>
              <a:t>Final rating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2519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B13E3E"/>
                </a:solidFill>
                <a:latin typeface="Aptos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42519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B13E3E"/>
                </a:solidFill>
                <a:latin typeface="Apto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4251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Credit committee / policy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27448"/>
            <a:ext cx="10424159" cy="4572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82312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C232D"/>
                </a:solidFill>
                <a:latin typeface="Aptos"/>
              </a:rPr>
              <a:t>Regulatory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78231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2E7D56"/>
                </a:solidFill>
                <a:latin typeface="Aptos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59" y="478231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478231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32D"/>
                </a:solidFill>
                <a:latin typeface="Aptos"/>
              </a:rPr>
              <a:t>Required; deterministic 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440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1B2E"/>
                </a:solidFill>
                <a:latin typeface="Aptos"/>
              </a:rPr>
              <a:t>Rule of thumb: automate evidence gathering before automating credit judgment. The higher the consequence, the stronger the need for deterministic checks, source traceability and human accountability.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9. What can go wrong? — risk, red flags,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The largest failures are often socio-technical, not purely model-technical.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0292" cy="1234440"/>
          </a:xfrm>
          <a:prstGeom prst="rect">
            <a:avLst/>
          </a:prstGeom>
          <a:solidFill>
            <a:srgbClr val="B1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B2E"/>
                </a:solidFill>
                <a:latin typeface="Aptos"/>
              </a:rPr>
              <a:t>Hallucination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0200"/>
            <a:ext cx="49834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1C232D"/>
                </a:solidFill>
                <a:latin typeface="Aptos"/>
              </a:rPr>
              <a:t>Invented facts / citations
Response: RAG + source validation + abstention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50292" cy="1234440"/>
          </a:xfrm>
          <a:prstGeom prst="rect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225295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B2E"/>
                </a:solidFill>
                <a:latin typeface="Aptos"/>
              </a:rPr>
              <a:t>Automation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600200"/>
            <a:ext cx="49834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1C232D"/>
                </a:solidFill>
                <a:latin typeface="Aptos"/>
              </a:rPr>
              <a:t>Analyst accepts fluent output
Response: Mandatory evidence review + challenge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3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39"/>
            <a:ext cx="50292" cy="1234440"/>
          </a:xfrm>
          <a:prstGeom prst="rect">
            <a:avLst/>
          </a:prstGeom>
          <a:solidFill>
            <a:srgbClr val="B1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34056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B2E"/>
                </a:solidFill>
                <a:latin typeface="Aptos"/>
              </a:rPr>
              <a:t>Data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08959"/>
            <a:ext cx="49834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1C232D"/>
                </a:solidFill>
                <a:latin typeface="Aptos"/>
              </a:rPr>
              <a:t>Confidential borrower data enters wrong context
Response: Access controls + isolation + logging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0603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606039"/>
            <a:ext cx="50292" cy="1234440"/>
          </a:xfrm>
          <a:prstGeom prst="rect">
            <a:avLst/>
          </a:prstGeom>
          <a:solidFill>
            <a:srgbClr val="24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734056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B2E"/>
                </a:solidFill>
                <a:latin typeface="Aptos"/>
              </a:rPr>
              <a:t>Semantic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108959"/>
            <a:ext cx="49834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1C232D"/>
                </a:solidFill>
                <a:latin typeface="Aptos"/>
              </a:rPr>
              <a:t>Meaning changes across sectors / languages
Response: Segmented validation + monitoring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50292" cy="1234440"/>
          </a:xfrm>
          <a:prstGeom prst="rect">
            <a:avLst/>
          </a:prstGeom>
          <a:solidFill>
            <a:srgbClr val="B1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242816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B2E"/>
                </a:solidFill>
                <a:latin typeface="Aptos"/>
              </a:rPr>
              <a:t>Prompt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617720"/>
            <a:ext cx="49834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1C232D"/>
                </a:solidFill>
                <a:latin typeface="Aptos"/>
              </a:rPr>
              <a:t>Document content manipulates instructions
Response: Content isolation + tool permissions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1148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114800"/>
            <a:ext cx="50292" cy="1234440"/>
          </a:xfrm>
          <a:prstGeom prst="rect">
            <a:avLst/>
          </a:prstGeom>
          <a:solidFill>
            <a:srgbClr val="BE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4242816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B2E"/>
                </a:solidFill>
                <a:latin typeface="Aptos"/>
              </a:rPr>
              <a:t>False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617720"/>
            <a:ext cx="498348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1C232D"/>
                </a:solidFill>
                <a:latin typeface="Aptos"/>
              </a:rPr>
              <a:t>High fluency mistaken for accuracy
Response: Confidence ≠ correctness; measure factuality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715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13E3E"/>
                </a:solidFill>
                <a:latin typeface="Aptos"/>
              </a:rPr>
              <a:t>CRO question: “If this output is wrong in the worst 1% of cases, where does the loss land—and who notices first?”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70"/>
                </a:solidFill>
                <a:latin typeface="Aptos"/>
              </a:rPr>
              <a:t>Credit Risk × NLP × GenAI / LLMs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25F70"/>
                </a:solidFill>
                <a:latin typeface="Aptos"/>
              </a:rPr>
              <a:t>Illustrative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B2E"/>
                </a:solidFill>
                <a:latin typeface="Aptos"/>
              </a:rPr>
              <a:t>10. Executive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5F70"/>
                </a:solidFill>
                <a:latin typeface="Aptos"/>
              </a:rPr>
              <a:t>Build around measurable credit outcomes, not AI novelty.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5F70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97B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START WITH A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23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CD8E6"/>
                </a:solidFill>
                <a:latin typeface="Aptos"/>
              </a:rPr>
              <a:t>Pick one workflow with measurable loss, time or control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2344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97B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GROUND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04288"/>
            <a:ext cx="2423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CD8E6"/>
                </a:solidFill>
                <a:latin typeface="Aptos"/>
              </a:rPr>
              <a:t>Approved corpus, retrieval, citations, deterministic calculations.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97B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MEASURE THE 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04288"/>
            <a:ext cx="2423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CD8E6"/>
                </a:solidFill>
                <a:latin typeface="Aptos"/>
              </a:rPr>
              <a:t>Factuality, rare-event recall, overrides, false positives and drift.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2344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997B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6916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KEEP HUMAN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04288"/>
            <a:ext cx="2423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CD8E6"/>
                </a:solidFill>
                <a:latin typeface="Aptos"/>
              </a:rPr>
              <a:t>AI prepares evidence; accountable roles make consequential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The strategic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07408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NLP makes unstructured credit evidence computable.
LLMs make that evidence easier to interrogate. Governance makes it safe to 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DD8E5"/>
                </a:solidFill>
                <a:latin typeface="Aptos"/>
              </a:rPr>
              <a:t>For CRO / CFO: the KPI is not “LLM adoption.” It is better evidence, faster surveillance, disciplined decisions, and measurable risk economics.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DC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× NLP × Generative AI / LLMs</dc:title>
  <dc:subject>Premium corporate credit-risk deck</dc:subject>
  <dc:creator>OpenAI</dc:creator>
  <cp:keywords>credit risk, NLP, generative AI, LLM, MRM, CRO, CFO, banking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