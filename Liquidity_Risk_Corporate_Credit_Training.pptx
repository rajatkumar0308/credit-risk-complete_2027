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LIQUIDITY RISK &amp; LIQUIDITY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96596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DCE6F0"/>
                </a:solidFill>
                <a:latin typeface="Aptos"/>
              </a:defRPr>
            </a:pPr>
            <a:r>
              <a:t>Corporate Credit Training | From ratios to repayment risk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70332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831335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337"/>
                </a:solidFill>
                <a:latin typeface="Aptos"/>
              </a:defRPr>
            </a:pPr>
            <a:r>
              <a:t>CORE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4233672"/>
            <a:ext cx="305409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282D"/>
                </a:solidFill>
                <a:latin typeface="Aptos"/>
              </a:defRPr>
            </a:pPr>
            <a:r>
              <a:t>Can the borrower meet obligations when they fall due?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370332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3831335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337"/>
                </a:solidFill>
                <a:latin typeface="Aptos"/>
              </a:defRPr>
            </a:pPr>
            <a:r>
              <a:t>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4233672"/>
            <a:ext cx="305409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282D"/>
                </a:solidFill>
                <a:latin typeface="Aptos"/>
              </a:defRPr>
            </a:pPr>
            <a:r>
              <a:t>Current Ratio • Quick Ratio • Working Capital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370332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3831335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337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4233672"/>
            <a:ext cx="305409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282D"/>
                </a:solidFill>
                <a:latin typeface="Aptos"/>
              </a:defRPr>
            </a:pPr>
            <a:r>
              <a:t>Liquidity depends on timing, quality and convertibility.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337"/>
                </a:solidFill>
                <a:latin typeface="Aptos"/>
              </a:defRPr>
            </a:pPr>
            <a:r>
              <a:t>1. What is Liquidity Risk?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9737D"/>
                </a:solidFill>
                <a:latin typeface="Aptos"/>
              </a:defRPr>
            </a:pPr>
            <a:r>
              <a:t>A corporate lender's perspective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520440" cy="4114800"/>
          </a:xfrm>
          <a:prstGeom prst="roundRect">
            <a:avLst/>
          </a:prstGeom>
          <a:solidFill>
            <a:srgbClr val="EFF4F9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499616"/>
            <a:ext cx="31912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337"/>
                </a:solidFill>
                <a:latin typeface="Aptos"/>
              </a:defRPr>
            </a:pPr>
            <a:r>
              <a:t>DEFINITION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901952"/>
            <a:ext cx="319125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282D"/>
                </a:solidFill>
                <a:latin typeface="Aptos"/>
              </a:defRPr>
            </a:pPr>
            <a:r>
              <a:t>The risk that a company cannot meet financial obligations when due without unacceptable loss, disruption or emergency funding.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371600"/>
            <a:ext cx="3520440" cy="4114800"/>
          </a:xfrm>
          <a:prstGeom prst="roundRect">
            <a:avLst/>
          </a:prstGeom>
          <a:solidFill>
            <a:srgbClr val="EFF4F9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7992" y="1499616"/>
            <a:ext cx="31912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337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1901952"/>
            <a:ext cx="319125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282D"/>
                </a:solidFill>
                <a:latin typeface="Aptos"/>
              </a:defRPr>
            </a:pPr>
            <a:r>
              <a:t>Profit does not guarantee liquidity. Cash may be trapped in inventory, receivables, projects or restricted balances.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520440" cy="4114800"/>
          </a:xfrm>
          <a:prstGeom prst="roundRect">
            <a:avLst/>
          </a:prstGeom>
          <a:solidFill>
            <a:srgbClr val="EFF4F9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1499616"/>
            <a:ext cx="31912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337"/>
                </a:solidFill>
                <a:latin typeface="Aptos"/>
              </a:defRPr>
            </a:pPr>
            <a:r>
              <a:t>CREDIT LENS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1312" y="1901952"/>
            <a:ext cx="319125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282D"/>
                </a:solidFill>
                <a:latin typeface="Aptos"/>
              </a:defRPr>
            </a:pPr>
            <a:r>
              <a:t>What becomes cash? How quickly? At what haircut? And what liabilities mature before that cash arrives?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337"/>
                </a:solidFill>
                <a:latin typeface="Aptos"/>
              </a:defRPr>
            </a:pPr>
            <a:r>
              <a:t>2. Liquidity Is a Timing Problem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1828800" cy="2240280"/>
          </a:xfrm>
          <a:prstGeom prst="roundRect">
            <a:avLst/>
          </a:prstGeom>
          <a:solidFill>
            <a:srgbClr val="EFF4F9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773936"/>
            <a:ext cx="1499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337"/>
                </a:solidFill>
                <a:latin typeface="Aptos"/>
              </a:defRPr>
            </a:pPr>
            <a:r>
              <a:t>CASH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2176272"/>
            <a:ext cx="1499616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282D"/>
                </a:solidFill>
                <a:latin typeface="Aptos"/>
              </a:defRPr>
            </a:pPr>
            <a:r>
              <a:t>Immediate capacity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645920"/>
            <a:ext cx="1828800" cy="2240280"/>
          </a:xfrm>
          <a:prstGeom prst="roundRect">
            <a:avLst/>
          </a:prstGeom>
          <a:solidFill>
            <a:srgbClr val="EFF4F9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90672" y="1773936"/>
            <a:ext cx="1499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337"/>
                </a:solidFill>
                <a:latin typeface="Aptos"/>
              </a:defRPr>
            </a:pPr>
            <a:r>
              <a:t>RECEIVABLES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90672" y="2176272"/>
            <a:ext cx="1499616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282D"/>
                </a:solidFill>
                <a:latin typeface="Aptos"/>
              </a:defRPr>
            </a:pPr>
            <a:r>
              <a:t>Expected customer cash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80" y="1645920"/>
            <a:ext cx="1828800" cy="2240280"/>
          </a:xfrm>
          <a:prstGeom prst="roundRect">
            <a:avLst/>
          </a:prstGeom>
          <a:solidFill>
            <a:srgbClr val="EFF4F9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76672" y="1773936"/>
            <a:ext cx="1499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337"/>
                </a:solidFill>
                <a:latin typeface="Aptos"/>
              </a:defRPr>
            </a:pPr>
            <a:r>
              <a:t>INVENTORY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76672" y="2176272"/>
            <a:ext cx="1499616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282D"/>
                </a:solidFill>
                <a:latin typeface="Aptos"/>
              </a:defRPr>
            </a:pPr>
            <a:r>
              <a:t>Needs sale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645920"/>
            <a:ext cx="1828800" cy="2240280"/>
          </a:xfrm>
          <a:prstGeom prst="roundRect">
            <a:avLst/>
          </a:prstGeom>
          <a:solidFill>
            <a:srgbClr val="EFF4F9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62671" y="1773936"/>
            <a:ext cx="1499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337"/>
                </a:solidFill>
                <a:latin typeface="Aptos"/>
              </a:defRPr>
            </a:pPr>
            <a:r>
              <a:t>FIXED ASSETS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62671" y="2176272"/>
            <a:ext cx="1499616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282D"/>
                </a:solidFill>
                <a:latin typeface="Aptos"/>
              </a:defRPr>
            </a:pPr>
            <a:r>
              <a:t>Valuable but illiquid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84080" y="1645920"/>
            <a:ext cx="1828800" cy="2240280"/>
          </a:xfrm>
          <a:prstGeom prst="roundRect">
            <a:avLst/>
          </a:prstGeom>
          <a:solidFill>
            <a:srgbClr val="EFF4F9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48672" y="1773936"/>
            <a:ext cx="1499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337"/>
                </a:solidFill>
                <a:latin typeface="Aptos"/>
              </a:defRPr>
            </a:pPr>
            <a:r>
              <a:t>DEBT DUE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48672" y="2176272"/>
            <a:ext cx="1499616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282D"/>
                </a:solidFill>
                <a:latin typeface="Aptos"/>
              </a:defRPr>
            </a:pPr>
            <a:r>
              <a:t>Cash demand with a deadline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6177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142337"/>
                </a:solidFill>
                <a:latin typeface="Aptos"/>
              </a:defRPr>
            </a:pPr>
            <a:r>
              <a:t>Liquidity deteriorates when cash conversion is slower than the maturity of liabilities.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337"/>
                </a:solidFill>
                <a:latin typeface="Aptos"/>
              </a:defRPr>
            </a:pPr>
            <a:r>
              <a:t>3. Current Ratio Explained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2A588C"/>
                </a:solidFill>
                <a:latin typeface="Aptos"/>
              </a:defRPr>
            </a:pPr>
            <a:r>
              <a:t>Current Ratio = Current Assets ÷ Current Liabilities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03120"/>
            <a:ext cx="5029200" cy="2377440"/>
          </a:xfrm>
          <a:prstGeom prst="roundRect">
            <a:avLst/>
          </a:prstGeom>
          <a:solidFill>
            <a:srgbClr val="EFF4F9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231136"/>
            <a:ext cx="47000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337"/>
                </a:solidFill>
                <a:latin typeface="Aptos"/>
              </a:defRPr>
            </a:pPr>
            <a:r>
              <a:t>ILLUSTRATION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633472"/>
            <a:ext cx="470001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282D"/>
                </a:solidFill>
                <a:latin typeface="Aptos"/>
              </a:defRPr>
            </a:pPr>
            <a:r>
              <a:t>Current assets = ₹240 crore</a:t>
            </a:r>
            <a:br/>
            <a:r>
              <a:t>Current liabilities = ₹160 crore</a:t>
            </a:r>
            <a:br/>
            <a:br/>
            <a:r>
              <a:t>Current Ratio = 240 / 160 = 1.50×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25880"/>
            <a:ext cx="5074920" cy="3154680"/>
          </a:xfrm>
          <a:prstGeom prst="roundRect">
            <a:avLst/>
          </a:prstGeom>
          <a:solidFill>
            <a:srgbClr val="EFF4F9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36792" y="1453895"/>
            <a:ext cx="47457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337"/>
                </a:solidFill>
                <a:latin typeface="Aptos"/>
              </a:defRPr>
            </a:pPr>
            <a:r>
              <a:t>WHAT IT MISSES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6792" y="1856231"/>
            <a:ext cx="4745736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282D"/>
                </a:solidFill>
                <a:latin typeface="Aptos"/>
              </a:defRPr>
            </a:pPr>
            <a:r>
              <a:t>Receivable collectability</a:t>
            </a:r>
            <a:br/>
            <a:r>
              <a:t>Inventory quality and turnover</a:t>
            </a:r>
            <a:br/>
            <a:r>
              <a:t>Restricted cash</a:t>
            </a:r>
            <a:br/>
            <a:r>
              <a:t>Liability maturity concentration</a:t>
            </a:r>
            <a:br/>
            <a:r>
              <a:t>Seasonality and operating-cycle effects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07492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A04141"/>
                </a:solidFill>
                <a:latin typeface="Aptos"/>
              </a:defRPr>
            </a:pPr>
            <a:r>
              <a:t>A 1.5× ratio is not automatically safe; asset quality and timing determine liquidity.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337"/>
                </a:solidFill>
                <a:latin typeface="Aptos"/>
              </a:defRPr>
            </a:pPr>
            <a:r>
              <a:t>4. Quick Ratio Explained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6126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A588C"/>
                </a:solidFill>
                <a:latin typeface="Aptos"/>
              </a:defRPr>
            </a:pPr>
            <a:r>
              <a:t>Quick Ratio ≈ (Cash + Marketable Securities + Receivables) ÷ Current Liabilities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48840"/>
            <a:ext cx="5029200" cy="2468880"/>
          </a:xfrm>
          <a:prstGeom prst="roundRect">
            <a:avLst/>
          </a:prstGeom>
          <a:solidFill>
            <a:srgbClr val="EFF4F9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276856"/>
            <a:ext cx="47000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337"/>
                </a:solidFill>
                <a:latin typeface="Aptos"/>
              </a:defRPr>
            </a:pPr>
            <a:r>
              <a:t>ILLUSTRATION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679192"/>
            <a:ext cx="470001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282D"/>
                </a:solidFill>
                <a:latin typeface="Aptos"/>
              </a:defRPr>
            </a:pPr>
            <a:r>
              <a:t>Cash ₹30 cr + Receivables ₹90 cr</a:t>
            </a:r>
            <a:br/>
            <a:r>
              <a:t>Current liabilities ₹160 cr</a:t>
            </a:r>
            <a:br/>
            <a:br/>
            <a:r>
              <a:t>Quick Ratio = 120 / 160 = 0.75×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25880"/>
            <a:ext cx="5074920" cy="3246120"/>
          </a:xfrm>
          <a:prstGeom prst="roundRect">
            <a:avLst/>
          </a:prstGeom>
          <a:solidFill>
            <a:srgbClr val="EFF4F9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36792" y="1453895"/>
            <a:ext cx="47457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337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6792" y="1856231"/>
            <a:ext cx="4745736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282D"/>
                </a:solidFill>
                <a:latin typeface="Aptos"/>
              </a:defRPr>
            </a:pPr>
            <a:r>
              <a:t>Inventory may require time, discounting and selling costs before becoming cash.</a:t>
            </a:r>
            <a:br/>
            <a:br/>
            <a:r>
              <a:t>The ratio tests near-cash coverage of short-term claims.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07492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42337"/>
                </a:solidFill>
                <a:latin typeface="Aptos"/>
              </a:defRPr>
            </a:pPr>
            <a:r>
              <a:t>Caveat: receivables are only “quick” if collection quality is credible.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337"/>
                </a:solidFill>
                <a:latin typeface="Aptos"/>
              </a:defRPr>
            </a:pPr>
            <a:r>
              <a:t>5. Working Capital Explained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2A588C"/>
                </a:solidFill>
                <a:latin typeface="Aptos"/>
              </a:defRPr>
            </a:pPr>
            <a:r>
              <a:t>Working Capital = Current Assets − Current Liabilities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03120"/>
            <a:ext cx="3474720" cy="2651760"/>
          </a:xfrm>
          <a:prstGeom prst="roundRect">
            <a:avLst/>
          </a:prstGeom>
          <a:solidFill>
            <a:srgbClr val="EFF4F9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2231136"/>
            <a:ext cx="3145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337"/>
                </a:solidFill>
                <a:latin typeface="Aptos"/>
              </a:defRPr>
            </a:pPr>
            <a:r>
              <a:t>CURRENT ASSETS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633472"/>
            <a:ext cx="314553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282D"/>
                </a:solidFill>
                <a:latin typeface="Aptos"/>
              </a:defRPr>
            </a:pPr>
            <a:r>
              <a:t>Cash</a:t>
            </a:r>
            <a:br/>
            <a:r>
              <a:t>Receivables</a:t>
            </a:r>
            <a:br/>
            <a:r>
              <a:t>Inventory</a:t>
            </a:r>
            <a:br/>
            <a:r>
              <a:t>Other current assets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1688" y="2103120"/>
            <a:ext cx="3474720" cy="2651760"/>
          </a:xfrm>
          <a:prstGeom prst="roundRect">
            <a:avLst/>
          </a:prstGeom>
          <a:solidFill>
            <a:srgbClr val="EFF4F9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79" y="2231136"/>
            <a:ext cx="3145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337"/>
                </a:solidFill>
                <a:latin typeface="Aptos"/>
              </a:defRPr>
            </a:pPr>
            <a:r>
              <a:t>CURRENT LIABILITIES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79" y="2633472"/>
            <a:ext cx="314553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282D"/>
                </a:solidFill>
                <a:latin typeface="Aptos"/>
              </a:defRPr>
            </a:pPr>
            <a:r>
              <a:t>Trade payables</a:t>
            </a:r>
            <a:br/>
            <a:r>
              <a:t>Short-term borrowings</a:t>
            </a:r>
            <a:br/>
            <a:r>
              <a:t>Accrued expenses</a:t>
            </a:r>
            <a:br/>
            <a:r>
              <a:t>Other current liabilities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103120"/>
            <a:ext cx="3474720" cy="2651760"/>
          </a:xfrm>
          <a:prstGeom prst="roundRect">
            <a:avLst/>
          </a:prstGeom>
          <a:solidFill>
            <a:srgbClr val="EFF4F9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2231136"/>
            <a:ext cx="3145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337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1312" y="2633472"/>
            <a:ext cx="314553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282D"/>
                </a:solidFill>
                <a:latin typeface="Aptos"/>
              </a:defRPr>
            </a:pPr>
            <a:r>
              <a:t>Positive is not automatically healthy.</a:t>
            </a:r>
            <a:br/>
            <a:r>
              <a:t>Negative is not automatically distressed.</a:t>
            </a:r>
            <a:br/>
            <a:r>
              <a:t>Business model and cash cycle matter.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337"/>
                </a:solidFill>
                <a:latin typeface="Aptos"/>
              </a:defRPr>
            </a:pPr>
            <a:r>
              <a:t>6. Working Capital → Cash Conversion Cycle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00200"/>
            <a:ext cx="1828800" cy="2286000"/>
          </a:xfrm>
          <a:prstGeom prst="roundRect">
            <a:avLst/>
          </a:prstGeom>
          <a:solidFill>
            <a:srgbClr val="EFF4F9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728216"/>
            <a:ext cx="1499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337"/>
                </a:solidFill>
                <a:latin typeface="Aptos"/>
              </a:defRPr>
            </a:pPr>
            <a:r>
              <a:t>BUY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2130552"/>
            <a:ext cx="149961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282D"/>
                </a:solidFill>
                <a:latin typeface="Aptos"/>
              </a:defRPr>
            </a:pPr>
            <a:r>
              <a:t>Acquire inputs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1600200"/>
            <a:ext cx="1828800" cy="2286000"/>
          </a:xfrm>
          <a:prstGeom prst="roundRect">
            <a:avLst/>
          </a:prstGeom>
          <a:solidFill>
            <a:srgbClr val="EFF4F9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99232" y="1728216"/>
            <a:ext cx="1499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337"/>
                </a:solidFill>
                <a:latin typeface="Aptos"/>
              </a:defRPr>
            </a:pPr>
            <a:r>
              <a:t>HOLD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9232" y="2130552"/>
            <a:ext cx="149961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282D"/>
                </a:solidFill>
                <a:latin typeface="Aptos"/>
              </a:defRPr>
            </a:pPr>
            <a:r>
              <a:t>Inventory period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74920" y="1600200"/>
            <a:ext cx="1828800" cy="2286000"/>
          </a:xfrm>
          <a:prstGeom prst="roundRect">
            <a:avLst/>
          </a:prstGeom>
          <a:solidFill>
            <a:srgbClr val="EFF4F9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1728216"/>
            <a:ext cx="1499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337"/>
                </a:solidFill>
                <a:latin typeface="Aptos"/>
              </a:defRPr>
            </a:pPr>
            <a:r>
              <a:t>SELL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9512" y="2130552"/>
            <a:ext cx="149961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282D"/>
                </a:solidFill>
                <a:latin typeface="Aptos"/>
              </a:defRPr>
            </a:pPr>
            <a:r>
              <a:t>Recognise revenue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600200"/>
            <a:ext cx="1828800" cy="2286000"/>
          </a:xfrm>
          <a:prstGeom prst="roundRect">
            <a:avLst/>
          </a:prstGeom>
          <a:solidFill>
            <a:srgbClr val="EFF4F9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1728216"/>
            <a:ext cx="1499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337"/>
                </a:solidFill>
                <a:latin typeface="Aptos"/>
              </a:defRPr>
            </a:pPr>
            <a:r>
              <a:t>COLLECT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79792" y="2130552"/>
            <a:ext cx="149961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282D"/>
                </a:solidFill>
                <a:latin typeface="Aptos"/>
              </a:defRPr>
            </a:pPr>
            <a:r>
              <a:t>Receivable becomes cash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55480" y="1600200"/>
            <a:ext cx="1828800" cy="2286000"/>
          </a:xfrm>
          <a:prstGeom prst="roundRect">
            <a:avLst/>
          </a:prstGeom>
          <a:solidFill>
            <a:srgbClr val="EFF4F9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20072" y="1728216"/>
            <a:ext cx="1499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337"/>
                </a:solidFill>
                <a:latin typeface="Aptos"/>
              </a:defRPr>
            </a:pPr>
            <a:r>
              <a:t>FUND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20072" y="2130552"/>
            <a:ext cx="149961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282D"/>
                </a:solidFill>
                <a:latin typeface="Aptos"/>
              </a:defRPr>
            </a:pPr>
            <a:r>
              <a:t>Meet obligations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38912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42337"/>
                </a:solidFill>
                <a:latin typeface="Aptos"/>
              </a:defRPr>
            </a:pPr>
            <a:r>
              <a:t>Longer cash conversion cycles generally increase external funding needs and liquidity sensitivity.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1663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3282D"/>
                </a:solidFill>
                <a:latin typeface="Aptos"/>
              </a:defRPr>
            </a:pPr>
            <a:r>
              <a:t>Use-case: a fast-turn retailer may tolerate lower liquidity ratios than a project contractor with long receivable cycles.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337"/>
                </a:solidFill>
                <a:latin typeface="Aptos"/>
              </a:defRPr>
            </a:pPr>
            <a:r>
              <a:t>7. Liquidity Analysis — Practical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9737D"/>
                </a:solidFill>
                <a:latin typeface="Aptos"/>
              </a:defRPr>
            </a:pPr>
            <a:r>
              <a:t>Illustrative manufacturing borrower | ₹ crore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82D"/>
                </a:solidFill>
                <a:latin typeface="Aptos"/>
              </a:defRPr>
            </a:pPr>
            <a:r>
              <a:t>Cash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3258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82D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92807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82D"/>
                </a:solidFill>
                <a:latin typeface="Aptos"/>
              </a:defRPr>
            </a:pPr>
            <a:r>
              <a:t>Receivables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892807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82D"/>
                </a:solidFill>
                <a:latin typeface="Aptos"/>
              </a:defRPr>
            </a:pPr>
            <a:r>
              <a:t>85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59736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82D"/>
                </a:solidFill>
                <a:latin typeface="Aptos"/>
              </a:defRPr>
            </a:pPr>
            <a:r>
              <a:t>Inventory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459736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82D"/>
                </a:solidFill>
                <a:latin typeface="Aptos"/>
              </a:defRPr>
            </a:pPr>
            <a:r>
              <a:t>130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26663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82D"/>
                </a:solidFill>
                <a:latin typeface="Aptos"/>
              </a:defRPr>
            </a:pPr>
            <a:r>
              <a:t>Other current assets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3026663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82D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93591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2337"/>
                </a:solidFill>
                <a:latin typeface="Aptos"/>
              </a:defRPr>
            </a:pPr>
            <a:r>
              <a:t>Current assets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593591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2337"/>
                </a:solidFill>
                <a:latin typeface="Aptos"/>
              </a:defRPr>
            </a:pPr>
            <a:r>
              <a:t>260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605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2337"/>
                </a:solidFill>
                <a:latin typeface="Aptos"/>
              </a:defRPr>
            </a:pPr>
            <a:r>
              <a:t>Current liabilities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4160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2337"/>
                </a:solidFill>
                <a:latin typeface="Aptos"/>
              </a:defRPr>
            </a:pPr>
            <a:r>
              <a:t>200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280160"/>
            <a:ext cx="4572000" cy="1234440"/>
          </a:xfrm>
          <a:prstGeom prst="roundRect">
            <a:avLst/>
          </a:prstGeom>
          <a:solidFill>
            <a:srgbClr val="EFF4F9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65392" y="1408176"/>
            <a:ext cx="4242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337"/>
                </a:solidFill>
                <a:latin typeface="Aptos"/>
              </a:defRPr>
            </a:pPr>
            <a:r>
              <a:t>CURRENT RATIO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1810512"/>
            <a:ext cx="424281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282D"/>
                </a:solidFill>
                <a:latin typeface="Aptos"/>
              </a:defRPr>
            </a:pPr>
            <a:r>
              <a:t>260 / 200 = 1.30×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743200"/>
            <a:ext cx="4572000" cy="1234440"/>
          </a:xfrm>
          <a:prstGeom prst="roundRect">
            <a:avLst/>
          </a:prstGeom>
          <a:solidFill>
            <a:srgbClr val="EFF4F9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871216"/>
            <a:ext cx="4242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337"/>
                </a:solidFill>
                <a:latin typeface="Aptos"/>
              </a:defRPr>
            </a:pPr>
            <a:r>
              <a:t>QUICK RATIO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3273552"/>
            <a:ext cx="424281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282D"/>
                </a:solidFill>
                <a:latin typeface="Aptos"/>
              </a:defRPr>
            </a:pPr>
            <a:r>
              <a:t>(25 + 85) / 200 = 0.55×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206240"/>
            <a:ext cx="4572000" cy="1234440"/>
          </a:xfrm>
          <a:prstGeom prst="roundRect">
            <a:avLst/>
          </a:prstGeom>
          <a:solidFill>
            <a:srgbClr val="EFF4F9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65392" y="4334255"/>
            <a:ext cx="4242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337"/>
                </a:solidFill>
                <a:latin typeface="Aptos"/>
              </a:defRPr>
            </a:pPr>
            <a:r>
              <a:t>WORKING CAPITAL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4736592"/>
            <a:ext cx="424281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282D"/>
                </a:solidFill>
                <a:latin typeface="Aptos"/>
              </a:defRPr>
            </a:pPr>
            <a:r>
              <a:t>260 − 200 = ₹60 crore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337"/>
                </a:solidFill>
                <a:latin typeface="Aptos"/>
              </a:defRPr>
            </a:pPr>
            <a:r>
              <a:t>8. What the Ratios Tell the Credit Analyst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520440" cy="3566160"/>
          </a:xfrm>
          <a:prstGeom prst="roundRect">
            <a:avLst/>
          </a:prstGeom>
          <a:solidFill>
            <a:srgbClr val="EFF4F9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499616"/>
            <a:ext cx="31912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337"/>
                </a:solidFill>
                <a:latin typeface="Aptos"/>
              </a:defRPr>
            </a:pPr>
            <a: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1901952"/>
            <a:ext cx="3191256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282D"/>
                </a:solidFill>
                <a:latin typeface="Aptos"/>
              </a:defRPr>
            </a:pPr>
            <a:r>
              <a:t>Current ratio of 1.30× provides aggregate short-term coverage.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71600"/>
            <a:ext cx="3520440" cy="3566160"/>
          </a:xfrm>
          <a:prstGeom prst="roundRect">
            <a:avLst/>
          </a:prstGeom>
          <a:solidFill>
            <a:srgbClr val="EFF4F9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07992" y="1499616"/>
            <a:ext cx="31912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337"/>
                </a:solidFill>
                <a:latin typeface="Aptos"/>
              </a:defRPr>
            </a:pPr>
            <a:r>
              <a:t>WARNING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7992" y="1901952"/>
            <a:ext cx="3191256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282D"/>
                </a:solidFill>
                <a:latin typeface="Aptos"/>
              </a:defRPr>
            </a:pPr>
            <a:r>
              <a:t>Quick ratio of 0.55× shows substantial dependence on inventory conversion.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520440" cy="3566160"/>
          </a:xfrm>
          <a:prstGeom prst="roundRect">
            <a:avLst/>
          </a:prstGeom>
          <a:solidFill>
            <a:srgbClr val="EFF4F9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499616"/>
            <a:ext cx="31912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337"/>
                </a:solidFill>
                <a:latin typeface="Aptos"/>
              </a:defRPr>
            </a:pPr>
            <a:r>
              <a:t>NEXT QUESTIONS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1312" y="1901952"/>
            <a:ext cx="3191256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282D"/>
                </a:solidFill>
                <a:latin typeface="Aptos"/>
              </a:defRPr>
            </a:pPr>
            <a:r>
              <a:t>Inventory ageing?</a:t>
            </a:r>
            <a:br/>
            <a:r>
              <a:t>Receivable ageing?</a:t>
            </a:r>
            <a:br/>
            <a:r>
              <a:t>Customer concentration?</a:t>
            </a:r>
            <a:br/>
            <a:r>
              <a:t>Working-capital lines?</a:t>
            </a:r>
            <a:br/>
            <a:r>
              <a:t>Debt maturity profile?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25780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A588C"/>
                </a:solidFill>
                <a:latin typeface="Aptos"/>
              </a:defRPr>
            </a:pPr>
            <a:r>
              <a:t>Credit conclusion requires testing the quality and timing of current assets.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337"/>
                </a:solidFill>
                <a:latin typeface="Aptos"/>
              </a:defRPr>
            </a:pPr>
            <a:r>
              <a:t>9. Real-World Use Case: Liquidity Stress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3566160" cy="3566160"/>
          </a:xfrm>
          <a:prstGeom prst="roundRect">
            <a:avLst/>
          </a:prstGeom>
          <a:solidFill>
            <a:srgbClr val="EFF4F9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453895"/>
            <a:ext cx="3236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337"/>
                </a:solidFill>
                <a:latin typeface="Aptos"/>
              </a:defRPr>
            </a:pPr>
            <a:r>
              <a:t>BASE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1856231"/>
            <a:ext cx="3236976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282D"/>
                </a:solidFill>
                <a:latin typeface="Aptos"/>
              </a:defRPr>
            </a:pPr>
            <a:r>
              <a:t>Customers pay in 45 days</a:t>
            </a:r>
            <a:br/>
            <a:r>
              <a:t>Inventory turns normally</a:t>
            </a:r>
            <a:br/>
            <a:r>
              <a:t>Cash buffer is adequate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5968" y="1325880"/>
            <a:ext cx="3566160" cy="3566160"/>
          </a:xfrm>
          <a:prstGeom prst="roundRect">
            <a:avLst/>
          </a:prstGeom>
          <a:solidFill>
            <a:srgbClr val="EFF4F9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59" y="1453895"/>
            <a:ext cx="3236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337"/>
                </a:solidFill>
                <a:latin typeface="Aptos"/>
              </a:defRPr>
            </a:pPr>
            <a:r>
              <a:t>STRESS EVENT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59" y="1856231"/>
            <a:ext cx="3236976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282D"/>
                </a:solidFill>
                <a:latin typeface="Aptos"/>
              </a:defRPr>
            </a:pPr>
            <a:r>
              <a:t>Major customer delays payment by 60 days</a:t>
            </a:r>
            <a:br/>
            <a:r>
              <a:t>Inventory sales slow</a:t>
            </a:r>
            <a:br/>
            <a:r>
              <a:t>Supplier terms tighten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37575" y="1325880"/>
            <a:ext cx="3566160" cy="3566160"/>
          </a:xfrm>
          <a:prstGeom prst="roundRect">
            <a:avLst/>
          </a:prstGeom>
          <a:solidFill>
            <a:srgbClr val="EFF4F9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2167" y="1453895"/>
            <a:ext cx="3236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337"/>
                </a:solidFill>
                <a:latin typeface="Aptos"/>
              </a:defRPr>
            </a:pPr>
            <a:r>
              <a:t>CREDIT 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02167" y="1856231"/>
            <a:ext cx="3236976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282D"/>
                </a:solidFill>
                <a:latin typeface="Aptos"/>
              </a:defRPr>
            </a:pPr>
            <a:r>
              <a:t>Cash gap emerges before receivables arrive</a:t>
            </a:r>
            <a:br/>
            <a:r>
              <a:t>Working-capital lines are drawn</a:t>
            </a:r>
            <a:br/>
            <a:r>
              <a:t>Default risk rises if headroom is insufficient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25780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42337"/>
                </a:solidFill>
                <a:latin typeface="Aptos"/>
              </a:defRPr>
            </a:pPr>
            <a:r>
              <a:t>Lender response: test downside cash flows, not only reported year-end ratios.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337"/>
                </a:solidFill>
                <a:latin typeface="Aptos"/>
              </a:defRPr>
            </a:pPr>
            <a:r>
              <a:t>10. Liquidity Red Flags in Credit Underwriting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23282D"/>
                </a:solidFill>
                <a:latin typeface="Aptos"/>
              </a:defRPr>
            </a:pPr>
            <a:r>
              <a:t>• Receivables rising faster than sales or cash collections.</a:t>
            </a:r>
          </a:p>
          <a:p>
            <a:pPr>
              <a:spcAft>
                <a:spcPts val="1100"/>
              </a:spcAft>
              <a:defRPr sz="1800">
                <a:solidFill>
                  <a:srgbClr val="23282D"/>
                </a:solidFill>
                <a:latin typeface="Aptos"/>
              </a:defRPr>
            </a:pPr>
            <a:r>
              <a:t>• Inventory growth materially faster than sales.</a:t>
            </a:r>
          </a:p>
          <a:p>
            <a:pPr>
              <a:spcAft>
                <a:spcPts val="1100"/>
              </a:spcAft>
              <a:defRPr sz="1800">
                <a:solidFill>
                  <a:srgbClr val="23282D"/>
                </a:solidFill>
                <a:latin typeface="Aptos"/>
              </a:defRPr>
            </a:pPr>
            <a:r>
              <a:t>• Short-term debt funding long-term assets.</a:t>
            </a:r>
          </a:p>
          <a:p>
            <a:pPr>
              <a:spcAft>
                <a:spcPts val="1100"/>
              </a:spcAft>
              <a:defRPr sz="1800">
                <a:solidFill>
                  <a:srgbClr val="23282D"/>
                </a:solidFill>
                <a:latin typeface="Aptos"/>
              </a:defRPr>
            </a:pPr>
            <a:r>
              <a:t>• Restricted or otherwise unavailable cash presented as liquidity.</a:t>
            </a:r>
          </a:p>
          <a:p>
            <a:pPr>
              <a:spcAft>
                <a:spcPts val="1100"/>
              </a:spcAft>
              <a:defRPr sz="1800">
                <a:solidFill>
                  <a:srgbClr val="23282D"/>
                </a:solidFill>
                <a:latin typeface="Aptos"/>
              </a:defRPr>
            </a:pPr>
            <a:r>
              <a:t>• Repeated high utilisation of overdraft / working-capital facilities.</a:t>
            </a:r>
          </a:p>
          <a:p>
            <a:pPr>
              <a:spcAft>
                <a:spcPts val="1100"/>
              </a:spcAft>
              <a:defRPr sz="1800">
                <a:solidFill>
                  <a:srgbClr val="23282D"/>
                </a:solidFill>
                <a:latin typeface="Aptos"/>
              </a:defRPr>
            </a:pPr>
            <a:r>
              <a:t>• Payables stretched beyond normal supplier terms.</a:t>
            </a:r>
          </a:p>
          <a:p>
            <a:pPr>
              <a:spcAft>
                <a:spcPts val="1100"/>
              </a:spcAft>
              <a:defRPr sz="1800">
                <a:solidFill>
                  <a:srgbClr val="23282D"/>
                </a:solidFill>
                <a:latin typeface="Aptos"/>
              </a:defRPr>
            </a:pPr>
            <a:r>
              <a:t>• Large debt maturities concentrated in the next 6–12 months.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337"/>
                </a:solidFill>
                <a:latin typeface="Aptos"/>
              </a:defRPr>
            </a:pPr>
            <a:r>
              <a:t>11. Credit Analyst Liquidity Framework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37360"/>
            <a:ext cx="1691640" cy="2880360"/>
          </a:xfrm>
          <a:prstGeom prst="roundRect">
            <a:avLst/>
          </a:prstGeom>
          <a:solidFill>
            <a:srgbClr val="EFF4F9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865376"/>
            <a:ext cx="13624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337"/>
                </a:solidFill>
                <a:latin typeface="Aptos"/>
              </a:defRPr>
            </a:pPr>
            <a:r>
              <a:t>1</a:t>
            </a:r>
            <a:br/>
            <a:r>
              <a:t>MEASURE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2267712"/>
            <a:ext cx="1362456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282D"/>
                </a:solidFill>
                <a:latin typeface="Aptos"/>
              </a:defRPr>
            </a:pPr>
            <a:r>
              <a:t>Ratios + working capital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41448" y="1737360"/>
            <a:ext cx="1691640" cy="2880360"/>
          </a:xfrm>
          <a:prstGeom prst="roundRect">
            <a:avLst/>
          </a:prstGeom>
          <a:solidFill>
            <a:srgbClr val="EFF4F9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06040" y="1865376"/>
            <a:ext cx="13624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337"/>
                </a:solidFill>
                <a:latin typeface="Aptos"/>
              </a:defRPr>
            </a:pPr>
            <a:r>
              <a:t>2</a:t>
            </a:r>
            <a:br/>
            <a:r>
              <a:t>DECOMPOSE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2267712"/>
            <a:ext cx="1362456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282D"/>
                </a:solidFill>
                <a:latin typeface="Aptos"/>
              </a:defRPr>
            </a:pPr>
            <a:r>
              <a:t>Cash, receivables, inventory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1737360"/>
            <a:ext cx="1691640" cy="2880360"/>
          </a:xfrm>
          <a:prstGeom prst="roundRect">
            <a:avLst/>
          </a:prstGeom>
          <a:solidFill>
            <a:srgbClr val="EFF4F9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865376"/>
            <a:ext cx="13624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337"/>
                </a:solidFill>
                <a:latin typeface="Aptos"/>
              </a:defRPr>
            </a:pPr>
            <a:r>
              <a:t>3</a:t>
            </a:r>
            <a:br/>
            <a:r>
              <a:t>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267712"/>
            <a:ext cx="1362456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282D"/>
                </a:solidFill>
                <a:latin typeface="Aptos"/>
              </a:defRPr>
            </a:pPr>
            <a:r>
              <a:t>Collections vs maturities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18504" y="1737360"/>
            <a:ext cx="1691640" cy="2880360"/>
          </a:xfrm>
          <a:prstGeom prst="roundRect">
            <a:avLst/>
          </a:prstGeom>
          <a:solidFill>
            <a:srgbClr val="EFF4F9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3096" y="1865376"/>
            <a:ext cx="13624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337"/>
                </a:solidFill>
                <a:latin typeface="Aptos"/>
              </a:defRPr>
            </a:pPr>
            <a:r>
              <a:t>4</a:t>
            </a:r>
            <a:br/>
            <a:r>
              <a:t>STRESS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3096" y="2267712"/>
            <a:ext cx="1362456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282D"/>
                </a:solidFill>
                <a:latin typeface="Aptos"/>
              </a:defRPr>
            </a:pPr>
            <a:r>
              <a:t>Delay, slowdown, margin pressure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57032" y="1737360"/>
            <a:ext cx="1691640" cy="2880360"/>
          </a:xfrm>
          <a:prstGeom prst="roundRect">
            <a:avLst/>
          </a:prstGeom>
          <a:solidFill>
            <a:srgbClr val="EFF4F9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21624" y="1865376"/>
            <a:ext cx="13624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337"/>
                </a:solidFill>
                <a:latin typeface="Aptos"/>
              </a:defRPr>
            </a:pPr>
            <a:r>
              <a:t>5</a:t>
            </a:r>
            <a:br/>
            <a:r>
              <a:t>FUND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21624" y="2267712"/>
            <a:ext cx="1362456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282D"/>
                </a:solidFill>
                <a:latin typeface="Aptos"/>
              </a:defRPr>
            </a:pPr>
            <a:r>
              <a:t>Facilities + refinancing dependence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195560" y="1737360"/>
            <a:ext cx="1691640" cy="2880360"/>
          </a:xfrm>
          <a:prstGeom prst="roundRect">
            <a:avLst/>
          </a:prstGeom>
          <a:solidFill>
            <a:srgbClr val="EFF4F9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60152" y="1865376"/>
            <a:ext cx="13624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337"/>
                </a:solidFill>
                <a:latin typeface="Aptos"/>
              </a:defRPr>
            </a:pPr>
            <a:r>
              <a:t>6</a:t>
            </a:r>
            <a:br/>
            <a:r>
              <a:t>CONCLUDE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60152" y="2267712"/>
            <a:ext cx="1362456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282D"/>
                </a:solidFill>
                <a:latin typeface="Aptos"/>
              </a:defRPr>
            </a:pPr>
            <a:r>
              <a:t>Adequate / watch / stressed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"/>
              </a:defRPr>
            </a:pPr>
            <a:r>
              <a:t>12. EXECUTIVE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FFFFFF"/>
                </a:solidFill>
                <a:latin typeface="Aptos"/>
              </a:defRPr>
            </a:pPr>
            <a:r>
              <a:t>• Liquidity risk is the ability to meet obligations on time.</a:t>
            </a:r>
            <a:br/>
            <a:r>
              <a:t>• Current ratio measures broad short-term coverage.</a:t>
            </a:r>
            <a:br/>
            <a:r>
              <a:t>• Quick ratio tests coverage without relying heavily on inventory.</a:t>
            </a:r>
            <a:br/>
            <a:r>
              <a:t>• Working capital shows how much liquidity is tied up in the short-term balance sheet.</a:t>
            </a:r>
            <a:br/>
            <a:r>
              <a:t>• Real liquidity depends on asset quality, cash conversion, funding access and maturity timing.</a:t>
            </a:r>
            <a:br/>
            <a:r>
              <a:t>• Strong credit analysis combines ratios with cash-flow forecasts and downside stress testing.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06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The credit question: “Where will the cash come from—and will it arrive before payment is due?”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