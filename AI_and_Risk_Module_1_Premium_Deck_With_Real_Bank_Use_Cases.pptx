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Q1 next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0.82</c:v>
                </c:pt>
                <c:pt idx="1">
                  <c:v>0.82</c:v>
                </c:pt>
                <c:pt idx="2">
                  <c:v>0.79</c:v>
                </c:pt>
                <c:pt idx="3">
                  <c:v>0.75</c:v>
                </c:pt>
                <c:pt idx="4">
                  <c:v>0.7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9"/>
          <c:min val="0.6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54880" y="0"/>
            <a:ext cx="0" cy="685800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79" y="0"/>
            <a:ext cx="0" cy="685800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69680" y="0"/>
            <a:ext cx="0" cy="685800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612880" y="0"/>
            <a:ext cx="0" cy="685800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40080"/>
            <a:ext cx="12188952" cy="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834639"/>
            <a:ext cx="12188952" cy="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931920"/>
            <a:ext cx="12188952" cy="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5029200"/>
            <a:ext cx="12188952" cy="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6126480"/>
            <a:ext cx="12188952" cy="0"/>
          </a:xfrm>
          <a:prstGeom prst="line">
            <a:avLst/>
          </a:prstGeom>
          <a:ln w="7620">
            <a:solidFill>
              <a:srgbClr val="182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640080"/>
            <a:ext cx="3657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  <a:latin typeface="Aptos"/>
              </a:rPr>
              <a:t>AI &amp; RISK • MODULE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234440"/>
            <a:ext cx="8138160" cy="11430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AI AND RISK:
INTRODUCTION &amp;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743200"/>
            <a:ext cx="704088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From classical AI to GenAI — and why risk management must evolve with the technology.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94760"/>
            <a:ext cx="1417320" cy="310896"/>
          </a:xfrm>
          <a:prstGeom prst="round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813048"/>
            <a:ext cx="1417320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93C5FD"/>
                </a:solidFill>
                <a:latin typeface="Aptos"/>
              </a:rPr>
              <a:t>CLASSICAL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3794760"/>
            <a:ext cx="1417320" cy="310896"/>
          </a:xfrm>
          <a:prstGeom prst="round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3813048"/>
            <a:ext cx="1417320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7DD3FC"/>
                </a:solidFill>
                <a:latin typeface="Aptos"/>
              </a:rPr>
              <a:t>ML / NN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3794760"/>
            <a:ext cx="1417320" cy="310896"/>
          </a:xfrm>
          <a:prstGeom prst="round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3813048"/>
            <a:ext cx="1417320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6EE7B7"/>
                </a:solidFill>
                <a:latin typeface="Aptos"/>
              </a:rPr>
              <a:t>GENAI / LLM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3794760"/>
            <a:ext cx="1417320" cy="310896"/>
          </a:xfrm>
          <a:prstGeom prst="round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3813048"/>
            <a:ext cx="1417320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DBA74"/>
                </a:solidFill>
                <a:latin typeface="Aptos"/>
              </a:rPr>
              <a:t>AI RISK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1280160"/>
            <a:ext cx="914400" cy="914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1289304"/>
            <a:ext cx="914400" cy="8961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31" name="Oval 30"/>
          <p:cNvSpPr/>
          <p:nvPr/>
        </p:nvSpPr>
        <p:spPr>
          <a:xfrm>
            <a:off x="9784080" y="2057400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2066543"/>
            <a:ext cx="914400" cy="8961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33" name="Oval 32"/>
          <p:cNvSpPr/>
          <p:nvPr/>
        </p:nvSpPr>
        <p:spPr>
          <a:xfrm>
            <a:off x="8823960" y="2880360"/>
            <a:ext cx="914400" cy="914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2889503"/>
            <a:ext cx="914400" cy="8961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35" name="Oval 34"/>
          <p:cNvSpPr/>
          <p:nvPr/>
        </p:nvSpPr>
        <p:spPr>
          <a:xfrm>
            <a:off x="10058400" y="370332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3712463"/>
            <a:ext cx="914400" cy="8961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692640" y="1783080"/>
            <a:ext cx="502920" cy="274320"/>
          </a:xfrm>
          <a:prstGeom prst="line">
            <a:avLst/>
          </a:prstGeom>
          <a:ln w="2540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9784080" y="2971800"/>
            <a:ext cx="411480" cy="0"/>
          </a:xfrm>
          <a:prstGeom prst="line">
            <a:avLst/>
          </a:prstGeom>
          <a:ln w="25400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738360" y="3794760"/>
            <a:ext cx="640080" cy="274320"/>
          </a:xfrm>
          <a:prstGeom prst="line">
            <a:avLst/>
          </a:prstGeom>
          <a:ln w="2540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3232" y="5989320"/>
            <a:ext cx="5486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Analytics With Rajat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5989320"/>
            <a:ext cx="2194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BANKING • FINANCE •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01 • EXECUTIVE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AI is a technology stack — risk is a decision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The key question is not “Can AI predict?” but “Can the institution use the prediction safely?”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14600" cy="32461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0292" cy="3246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97510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59152"/>
            <a:ext cx="2240280" cy="2587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AI systems turn data, rules or learned representations into predictions, classifications, content or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514600" cy="324612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828800"/>
            <a:ext cx="50292" cy="3246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97510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359152"/>
            <a:ext cx="2240280" cy="2587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AI can improve speed, scale and accuracy — while introducing new failure modes and governance needs.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28800"/>
            <a:ext cx="2514600" cy="3246120"/>
          </a:xfrm>
          <a:prstGeom prst="round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50292" cy="3246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97510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HOW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359152"/>
            <a:ext cx="2240280" cy="2587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Combine data controls, model validation, human oversight, monitoring, security and clear accountability.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828800"/>
            <a:ext cx="2514600" cy="324612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828800"/>
            <a:ext cx="50292" cy="3246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197510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SO 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2359152"/>
            <a:ext cx="2240280" cy="2587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high-performing model can still create a poor business decision if incentives, controls or deployment context are wrong.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394960"/>
            <a:ext cx="10469880" cy="65836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19" y="5715000"/>
            <a:ext cx="9829800" cy="-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Model performance is one input into a decision — not the decision itself.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5596128"/>
            <a:ext cx="9829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BFDBFE"/>
                </a:solidFill>
                <a:latin typeface="Aptos"/>
              </a:rPr>
              <a:t>Executive lens • Credit / Risk / Finance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02 • LEARNING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What this module should make you able to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Six topics, one connected mental model.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28800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37943"/>
            <a:ext cx="475488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10512"/>
            <a:ext cx="2834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Aptos"/>
              </a:rPr>
              <a:t>AI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40280"/>
            <a:ext cx="2880360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Why the field moved from rules to learning to foundation models.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182880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37943"/>
            <a:ext cx="475488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810512"/>
            <a:ext cx="2834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Aptos"/>
              </a:rPr>
              <a:t>Classical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40280"/>
            <a:ext cx="2880360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Rules, search, expert systems and where they still work well.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182880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837943"/>
            <a:ext cx="475488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19" y="1810512"/>
            <a:ext cx="2834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Aptos"/>
              </a:rPr>
              <a:t>Neural networks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19" y="2240280"/>
            <a:ext cx="2880360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Representation learning, training and the intuition behind deep learning.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886200"/>
            <a:ext cx="475488" cy="47548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95344"/>
            <a:ext cx="475488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67912"/>
            <a:ext cx="2834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Aptos"/>
              </a:rPr>
              <a:t>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297680"/>
            <a:ext cx="2880360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Supervised, unsupervised and reinforcement learning in risk.</a:t>
            </a:r>
          </a:p>
        </p:txBody>
      </p:sp>
      <p:sp>
        <p:nvSpPr>
          <p:cNvPr id="22" name="Oval 21"/>
          <p:cNvSpPr/>
          <p:nvPr/>
        </p:nvSpPr>
        <p:spPr>
          <a:xfrm>
            <a:off x="4389120" y="3886200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895344"/>
            <a:ext cx="475488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867912"/>
            <a:ext cx="2834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Aptos"/>
              </a:rPr>
              <a:t>GenAI &amp; LLMs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297680"/>
            <a:ext cx="2880360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Tokens, transformers, embeddings, prompting and generation.</a:t>
            </a:r>
          </a:p>
        </p:txBody>
      </p:sp>
      <p:sp>
        <p:nvSpPr>
          <p:cNvPr id="26" name="Oval 25"/>
          <p:cNvSpPr/>
          <p:nvPr/>
        </p:nvSpPr>
        <p:spPr>
          <a:xfrm>
            <a:off x="8092440" y="3886200"/>
            <a:ext cx="475488" cy="47548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3895344"/>
            <a:ext cx="475488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19" y="3867912"/>
            <a:ext cx="2834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Aptos"/>
              </a:rPr>
              <a:t>AI / ML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19" y="4297680"/>
            <a:ext cx="2880360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Bias, drift, explainability, hallucination, security and governance.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03 • BRIEF HISTORY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From explicit rules to systems that learn representations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The evolution changes not only capability — it changes the risk surface.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240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267712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1950s–80s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97480"/>
            <a:ext cx="1920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Aptos"/>
              </a:rPr>
              <a:t>Symbolic / classical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310128"/>
            <a:ext cx="19202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Rules • search • expert systems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3108960"/>
            <a:ext cx="4572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20440" y="2057400"/>
            <a:ext cx="2240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267712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1990s–2010s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697480"/>
            <a:ext cx="1920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Aptos"/>
              </a:rPr>
              <a:t>Statistical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310128"/>
            <a:ext cx="19202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Features • probability • ensembles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06440" y="3108960"/>
            <a:ext cx="4572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55080" y="2057400"/>
            <a:ext cx="2240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267712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ptos"/>
              </a:rPr>
              <a:t>2010s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697480"/>
            <a:ext cx="1920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Aptos"/>
              </a:rPr>
              <a:t>Deep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310128"/>
            <a:ext cx="19202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Representation learning • GPUs • scale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41080" y="3108960"/>
            <a:ext cx="4572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89720" y="2057400"/>
            <a:ext cx="2240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2267712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Aptos"/>
              </a:rPr>
              <a:t>2020s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2697480"/>
            <a:ext cx="1920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Aptos"/>
              </a:rPr>
              <a:t>Foundation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2" y="3310128"/>
            <a:ext cx="19202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Transformers • pretraining • GenAI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09160"/>
            <a:ext cx="1060704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Aptos"/>
              </a:rPr>
              <a:t>Risk implication → As systems move from deterministic rules to learned representations and generative behavior, “why did it do that?” becomes harder to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04 • CLASSICAL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Classical AI: encode knowledge first, execute decisions second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Strong when the environment is structured, the rules are stable and the decision logic is explicit.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240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5029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037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87752"/>
            <a:ext cx="1965960" cy="8961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Facts / state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2834640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2057400"/>
            <a:ext cx="2240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2057400"/>
            <a:ext cx="50292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22037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587752"/>
            <a:ext cx="1965960" cy="8961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IF → THEN logic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2834640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2057400"/>
            <a:ext cx="2240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057400"/>
            <a:ext cx="50292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22037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587752"/>
            <a:ext cx="1965960" cy="8961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Evaluate options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49640" y="2834640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52559" y="2057400"/>
            <a:ext cx="2240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59" y="2057400"/>
            <a:ext cx="50292" cy="1554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1" y="22037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1" y="2587752"/>
            <a:ext cx="1965960" cy="8961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Decision / 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69080"/>
            <a:ext cx="5166360" cy="13258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069080"/>
            <a:ext cx="5029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215384"/>
            <a:ext cx="4892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Banking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599432"/>
            <a:ext cx="4892040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Credit policy engine: if bureau score &lt; threshold and delinquency flags exist → route to manual review.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4069080"/>
            <a:ext cx="5166360" cy="132588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4069080"/>
            <a:ext cx="5029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4215384"/>
            <a:ext cx="4892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Where it breaks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52" y="4599432"/>
            <a:ext cx="4892040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Rules can become brittle as customer behavior, products, regulations or fraud patterns change.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05 • CLASSICAL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Rule-based decisioning: a miniature credit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The advantage is transparency. The trade-off is rigidity.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0824"/>
            <a:ext cx="914400" cy="8961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645920" y="1828800"/>
            <a:ext cx="1097280" cy="64008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45920" y="2468880"/>
            <a:ext cx="1097280" cy="7772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325880"/>
            <a:ext cx="274320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325880"/>
            <a:ext cx="5029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1472184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Bureau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1856231"/>
            <a:ext cx="2468880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≥ 700?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743200"/>
            <a:ext cx="274320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2743200"/>
            <a:ext cx="50292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2889504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Delinquency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3273552"/>
            <a:ext cx="2468880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Any 30+ DPD?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77840" y="1901952"/>
            <a:ext cx="9144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77840" y="3319272"/>
            <a:ext cx="9144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83680" y="1325880"/>
            <a:ext cx="2103120" cy="1143000"/>
          </a:xfrm>
          <a:prstGeom prst="round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1325880"/>
            <a:ext cx="5029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1472184"/>
            <a:ext cx="182879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AUTO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1856231"/>
            <a:ext cx="1828799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Straight-through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2743200"/>
            <a:ext cx="2103120" cy="114300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2743200"/>
            <a:ext cx="5029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2889504"/>
            <a:ext cx="182879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3273552"/>
            <a:ext cx="1828799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Manual 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1965960"/>
            <a:ext cx="2240280" cy="182880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1120" y="1965960"/>
            <a:ext cx="50292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25712" y="211226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Risk lens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5712" y="2496312"/>
            <a:ext cx="1965960" cy="11704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Thresholds can be auditable, but they may encode outdated policy, create cliff effects and ignore interactions.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06 •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Neural networks: learn a mapping instead of writing every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Think of a network as a stack of transformations that learns useful representations from examples.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8288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37943"/>
            <a:ext cx="438912" cy="420623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7432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52344"/>
            <a:ext cx="438912" cy="420623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6576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66744"/>
            <a:ext cx="438912" cy="420623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45720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581144"/>
            <a:ext cx="438912" cy="420623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3749039" y="219456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203703"/>
            <a:ext cx="438912" cy="420623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3749039" y="306324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3072384"/>
            <a:ext cx="438912" cy="420623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3749039" y="393192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3941063"/>
            <a:ext cx="438912" cy="420623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246888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478024"/>
            <a:ext cx="438912" cy="420623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38328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392424"/>
            <a:ext cx="438912" cy="420623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429768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306824"/>
            <a:ext cx="438912" cy="420623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9235440" y="3017520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026663"/>
            <a:ext cx="438912" cy="420623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9235440" y="3840480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3849624"/>
            <a:ext cx="438912" cy="420623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444752" y="2048256"/>
            <a:ext cx="2304287" cy="365759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444752" y="2048256"/>
            <a:ext cx="2304287" cy="123444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44752" y="2048256"/>
            <a:ext cx="2304287" cy="210312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444752" y="2414015"/>
            <a:ext cx="2304287" cy="548641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444752" y="2962656"/>
            <a:ext cx="2304287" cy="32004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44752" y="2962656"/>
            <a:ext cx="2304287" cy="118872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444752" y="2414015"/>
            <a:ext cx="2304287" cy="1463041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444752" y="3282696"/>
            <a:ext cx="2304287" cy="59436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44752" y="3877056"/>
            <a:ext cx="2304287" cy="27432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444752" y="2414015"/>
            <a:ext cx="2304287" cy="2377441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444752" y="3282696"/>
            <a:ext cx="2304287" cy="150876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444752" y="4151376"/>
            <a:ext cx="2304287" cy="64008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87952" y="2414015"/>
            <a:ext cx="2304288" cy="274321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7952" y="2414015"/>
            <a:ext cx="2304288" cy="1188721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87952" y="2414015"/>
            <a:ext cx="2304288" cy="2103121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87952" y="2688336"/>
            <a:ext cx="2304288" cy="59436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187952" y="3282696"/>
            <a:ext cx="2304288" cy="32004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187952" y="3282696"/>
            <a:ext cx="2304288" cy="123444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87952" y="2688336"/>
            <a:ext cx="2304288" cy="146304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87952" y="3602736"/>
            <a:ext cx="2304288" cy="54864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187952" y="4151376"/>
            <a:ext cx="2304288" cy="36576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931152" y="2688336"/>
            <a:ext cx="2304288" cy="54864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931152" y="2688336"/>
            <a:ext cx="2304288" cy="137160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931152" y="3236976"/>
            <a:ext cx="2304288" cy="36576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931152" y="3602736"/>
            <a:ext cx="2304288" cy="45720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931152" y="3236976"/>
            <a:ext cx="2304288" cy="128016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931152" y="4059936"/>
            <a:ext cx="2304288" cy="45720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77240" y="5257800"/>
            <a:ext cx="2560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Aptos"/>
              </a:rPr>
              <a:t>INPUT FEATURES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66160" y="5257800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Aptos"/>
              </a:rPr>
              <a:t>HIDDEN REPRESENTATIONS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5257800"/>
            <a:ext cx="14630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Aptos"/>
              </a:rPr>
              <a:t>OUTPUT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0" y="1143000"/>
            <a:ext cx="3749039" cy="960120"/>
          </a:xfrm>
          <a:prstGeom prst="round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15200" y="1143000"/>
            <a:ext cx="50292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79792" y="1289304"/>
            <a:ext cx="3474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Risk use case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79792" y="1673352"/>
            <a:ext cx="347472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Learn nonlinear relationships among utilization, behavior, transactions and macro signals.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07 •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Training intuition: prediction → error → parameter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 network learns by repeatedly reducing a loss function on training examples.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01168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0824"/>
            <a:ext cx="594360" cy="5760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93392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Aptos"/>
              </a:rPr>
              <a:t>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77440"/>
            <a:ext cx="1828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ŷ = f(x; θ)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2331720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74720" y="201168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020824"/>
            <a:ext cx="594360" cy="5760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993392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Aptos"/>
              </a:rPr>
              <a:t>Measure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377440"/>
            <a:ext cx="1828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Loss(ŷ, y)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2331720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263640" y="2011680"/>
            <a:ext cx="594360" cy="5943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020824"/>
            <a:ext cx="594360" cy="5760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1993392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Aptos"/>
              </a:rPr>
              <a:t>Backpropagate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2377440"/>
            <a:ext cx="1828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Compute gradients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49640" y="2331720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052559" y="2011680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59" y="2020824"/>
            <a:ext cx="594360" cy="5760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993392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Aptos"/>
              </a:rPr>
              <a:t>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377440"/>
            <a:ext cx="1828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θ ← θ − η∇L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657600"/>
            <a:ext cx="3337560" cy="13258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657600"/>
            <a:ext cx="5029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3803904"/>
            <a:ext cx="3063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Credit-risk 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187952"/>
            <a:ext cx="3063240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The model adjusts parameters so predicted default probabilities better align with observed outcomes.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3657600"/>
            <a:ext cx="3337560" cy="132588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3657600"/>
            <a:ext cx="50292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1" y="3803904"/>
            <a:ext cx="3063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Validation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1" y="4187952"/>
            <a:ext cx="3063240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Does lower training loss translate into better out-of-sample discrimination and calibration?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657600"/>
            <a:ext cx="3337560" cy="132588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3657600"/>
            <a:ext cx="5029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803904"/>
            <a:ext cx="3063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Risk question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4187952"/>
            <a:ext cx="3063240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What happens when the data-generating process changes after deployment?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08 • MACHINE LEARNING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Three learning paradigms — three different risk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Choose the learning setup based on the decision problem, feedback loop and data-generating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429000" cy="31089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50292" cy="3108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2082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SUPERVISED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04872"/>
            <a:ext cx="3154680" cy="245059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Learn from labelled outcomes.
Examples
• PD / default prediction
• Fraud classification
• Loss forecasting
Key risk
Label leakage, imbalance, drift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74519"/>
            <a:ext cx="3429000" cy="310896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874519"/>
            <a:ext cx="50292" cy="3108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02082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UNSUPERVISED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404872"/>
            <a:ext cx="3154680" cy="245059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Find structure without a target.
Examples
• Customer segmentation
• Anomaly detection
• Behavioral clustering
Key risk
Patterns may be statistically real but commercially meaningless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874519"/>
            <a:ext cx="3429000" cy="3108960"/>
          </a:xfrm>
          <a:prstGeom prst="round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874519"/>
            <a:ext cx="50292" cy="3108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202082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REINFORCEMENT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404872"/>
            <a:ext cx="3154680" cy="245059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Learn actions from rewards / penalties.
Examples
• Dynamic optimization
• Resource allocation
• Sequential decisions
Key risk
Reward design can create unintended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10 • PRACTICAL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Credit default prediction: from probability to expected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 model output becomes financially meaningful only when combined with exposure and loss assumptions.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700" b="1">
                <a:solidFill>
                  <a:srgbClr val="0D1B2A"/>
                </a:solidFill>
                <a:latin typeface="Aptos"/>
              </a:rPr>
              <a:t>Expected Loss = PD × LGD × 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88920"/>
            <a:ext cx="3063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788920"/>
            <a:ext cx="5029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935224"/>
            <a:ext cx="2788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19272"/>
            <a:ext cx="27889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2.0%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944368"/>
            <a:ext cx="274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PD = 2.0%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566160"/>
            <a:ext cx="2743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Probability of default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88920"/>
            <a:ext cx="3063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788920"/>
            <a:ext cx="5029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2935224"/>
            <a:ext cx="2788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LGD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319272"/>
            <a:ext cx="27889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45%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944368"/>
            <a:ext cx="274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7C3AED"/>
                </a:solidFill>
                <a:latin typeface="Aptos"/>
              </a:rPr>
              <a:t>LGD = 45%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3566160"/>
            <a:ext cx="2743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Loss given default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788920"/>
            <a:ext cx="3063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788920"/>
            <a:ext cx="50292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935224"/>
            <a:ext cx="2788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319272"/>
            <a:ext cx="27889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₹10 crore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944368"/>
            <a:ext cx="274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D9488"/>
                </a:solidFill>
                <a:latin typeface="Aptos"/>
              </a:rPr>
              <a:t>EAD = ₹10 crore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3566160"/>
            <a:ext cx="2743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Exposure at default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09160"/>
            <a:ext cx="100584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Aptos"/>
              </a:rPr>
              <a:t>Calculation: 0.02 × 0.45 × ₹10 crore = ₹0.09 crore = ₹9 lakh expected loss.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321808"/>
            <a:ext cx="98755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Decision implication → Pricing, limit setting, provisioning and capital decisions should reflect both model output and model uncertainty.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11 • ML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How a production ML model is actually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 model is a lifecycle, not a notebook.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0574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66543"/>
            <a:ext cx="566928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43200"/>
            <a:ext cx="9601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  <a:latin typeface="Aptos"/>
              </a:rPr>
              <a:t>Business 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16152" y="2340864"/>
            <a:ext cx="932688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240280" y="2057400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2066543"/>
            <a:ext cx="566928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743200"/>
            <a:ext cx="9601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  <a:latin typeface="Aptos"/>
              </a:rPr>
              <a:t>Data &amp; labels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62072" y="2340864"/>
            <a:ext cx="932688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86200" y="2057400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2066543"/>
            <a:ext cx="566928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743200"/>
            <a:ext cx="9601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  <a:latin typeface="Aptos"/>
              </a:rPr>
              <a:t>Feature engineering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07992" y="2340864"/>
            <a:ext cx="932688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532120" y="2057400"/>
            <a:ext cx="566928" cy="5669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2066543"/>
            <a:ext cx="566928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743200"/>
            <a:ext cx="9601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  <a:latin typeface="Aptos"/>
              </a:rPr>
              <a:t>Train / tune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53912" y="2340864"/>
            <a:ext cx="932688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178040" y="2057400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066543"/>
            <a:ext cx="566928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743200"/>
            <a:ext cx="9601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  <a:latin typeface="Aptos"/>
              </a:rPr>
              <a:t>Validate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99832" y="2340864"/>
            <a:ext cx="932688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823960" y="205740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066543"/>
            <a:ext cx="566928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743200"/>
            <a:ext cx="9601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  <a:latin typeface="Aptos"/>
              </a:rPr>
              <a:t>Deploy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45752" y="2340864"/>
            <a:ext cx="932688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469880" y="2057400"/>
            <a:ext cx="566928" cy="5669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2066543"/>
            <a:ext cx="566928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2743200"/>
            <a:ext cx="9601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  <a:latin typeface="Aptos"/>
              </a:rPr>
              <a:t>Monitor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160520"/>
            <a:ext cx="3383280" cy="109728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160520"/>
            <a:ext cx="5029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4306824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Model risk hotspot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" y="4690872"/>
            <a:ext cx="31089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The same data can look excellent in development and fail in production if the sample, labels or environment change.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07408" y="4160520"/>
            <a:ext cx="3383280" cy="109728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07408" y="4160520"/>
            <a:ext cx="5029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4306824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Governance hotspot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690872"/>
            <a:ext cx="31089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Independent validation, approval authority, documentation and model inventory create accountability.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37575" y="4160520"/>
            <a:ext cx="3383280" cy="109728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7575" y="4160520"/>
            <a:ext cx="5029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02167" y="4306824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Business hotspot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2167" y="4690872"/>
            <a:ext cx="31089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 technically correct model can still be economically wrong if the threshold, cost function or workflow is wrong.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12 • GENAI &amp;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Generative AI changes the output: from scores to language, code, images and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Large language models learn statistical structure over tokens and generate the next token repeatedly.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5029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203704"/>
            <a:ext cx="169163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587752"/>
            <a:ext cx="1691639" cy="9418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Large-scale text / code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50592" y="2852928"/>
            <a:ext cx="274320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205740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2057400"/>
            <a:ext cx="50292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203704"/>
            <a:ext cx="169163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TOKENIZE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587752"/>
            <a:ext cx="1691639" cy="9418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Text → tokens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82312" y="2852928"/>
            <a:ext cx="274319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20640" y="205740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2057400"/>
            <a:ext cx="50292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1" y="2203704"/>
            <a:ext cx="169163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TRANSFORMER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1" y="2587752"/>
            <a:ext cx="1691639" cy="9418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Contextual representations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14031" y="2852928"/>
            <a:ext cx="274321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52359" y="205740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59" y="2057400"/>
            <a:ext cx="50292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1" y="2203704"/>
            <a:ext cx="169163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GENERATE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1" y="2587752"/>
            <a:ext cx="1691639" cy="9418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Next-token probabilities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45751" y="2852928"/>
            <a:ext cx="274321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84080" y="2057400"/>
            <a:ext cx="1965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2057400"/>
            <a:ext cx="5029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2203704"/>
            <a:ext cx="169163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2587752"/>
            <a:ext cx="1691639" cy="9418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Text / code /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51960"/>
            <a:ext cx="1060704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Aptos"/>
              </a:rPr>
              <a:t>Key distinction → A conventional ML model often predicts a label or value. An LLM can generate plausible content — including plausible but incorrect content.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13 • LLM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Transformer + attention: why context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Attention lets a token representation incorporate information from other relevant tokens in the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932688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11095"/>
            <a:ext cx="93268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0D1B2A"/>
                </a:solidFill>
                <a:latin typeface="Aptos"/>
              </a:rPr>
              <a:t>Bank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09928" y="1828800"/>
            <a:ext cx="932688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9928" y="1911095"/>
            <a:ext cx="93268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0D1B2A"/>
                </a:solidFill>
                <a:latin typeface="Aptos"/>
              </a:rPr>
              <a:t>reviews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5496" y="1828800"/>
            <a:ext cx="932688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5496" y="1911095"/>
            <a:ext cx="93268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0D1B2A"/>
                </a:solidFill>
                <a:latin typeface="Aptos"/>
              </a:rPr>
              <a:t>the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41064" y="1828800"/>
            <a:ext cx="932688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41064" y="1911095"/>
            <a:ext cx="93268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Aptos"/>
              </a:rPr>
              <a:t>borrower’s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6632" y="1828800"/>
            <a:ext cx="932688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2" y="1911095"/>
            <a:ext cx="93268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Aptos"/>
              </a:rPr>
              <a:t>cash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828800"/>
            <a:ext cx="932688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911095"/>
            <a:ext cx="93268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Aptos"/>
              </a:rPr>
              <a:t>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7768" y="1828800"/>
            <a:ext cx="932688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7768" y="1911095"/>
            <a:ext cx="93268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0D1B2A"/>
                </a:solidFill>
                <a:latin typeface="Aptos"/>
              </a:rPr>
              <a:t>before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03336" y="1828800"/>
            <a:ext cx="932688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3336" y="1911095"/>
            <a:ext cx="93268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0D1B2A"/>
                </a:solidFill>
                <a:latin typeface="Aptos"/>
              </a:rPr>
              <a:t>renewing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18904" y="1828800"/>
            <a:ext cx="932688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18904" y="1911095"/>
            <a:ext cx="93268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0D1B2A"/>
                </a:solidFill>
                <a:latin typeface="Aptos"/>
              </a:rPr>
              <a:t>the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34472" y="1828800"/>
            <a:ext cx="932688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34472" y="1911095"/>
            <a:ext cx="93268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0D1B2A"/>
                </a:solidFill>
                <a:latin typeface="Aptos"/>
              </a:rPr>
              <a:t>facility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98264" y="2395728"/>
            <a:ext cx="310896" cy="758952"/>
          </a:xfrm>
          <a:prstGeom prst="line">
            <a:avLst/>
          </a:prstGeom>
          <a:ln w="152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709160" y="2395728"/>
            <a:ext cx="804671" cy="758952"/>
          </a:xfrm>
          <a:prstGeom prst="line">
            <a:avLst/>
          </a:prstGeom>
          <a:ln w="152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4709160" y="2395728"/>
            <a:ext cx="1920240" cy="758952"/>
          </a:xfrm>
          <a:prstGeom prst="line">
            <a:avLst/>
          </a:prstGeom>
          <a:ln w="152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480560" y="2926080"/>
            <a:ext cx="1005840" cy="10058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2935224"/>
            <a:ext cx="1005840" cy="9875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CASH
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920240"/>
            <a:ext cx="4572000" cy="228600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1920240"/>
            <a:ext cx="50292" cy="228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2066544"/>
            <a:ext cx="4297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Risk perspective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2450592"/>
            <a:ext cx="4297680" cy="1627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If the context is incomplete, ambiguous or adversarial, generation quality can degrade. The model’s confidence in a fluent sentence is not the same as factual certainty.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00600"/>
            <a:ext cx="105156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  <a:latin typeface="Aptos"/>
              </a:rPr>
              <a:t>Banking example → An LLM can summarize a credit memo, extract covenant terms or draft an analyst note — but source verification remains essential.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14 • GENAI IN 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Where GenAI can create value across the banking value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Use cases vary in risk because the consequence of an error varies.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5029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7510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Front office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59152"/>
            <a:ext cx="3154680" cy="10332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Meeting summaries
Relationship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3090672"/>
            <a:ext cx="109728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108960"/>
            <a:ext cx="1097280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Low → Medium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50292" cy="1691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97510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Credit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359152"/>
            <a:ext cx="3154680" cy="10332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Memo summarization
Document extraction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53712" y="3090672"/>
            <a:ext cx="109728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108960"/>
            <a:ext cx="1097280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8288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828800"/>
            <a:ext cx="5029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197510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359152"/>
            <a:ext cx="3154680" cy="10332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Policy Q&amp;A
Regulatory research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3090672"/>
            <a:ext cx="109728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3108960"/>
            <a:ext cx="1097280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Medium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8862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886200"/>
            <a:ext cx="50292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03250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416552"/>
            <a:ext cx="3154680" cy="10332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Case triage
Workflow assistance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" y="5148072"/>
            <a:ext cx="109728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5166359"/>
            <a:ext cx="1097280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Medium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8862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886200"/>
            <a:ext cx="50292" cy="1691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03250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Finance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4416552"/>
            <a:ext cx="3154680" cy="10332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Management commentary
Variance narratives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53712" y="5148072"/>
            <a:ext cx="109728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53712" y="5166359"/>
            <a:ext cx="1097280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Medium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38862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80" y="3886200"/>
            <a:ext cx="50292" cy="1691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2" y="403250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Customer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2" y="4416552"/>
            <a:ext cx="3154680" cy="10332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Conversational service
Personalized guidance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48472" y="5148072"/>
            <a:ext cx="1097280" cy="310896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48472" y="5166359"/>
            <a:ext cx="1097280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59E0B"/>
                </a:solidFill>
                <a:latin typeface="Aptos"/>
              </a:rPr>
              <a:t>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15 • AI / ML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The AI risk taxonomy: six families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Risk is broader than “the model is inaccurate.”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029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97510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59152"/>
            <a:ext cx="3154680" cy="9875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Quality • representativeness • lineage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5029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97510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59152"/>
            <a:ext cx="3154680" cy="9875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Performance • stability • specification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50292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97510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359152"/>
            <a:ext cx="3154680" cy="9875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Interpretability • traceability • rationale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5029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403250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Human / 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416552"/>
            <a:ext cx="3154680" cy="9875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Over-reliance • incentives •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8862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886200"/>
            <a:ext cx="50292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403250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Technology /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416552"/>
            <a:ext cx="3154680" cy="9875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Prompt injection • leakage • adversarial use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862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886200"/>
            <a:ext cx="50292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4032504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Third-party / ecosystem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416552"/>
            <a:ext cx="3154680" cy="9875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Vendor dependency • concentration •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080760"/>
            <a:ext cx="104241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475569"/>
                </a:solidFill>
                <a:latin typeface="Aptos"/>
              </a:rPr>
              <a:t>Executive lens → classify the risk by failure mode, impact, detectability, controllability and affected population.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16 • RISK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Bias is a data + model + process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 model can be mathematically consistent and still produce systematically different outcomes across groups.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389120" cy="17373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5029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75104"/>
            <a:ext cx="4114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Group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359152"/>
            <a:ext cx="4114800" cy="10789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Applicants: 1,000
Approved: 60
Approval rate: 60%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828800"/>
            <a:ext cx="4389120" cy="173736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5029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1" y="1975104"/>
            <a:ext cx="4114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Group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2359152"/>
            <a:ext cx="4114800" cy="10789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Applicants: 1,000
Approved: 40
Approval rate: 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1024128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  <a:latin typeface="Aptos"/>
              </a:rPr>
              <a:t>Illustrative only: if approval rates differ materially, the analyst should investigate whether the difference reflects legitimate risk factors, historical labels, feature design, thresholding or process effects.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983480"/>
            <a:ext cx="3108960" cy="91440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4983480"/>
            <a:ext cx="50292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6151" y="5129784"/>
            <a:ext cx="2834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Red flag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1" y="5513832"/>
            <a:ext cx="28346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“The model is unbiased because AUC is high.”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4983480"/>
            <a:ext cx="3108960" cy="914400"/>
          </a:xfrm>
          <a:prstGeom prst="round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4983480"/>
            <a:ext cx="50292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5129784"/>
            <a:ext cx="2834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Better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5513832"/>
            <a:ext cx="28346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Which populations, features and outcomes are driving the difference?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4983480"/>
            <a:ext cx="310896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4983480"/>
            <a:ext cx="5029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5129784"/>
            <a:ext cx="2834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5513832"/>
            <a:ext cx="28346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Segmented monitoring + documented rationale + human review where appropriate.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17 • RISK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Drift: when yesterday’s model meets tomorrow’s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Performance can deteriorate even when the code has not changed.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828800"/>
          <a:ext cx="55778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0" y="1828800"/>
            <a:ext cx="4892040" cy="132588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828800"/>
            <a:ext cx="5029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975104"/>
            <a:ext cx="4617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Illustrative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59152"/>
            <a:ext cx="4617720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AUC falls from 0.82 to 0.70 after a portfolio mix shift. The model was unchanged; the environment was not.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383280"/>
            <a:ext cx="4892040" cy="1325880"/>
          </a:xfrm>
          <a:prstGeom prst="round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3383280"/>
            <a:ext cx="5029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3529584"/>
            <a:ext cx="4617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What to 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3913632"/>
            <a:ext cx="4617720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Population stability • feature distributions • missingness • calibration • segment performance • business 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937760"/>
            <a:ext cx="4892040" cy="91440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4937760"/>
            <a:ext cx="5029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5084064"/>
            <a:ext cx="4617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5468112"/>
            <a:ext cx="46177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Trigger investigation before blindly recalibrating or rebuilding.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18 • RISK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GenAI-specific risk: fluent ≠ factual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 generated answer can be linguistically polished while being unsupported or wrong.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965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029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066544"/>
            <a:ext cx="169163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450592"/>
            <a:ext cx="1691639" cy="1261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What is the question?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33472" y="2880360"/>
            <a:ext cx="228600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920240"/>
            <a:ext cx="1965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1920240"/>
            <a:ext cx="50292" cy="1920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2066544"/>
            <a:ext cx="169163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450592"/>
            <a:ext cx="1691639" cy="1261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What evidence is available?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19472" y="2880360"/>
            <a:ext cx="228600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12080" y="1920240"/>
            <a:ext cx="1965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0" y="1920240"/>
            <a:ext cx="50292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6672" y="2066544"/>
            <a:ext cx="169163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2450592"/>
            <a:ext cx="1691639" cy="1261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What does the model produce?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05472" y="2880360"/>
            <a:ext cx="228600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1920240"/>
            <a:ext cx="1965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1920240"/>
            <a:ext cx="50292" cy="1920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2066544"/>
            <a:ext cx="169163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2450592"/>
            <a:ext cx="1691639" cy="1261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Can a source / rule validate it?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91472" y="2880360"/>
            <a:ext cx="228600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84080" y="1920240"/>
            <a:ext cx="1965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1920240"/>
            <a:ext cx="50292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2066544"/>
            <a:ext cx="169163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2450592"/>
            <a:ext cx="1691639" cy="1261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Who owns the outcome?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43400"/>
            <a:ext cx="1056132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Aptos"/>
              </a:rPr>
              <a:t>Example: an analyst asks an LLM to summarize a borrower’s covenant package. A missing document can lead to a plausible but incomplete summary.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5166360"/>
            <a:ext cx="3429000" cy="310896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5184648"/>
            <a:ext cx="3429000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CONTROL: SOURCE + VERIFY + TRACE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19 • CASE STUDY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Illustrative credit underwriting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Objective: reduce analyst effort without allowing the LLM to become the credit decision-maker.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166360" cy="3246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0292" cy="32461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975104"/>
            <a:ext cx="4892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59152"/>
            <a:ext cx="4892040" cy="2587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1. Collect financial statements
2. Search emails / documents
3. Extract covenants
4. Build summary
5. Analyst reviews
Illustrative effort: 120 minutes /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166360" cy="3246120"/>
          </a:xfrm>
          <a:prstGeom prst="round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50292" cy="3246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975104"/>
            <a:ext cx="4892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WITH AI ASSISTANCE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359152"/>
            <a:ext cx="4892040" cy="2587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1. Retrieve approved sources
2. Extract key fields
3. Draft summary with citations
4. Flag missing / conflicting data
5. Analyst validates + signs off
Illustrative effort: 55 minutes /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24128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Aptos"/>
              </a:rPr>
              <a:t>Illustrative calculation → 120 → 55 minutes = 65 minutes saved, or ~54% reduction in preparation time. The control objective is unchanged: accountable human approval.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20 • CASE STUDY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Illustrative fraud detection: accuracy is not the whole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Rare-event problems make class imbalance and decision costs central to model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Aptos"/>
              </a:rPr>
              <a:t>Illustrative portfolio: 100,000 transactions • 1,000 frauds • fraud rate = 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606040"/>
            <a:ext cx="205740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1952" y="2715768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TRUE
NEGATIVE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3081528"/>
            <a:ext cx="1920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B2631"/>
                </a:solidFill>
                <a:latin typeface="Aptos"/>
              </a:rPr>
              <a:t>98,000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606040"/>
            <a:ext cx="2057400" cy="91440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2715768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FALSE
POSITIVE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3081528"/>
            <a:ext cx="1920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B2631"/>
                </a:solidFill>
                <a:latin typeface="Aptos"/>
              </a:rPr>
              <a:t>1,000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749039"/>
            <a:ext cx="2057400" cy="91440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01952" y="3858768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FALSE
NEGATIVE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1952" y="4224527"/>
            <a:ext cx="1920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B2631"/>
                </a:solidFill>
                <a:latin typeface="Aptos"/>
              </a:rPr>
              <a:t>500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749039"/>
            <a:ext cx="2057400" cy="914400"/>
          </a:xfrm>
          <a:prstGeom prst="round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2" y="3858768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TRUE
POSITIVE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224527"/>
            <a:ext cx="1920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B2631"/>
                </a:solidFill>
                <a:latin typeface="Aptos"/>
              </a:rPr>
              <a:t>500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2560320"/>
            <a:ext cx="4251960" cy="10515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2560320"/>
            <a:ext cx="5029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68312" y="2706624"/>
            <a:ext cx="3977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Recall = TP / (TP + FN)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3090672"/>
            <a:ext cx="3977640" cy="39319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500 / 1,000 = 50% fraud recall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3794760"/>
            <a:ext cx="4251960" cy="105156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3720" y="3794760"/>
            <a:ext cx="5029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68312" y="3941064"/>
            <a:ext cx="3977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Precision = TP / (TP + FP)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4325112"/>
            <a:ext cx="3977640" cy="39319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500 / 1,500 = 33.3%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120640"/>
            <a:ext cx="42519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Aptos"/>
              </a:rPr>
              <a:t>Decision implication → choose thresholds using business costs, customer friction and fraud loss — not accuracy alone.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21 •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AI governance: controls should follow the risk, not the hype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 practical control stack links ownership, validation, deployment and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10424160" cy="612648"/>
          </a:xfrm>
          <a:prstGeom prst="roundRect">
            <a:avLst/>
          </a:prstGeom>
          <a:solidFill>
            <a:srgbClr val="0D1B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37943"/>
            <a:ext cx="2194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1. ACCOUNTABILITY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837943"/>
            <a:ext cx="7680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Named owner • approval authority • escalation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2514600"/>
            <a:ext cx="10094976" cy="61264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15184"/>
            <a:ext cx="2194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2. DATA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615184"/>
            <a:ext cx="73517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Lineage • quality • access • privacy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97864" y="3291839"/>
            <a:ext cx="9765792" cy="61264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6464" y="3392423"/>
            <a:ext cx="2194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3. MODEL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392423"/>
            <a:ext cx="702259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Validation • performance • explainability • limitations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62456" y="4069079"/>
            <a:ext cx="9436608" cy="61264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91056" y="4169663"/>
            <a:ext cx="2194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ptos"/>
              </a:rPr>
              <a:t>4. DEPLOYMENT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4169663"/>
            <a:ext cx="669340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Versioning • testing • human override • logging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27048" y="4846320"/>
            <a:ext cx="9107424" cy="61264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55648" y="4946904"/>
            <a:ext cx="2194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Aptos"/>
              </a:rPr>
              <a:t>5.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1648" y="4946904"/>
            <a:ext cx="636422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Drift • incidents • outcomes • periodic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97880"/>
            <a:ext cx="102412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0D1B2A"/>
                </a:solidFill>
                <a:latin typeface="Aptos"/>
              </a:rPr>
              <a:t>Core principle: independent challenge is strongest when the person who builds the model is not the only person deciding whether it is fit for 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22 • EXECUTIVE 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Before approving an AI use case, ask five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 compact checklist for CRO, CFO, business owner, model risk and internal audit.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8288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37943"/>
            <a:ext cx="566928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1965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  <a:latin typeface="Aptos"/>
              </a:rPr>
              <a:t>What decision?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196596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What action changes because of the model?</a:t>
            </a:r>
          </a:p>
        </p:txBody>
      </p:sp>
      <p:sp>
        <p:nvSpPr>
          <p:cNvPr id="10" name="Oval 9"/>
          <p:cNvSpPr/>
          <p:nvPr/>
        </p:nvSpPr>
        <p:spPr>
          <a:xfrm>
            <a:off x="2926079" y="1828800"/>
            <a:ext cx="566928" cy="5669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79" y="1837943"/>
            <a:ext cx="566928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2606040"/>
            <a:ext cx="1965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  <a:latin typeface="Aptos"/>
              </a:rPr>
              <a:t>What harm?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3063240"/>
            <a:ext cx="196596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What happens if the output is wrong?</a:t>
            </a:r>
          </a:p>
        </p:txBody>
      </p:sp>
      <p:sp>
        <p:nvSpPr>
          <p:cNvPr id="14" name="Oval 13"/>
          <p:cNvSpPr/>
          <p:nvPr/>
        </p:nvSpPr>
        <p:spPr>
          <a:xfrm>
            <a:off x="5257800" y="1828800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837943"/>
            <a:ext cx="566928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606040"/>
            <a:ext cx="1965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  <a:latin typeface="Aptos"/>
              </a:rPr>
              <a:t>What evidence?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063240"/>
            <a:ext cx="196596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Can we trace data, assumptions and sources?</a:t>
            </a:r>
          </a:p>
        </p:txBody>
      </p:sp>
      <p:sp>
        <p:nvSpPr>
          <p:cNvPr id="18" name="Oval 17"/>
          <p:cNvSpPr/>
          <p:nvPr/>
        </p:nvSpPr>
        <p:spPr>
          <a:xfrm>
            <a:off x="7589519" y="1828800"/>
            <a:ext cx="566928" cy="5669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1837943"/>
            <a:ext cx="566928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606040"/>
            <a:ext cx="1965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  <a:latin typeface="Aptos"/>
              </a:rPr>
              <a:t>What control?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3063240"/>
            <a:ext cx="196596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Who reviews, overrides, monitors and approves?</a:t>
            </a:r>
          </a:p>
        </p:txBody>
      </p:sp>
      <p:sp>
        <p:nvSpPr>
          <p:cNvPr id="22" name="Oval 21"/>
          <p:cNvSpPr/>
          <p:nvPr/>
        </p:nvSpPr>
        <p:spPr>
          <a:xfrm>
            <a:off x="9921240" y="182880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1837943"/>
            <a:ext cx="566928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606040"/>
            <a:ext cx="1965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  <a:latin typeface="Aptos"/>
              </a:rPr>
              <a:t>What trigger?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3063240"/>
            <a:ext cx="196596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When do we stop, recalibrate or retire it?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4572000"/>
            <a:ext cx="10058400" cy="914400"/>
          </a:xfrm>
          <a:prstGeom prst="roundRect">
            <a:avLst/>
          </a:prstGeom>
          <a:solidFill>
            <a:srgbClr val="0D1B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" y="4572000"/>
            <a:ext cx="5029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6151" y="4718304"/>
            <a:ext cx="9784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Boardroom 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1" y="5102352"/>
            <a:ext cx="97840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AI adoption should be governed as a business change with model, data, technology, conduct and operational consequences.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23 • RED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Aptos"/>
              </a:rPr>
              <a:t>The mistakes that repeatedly create AI / ML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Use these as prompts during development, validation and production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0292" cy="1691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2938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Data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13432"/>
            <a:ext cx="2240280" cy="10332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Aptos"/>
              </a:rPr>
              <a:t>Using information unavailable at decision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830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783080"/>
            <a:ext cx="50292" cy="1691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92938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Overfitting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313432"/>
            <a:ext cx="2240280" cy="10332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Aptos"/>
              </a:rPr>
              <a:t>Excellent development metrics, weak generalization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783080"/>
            <a:ext cx="50292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92938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Proxy variables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313432"/>
            <a:ext cx="2240280" cy="10332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Aptos"/>
              </a:rPr>
              <a:t>Sensitive outcomes reproduced through indirect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7830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783080"/>
            <a:ext cx="5029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192938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Automation bias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313432"/>
            <a:ext cx="2240280" cy="10332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Aptos"/>
              </a:rPr>
              <a:t>Humans accept outputs without challenge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404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840480"/>
            <a:ext cx="50292" cy="1691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98678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Hallucination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370832"/>
            <a:ext cx="2240280" cy="10332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Aptos"/>
              </a:rPr>
              <a:t>Plausible generated content lacks factual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38404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3840480"/>
            <a:ext cx="5029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2" y="398678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Drift blindness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3592" y="4370832"/>
            <a:ext cx="2240280" cy="10332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Aptos"/>
              </a:rPr>
              <a:t>No trigger when population or behavior changes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8404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840480"/>
            <a:ext cx="50292" cy="1691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398678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Metric tunnel vision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370832"/>
            <a:ext cx="2240280" cy="10332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Aptos"/>
              </a:rPr>
              <a:t>Optimizing AUC / accuracy while ignoring economics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384048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3840480"/>
            <a:ext cx="50292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2872" y="398678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Vendor opacity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2872" y="4370832"/>
            <a:ext cx="2240280" cy="10332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Aptos"/>
              </a:rPr>
              <a:t>Limited visibility into model, data or changes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Aptos"/>
              </a:rPr>
              <a:t>MODULE 1 •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60704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Six ideas to carry into the rest of the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46120" cy="1234440"/>
          </a:xfrm>
          <a:prstGeom prst="roundRect">
            <a:avLst/>
          </a:prstGeom>
          <a:solidFill>
            <a:srgbClr val="14283A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76272"/>
            <a:ext cx="2834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AI evolves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60320"/>
            <a:ext cx="28346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Aptos"/>
              </a:rPr>
              <a:t>Rules → ML → deep learning → foundation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11680"/>
            <a:ext cx="3246120" cy="1234440"/>
          </a:xfrm>
          <a:prstGeom prst="roundRect">
            <a:avLst/>
          </a:prstGeom>
          <a:solidFill>
            <a:srgbClr val="14283A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2176272"/>
            <a:ext cx="2834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ptos"/>
              </a:rPr>
              <a:t>ML predicts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560320"/>
            <a:ext cx="28346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Aptos"/>
              </a:rPr>
              <a:t>Performance must be tested out-of-sample and in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246120" cy="1234440"/>
          </a:xfrm>
          <a:prstGeom prst="roundRect">
            <a:avLst/>
          </a:prstGeom>
          <a:solidFill>
            <a:srgbClr val="14283A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176272"/>
            <a:ext cx="2834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Aptos"/>
              </a:rPr>
              <a:t>GenAI generates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560320"/>
            <a:ext cx="28346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Aptos"/>
              </a:rPr>
              <a:t>Fluency is not evidence; retrieval and verification matter.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3246120" cy="1234440"/>
          </a:xfrm>
          <a:prstGeom prst="roundRect">
            <a:avLst/>
          </a:prstGeom>
          <a:solidFill>
            <a:srgbClr val="14283A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776472"/>
            <a:ext cx="2834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Risk is multidimensional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160520"/>
            <a:ext cx="28346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Aptos"/>
              </a:rPr>
              <a:t>Data, model, process, technology and ecosystem all matter.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611880"/>
            <a:ext cx="3246120" cy="1234440"/>
          </a:xfrm>
          <a:prstGeom prst="roundRect">
            <a:avLst/>
          </a:prstGeom>
          <a:solidFill>
            <a:srgbClr val="14283A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3776472"/>
            <a:ext cx="2834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Context changes the economics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4160520"/>
            <a:ext cx="28346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Aptos"/>
              </a:rPr>
              <a:t>Thresholds, costs, customer impact and controls shape outcomes.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611880"/>
            <a:ext cx="3246120" cy="1234440"/>
          </a:xfrm>
          <a:prstGeom prst="roundRect">
            <a:avLst/>
          </a:prstGeom>
          <a:solidFill>
            <a:srgbClr val="14283A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3776472"/>
            <a:ext cx="2834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Aptos"/>
              </a:rPr>
              <a:t>Governance is part of the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4160520"/>
            <a:ext cx="28346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Aptos"/>
              </a:rPr>
              <a:t>Ownership, independent challenge and monitoring enable safe use.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Aptos"/>
              </a:rPr>
              <a:t>NEXT MODULE → go deeper into AI/ML methods, model development and risk management in financial institutions.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25 • REAL BANK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D1B2A"/>
                </a:solidFill>
                <a:latin typeface="Aptos"/>
              </a:rPr>
              <a:t>AI in production: what banks are actually doing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938528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Five documented examples connect the module’s concepts to live banking workflows — from document intelligence and financial crime to GenAI and agentic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907792"/>
            <a:ext cx="10652760" cy="141732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821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THE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3108960"/>
            <a:ext cx="8366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Aptos"/>
              </a:rPr>
              <a:t>AI creates value when it is embedded inside a controlled workflow — with defined data, decision rights, monitoring and human accountability.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Use the cases as “how it works in a bank”, not as a claim that the same architecture fits every institution.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492240"/>
            <a:ext cx="6949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49224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60" b="0">
                <a:solidFill>
                  <a:srgbClr val="64748B"/>
                </a:solidFill>
                <a:latin typeface="Aptos"/>
              </a:rPr>
              <a:t>SOURCE • JPMorganChase • HSBC • Bank of America • DBS • Lloyds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26 • REAL BANK CASE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B2A"/>
                </a:solidFill>
                <a:latin typeface="Aptos"/>
              </a:rPr>
              <a:t>JPMorganChase: document intelligence → KYC → fraud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 single bank shows the progression from ML automation to enterprise AI risk controls.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01952"/>
            <a:ext cx="342900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66544"/>
            <a:ext cx="3026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COiN • contract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450592"/>
            <a:ext cx="3026664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JPMorganChase reported that COiN used unsupervised ML to extract 150 relevant attributes from 12,000 annual commercial credit agreements in seconds, versus as many as 360,000 hours of manual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1487" y="2048256"/>
            <a:ext cx="107899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2066544"/>
            <a:ext cx="1024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901952"/>
            <a:ext cx="342900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2066544"/>
            <a:ext cx="3026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KYC • process economics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450592"/>
            <a:ext cx="3026664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In its 2024 annual report, JPMorganChase said AI/ML improved KYC processes, reducing unit costs by nearly 40%; it also reported improvements in sanctions screening and fraud protection.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2048256"/>
            <a:ext cx="1078992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066544"/>
            <a:ext cx="1024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901952"/>
            <a:ext cx="342900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2066544"/>
            <a:ext cx="3026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Fraud • decisioning at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2450592"/>
            <a:ext cx="3026664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The bank has described AI/ML use across fraud, credit risk, payments, customer service and personalization — showing how models move from analytics into operational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2048256"/>
            <a:ext cx="1078992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94392" y="2066544"/>
            <a:ext cx="1024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RISK LESSON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84648"/>
            <a:ext cx="9235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Automation is not the control. The control is the surrounding workflow: approved data, model validation, exception handling, auditability and accountable owners.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92240"/>
            <a:ext cx="6949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649224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60" b="0">
                <a:solidFill>
                  <a:srgbClr val="64748B"/>
                </a:solidFill>
                <a:latin typeface="Aptos"/>
              </a:rPr>
              <a:t>SOURCE • JPMorganChase Annual Report 2016; Annual Report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27 • REAL BANK CASE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B2A"/>
                </a:solidFill>
                <a:latin typeface="Aptos"/>
              </a:rPr>
              <a:t>HSBC: AI for financial-crime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 practical example of AI addressing false positives, scale and investigation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47088"/>
            <a:ext cx="2743200" cy="31546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0D1B2A"/>
                </a:solidFill>
                <a:latin typeface="Aptos"/>
              </a:rPr>
              <a:t>≈980M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52928"/>
            <a:ext cx="2194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transactions monitored each month for signs of financial crime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9312" y="1847088"/>
            <a:ext cx="2743200" cy="31546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95344" y="2212848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0D1B2A"/>
                </a:solidFill>
                <a:latin typeface="Aptos"/>
              </a:rPr>
              <a:t>2–4×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77056" y="2852928"/>
            <a:ext cx="226771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more financial crime identified versus the prior approach, according to HSBC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0256" y="1847088"/>
            <a:ext cx="2743200" cy="31546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2212848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0D1B2A"/>
                </a:solidFill>
                <a:latin typeface="Aptos"/>
              </a:rPr>
              <a:t>−60%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852928"/>
            <a:ext cx="226771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false-positive cases reported after deploying its Dynamic Risk Assessment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847088"/>
            <a:ext cx="1874519" cy="31546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33172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WEEKS →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999232"/>
            <a:ext cx="1508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analysis time for billions of 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30952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CONTROL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5257800"/>
            <a:ext cx="9144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The objective is not simply “more alerts”. Better detection must be paired with lower false positives, explainable investigation signals and responsible-use governance.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92240"/>
            <a:ext cx="6949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649224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60" b="0">
                <a:solidFill>
                  <a:srgbClr val="64748B"/>
                </a:solidFill>
                <a:latin typeface="Aptos"/>
              </a:rPr>
              <a:t>SOURCE • HSBC, Fighting Financial Crime / 2024 AI article; updated technology page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28 • REAL BANK CASE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B2A"/>
                </a:solidFill>
                <a:latin typeface="Aptos"/>
              </a:rPr>
              <a:t>Bank of America: Erica turns AI into a customer-service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 GenAI-adjacent lesson: conversational AI becomes high-risk when it can influence or execute customer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42900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39112"/>
            <a:ext cx="3026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423160"/>
            <a:ext cx="3026664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By March 2026, Bank of America reported more than 3.2 billion Erica interactions since launch. The assistant supports everyday banking and financial guidance across its digital channels.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1487" y="2020824"/>
            <a:ext cx="107899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2039112"/>
            <a:ext cx="1024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3.2B+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874519"/>
            <a:ext cx="342900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2039112"/>
            <a:ext cx="3026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423160"/>
            <a:ext cx="3026664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Account information, transactions, money transfers, bill pay, spending insights, subscriptions and proactive financial alerts are among the documented capabilities.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2020824"/>
            <a:ext cx="1078992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039112"/>
            <a:ext cx="1024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874519"/>
            <a:ext cx="342900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2039112"/>
            <a:ext cx="3026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Risk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2423160"/>
            <a:ext cx="3026664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BofA states that AI use includes human oversight, transparency and accountability. Its service terms also caution customers not to share sensitive information such as PINs or SSNs with Erica.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2020824"/>
            <a:ext cx="1078992" cy="2560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94392" y="2039112"/>
            <a:ext cx="1024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66944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MODULE CONNECTION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193792"/>
            <a:ext cx="8915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This is the “fluent ≠ factual” lesson in production: retrieval, identity, authorization, transaction controls and escalation matter as much as language quality.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92240"/>
            <a:ext cx="6949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649224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60" b="0">
                <a:solidFill>
                  <a:srgbClr val="64748B"/>
                </a:solidFill>
                <a:latin typeface="Aptos"/>
              </a:rPr>
              <a:t>SOURCE • Bank of America newsroom, 2026; Online Banking Service Agreement,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29 • REAL BANK CASE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B2A"/>
                </a:solidFill>
                <a:latin typeface="Aptos"/>
              </a:rPr>
              <a:t>DBS: industrialising AI — including AI for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DBS provides a useful example of moving from isolated models to a governed enterprise portfolio.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42900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39112"/>
            <a:ext cx="3026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Portfolio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423160"/>
            <a:ext cx="3026664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In 2024, DBS reported more than 1,500 models across 370+ use cases and more than SGD 750 million of economic value from data analytics and AI/ML.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1487" y="2020824"/>
            <a:ext cx="107899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2039112"/>
            <a:ext cx="1024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1,500+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874519"/>
            <a:ext cx="342900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2039112"/>
            <a:ext cx="3026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Risk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423160"/>
            <a:ext cx="3026664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AI-powered change-risk scoring was expanded to assess 100% of change requests, compared with 5% previously; DBS reported an 81% decrease in average monthly incidents caused by change requests.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2020824"/>
            <a:ext cx="1078992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039112"/>
            <a:ext cx="1024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874519"/>
            <a:ext cx="342900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2039112"/>
            <a:ext cx="3026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Financial crime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2423160"/>
            <a:ext cx="3026664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DBS says network-graph analysis is used to identify potentially fraudulent credit applicants, while GenAI copilots support risk professionals and workflows such as debt collections.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2020824"/>
            <a:ext cx="1078992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94392" y="2039112"/>
            <a:ext cx="1024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GRAPH + GENAI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66944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GOVERNANCE LESSON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5193792"/>
            <a:ext cx="86410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At scale, model risk becomes portfolio risk: inventory, ownership, standards, monitoring and responsible-use assessment must operate across hundreds of use cases.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92240"/>
            <a:ext cx="6949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649224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60" b="0">
                <a:solidFill>
                  <a:srgbClr val="64748B"/>
                </a:solidFill>
                <a:latin typeface="Aptos"/>
              </a:rPr>
              <a:t>SOURCE • DBS Annual Report 2024; CRO Statement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30 • REAL BANK CASE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B2A"/>
                </a:solidFill>
                <a:latin typeface="Aptos"/>
              </a:rPr>
              <a:t>Lloyds Banking Group: agentic AI for real-time fraud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 current example of agents operating inside a high-stakes workflow — with humans retaining decision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93392"/>
            <a:ext cx="178308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  <a:latin typeface="Aptos"/>
              </a:rPr>
              <a:t>CUSTOMER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5456" y="226771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993392"/>
            <a:ext cx="178308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25856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  <a:latin typeface="Aptos"/>
              </a:rPr>
              <a:t>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226771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5232" y="1993392"/>
            <a:ext cx="178308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76672" y="225856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  <a:latin typeface="Aptos"/>
              </a:rPr>
              <a:t>RISK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26771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98664" y="1993392"/>
            <a:ext cx="178308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0104" y="225856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  <a:latin typeface="Aptos"/>
              </a:rPr>
              <a:t>COLLEAGUE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2" y="226771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12096" y="1993392"/>
            <a:ext cx="178308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03536" y="225856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  <a:latin typeface="Aptos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10128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Identity checks • transaction analysis • scam-risk assessment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9784080" cy="914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DOCUMENTED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096512"/>
            <a:ext cx="7178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D1B2A"/>
                </a:solidFill>
                <a:latin typeface="Aptos"/>
              </a:rPr>
              <a:t>Lloyds says it prevented &gt;£1bn of fraud in 2025 and is deploying multiple AI agents to support fraud colleagues in real time; colleagues remain accountable and can override AI suggestions.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30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CONTROL PRINCIPLE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257800"/>
            <a:ext cx="8823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D1B2A"/>
                </a:solidFill>
                <a:latin typeface="Aptos"/>
              </a:rPr>
              <a:t>Agentic capability increases the need for permissions, logging, guardrails, escalation and human override — not less.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492240"/>
            <a:ext cx="6949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649224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60" b="0">
                <a:solidFill>
                  <a:srgbClr val="64748B"/>
                </a:solidFill>
                <a:latin typeface="Aptos"/>
              </a:rPr>
              <a:t>SOURCE • Lloyds Banking Group, 8 June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31 • EXECUTIVE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B2A"/>
                </a:solidFill>
                <a:latin typeface="Aptos"/>
              </a:rPr>
              <a:t>What these real-bank cases teach us about AI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3584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Across banks, the technology differs — but the control pattern is remarkably consistent.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2148840" cy="621792"/>
          </a:xfrm>
          <a:prstGeom prst="rect">
            <a:avLst/>
          </a:prstGeom>
          <a:solidFill>
            <a:srgbClr val="0D1B2A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938528"/>
            <a:ext cx="19293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FFFFFF"/>
                </a:solidFill>
                <a:latin typeface="Aptos"/>
              </a:rPr>
              <a:t>USE CASE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828800"/>
            <a:ext cx="2103120" cy="621792"/>
          </a:xfrm>
          <a:prstGeom prst="rect">
            <a:avLst/>
          </a:prstGeom>
          <a:solidFill>
            <a:srgbClr val="0D1B2A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0088" y="1938528"/>
            <a:ext cx="188366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FFFFFF"/>
                </a:solidFill>
                <a:latin typeface="Aptos"/>
              </a:rPr>
              <a:t>AI 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828800"/>
            <a:ext cx="2103120" cy="621792"/>
          </a:xfrm>
          <a:prstGeom prst="rect">
            <a:avLst/>
          </a:prstGeom>
          <a:solidFill>
            <a:srgbClr val="0D1B2A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4648" y="1938528"/>
            <a:ext cx="188366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FFFFFF"/>
                </a:solidFill>
                <a:latin typeface="Aptos"/>
              </a:rPr>
              <a:t>BUSINESS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828800"/>
            <a:ext cx="3886200" cy="621792"/>
          </a:xfrm>
          <a:prstGeom prst="rect">
            <a:avLst/>
          </a:prstGeom>
          <a:solidFill>
            <a:srgbClr val="0D1B2A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2088" y="1938528"/>
            <a:ext cx="366674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FFFFFF"/>
                </a:solidFill>
                <a:latin typeface="Aptos"/>
              </a:rPr>
              <a:t>PRIMARY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14600"/>
            <a:ext cx="21488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624328"/>
            <a:ext cx="19293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JPMorganChase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2514600"/>
            <a:ext cx="210312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0088" y="2624328"/>
            <a:ext cx="188366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Document / 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2514600"/>
            <a:ext cx="210312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2624328"/>
            <a:ext cx="188366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Time + unit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2514600"/>
            <a:ext cx="388620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2088" y="2624328"/>
            <a:ext cx="366674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Data / model / workflow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200400"/>
            <a:ext cx="2148840" cy="6217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310128"/>
            <a:ext cx="19293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HSBC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3200400"/>
            <a:ext cx="2103120" cy="6217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0088" y="3310128"/>
            <a:ext cx="188366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Financial crime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3200400"/>
            <a:ext cx="2103120" cy="6217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84648" y="3310128"/>
            <a:ext cx="188366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Detection + fewer false positives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3200400"/>
            <a:ext cx="3886200" cy="6217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2088" y="3310128"/>
            <a:ext cx="366674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False positives / explainability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886200"/>
            <a:ext cx="21488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995928"/>
            <a:ext cx="19293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Bank of America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3886200"/>
            <a:ext cx="210312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0088" y="3995928"/>
            <a:ext cx="188366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Conversational 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74920" y="3886200"/>
            <a:ext cx="210312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84648" y="3995928"/>
            <a:ext cx="188366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Service + personalization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3886200"/>
            <a:ext cx="388620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62088" y="3995928"/>
            <a:ext cx="366674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Accuracy / privacy / authorization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572000"/>
            <a:ext cx="2148840" cy="6217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4681728"/>
            <a:ext cx="19293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DBS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4572000"/>
            <a:ext cx="2103120" cy="6217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90088" y="4681728"/>
            <a:ext cx="188366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Enterprise AI portfolio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4572000"/>
            <a:ext cx="2103120" cy="6217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84648" y="4681728"/>
            <a:ext cx="188366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Productivity + risk control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60" y="4572000"/>
            <a:ext cx="3886200" cy="6217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62088" y="4681728"/>
            <a:ext cx="366674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Portfolio governance / drift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5257800"/>
            <a:ext cx="21488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5367528"/>
            <a:ext cx="19293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Lloyds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0360" y="5257800"/>
            <a:ext cx="210312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90088" y="5367528"/>
            <a:ext cx="188366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Agentic fraud support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74920" y="5257800"/>
            <a:ext cx="210312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84648" y="5367528"/>
            <a:ext cx="188366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Real-time intervention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52360" y="5257800"/>
            <a:ext cx="388620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62088" y="5367528"/>
            <a:ext cx="366674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475569"/>
                </a:solidFill>
                <a:latin typeface="Aptos"/>
              </a:rPr>
              <a:t>Autonomy / permissions / oversight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925312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BOARDROOM TAKEAWAY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06040" y="5852160"/>
            <a:ext cx="8458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Aptos"/>
              </a:rPr>
              <a:t>The winning pattern is not “more AI”. It is AI + data discipline + decision rights + monitoring + human accountability.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" y="6492240"/>
            <a:ext cx="6949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64748B"/>
                </a:solidFill>
                <a:latin typeface="Aptos"/>
              </a:rPr>
              <a:t>AI &amp; RISK • MODULE 1 • ANALYTICS WITH RAJAT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649224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60" b="0">
                <a:solidFill>
                  <a:srgbClr val="64748B"/>
                </a:solidFill>
                <a:latin typeface="Aptos"/>
              </a:rPr>
              <a:t>SOURCE • Primary sources cited on slides 26–30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