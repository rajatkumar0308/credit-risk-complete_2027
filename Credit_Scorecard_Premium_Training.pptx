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2C2C2"/>
                </a:solidFill>
                <a:latin typeface="Aptos"/>
              </a:rPr>
              <a:t>CREDIT RISK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CREDIT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AD3DF"/>
                </a:solidFill>
                <a:latin typeface="Aptos"/>
              </a:rPr>
              <a:t>From model odds to an intuitive borrower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20574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8FAFC"/>
                </a:solidFill>
                <a:latin typeface="Aptos"/>
              </a:rPr>
              <a:t>600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A0AEC0"/>
                </a:solidFill>
                <a:latin typeface="Aptos"/>
              </a:rPr>
              <a:t>BASE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86200"/>
            <a:ext cx="1600200" cy="310896"/>
          </a:xfrm>
          <a:prstGeom prst="round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04487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BASE ODDS 20 :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3886200"/>
            <a:ext cx="1051560" cy="310896"/>
          </a:xfrm>
          <a:prstGeom prst="round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3904487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PDO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886200"/>
            <a:ext cx="1417320" cy="310896"/>
          </a:xfrm>
          <a:prstGeom prst="roundRect">
            <a:avLst/>
          </a:prstGeom>
          <a:solidFill>
            <a:srgbClr val="35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3904487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SCORE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83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D9E4"/>
                </a:solidFill>
                <a:latin typeface="Aptos"/>
              </a:rPr>
              <a:t>WOE / model signal  →  odds  →  score  →  credit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919EB0"/>
                </a:solidFill>
                <a:latin typeface="Aptos"/>
              </a:rPr>
              <a:t>CREDIT RISK ANALYTICS  •  CREDIT SCORECARDS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19EB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What is a Credit Scorecard?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788C"/>
                </a:solidFill>
                <a:latin typeface="Aptos"/>
              </a:rPr>
              <a:t>Turning statistical risk signals into a simple, operational decision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828800"/>
          </a:xfrm>
          <a:prstGeom prst="roundRect">
            <a:avLst/>
          </a:prstGeom>
          <a:solidFill>
            <a:srgbClr val="E0EB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63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C2D"/>
                </a:solidFill>
                <a:latin typeface="Aptos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2880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40"/>
                </a:solidFill>
                <a:latin typeface="Aptos"/>
              </a:rPr>
              <a:t>A scorecard converts borrower characteristics into points. Higher points normally mean lower expected default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3429000" cy="1828800"/>
          </a:xfrm>
          <a:prstGeom prst="roundRect">
            <a:avLst/>
          </a:prstGeom>
          <a:solidFill>
            <a:srgbClr val="E4F3F3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73152" cy="182880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520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C2D"/>
                </a:solidFill>
                <a:latin typeface="Aptos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88620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40"/>
                </a:solidFill>
                <a:latin typeface="Aptos"/>
              </a:rPr>
              <a:t>Banks need a score that is consistent, explainable and easy to use across applications, underwriting and monitoring.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057400"/>
            <a:ext cx="1371600" cy="777240"/>
          </a:xfrm>
          <a:prstGeom prst="round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267712"/>
            <a:ext cx="1316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8FAFC"/>
                </a:solidFill>
                <a:latin typeface="Aptos"/>
              </a:rPr>
              <a:t>Customer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2450592"/>
            <a:ext cx="292608" cy="0"/>
          </a:xfrm>
          <a:prstGeom prst="line">
            <a:avLst/>
          </a:prstGeom>
          <a:ln w="25400">
            <a:solidFill>
              <a:srgbClr val="697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60" y="2057400"/>
            <a:ext cx="1371600" cy="777240"/>
          </a:xfrm>
          <a:prstGeom prst="round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267712"/>
            <a:ext cx="1316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8FAFC"/>
                </a:solidFill>
                <a:latin typeface="Aptos"/>
              </a:rPr>
              <a:t>WOE / Model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80960" y="2450592"/>
            <a:ext cx="292608" cy="0"/>
          </a:xfrm>
          <a:prstGeom prst="line">
            <a:avLst/>
          </a:prstGeom>
          <a:ln w="25400">
            <a:solidFill>
              <a:srgbClr val="697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46720" y="2057400"/>
            <a:ext cx="1371600" cy="777240"/>
          </a:xfrm>
          <a:prstGeom prst="roundRect">
            <a:avLst/>
          </a:prstGeom>
          <a:solidFill>
            <a:srgbClr val="35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152" y="2267712"/>
            <a:ext cx="1316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8FAFC"/>
                </a:solidFill>
                <a:latin typeface="Aptos"/>
              </a:rPr>
              <a:t>Score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18320" y="2450592"/>
            <a:ext cx="292608" cy="0"/>
          </a:xfrm>
          <a:prstGeom prst="line">
            <a:avLst/>
          </a:prstGeom>
          <a:ln w="25400">
            <a:solidFill>
              <a:srgbClr val="697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84080" y="2057400"/>
            <a:ext cx="1371600" cy="777240"/>
          </a:xfrm>
          <a:prstGeom prst="roundRect">
            <a:avLst/>
          </a:prstGeom>
          <a:solidFill>
            <a:srgbClr val="D6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1511" y="2267712"/>
            <a:ext cx="1316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8FAFC"/>
                </a:solidFill>
                <a:latin typeface="Aptos"/>
              </a:rPr>
              <a:t>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246120"/>
            <a:ext cx="6492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3040"/>
                </a:solidFill>
                <a:latin typeface="Aptos"/>
              </a:rPr>
              <a:t>The scorecard turns complex model output into a common language for the bank: approve, review, price, limit or decline.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663440"/>
            <a:ext cx="914400" cy="310896"/>
          </a:xfrm>
          <a:prstGeom prst="round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681727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BANKER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88C"/>
                </a:solidFill>
                <a:latin typeface="Aptos"/>
              </a:rPr>
              <a:t>Fast, consistent decisioning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4663440"/>
            <a:ext cx="1188720" cy="310896"/>
          </a:xfrm>
          <a:prstGeom prst="round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4681727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MODEL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6817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88C"/>
                </a:solidFill>
                <a:latin typeface="Aptos"/>
              </a:rPr>
              <a:t>Transparent &amp; monitorable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788C"/>
                </a:solidFill>
                <a:latin typeface="Aptos"/>
              </a:rPr>
              <a:t>CREDIT RISK ANALYTICS  •  CREDIT SCORECARDS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788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Scorecard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788C"/>
                </a:solidFill>
                <a:latin typeface="Aptos"/>
              </a:rPr>
              <a:t>The score is the operational layer sitting on top of the statistical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148840" cy="2057400"/>
          </a:xfrm>
          <a:prstGeom prst="roundRect">
            <a:avLst/>
          </a:prstGeom>
          <a:solidFill>
            <a:srgbClr val="E0EB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73152" cy="2057400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21C2D"/>
                </a:solidFill>
                <a:latin typeface="Aptos"/>
              </a:rPr>
              <a:t>1  RAW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33172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40"/>
                </a:solidFill>
                <a:latin typeface="Aptos"/>
              </a:rPr>
              <a:t>Income • DPD • Utilization • Bureau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852928"/>
            <a:ext cx="292608" cy="0"/>
          </a:xfrm>
          <a:prstGeom prst="line">
            <a:avLst/>
          </a:prstGeom>
          <a:ln w="25400">
            <a:solidFill>
              <a:srgbClr val="697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62072" y="1828800"/>
            <a:ext cx="2148840" cy="2057400"/>
          </a:xfrm>
          <a:prstGeom prst="roundRect">
            <a:avLst/>
          </a:prstGeom>
          <a:solidFill>
            <a:srgbClr val="E4F3F3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62072" y="1828800"/>
            <a:ext cx="73152" cy="205740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21C2D"/>
                </a:solidFill>
                <a:latin typeface="Aptos"/>
              </a:rPr>
              <a:t>2  BIN + WOE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33172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40"/>
                </a:solidFill>
                <a:latin typeface="Aptos"/>
              </a:rPr>
              <a:t>Create risk-homogeneous groups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10912" y="2852928"/>
            <a:ext cx="292608" cy="0"/>
          </a:xfrm>
          <a:prstGeom prst="line">
            <a:avLst/>
          </a:prstGeom>
          <a:ln w="25400">
            <a:solidFill>
              <a:srgbClr val="697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21224" y="1828800"/>
            <a:ext cx="2148840" cy="2057400"/>
          </a:xfrm>
          <a:prstGeom prst="roundRect">
            <a:avLst/>
          </a:prstGeom>
          <a:solidFill>
            <a:srgbClr val="F9EFD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21224" y="1828800"/>
            <a:ext cx="73152" cy="2057400"/>
          </a:xfrm>
          <a:prstGeom prst="rect">
            <a:avLst/>
          </a:prstGeom>
          <a:solidFill>
            <a:srgbClr val="D6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2392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21C2D"/>
                </a:solidFill>
                <a:latin typeface="Aptos"/>
              </a:rPr>
              <a:t>3  LOGISTIC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2392" y="233172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40"/>
                </a:solidFill>
                <a:latin typeface="Aptos"/>
              </a:rPr>
              <a:t>Estimate relationship to log-odds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70064" y="2852928"/>
            <a:ext cx="292607" cy="0"/>
          </a:xfrm>
          <a:prstGeom prst="line">
            <a:avLst/>
          </a:prstGeom>
          <a:ln w="25400">
            <a:solidFill>
              <a:srgbClr val="697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80375" y="1828800"/>
            <a:ext cx="2148840" cy="2057400"/>
          </a:xfrm>
          <a:prstGeom prst="roundRect">
            <a:avLst/>
          </a:prstGeom>
          <a:solidFill>
            <a:srgbClr val="E2F1E8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0375" y="1828800"/>
            <a:ext cx="73152" cy="2057400"/>
          </a:xfrm>
          <a:prstGeom prst="rect">
            <a:avLst/>
          </a:prstGeom>
          <a:solidFill>
            <a:srgbClr val="35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81544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21C2D"/>
                </a:solidFill>
                <a:latin typeface="Aptos"/>
              </a:rPr>
              <a:t>4  SCORE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1544" y="233172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40"/>
                </a:solidFill>
                <a:latin typeface="Aptos"/>
              </a:rPr>
              <a:t>Convert log-odds into points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29215" y="2852928"/>
            <a:ext cx="292609" cy="0"/>
          </a:xfrm>
          <a:prstGeom prst="line">
            <a:avLst/>
          </a:prstGeom>
          <a:ln w="25400">
            <a:solidFill>
              <a:srgbClr val="697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39528" y="1828800"/>
            <a:ext cx="2148840" cy="2057400"/>
          </a:xfrm>
          <a:prstGeom prst="roundRect">
            <a:avLst/>
          </a:prstGeom>
          <a:solidFill>
            <a:srgbClr val="EBF0F6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39528" y="1828800"/>
            <a:ext cx="73152" cy="205740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0696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21C2D"/>
                </a:solidFill>
                <a:latin typeface="Aptos"/>
              </a:rPr>
              <a:t>5 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233172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40"/>
                </a:solidFill>
                <a:latin typeface="Aptos"/>
              </a:rPr>
              <a:t>Approve • Price • Limit • Decline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C2D"/>
                </a:solidFill>
                <a:latin typeface="Aptos"/>
              </a:rPr>
              <a:t>Key design principle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435254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63040"/>
                </a:solidFill>
                <a:latin typeface="Aptos"/>
              </a:rPr>
              <a:t>The statistical model may operate on log-odds; the business user operates on points.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9834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788C"/>
                </a:solidFill>
                <a:latin typeface="Aptos"/>
              </a:rPr>
              <a:t>This separation makes the scorecard mathematically grounded and operationally usable.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788C"/>
                </a:solidFill>
                <a:latin typeface="Aptos"/>
              </a:rPr>
              <a:t>CREDIT RISK ANALYTICS  •  CREDIT SCORECARDS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788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Score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788C"/>
                </a:solidFill>
                <a:latin typeface="Aptos"/>
              </a:rPr>
              <a:t>Mapping model odds to a human-friendly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486400" cy="1051560"/>
          </a:xfrm>
          <a:prstGeom prst="round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Score = A + B × ln(Odds)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1396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9C6D6"/>
                </a:solidFill>
                <a:latin typeface="Aptos"/>
              </a:rPr>
              <a:t>Odds = Good / Bad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2560320" cy="2011680"/>
          </a:xfrm>
          <a:prstGeom prst="roundRect">
            <a:avLst/>
          </a:prstGeom>
          <a:solidFill>
            <a:srgbClr val="E0EB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73152" cy="2011680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971800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C2D"/>
                </a:solidFill>
                <a:latin typeface="Aptos"/>
              </a:rPr>
              <a:t>A — OFFSET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37560"/>
            <a:ext cx="22402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40"/>
                </a:solidFill>
                <a:latin typeface="Aptos"/>
              </a:rPr>
              <a:t>Anchors the score scale at the chosen base odds and base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834640"/>
            <a:ext cx="2560320" cy="2011680"/>
          </a:xfrm>
          <a:prstGeom prst="roundRect">
            <a:avLst/>
          </a:prstGeom>
          <a:solidFill>
            <a:srgbClr val="E4F3F3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2834640"/>
            <a:ext cx="73152" cy="20116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2971800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C2D"/>
                </a:solidFill>
                <a:latin typeface="Aptos"/>
              </a:rPr>
              <a:t>B — 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3337560"/>
            <a:ext cx="22402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40"/>
                </a:solidFill>
                <a:latin typeface="Aptos"/>
              </a:rPr>
              <a:t>Controls how many points correspond to a one-unit change in ln(odds).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417320"/>
            <a:ext cx="4892040" cy="1371600"/>
          </a:xfrm>
          <a:prstGeom prst="roundRect">
            <a:avLst/>
          </a:prstGeom>
          <a:solidFill>
            <a:srgbClr val="E2F1E8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1417320"/>
            <a:ext cx="73152" cy="1371600"/>
          </a:xfrm>
          <a:prstGeom prst="rect">
            <a:avLst/>
          </a:prstGeom>
          <a:solidFill>
            <a:srgbClr val="35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C2D"/>
                </a:solidFill>
                <a:latin typeface="Aptos"/>
              </a:rPr>
              <a:t>Business intuition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192024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Instead of “log-odds = 2.996”, the bank user sees an intuitive score such as 600.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154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C2D"/>
                </a:solidFill>
                <a:latin typeface="Aptos"/>
              </a:rPr>
              <a:t>Illustrative score / odds relationship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657600"/>
            <a:ext cx="1234440" cy="960120"/>
          </a:xfrm>
          <a:prstGeom prst="roundRect">
            <a:avLst/>
          </a:prstGeom>
          <a:solidFill>
            <a:srgbClr val="E0EBF9"/>
          </a:solidFill>
          <a:ln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81304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1C2D"/>
                </a:solidFill>
                <a:latin typeface="Aptos"/>
              </a:rPr>
              <a:t>580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788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9788C"/>
                </a:solidFill>
                <a:latin typeface="Aptos"/>
              </a:rPr>
              <a:t>10:1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657600"/>
            <a:ext cx="1234440" cy="960120"/>
          </a:xfrm>
          <a:prstGeom prst="roundRect">
            <a:avLst/>
          </a:prstGeom>
          <a:solidFill>
            <a:srgbClr val="E2F1E8"/>
          </a:solidFill>
          <a:ln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81304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1C2D"/>
                </a:solidFill>
                <a:latin typeface="Aptos"/>
              </a:rPr>
              <a:t>600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1788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9788C"/>
                </a:solidFill>
                <a:latin typeface="Aptos"/>
              </a:rPr>
              <a:t>20:1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3657600"/>
            <a:ext cx="1234440" cy="960120"/>
          </a:xfrm>
          <a:prstGeom prst="roundRect">
            <a:avLst/>
          </a:prstGeom>
          <a:solidFill>
            <a:srgbClr val="E0EBF9"/>
          </a:solidFill>
          <a:ln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381304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1C2D"/>
                </a:solidFill>
                <a:latin typeface="Aptos"/>
              </a:rPr>
              <a:t>620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1788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9788C"/>
                </a:solidFill>
                <a:latin typeface="Aptos"/>
              </a:rPr>
              <a:t>40:1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92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58E5B"/>
                </a:solidFill>
                <a:latin typeface="Aptos"/>
              </a:rPr>
              <a:t>Higher odds of Good → higher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788C"/>
                </a:solidFill>
                <a:latin typeface="Aptos"/>
              </a:rPr>
              <a:t>CREDIT RISK ANALYTICS  •  CREDIT SCORECARDS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788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Base Odds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788C"/>
                </a:solidFill>
                <a:latin typeface="Aptos"/>
              </a:rPr>
              <a:t>The anchor point from which the score scale is constructed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246120" cy="1965960"/>
          </a:xfrm>
          <a:prstGeom prst="roundRect">
            <a:avLst/>
          </a:prstGeom>
          <a:solidFill>
            <a:srgbClr val="E0EB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73152" cy="1965960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0876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C2D"/>
                </a:solidFill>
                <a:latin typeface="Aptos"/>
              </a:rPr>
              <a:t>BASE ODDS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74519"/>
            <a:ext cx="2926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Suppose the reference portfolio has 20 Good borrowers for every 1 Bad borrower.
Base Odds = 20 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11880"/>
            <a:ext cx="3246120" cy="1691640"/>
          </a:xfrm>
          <a:prstGeom prst="roundRect">
            <a:avLst/>
          </a:prstGeom>
          <a:solidFill>
            <a:srgbClr val="E4F3F3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611880"/>
            <a:ext cx="73152" cy="169164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74904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C2D"/>
                </a:solidFill>
                <a:latin typeface="Aptos"/>
              </a:rPr>
              <a:t>BASE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114800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Choose a convenient anchor.
Base Score = 600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6903720" cy="3840480"/>
          </a:xfrm>
          <a:prstGeom prst="round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920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8FAFC"/>
                </a:solidFill>
                <a:latin typeface="Aptos"/>
              </a:rPr>
              <a:t>Base Score = A + B × ln(Base Odds)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7432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BC9DA"/>
                </a:solidFill>
                <a:latin typeface="Aptos"/>
              </a:rPr>
              <a:t>With PDO = 20: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1546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1CDCD"/>
                </a:solidFill>
                <a:latin typeface="Aptos"/>
              </a:rPr>
              <a:t>B = 20 / ln(2) = 28.85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7033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A = 600 − 28.85 × ln(20) = 513.56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5720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BBC9DA"/>
                </a:solidFill>
                <a:latin typeface="Aptos"/>
              </a:rPr>
              <a:t>Once the anchor is fixed, the rest of the scale follows mechanically.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788C"/>
                </a:solidFill>
                <a:latin typeface="Aptos"/>
              </a:rPr>
              <a:t>CREDIT RISK ANALYTICS  •  CREDIT SCORECARDS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788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Points to Double the Odds — PDO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788C"/>
                </a:solidFill>
                <a:latin typeface="Aptos"/>
              </a:rPr>
              <a:t>PDO controls the score distance between two borrowers whose odds differ by 2×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840480" cy="3383280"/>
          </a:xfrm>
          <a:prstGeom prst="roundRect">
            <a:avLst/>
          </a:prstGeom>
          <a:solidFill>
            <a:srgbClr val="E0EB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3383280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5448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PDO =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35204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40"/>
                </a:solidFill>
                <a:latin typeface="Aptos"/>
              </a:rPr>
              <a:t>If Good:Bad odds double, the score increases by 20 points.
20 : 1 → 40 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417320"/>
            <a:ext cx="6217920" cy="3383280"/>
          </a:xfrm>
          <a:prstGeom prst="round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8FAFC"/>
                </a:solidFill>
                <a:latin typeface="Aptos"/>
              </a:rPr>
              <a:t>B = PDO / ln(2)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697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1CDCD"/>
                </a:solidFill>
                <a:latin typeface="Aptos"/>
              </a:rPr>
              <a:t>B = 20 / 0.6931 = 28.85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429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ECADB"/>
                </a:solidFill>
                <a:latin typeface="Aptos"/>
              </a:rPr>
              <a:t>Why ln(2)?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82219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ln(2 × odds) − ln(odds) = ln(2)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8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>
                <a:solidFill>
                  <a:srgbClr val="69788C"/>
                </a:solidFill>
                <a:latin typeface="Aptos"/>
              </a:rPr>
              <a:t>A smaller PDO makes the score move faster; a larger PDO makes it move more gradually.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788C"/>
                </a:solidFill>
                <a:latin typeface="Aptos"/>
              </a:rPr>
              <a:t>CREDIT RISK ANALYTICS  •  CREDIT SCORECARDS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788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Score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788C"/>
                </a:solidFill>
                <a:latin typeface="Aptos"/>
              </a:rPr>
              <a:t>Converting model log-odds into points that users can interpret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9788C"/>
                </a:solidFill>
                <a:latin typeface="Aptos"/>
              </a:rPr>
              <a:t>Illustrative scale: Base Score = 600, Base Odds = 20:1, PDO =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828800" cy="50292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874519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Good:Bad Odds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737360"/>
            <a:ext cx="1920240" cy="50292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0632" y="1874519"/>
            <a:ext cx="1865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ln(Odds)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737360"/>
            <a:ext cx="1508760" cy="50292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2" y="1874519"/>
            <a:ext cx="1453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737360"/>
            <a:ext cx="4206240" cy="50292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1874519"/>
            <a:ext cx="4151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40280"/>
            <a:ext cx="1828800" cy="566928"/>
          </a:xfrm>
          <a:prstGeom prst="rect">
            <a:avLst/>
          </a:prstGeom>
          <a:solidFill>
            <a:srgbClr val="F8E5E5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386584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21C2D"/>
                </a:solidFill>
                <a:latin typeface="Aptos"/>
              </a:rPr>
              <a:t>5 :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240280"/>
            <a:ext cx="1920240" cy="566928"/>
          </a:xfrm>
          <a:prstGeom prst="rect">
            <a:avLst/>
          </a:prstGeom>
          <a:solidFill>
            <a:srgbClr val="F8E5E5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0632" y="2386584"/>
            <a:ext cx="1865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21C2D"/>
                </a:solidFill>
                <a:latin typeface="Aptos"/>
              </a:rPr>
              <a:t>1.609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2240280"/>
            <a:ext cx="1508760" cy="566928"/>
          </a:xfrm>
          <a:prstGeom prst="rect">
            <a:avLst/>
          </a:prstGeom>
          <a:solidFill>
            <a:srgbClr val="F8E5E5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2386584"/>
            <a:ext cx="1453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21C2D"/>
                </a:solidFill>
                <a:latin typeface="Aptos"/>
              </a:rPr>
              <a:t>560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240280"/>
            <a:ext cx="4206240" cy="566928"/>
          </a:xfrm>
          <a:prstGeom prst="rect">
            <a:avLst/>
          </a:prstGeom>
          <a:solidFill>
            <a:srgbClr val="F8E5E5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2386584"/>
            <a:ext cx="4151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21C2D"/>
                </a:solidFill>
                <a:latin typeface="Aptos"/>
              </a:rPr>
              <a:t>Higher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807208"/>
            <a:ext cx="1828800" cy="566928"/>
          </a:xfrm>
          <a:prstGeom prst="rect">
            <a:avLst/>
          </a:prstGeom>
          <a:solidFill>
            <a:srgbClr val="F8E5E5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2953512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21C2D"/>
                </a:solidFill>
                <a:latin typeface="Aptos"/>
              </a:rPr>
              <a:t>10 :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807208"/>
            <a:ext cx="1920240" cy="566928"/>
          </a:xfrm>
          <a:prstGeom prst="rect">
            <a:avLst/>
          </a:prstGeom>
          <a:solidFill>
            <a:srgbClr val="F8E5E5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70632" y="2953512"/>
            <a:ext cx="1865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21C2D"/>
                </a:solidFill>
                <a:latin typeface="Aptos"/>
              </a:rPr>
              <a:t>2.303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807208"/>
            <a:ext cx="1508760" cy="566928"/>
          </a:xfrm>
          <a:prstGeom prst="rect">
            <a:avLst/>
          </a:prstGeom>
          <a:solidFill>
            <a:srgbClr val="F8E5E5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3752" y="2953512"/>
            <a:ext cx="1453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21C2D"/>
                </a:solidFill>
                <a:latin typeface="Aptos"/>
              </a:rPr>
              <a:t>580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807208"/>
            <a:ext cx="4206240" cy="566928"/>
          </a:xfrm>
          <a:prstGeom prst="rect">
            <a:avLst/>
          </a:prstGeom>
          <a:solidFill>
            <a:srgbClr val="F8E5E5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2953512"/>
            <a:ext cx="4151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21C2D"/>
                </a:solidFill>
                <a:latin typeface="Aptos"/>
              </a:rPr>
              <a:t>Moderate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374136"/>
            <a:ext cx="1828800" cy="566928"/>
          </a:xfrm>
          <a:prstGeom prst="rect">
            <a:avLst/>
          </a:prstGeom>
          <a:solidFill>
            <a:srgbClr val="F9EFDA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3520440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21C2D"/>
                </a:solidFill>
                <a:latin typeface="Aptos"/>
              </a:rPr>
              <a:t>20 :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374136"/>
            <a:ext cx="1920240" cy="566928"/>
          </a:xfrm>
          <a:prstGeom prst="rect">
            <a:avLst/>
          </a:prstGeom>
          <a:solidFill>
            <a:srgbClr val="F9EFDA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70632" y="3520440"/>
            <a:ext cx="1865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21C2D"/>
                </a:solidFill>
                <a:latin typeface="Aptos"/>
              </a:rPr>
              <a:t>2.996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3374136"/>
            <a:ext cx="1508760" cy="566928"/>
          </a:xfrm>
          <a:prstGeom prst="rect">
            <a:avLst/>
          </a:prstGeom>
          <a:solidFill>
            <a:srgbClr val="F9EFDA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3752" y="3520440"/>
            <a:ext cx="1453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21C2D"/>
                </a:solidFill>
                <a:latin typeface="Aptos"/>
              </a:rPr>
              <a:t>600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374136"/>
            <a:ext cx="4206240" cy="566928"/>
          </a:xfrm>
          <a:prstGeom prst="rect">
            <a:avLst/>
          </a:prstGeom>
          <a:solidFill>
            <a:srgbClr val="F9EFDA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3520440"/>
            <a:ext cx="4151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21C2D"/>
                </a:solidFill>
                <a:latin typeface="Aptos"/>
              </a:rPr>
              <a:t>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941064"/>
            <a:ext cx="1828800" cy="566928"/>
          </a:xfrm>
          <a:prstGeom prst="rect">
            <a:avLst/>
          </a:prstGeom>
          <a:solidFill>
            <a:srgbClr val="E2F1E8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4087368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21C2D"/>
                </a:solidFill>
                <a:latin typeface="Aptos"/>
              </a:rPr>
              <a:t>40 :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3941064"/>
            <a:ext cx="1920240" cy="566928"/>
          </a:xfrm>
          <a:prstGeom prst="rect">
            <a:avLst/>
          </a:prstGeom>
          <a:solidFill>
            <a:srgbClr val="E2F1E8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70632" y="4087368"/>
            <a:ext cx="1865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21C2D"/>
                </a:solidFill>
                <a:latin typeface="Aptos"/>
              </a:rPr>
              <a:t>3.689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0" y="3941064"/>
            <a:ext cx="1508760" cy="566928"/>
          </a:xfrm>
          <a:prstGeom prst="rect">
            <a:avLst/>
          </a:prstGeom>
          <a:solidFill>
            <a:srgbClr val="E2F1E8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73752" y="4087368"/>
            <a:ext cx="1453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21C2D"/>
                </a:solidFill>
                <a:latin typeface="Aptos"/>
              </a:rPr>
              <a:t>620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941064"/>
            <a:ext cx="4206240" cy="566928"/>
          </a:xfrm>
          <a:prstGeom prst="rect">
            <a:avLst/>
          </a:prstGeom>
          <a:solidFill>
            <a:srgbClr val="E2F1E8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11112" y="4087368"/>
            <a:ext cx="4151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21C2D"/>
                </a:solidFill>
                <a:latin typeface="Aptos"/>
              </a:rPr>
              <a:t>Lower risk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507992"/>
            <a:ext cx="1828800" cy="566928"/>
          </a:xfrm>
          <a:prstGeom prst="rect">
            <a:avLst/>
          </a:prstGeom>
          <a:solidFill>
            <a:srgbClr val="E2F1E8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" y="4654296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21C2D"/>
                </a:solidFill>
                <a:latin typeface="Aptos"/>
              </a:rPr>
              <a:t>80 : 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4507992"/>
            <a:ext cx="1920240" cy="566928"/>
          </a:xfrm>
          <a:prstGeom prst="rect">
            <a:avLst/>
          </a:prstGeom>
          <a:solidFill>
            <a:srgbClr val="E2F1E8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70632" y="4654296"/>
            <a:ext cx="1865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21C2D"/>
                </a:solidFill>
                <a:latin typeface="Aptos"/>
              </a:rPr>
              <a:t>4.382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507992"/>
            <a:ext cx="1508760" cy="566928"/>
          </a:xfrm>
          <a:prstGeom prst="rect">
            <a:avLst/>
          </a:prstGeom>
          <a:solidFill>
            <a:srgbClr val="E2F1E8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3752" y="4654296"/>
            <a:ext cx="1453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21C2D"/>
                </a:solidFill>
                <a:latin typeface="Aptos"/>
              </a:rPr>
              <a:t>640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4507992"/>
            <a:ext cx="4206240" cy="566928"/>
          </a:xfrm>
          <a:prstGeom prst="rect">
            <a:avLst/>
          </a:prstGeom>
          <a:solidFill>
            <a:srgbClr val="E2F1E8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11112" y="4654296"/>
            <a:ext cx="4151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21C2D"/>
                </a:solidFill>
                <a:latin typeface="Aptos"/>
              </a:rPr>
              <a:t>Much lower risk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349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21C2D"/>
                </a:solidFill>
                <a:latin typeface="Aptos"/>
              </a:rPr>
              <a:t>Formula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45920" y="528523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FBF"/>
                </a:solidFill>
                <a:latin typeface="Aptos"/>
              </a:rPr>
              <a:t>Score = 600 + 28.85 × ln(Odds / 20)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528523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88C"/>
                </a:solidFill>
                <a:latin typeface="Aptos"/>
              </a:rPr>
              <a:t>The score is a re-expression of the underlying odds — not a new risk model.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788C"/>
                </a:solidFill>
                <a:latin typeface="Aptos"/>
              </a:rPr>
              <a:t>CREDIT RISK ANALYTICS  •  CREDIT SCORECARDS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788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Complete Credit Scorecard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788C"/>
                </a:solidFill>
                <a:latin typeface="Aptos"/>
              </a:rPr>
              <a:t>Illustrative retail loan case: from borrower attributes to final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2743200" cy="4389120"/>
          </a:xfrm>
          <a:prstGeom prst="roundRect">
            <a:avLst/>
          </a:prstGeom>
          <a:solidFill>
            <a:srgbClr val="E0EB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" cy="4389120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17319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C2D"/>
                </a:solidFill>
                <a:latin typeface="Aptos"/>
              </a:rPr>
              <a:t>BORROWER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83080"/>
            <a:ext cx="24231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Income: ₹85,000
Past DPD: 0
Credit utilization: 25%
Employment: 7 years
Base points: 450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417320"/>
            <a:ext cx="3383280" cy="1051560"/>
          </a:xfrm>
          <a:prstGeom prst="roundRect">
            <a:avLst/>
          </a:prstGeom>
          <a:solidFill>
            <a:srgbClr val="E2F1E8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0" y="1417320"/>
            <a:ext cx="73152" cy="1051560"/>
          </a:xfrm>
          <a:prstGeom prst="rect">
            <a:avLst/>
          </a:prstGeom>
          <a:solidFill>
            <a:srgbClr val="35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41648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C2D"/>
                </a:solidFill>
                <a:latin typeface="Aptos"/>
              </a:rPr>
              <a:t>Income &gt; ₹70k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1920240"/>
            <a:ext cx="30632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Points +55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679191"/>
            <a:ext cx="3383280" cy="1051560"/>
          </a:xfrm>
          <a:prstGeom prst="roundRect">
            <a:avLst/>
          </a:prstGeom>
          <a:solidFill>
            <a:srgbClr val="E4F3F3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2679191"/>
            <a:ext cx="73152" cy="105156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281635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C2D"/>
                </a:solidFill>
                <a:latin typeface="Aptos"/>
              </a:rPr>
              <a:t>Past DPD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3182111"/>
            <a:ext cx="30632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Points +70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3941063"/>
            <a:ext cx="3383280" cy="1051560"/>
          </a:xfrm>
          <a:prstGeom prst="roundRect">
            <a:avLst/>
          </a:prstGeom>
          <a:solidFill>
            <a:srgbClr val="E0EB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0" y="3941063"/>
            <a:ext cx="73152" cy="1051560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407822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C2D"/>
                </a:solidFill>
                <a:latin typeface="Aptos"/>
              </a:rPr>
              <a:t>Utilization &lt; 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4443983"/>
            <a:ext cx="30632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Points +25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417320"/>
            <a:ext cx="3566160" cy="3337560"/>
          </a:xfrm>
          <a:prstGeom prst="round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828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6B7CC"/>
                </a:solidFill>
                <a:latin typeface="Aptos"/>
              </a:rPr>
              <a:t>FINAL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267712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8FAFC"/>
                </a:solidFill>
                <a:latin typeface="Aptos"/>
              </a:rPr>
              <a:t>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154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1CDCD"/>
                </a:solidFill>
                <a:latin typeface="Aptos"/>
              </a:rPr>
              <a:t>450 + 55 + 70 + 25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657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6B7CC"/>
                </a:solidFill>
                <a:latin typeface="Aptos"/>
              </a:rPr>
              <a:t>Illustrative decision band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4096512"/>
            <a:ext cx="1920240" cy="310896"/>
          </a:xfrm>
          <a:prstGeom prst="roundRect">
            <a:avLst/>
          </a:prstGeom>
          <a:solidFill>
            <a:srgbClr val="35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411480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PRIME / STANDARD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120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88C"/>
                </a:solidFill>
                <a:latin typeface="Aptos"/>
              </a:rPr>
              <a:t>In a real scorecard, each variable’s points are derived from model coefficients and the chosen scaling convention.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788C"/>
                </a:solidFill>
                <a:latin typeface="Aptos"/>
              </a:rPr>
              <a:t>CREDIT RISK ANALYTICS  •  CREDIT SCORECARDS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788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Scorecard Decisioning: From Score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788C"/>
                </a:solidFill>
                <a:latin typeface="Aptos"/>
              </a:rPr>
              <a:t>The score becomes valuable only when linked to policy and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965960" cy="868680"/>
          </a:xfrm>
          <a:prstGeom prst="roundRect">
            <a:avLst/>
          </a:prstGeom>
          <a:solidFill>
            <a:srgbClr val="E2F1E8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868680"/>
          </a:xfrm>
          <a:prstGeom prst="rect">
            <a:avLst/>
          </a:prstGeom>
          <a:solidFill>
            <a:srgbClr val="35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54480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C2D"/>
                </a:solidFill>
                <a:latin typeface="Aptos"/>
              </a:rPr>
              <a:t>750+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164591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40"/>
                </a:solidFill>
                <a:latin typeface="Aptos"/>
              </a:rPr>
              <a:t>LOW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66420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3040"/>
                </a:solidFill>
                <a:latin typeface="Aptos"/>
              </a:rPr>
              <a:t>Best pricing / higher limits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41448"/>
            <a:ext cx="1965960" cy="868680"/>
          </a:xfrm>
          <a:prstGeom prst="roundRect">
            <a:avLst/>
          </a:prstGeom>
          <a:solidFill>
            <a:srgbClr val="E4F3F3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41448"/>
            <a:ext cx="73152" cy="8686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C2D"/>
                </a:solidFill>
                <a:latin typeface="Aptos"/>
              </a:rPr>
              <a:t>650–749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44368"/>
            <a:ext cx="164591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40"/>
                </a:solidFill>
                <a:latin typeface="Aptos"/>
              </a:rPr>
              <a:t>GOOD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8833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3040"/>
                </a:solidFill>
                <a:latin typeface="Aptos"/>
              </a:rPr>
              <a:t>Standard approval / pricing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65576"/>
            <a:ext cx="1965960" cy="868680"/>
          </a:xfrm>
          <a:prstGeom prst="roundRect">
            <a:avLst/>
          </a:prstGeom>
          <a:solidFill>
            <a:srgbClr val="F9EFD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465576"/>
            <a:ext cx="73152" cy="868680"/>
          </a:xfrm>
          <a:prstGeom prst="rect">
            <a:avLst/>
          </a:prstGeom>
          <a:solidFill>
            <a:srgbClr val="D6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602736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C2D"/>
                </a:solidFill>
                <a:latin typeface="Aptos"/>
              </a:rPr>
              <a:t>550–649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968496"/>
            <a:ext cx="164591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40"/>
                </a:solidFill>
                <a:latin typeface="Aptos"/>
              </a:rPr>
              <a:t>WATCH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71246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3040"/>
                </a:solidFill>
                <a:latin typeface="Aptos"/>
              </a:rPr>
              <a:t>Manual review / tighter terms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89704"/>
            <a:ext cx="1965960" cy="868680"/>
          </a:xfrm>
          <a:prstGeom prst="roundRect">
            <a:avLst/>
          </a:prstGeom>
          <a:solidFill>
            <a:srgbClr val="F8E5E5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489704"/>
            <a:ext cx="73152" cy="86868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626864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C2D"/>
                </a:solidFill>
                <a:latin typeface="Aptos"/>
              </a:rPr>
              <a:t>&lt; 550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992624"/>
            <a:ext cx="164591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40"/>
                </a:solidFill>
                <a:latin typeface="Aptos"/>
              </a:rPr>
              <a:t>HIGH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7365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3040"/>
                </a:solidFill>
                <a:latin typeface="Aptos"/>
              </a:rPr>
              <a:t>Decline or strong mitigation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1417320"/>
            <a:ext cx="4206240" cy="2011680"/>
          </a:xfrm>
          <a:prstGeom prst="roundRect">
            <a:avLst/>
          </a:prstGeom>
          <a:solidFill>
            <a:srgbClr val="E0EB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1417320"/>
            <a:ext cx="73152" cy="2011680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2048" y="155448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C2D"/>
                </a:solidFill>
                <a:latin typeface="Aptos"/>
              </a:rPr>
              <a:t>BANKER PERSPECTIVE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1920240"/>
            <a:ext cx="3886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A score is not the final answer. The decision combines score, affordability, policy, collateral, exposure and expected loss.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3657600"/>
            <a:ext cx="4206240" cy="1828800"/>
          </a:xfrm>
          <a:prstGeom prst="roundRect">
            <a:avLst/>
          </a:prstGeom>
          <a:solidFill>
            <a:srgbClr val="E2F1E8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3657600"/>
            <a:ext cx="73152" cy="1828800"/>
          </a:xfrm>
          <a:prstGeom prst="rect">
            <a:avLst/>
          </a:prstGeom>
          <a:solidFill>
            <a:srgbClr val="35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42048" y="379476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C2D"/>
                </a:solidFill>
                <a:latin typeface="Aptos"/>
              </a:rPr>
              <a:t>RISK-BASED 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4160520"/>
            <a:ext cx="3886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Higher score → potentially lower risk → better terms.
Lower score → higher risk → tighter terms or mitigation.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788C"/>
                </a:solidFill>
                <a:latin typeface="Aptos"/>
              </a:rPr>
              <a:t>CREDIT RISK ANALYTICS  •  CREDIT SCORECARDS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788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Risks, Red Flags &amp; Model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9788C"/>
                </a:solidFill>
                <a:latin typeface="Aptos"/>
              </a:rPr>
              <a:t>A scorecard is a controlled model, not just a spreadsheet of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063240" cy="1554480"/>
          </a:xfrm>
          <a:prstGeom prst="roundRect">
            <a:avLst/>
          </a:prstGeom>
          <a:solidFill>
            <a:srgbClr val="F8E5E5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55448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63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C2D"/>
                </a:solidFill>
                <a:latin typeface="Aptos"/>
              </a:rPr>
              <a:t>Scaling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28800"/>
            <a:ext cx="2743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63040"/>
                </a:solidFill>
                <a:latin typeface="Aptos"/>
              </a:rPr>
              <a:t>Wrong base odds, PDO or sign convention can distort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325880"/>
            <a:ext cx="3063240" cy="1554480"/>
          </a:xfrm>
          <a:prstGeom prst="roundRect">
            <a:avLst/>
          </a:prstGeom>
          <a:solidFill>
            <a:srgbClr val="F9EFD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1325880"/>
            <a:ext cx="73152" cy="1554480"/>
          </a:xfrm>
          <a:prstGeom prst="rect">
            <a:avLst/>
          </a:prstGeom>
          <a:solidFill>
            <a:srgbClr val="D6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463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C2D"/>
                </a:solidFill>
                <a:latin typeface="Aptos"/>
              </a:rPr>
              <a:t>Population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828800"/>
            <a:ext cx="2743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63040"/>
                </a:solidFill>
                <a:latin typeface="Aptos"/>
              </a:rPr>
              <a:t>Customer mix and repayment behaviour change over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325880"/>
            <a:ext cx="3063240" cy="1554480"/>
          </a:xfrm>
          <a:prstGeom prst="roundRect">
            <a:avLst/>
          </a:prstGeom>
          <a:solidFill>
            <a:srgbClr val="E0EB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1325880"/>
            <a:ext cx="73152" cy="1554480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1463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C2D"/>
                </a:solidFill>
                <a:latin typeface="Aptos"/>
              </a:rPr>
              <a:t>Weak calibration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1828800"/>
            <a:ext cx="2743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63040"/>
                </a:solidFill>
                <a:latin typeface="Aptos"/>
              </a:rPr>
              <a:t>Good ranking but poor probability estimates can mislead decisions.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46120"/>
            <a:ext cx="3063240" cy="1554480"/>
          </a:xfrm>
          <a:prstGeom prst="roundRect">
            <a:avLst/>
          </a:prstGeom>
          <a:solidFill>
            <a:srgbClr val="E4F3F3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73152" cy="15544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3832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C2D"/>
                </a:solidFill>
                <a:latin typeface="Aptos"/>
              </a:rPr>
              <a:t>Policy 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749039"/>
            <a:ext cx="2743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63040"/>
                </a:solidFill>
                <a:latin typeface="Aptos"/>
              </a:rPr>
              <a:t>Manual exceptions can change score-to-default relationships.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3246120"/>
            <a:ext cx="3063240" cy="1554480"/>
          </a:xfrm>
          <a:prstGeom prst="roundRect">
            <a:avLst/>
          </a:prstGeom>
          <a:solidFill>
            <a:srgbClr val="F8E5E5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69080" y="3246120"/>
            <a:ext cx="73152" cy="155448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0248" y="33832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C2D"/>
                </a:solidFill>
                <a:latin typeface="Aptos"/>
              </a:rPr>
              <a:t>Data / leakage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3749039"/>
            <a:ext cx="2743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63040"/>
                </a:solidFill>
                <a:latin typeface="Aptos"/>
              </a:rPr>
              <a:t>Post-decision information creates artificial performance.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3246120"/>
            <a:ext cx="3063240" cy="1554480"/>
          </a:xfrm>
          <a:prstGeom prst="roundRect">
            <a:avLst/>
          </a:prstGeom>
          <a:solidFill>
            <a:srgbClr val="F9EFD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3246120"/>
            <a:ext cx="73152" cy="1554480"/>
          </a:xfrm>
          <a:prstGeom prst="rect">
            <a:avLst/>
          </a:prstGeom>
          <a:solidFill>
            <a:srgbClr val="D6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9248" y="33832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C2D"/>
                </a:solidFill>
                <a:latin typeface="Aptos"/>
              </a:rPr>
              <a:t>Cut-off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3749039"/>
            <a:ext cx="2743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63040"/>
                </a:solidFill>
                <a:latin typeface="Aptos"/>
              </a:rPr>
              <a:t>Small score changes near a boundary can change many decisions.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57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1C2D"/>
                </a:solidFill>
                <a:latin typeface="Aptos"/>
              </a:rPr>
              <a:t>Controls: out-of-time validation • calibration checks • drift monitoring • challenger models • cut-off review • 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788C"/>
                </a:solidFill>
                <a:latin typeface="Aptos"/>
              </a:rPr>
              <a:t>CREDIT RISK ANALYTICS  •  CREDIT SCORECARDS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788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2C2C2"/>
                </a:solidFill>
                <a:latin typeface="Aptos"/>
              </a:rPr>
              <a:t>EXECUTIVE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A good scorecard makes complex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6420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C9D3E0"/>
                </a:solidFill>
                <a:latin typeface="Aptos"/>
              </a:rPr>
              <a:t>simple enough to use — without losing the mathematics underneath.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2C2C2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603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5603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D3DCE7"/>
                </a:solidFill>
                <a:latin typeface="Aptos"/>
              </a:rPr>
              <a:t>Turns borrower risk signals into intuitive 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2C2C2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2004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BASE ODDS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200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D3DCE7"/>
                </a:solidFill>
                <a:latin typeface="Aptos"/>
              </a:rPr>
              <a:t>Anchors the scale to a reference Good:Bad ratio.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2C2C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8404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PDO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8404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D3DCE7"/>
                </a:solidFill>
                <a:latin typeface="Aptos"/>
              </a:rPr>
              <a:t>Sets how many points correspond to doubling the odds.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2C2C2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4805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480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D3DCE7"/>
                </a:solidFill>
                <a:latin typeface="Aptos"/>
              </a:rPr>
              <a:t>Score = A + B × ln(Odds); points re-express risk.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2C2C2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2064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GOVERN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1206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D3DCE7"/>
                </a:solidFill>
                <a:latin typeface="Aptos"/>
              </a:rPr>
              <a:t>Validate ranking, calibration, stability and cut-offs.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DATA → BIN / WOE → MODEL → ODDS → SCORE → POLICY →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919EB0"/>
                </a:solidFill>
                <a:latin typeface="Aptos"/>
              </a:rPr>
              <a:t>CREDIT RISK ANALYTICS  •  CREDIT SCORECARDS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19EB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