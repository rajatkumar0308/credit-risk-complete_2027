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Exposure (₹m)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Sovereign</c:v>
                </c:pt>
                <c:pt idx="1">
                  <c:v>Banks</c:v>
                </c:pt>
                <c:pt idx="2">
                  <c:v>Corporate</c:v>
                </c:pt>
                <c:pt idx="3">
                  <c:v>Retail</c:v>
                </c:pt>
                <c:pt idx="4">
                  <c:v>Property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30</c:v>
                </c:pt>
                <c:pt idx="2">
                  <c:v>50</c:v>
                </c:pt>
                <c:pt idx="3">
                  <c:v>25</c:v>
                </c:pt>
                <c:pt idx="4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RWA (₹m)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Sovereign</c:v>
                </c:pt>
                <c:pt idx="1">
                  <c:v>Banks</c:v>
                </c:pt>
                <c:pt idx="2">
                  <c:v>Corporate</c:v>
                </c:pt>
                <c:pt idx="3">
                  <c:v>Retail</c:v>
                </c:pt>
                <c:pt idx="4">
                  <c:v>Property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6</c:v>
                </c:pt>
                <c:pt idx="2">
                  <c:v>50</c:v>
                </c:pt>
                <c:pt idx="3">
                  <c:v>18.75</c:v>
                </c:pt>
                <c:pt idx="4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82296" cy="9601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2179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A9939"/>
                </a:solidFill>
                <a:latin typeface="Aptos"/>
              </a:rPr>
              <a:t>CREDIT RISK • BASEL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78992"/>
            <a:ext cx="8046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Basel
Standardized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1635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3DDE7"/>
                </a:solidFill>
                <a:latin typeface="Aptos"/>
              </a:rPr>
              <a:t>Risk weights • exposure classes • RWA • practical bank-level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3931920"/>
            <a:ext cx="2926080" cy="347472"/>
          </a:xfrm>
          <a:prstGeom prst="rect">
            <a:avLst/>
          </a:prstGeom>
          <a:solidFill>
            <a:srgbClr val="275C8C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39136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Exposure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4462272"/>
            <a:ext cx="2282342" cy="347472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444398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Risk 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4992624"/>
            <a:ext cx="1697126" cy="347472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97433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RWA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5522975"/>
            <a:ext cx="1170432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55046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F1C2D"/>
                </a:solidFill>
                <a:latin typeface="Aptos"/>
              </a:rPr>
              <a:t>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61996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8C6"/>
                </a:solidFill>
                <a:latin typeface="Aptos"/>
              </a:rPr>
              <a:t>Corporate training deck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01 |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What is the Basel Standardized Approach?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A regulatory method for translating credit exposures into risk-weighted assets (RWA).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27080" cy="960120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1C2D"/>
                </a:solidFill>
                <a:latin typeface="Aptos"/>
              </a:rPr>
              <a:t>Exposure at Default  ×  Regulatory Risk Weight  =  Risk-Weighted Assets (RWA)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832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383280"/>
            <a:ext cx="64008" cy="1508760"/>
          </a:xfrm>
          <a:prstGeom prst="rect">
            <a:avLst/>
          </a:prstGeom>
          <a:solidFill>
            <a:srgbClr val="275C8C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54787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A prescribed framework used to calculate credit-risk RWA using supervisory risk weights and exposure categories.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3832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3383280"/>
            <a:ext cx="64008" cy="1508760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4787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95020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Creates a consistent regulatory capital floor and makes risk-weighted capital comparable across institutions.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33832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3383280"/>
            <a:ext cx="64008" cy="150876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354787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SO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95020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The same ₹100 exposure can create very different RWA—and therefore different capital consumption—depending on its risk characteristics.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02 |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How the approach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The bank maps an exposure → assigns a regulatory class → applies the relevant risk weight → aggregates RWA.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48840"/>
            <a:ext cx="1965960" cy="438912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A9939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70632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Identify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46120"/>
            <a:ext cx="1627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97785"/>
                </a:solidFill>
                <a:latin typeface="Aptos"/>
              </a:rPr>
              <a:t>Who/what is the obligor? What type of claim is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06324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E7D7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2148840"/>
            <a:ext cx="1965960" cy="438912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24942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A9939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70632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46120"/>
            <a:ext cx="1627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97785"/>
                </a:solidFill>
                <a:latin typeface="Aptos"/>
              </a:rPr>
              <a:t>Sovereign, bank, corporate, retail, secured by property, etc.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06324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E7D7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02936" y="2148840"/>
            <a:ext cx="1965960" cy="438912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224942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A9939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2770632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Assign RW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3246120"/>
            <a:ext cx="1627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97785"/>
                </a:solidFill>
                <a:latin typeface="Aptos"/>
              </a:rPr>
              <a:t>Use the applicable Basel/supervisory risk-weight rule.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306324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E7D7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07224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7224" y="2148840"/>
            <a:ext cx="1965960" cy="438912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4384" y="224942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A9939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2770632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Calculate RWA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6" y="3246120"/>
            <a:ext cx="1627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97785"/>
                </a:solidFill>
                <a:latin typeface="Aptos"/>
              </a:rPr>
              <a:t>Exposure × risk weight, after eligible adjustments.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306324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E7D78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11512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11512" y="2148840"/>
            <a:ext cx="1965960" cy="438912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224942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A9939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6104" y="2770632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Capital lens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6104" y="3246120"/>
            <a:ext cx="1627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97785"/>
                </a:solidFill>
                <a:latin typeface="Aptos"/>
              </a:rPr>
              <a:t>RWA feeds the regulatory capital requirement.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9834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E4141"/>
                </a:solidFill>
                <a:latin typeface="Aptos"/>
              </a:rPr>
              <a:t>Control point: classification is often more important than arithmetic.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504688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02A36"/>
                </a:solidFill>
                <a:latin typeface="Aptos"/>
              </a:rPr>
              <a:t>A wrong exposure class can systematically distort RWA, capital allocation and pricing.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03 | RISK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Risk Weights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A risk weight is a regulatory multiplier—not a probability of default.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1417320" cy="384048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331720"/>
            <a:ext cx="109728" cy="384048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785"/>
                </a:solidFill>
                <a:latin typeface="Aptos"/>
              </a:rPr>
              <a:t>Relative RWA
per ₹1 exposure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331720"/>
            <a:ext cx="1417320" cy="384048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331720"/>
            <a:ext cx="283464" cy="384048"/>
          </a:xfrm>
          <a:prstGeom prst="rect">
            <a:avLst/>
          </a:prstGeom>
          <a:solidFill>
            <a:srgbClr val="275C8C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337560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785"/>
                </a:solidFill>
                <a:latin typeface="Aptos"/>
              </a:rPr>
              <a:t>Relative RWA
per ₹1 exposure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2331720"/>
            <a:ext cx="1417320" cy="384048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2331720"/>
            <a:ext cx="708660" cy="384048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8803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337560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785"/>
                </a:solidFill>
                <a:latin typeface="Aptos"/>
              </a:rPr>
              <a:t>Relative RWA
per ₹1 exposure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331720"/>
            <a:ext cx="1417320" cy="384048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331720"/>
            <a:ext cx="1062990" cy="384048"/>
          </a:xfrm>
          <a:prstGeom prst="rect">
            <a:avLst/>
          </a:prstGeom>
          <a:solidFill>
            <a:srgbClr val="84633E"/>
          </a:solidFill>
          <a:ln>
            <a:solidFill>
              <a:srgbClr val="84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8803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337560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785"/>
                </a:solidFill>
                <a:latin typeface="Aptos"/>
              </a:rPr>
              <a:t>Relative RWA
per ₹1 exposure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2331720"/>
            <a:ext cx="1417320" cy="384048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4040" y="2331720"/>
            <a:ext cx="1417320" cy="384048"/>
          </a:xfrm>
          <a:prstGeom prst="rect">
            <a:avLst/>
          </a:prstGeom>
          <a:solidFill>
            <a:srgbClr val="AE4141"/>
          </a:solidFill>
          <a:ln>
            <a:solidFill>
              <a:srgbClr val="A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8803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C2D"/>
                </a:solidFill>
                <a:latin typeface="Aptos"/>
              </a:rPr>
              <a:t>100%+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337560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785"/>
                </a:solidFill>
                <a:latin typeface="Aptos"/>
              </a:rPr>
              <a:t>Relative RWA
per ₹1 exposure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43400"/>
            <a:ext cx="10561320" cy="1005840"/>
          </a:xfrm>
          <a:prstGeom prst="round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5720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A9939"/>
                </a:solidFill>
                <a:latin typeface="Aptos"/>
              </a:rPr>
              <a:t>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553712"/>
            <a:ext cx="9052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₹100 exposure @ 20% RW → ₹20 RWA     |     ₹100 exposure @ 100% RW → ₹100 RWA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50992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02A36"/>
                </a:solidFill>
                <a:latin typeface="Aptos"/>
              </a:rPr>
              <a:t>Important: risk weights are regulatory parameters; they are not market-implied loss rates, PDs, or LGDs.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04 | EXPOSURE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Exposure Classes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Classification determines which regulatory treatment is 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64008" cy="1463040"/>
          </a:xfrm>
          <a:prstGeom prst="rect">
            <a:avLst/>
          </a:prstGeom>
          <a:solidFill>
            <a:srgbClr val="275C8C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Sovereigns &amp; central banks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Government / central-bank claims; treatment can depend on jurisdiction and rating framework.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64008" cy="1463040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2219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Banks / financial institutions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2432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Interbank and regulated-financial exposures; treatment depends on the applicable Basel option and external assessment.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05740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2057400"/>
            <a:ext cx="64008" cy="146304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2219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Corporates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62432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Loans, bonds and receivables to companies; corporate risk characteristics drive treatment.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64008" cy="1463040"/>
          </a:xfrm>
          <a:prstGeom prst="rect">
            <a:avLst/>
          </a:prstGeom>
          <a:solidFill>
            <a:srgbClr val="275C8C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096511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Retail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Granular diversified portfolios meeting regulatory eligibility criteria; typically differentiated from wholesale corporate lending.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31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931920"/>
            <a:ext cx="64008" cy="1463040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4096511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Residential / commercial 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49884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Claims secured by real estate, subject to specific eligibility and LTV / prudential conditions.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9319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9" y="3931920"/>
            <a:ext cx="64008" cy="1463040"/>
          </a:xfrm>
          <a:prstGeom prst="rect">
            <a:avLst/>
          </a:prstGeom>
          <a:solidFill>
            <a:srgbClr val="AE4141"/>
          </a:solidFill>
          <a:ln>
            <a:solidFill>
              <a:srgbClr val="A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4096511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Other / specialised exposures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498848"/>
            <a:ext cx="29900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Equity, subordinated claims, defaults and other categories receive distinct regulatory treatment.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05 | 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Standardized Approach — Complete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Illustrative portfolio: calculate RWA exposure by exposure class.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C2D"/>
                </a:solidFill>
                <a:latin typeface="Aptos"/>
              </a:rPr>
              <a:t>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299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C2D"/>
                </a:solidFill>
                <a:latin typeface="Aptos"/>
              </a:rPr>
              <a:t>Amount (₹m)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0299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C2D"/>
                </a:solidFill>
                <a:latin typeface="Aptos"/>
              </a:rPr>
              <a:t>Illustrative RW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0299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C2D"/>
                </a:solidFill>
                <a:latin typeface="Aptos"/>
              </a:rPr>
              <a:t>RWA (₹m)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87168"/>
            <a:ext cx="90982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Cash / central-bank eligible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59689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96896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9689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1C2D"/>
                </a:solidFill>
                <a:latin typeface="Aptos"/>
              </a:rPr>
              <a:t>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54096"/>
            <a:ext cx="90982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638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Investment-grade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16382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6382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63824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1C2D"/>
                </a:solidFill>
                <a:latin typeface="Aptos"/>
              </a:rPr>
              <a:t>6.0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21024"/>
            <a:ext cx="90982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30752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Corporate loan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73075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3075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3075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1C2D"/>
                </a:solidFill>
                <a:latin typeface="Aptos"/>
              </a:rPr>
              <a:t>50.0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87952"/>
            <a:ext cx="90982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Qualifying retail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29768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9768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9768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1C2D"/>
                </a:solidFill>
                <a:latin typeface="Aptos"/>
              </a:rPr>
              <a:t>18.8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54880"/>
            <a:ext cx="90982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6460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Eligible residential mortgage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86460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6460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02A36"/>
                </a:solidFill>
                <a:latin typeface="Aptos"/>
              </a:rPr>
              <a:t>35%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6460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1C2D"/>
                </a:solidFill>
                <a:latin typeface="Aptos"/>
              </a:rPr>
              <a:t>14.0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358384"/>
            <a:ext cx="9098280" cy="566928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522976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52297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₹165m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522976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52297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A9939"/>
                </a:solidFill>
                <a:latin typeface="Aptos"/>
              </a:rPr>
              <a:t>₹88.8m RWA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148840"/>
            <a:ext cx="15087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E4141"/>
                </a:solidFill>
                <a:latin typeface="Aptos"/>
              </a:rPr>
              <a:t>Illustrative weights only — actual Basel treatment depends on jurisdiction, version, eligibility and supervisory implementation.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06 | CAPITAL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From RWA to Regulatory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RWA is the denominator in risk-based capital ratios.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743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C2D"/>
                </a:solidFill>
                <a:latin typeface="Aptos"/>
              </a:rPr>
              <a:t>Eligible Regulatory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50008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E7D78"/>
                </a:solidFill>
                <a:latin typeface="Aptos"/>
              </a:rPr>
              <a:t>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148840"/>
            <a:ext cx="274320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C2D"/>
                </a:solidFill>
                <a:latin typeface="Aptos"/>
              </a:rPr>
              <a:t>Risk-Weighted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350008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E7D78"/>
                </a:solidFill>
                <a:latin typeface="Aptos"/>
              </a:rP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148840"/>
            <a:ext cx="3474720" cy="914400"/>
          </a:xfrm>
          <a:prstGeom prst="round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3957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Risk-based capital 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64008" cy="1325880"/>
          </a:xfrm>
          <a:prstGeom prst="rect">
            <a:avLst/>
          </a:prstGeom>
          <a:solidFill>
            <a:srgbClr val="275C8C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5935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BANKER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61688"/>
            <a:ext cx="2944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Higher-RW exposures consume more capital capacity for the same nominal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794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794760"/>
            <a:ext cx="64008" cy="1325880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95935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CFO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361688"/>
            <a:ext cx="2944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Loan pricing and funding strategy should recognize capital usage, not just interest margin.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794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794760"/>
            <a:ext cx="64008" cy="132588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95935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INVESTOR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361688"/>
            <a:ext cx="2944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RWA density can help explain why two banks with similar loan books can report different capital ratios.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02A36"/>
                </a:solidFill>
                <a:latin typeface="Aptos"/>
              </a:rPr>
              <a:t>Illustration: if capital = ₹12m and RWA = ₹100m, ratio = 12%.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07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Case Study 1 — Same Borrower, Different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Illustrative corporate lending decision: nominal exposure is unchanged, but regulatory treatment can differ.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64008" cy="2286000"/>
          </a:xfrm>
          <a:prstGeom prst="rect">
            <a:avLst/>
          </a:prstGeom>
          <a:solidFill>
            <a:srgbClr val="AE4141"/>
          </a:solidFill>
          <a:ln>
            <a:solidFill>
              <a:srgbClr val="A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47548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A | UNSECURED TERM LOAN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468172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Exposure: ₹100m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68172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Illustrative RW: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66744"/>
            <a:ext cx="468172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RWA: ₹100m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1"/>
            <a:ext cx="468172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Capital at 10%: ₹10m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14884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48840"/>
            <a:ext cx="64008" cy="2286000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313432"/>
            <a:ext cx="47548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B | ELIGIBLE LOWER-RW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15768"/>
            <a:ext cx="468172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Exposure: ₹100m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91256"/>
            <a:ext cx="468172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Illustrative RW: 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66744"/>
            <a:ext cx="468172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RWA: ₹50m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142231"/>
            <a:ext cx="468172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Capital at 10%: ₹5m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00600"/>
            <a:ext cx="1078992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109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C2D"/>
                </a:solidFill>
                <a:latin typeface="Aptos"/>
              </a:rPr>
              <a:t>Economic implication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8920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02A36"/>
                </a:solidFill>
                <a:latin typeface="Aptos"/>
              </a:rPr>
              <a:t>Lower RWA can reduce capital consumption—but only if the exposure genuinely meets the regulatory eligibility and risk-transfer conditions.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97880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E4141"/>
                </a:solidFill>
                <a:latin typeface="Aptos"/>
              </a:rPr>
              <a:t>Do not confuse regulatory capital efficiency with lower underlying credit risk.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08 |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Case Study 2 — Portfolio RWA Density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Illustrative portfolio analytics for management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148840"/>
          <a:ext cx="676656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2148840"/>
            <a:ext cx="36118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2148840"/>
            <a:ext cx="64008" cy="333756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2313432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MANAGEMENT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715768"/>
            <a:ext cx="31729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Total exposure: ₹165m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191256"/>
            <a:ext cx="31729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Total RWA: ₹88.8m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66744"/>
            <a:ext cx="31729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RWA density: 53.8%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142231"/>
            <a:ext cx="31729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Use RWA density to understand capital intensity across portfolios.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760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1C2D"/>
                </a:solidFill>
                <a:latin typeface="Aptos"/>
              </a:rPr>
              <a:t>RWA density = RWA ÷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09 | CONTROL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Risks, Red Flags &amp;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Most errors happen before the multiplication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10744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73152" cy="548640"/>
          </a:xfrm>
          <a:prstGeom prst="rect">
            <a:avLst/>
          </a:prstGeom>
          <a:solidFill>
            <a:srgbClr val="AE4141"/>
          </a:solidFill>
          <a:ln>
            <a:solidFill>
              <a:srgbClr val="A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1226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C2D"/>
                </a:solidFill>
                <a:latin typeface="Aptos"/>
              </a:rPr>
              <a:t>Wrong exposure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103120"/>
            <a:ext cx="7635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Legal form ≠ economic substance; validate obligor and claim 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10744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73152" cy="54864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9806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C2D"/>
                </a:solidFill>
                <a:latin typeface="Aptos"/>
              </a:rPr>
              <a:t>Eligibility assumed, not evidenced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88920"/>
            <a:ext cx="7635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Document guarantees, collateral, LTV and portfolio criteria.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744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383280"/>
            <a:ext cx="73152" cy="548640"/>
          </a:xfrm>
          <a:prstGeom prst="rect">
            <a:avLst/>
          </a:prstGeom>
          <a:solidFill>
            <a:srgbClr val="275C8C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8386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C2D"/>
                </a:solidFill>
                <a:latin typeface="Aptos"/>
              </a:rPr>
              <a:t>Mixing regulatory and economic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474720"/>
            <a:ext cx="7635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Basel RW is not the same thing as PD × LGD.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69080"/>
            <a:ext cx="10744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69080"/>
            <a:ext cx="73152" cy="548640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6966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C2D"/>
                </a:solidFill>
                <a:latin typeface="Aptos"/>
              </a:rPr>
              <a:t>Using stale rulebooks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160520"/>
            <a:ext cx="7635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Always confirm the applicable Basel version and local implementation.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54880"/>
            <a:ext cx="10744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754880"/>
            <a:ext cx="73152" cy="548640"/>
          </a:xfrm>
          <a:prstGeom prst="rect">
            <a:avLst/>
          </a:prstGeom>
          <a:solidFill>
            <a:srgbClr val="AE4141"/>
          </a:solidFill>
          <a:ln>
            <a:solidFill>
              <a:srgbClr val="A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85546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C2D"/>
                </a:solidFill>
                <a:latin typeface="Aptos"/>
              </a:rPr>
              <a:t>Ignoring off-balance-sheet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846320"/>
            <a:ext cx="7635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Commitments and contingent exposures may require CCF treatment.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40680"/>
            <a:ext cx="10744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440680"/>
            <a:ext cx="73152" cy="548640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54126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C2D"/>
                </a:solidFill>
                <a:latin typeface="Aptos"/>
              </a:rPr>
              <a:t>Optimising RWA mechanically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532120"/>
            <a:ext cx="7635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Capital efficiency should not override credit quality, liquidity or concentration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10 | DECISION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What It Means for Different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The standardized approach connects credit decisions to scarce capital.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10744200" cy="804672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8541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75C8C"/>
                </a:solidFill>
                <a:latin typeface="Aptos"/>
              </a:rPr>
              <a:t>Credit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130552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Validate classification, eligibility and documentation; understand RWA implications alongside borrower fundamentals.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17520"/>
            <a:ext cx="10744200" cy="804672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9125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78"/>
                </a:solidFill>
                <a:latin typeface="Aptos"/>
              </a:rPr>
              <a:t>Banker / Relationship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136392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Price facilities with awareness of capital intensity and structure, not merely headline spread.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10744200" cy="804672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9709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A9939"/>
                </a:solidFill>
                <a:latin typeface="Aptos"/>
              </a:rPr>
              <a:t>CFO / Treasurer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142232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Assess financing alternatives with capital, collateral and covenant implications in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29200"/>
            <a:ext cx="10744200" cy="804672"/>
          </a:xfrm>
          <a:prstGeom prst="round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2029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C2D"/>
                </a:solidFill>
                <a:latin typeface="Aptos"/>
              </a:rPr>
              <a:t>Investor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148072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Read RWA density, portfolio mix and capital ratios together rather than in isolation.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11 |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Five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A compact mental model for analysts and bankers.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011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993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C2D"/>
                </a:solidFill>
                <a:latin typeface="Aptos"/>
              </a:rPr>
              <a:t>Classify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93008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Exposure class is the gateway to the regulatory treatment.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2194560"/>
            <a:ext cx="2011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24231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9939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1" y="29718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C2D"/>
                </a:solidFill>
                <a:latin typeface="Aptos"/>
              </a:rPr>
              <a:t>Risk weight is a multiplier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3493008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It converts exposure into RWA; it is not itself a loss estimate.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2194560"/>
            <a:ext cx="2011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24231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993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29718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C2D"/>
                </a:solidFill>
                <a:latin typeface="Aptos"/>
              </a:rPr>
              <a:t>RWA drives capital 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3493008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More RWA generally means more regulatory capital required for a given capital ratio.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5" y="2194560"/>
            <a:ext cx="2011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0375" y="24231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9939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5" y="29718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C2D"/>
                </a:solidFill>
                <a:latin typeface="Aptos"/>
              </a:rPr>
              <a:t>Structure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5" y="3493008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Collateral, guarantees, counterparty type and eligibility can materially change treatment.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2194560"/>
            <a:ext cx="2011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24231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9939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9718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C2D"/>
                </a:solidFill>
                <a:latin typeface="Aptos"/>
              </a:rPr>
              <a:t>Local rules matter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3493008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02A36"/>
                </a:solidFill>
                <a:latin typeface="Aptos"/>
              </a:rPr>
              <a:t>Basel is a global framework; supervisors implement and refine it through jurisdiction-specific rules.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230368"/>
            <a:ext cx="10515600" cy="685800"/>
          </a:xfrm>
          <a:prstGeom prst="rect">
            <a:avLst/>
          </a:prstGeom>
          <a:solidFill>
            <a:srgbClr val="0F1C2D"/>
          </a:solidFill>
          <a:ln>
            <a:solidFill>
              <a:srgbClr val="0F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3153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Mental model:  EXPOSURE  →  CLASSIFY  →  RISK WEIGHT / CCF  →  RWA  →  CAPITAL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7D78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C2D"/>
                </a:solidFill>
                <a:latin typeface="Aptos"/>
              </a:rPr>
              <a:t>Technical Notes &amp; Source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785"/>
                </a:solidFill>
                <a:latin typeface="Aptos"/>
              </a:rPr>
              <a:t>Use the current local supervisory rulebook when applying the framework in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960120" cy="45720"/>
          </a:xfrm>
          <a:prstGeom prst="rect">
            <a:avLst/>
          </a:prstGeom>
          <a:solidFill>
            <a:srgbClr val="CA9939"/>
          </a:solidFill>
          <a:ln>
            <a:solidFill>
              <a:srgbClr val="CA9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" cy="3474720"/>
          </a:xfrm>
          <a:prstGeom prst="rect">
            <a:avLst/>
          </a:prstGeom>
          <a:solidFill>
            <a:srgbClr val="275C8C"/>
          </a:solidFill>
          <a:ln>
            <a:solidFill>
              <a:srgbClr val="27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TECHNICAL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48188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Confirm the Basel framework version adopted by the relevant supervisor.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48188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Check the precise definition and eligibility tests for each exposure class.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9584"/>
            <a:ext cx="48188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For rated exposures, verify the permitted external credit assessment methodology.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05072"/>
            <a:ext cx="48188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For real-estate exposures, verify applicable LTV, property and borrower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188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For off-balance-sheet exposures, apply the relevant credit conversion factor (CCF) before risk weighting.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48188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Document assumptions and reconcile regulatory RWA to management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64008" cy="3474720"/>
          </a:xfrm>
          <a:prstGeom prst="rect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2176272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C2D"/>
                </a:solidFill>
                <a:latin typeface="Aptos"/>
              </a:rPr>
              <a:t>REFERENCE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78608"/>
            <a:ext cx="47274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Basel Committee on Banking Supervision — Basel Framework / standardized approach for credit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54096"/>
            <a:ext cx="47274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Applicable national supervisory capital regulations and implementation notices.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29584"/>
            <a:ext cx="47274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02A36"/>
                </a:solidFill>
                <a:latin typeface="Aptos"/>
              </a:rPr>
              <a:t>• Bank regulatory disclosures (e.g., Pillar 3) for observed exposure-class and RWA composition.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E4141"/>
                </a:solidFill>
                <a:latin typeface="Aptos"/>
              </a:rPr>
              <a:t>All numerical examples in this deck are illustrative unless explicitly labelled otherwise.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785"/>
                </a:solidFill>
                <a:latin typeface="Aptos"/>
              </a:rPr>
              <a:t>BASEL STANDARDIZED APPROACH  |  CREDIT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7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